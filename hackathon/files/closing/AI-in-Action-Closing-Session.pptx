
<file path=[Content_Types].xml><?xml version="1.0" encoding="utf-8"?>
<Types xmlns="http://schemas.openxmlformats.org/package/2006/content-types">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38"/>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p:scale>
          <a:sx n="83" d="100"/>
          <a:sy n="83" d="100"/>
        </p:scale>
        <p:origin x="572" y="34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8" Type="http://schemas.openxmlformats.org/officeDocument/2006/relationships/slide" Target="slides/slide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38" Type="http://schemas.openxmlformats.org/officeDocument/2006/relationships/notesMaster" Target="notesMasters/notesMaster1.xml"/><Relationship Id="rId39" Type="http://schemas.openxmlformats.org/officeDocument/2006/relationships/presProps" Target="presProps.xml"/><Relationship Id="rId40" Type="http://schemas.openxmlformats.org/officeDocument/2006/relationships/viewProps" Target="viewProps.xml"/><Relationship Id="rId41" Type="http://schemas.openxmlformats.org/officeDocument/2006/relationships/theme" Target="theme/theme1.xml"/><Relationship Id="rId42" Type="http://schemas.openxmlformats.org/officeDocument/2006/relationships/tableStyles" Target="tableStyles.xml"/><Relationship Id="rId43" Type="http://schemas.microsoft.com/office/2016/11/relationships/changesInfo" Target="changesInfos/changesInfo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Vivek Mukhatyar" userId="0325db0cd26ce985" providerId="LiveId" clId="{C2F076DA-27A8-417D-A05E-C65F5A120C5D}"/>
    <pc:docChg chg="undo custSel modSld">
      <pc:chgData name="Vivek Mukhatyar" userId="0325db0cd26ce985" providerId="LiveId" clId="{C2F076DA-27A8-417D-A05E-C65F5A120C5D}" dt="2026-10-08T23:18:42.388" v="10" actId="20577"/>
      <pc:docMkLst>
        <pc:docMk/>
      </pc:docMkLst>
      <pc:sldChg chg="modSp mod">
        <pc:chgData name="Vivek Mukhatyar" userId="0325db0cd26ce985" providerId="LiveId" clId="{C2F076DA-27A8-417D-A05E-C65F5A120C5D}" dt="2026-10-08T23:10:37.202" v="0" actId="1076"/>
        <pc:sldMkLst>
          <pc:docMk/>
          <pc:sldMk cId="76287762" sldId="258"/>
        </pc:sldMkLst>
        <pc:spChg chg="mod">
          <ac:chgData name="Vivek Mukhatyar" userId="0325db0cd26ce985" providerId="LiveId" clId="{C2F076DA-27A8-417D-A05E-C65F5A120C5D}" dt="2026-10-08T23:10:37.202" v="0" actId="1076"/>
          <ac:spMkLst>
            <pc:docMk/>
            <pc:sldMk cId="76287762" sldId="258"/>
            <ac:spMk id="5" creationId="{D12E1EB6-04B4-462A-B459-CD91A446F245}"/>
          </ac:spMkLst>
        </pc:spChg>
      </pc:sldChg>
      <pc:sldChg chg="modSp mod">
        <pc:chgData name="Vivek Mukhatyar" userId="0325db0cd26ce985" providerId="LiveId" clId="{C2F076DA-27A8-417D-A05E-C65F5A120C5D}" dt="2026-10-08T23:18:42.388" v="10" actId="20577"/>
        <pc:sldMkLst>
          <pc:docMk/>
          <pc:sldMk cId="953831724" sldId="291"/>
        </pc:sldMkLst>
        <pc:spChg chg="mod">
          <ac:chgData name="Vivek Mukhatyar" userId="0325db0cd26ce985" providerId="LiveId" clId="{C2F076DA-27A8-417D-A05E-C65F5A120C5D}" dt="2026-10-08T23:18:42.388" v="10" actId="20577"/>
          <ac:spMkLst>
            <pc:docMk/>
            <pc:sldMk cId="953831724" sldId="291"/>
            <ac:spMk id="10" creationId="{E1242166-6221-4116-8F27-F4471634B602}"/>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
        <p:nvSpPr>
          <p:cNvPr id="3" name="Title">
            <a:extLst>
              <a:ext uri="{FF2B5EF4-FFF2-40B4-BE49-F238E27FC236}">
                <a16:creationId xmlns:a16="http://schemas.microsoft.com/office/drawing/2014/main" id="{32E40403-8B8F-4EB6-A12C-4B71459B1365}"/>
              </a:ext>
            </a:extLst>
          </p:cNvPr>
          <p:cNvSpPr>
            <a:spLocks noGrp="1"/>
          </p:cNvSpPr>
          <p:nvPr>
            <p:ph type="title"/>
          </p:nvPr>
        </p:nvSpPr>
        <p:spPr>
          <a:xfrm>
            <a:off x="1219200" y="2590800"/>
            <a:ext cx="9753600" cy="990600"/>
          </a:xfrm>
          <a:prstGeom prst="rect">
            <a:avLst/>
          </a:prstGeom>
          <a:noFill/>
          <a:ln>
            <a:noFill/>
            <a:prstDash val="solid"/>
          </a:ln>
        </p:spPr>
        <p:txBody>
          <a:bodyPr wrap="square" lIns="0" tIns="0" rIns="0" bIns="0" anchor="ctr">
            <a:normAutofit/>
          </a:bodyPr>
          <a:lstStyle>
            <a:defPPr algn="ctr">
              <a:defRPr sz="48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a:endParaRPr/>
          </a:p>
        </p:txBody>
      </p:sp>
      <p:sp>
        <p:nvSpPr>
          <p:cNvPr id="2" name="Subtitle">
            <a:extLst>
              <a:ext uri="{FF2B5EF4-FFF2-40B4-BE49-F238E27FC236}">
                <a16:creationId xmlns:a16="http://schemas.microsoft.com/office/drawing/2014/main" id="{100FD8A1-94DC-4C20-BC72-93D5A7C97D48}"/>
              </a:ext>
            </a:extLst>
          </p:cNvPr>
          <p:cNvSpPr>
            <a:spLocks noGrp="1"/>
          </p:cNvSpPr>
          <p:nvPr>
            <p:ph type="subTitle" idx="1"/>
          </p:nvPr>
        </p:nvSpPr>
        <p:spPr>
          <a:xfrm>
            <a:off x="1828800" y="3771900"/>
            <a:ext cx="8534400" cy="762000"/>
          </a:xfrm>
          <a:prstGeom prst="rect">
            <a:avLst/>
          </a:prstGeom>
          <a:noFill/>
          <a:ln>
            <a:noFill/>
            <a:prstDash val="solid"/>
          </a:ln>
        </p:spPr>
        <p:txBody>
          <a:bodyPr wrap="square" lIns="0" tIns="0" rIns="0" bIns="0" anchor="ctr">
            <a:normAutofit/>
          </a:bodyPr>
          <a:lstStyle>
            <a:defPPr algn="ctr">
              <a:defRPr sz="2100" b="0">
                <a:solidFill>
                  <a:schemeClr val="tx1"/>
                </a:solidFill>
                <a:latin typeface="+mn-lt"/>
                <a:ea typeface="+mn-lt"/>
                <a:cs typeface="+mn-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cSld name="Section Header">
    <p:spTree>
      <p:nvGrpSpPr>
        <p:cNvPr id="1" name=""/>
        <p:cNvGrpSpPr/>
        <p:nvPr/>
      </p:nvGrpSpPr>
      <p:grpSpPr>
        <a:xfrm>
          <a:off x="0" y="0"/>
          <a:ext cx="0" cy="0"/>
          <a:chOff x="0" y="0"/>
          <a:chExt cx="0" cy="0"/>
        </a:xfrm>
      </p:grpSpPr>
      <p:sp>
        <p:nvSpPr>
          <p:cNvPr id="2" name="Section title">
            <a:extLst>
              <a:ext uri="{FF2B5EF4-FFF2-40B4-BE49-F238E27FC236}">
                <a16:creationId xmlns:a16="http://schemas.microsoft.com/office/drawing/2014/main" id="{5FE81D71-A886-42D5-8F8C-D69087ACBF8A}"/>
              </a:ext>
            </a:extLst>
          </p:cNvPr>
          <p:cNvSpPr>
            <a:spLocks noGrp="1"/>
          </p:cNvSpPr>
          <p:nvPr>
            <p:ph type="title"/>
          </p:nvPr>
        </p:nvSpPr>
        <p:spPr>
          <a:xfrm>
            <a:off x="1219200" y="2857500"/>
            <a:ext cx="9753600" cy="1143000"/>
          </a:xfrm>
          <a:prstGeom prst="rect">
            <a:avLst/>
          </a:prstGeom>
          <a:noFill/>
          <a:ln>
            <a:noFill/>
            <a:prstDash val="solid"/>
          </a:ln>
        </p:spPr>
        <p:txBody>
          <a:bodyPr wrap="square" lIns="0" tIns="0" rIns="0" bIns="0" anchor="ctr">
            <a:normAutofit/>
          </a:bodyPr>
          <a:lstStyle>
            <a:defPPr algn="ctr">
              <a:defRPr sz="42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cSld name="Title and Body">
    <p:spTree>
      <p:nvGrpSpPr>
        <p:cNvPr id="1" name=""/>
        <p:cNvGrpSpPr/>
        <p:nvPr/>
      </p:nvGrpSpPr>
      <p:grpSpPr>
        <a:xfrm>
          <a:off x="0" y="0"/>
          <a:ext cx="0" cy="0"/>
          <a:chOff x="0" y="0"/>
          <a:chExt cx="0" cy="0"/>
        </a:xfrm>
      </p:grpSpPr>
      <p:sp>
        <p:nvSpPr>
          <p:cNvPr id="3" name="Title">
            <a:extLst>
              <a:ext uri="{FF2B5EF4-FFF2-40B4-BE49-F238E27FC236}">
                <a16:creationId xmlns:a16="http://schemas.microsoft.com/office/drawing/2014/main" id="{290ABA4C-D497-4BA7-B12B-EF2467BCC7C4}"/>
              </a:ext>
            </a:extLst>
          </p:cNvPr>
          <p:cNvSpPr>
            <a:spLocks noGrp="1"/>
          </p:cNvSpPr>
          <p:nvPr>
            <p:ph type="title"/>
          </p:nvPr>
        </p:nvSpPr>
        <p:spPr>
          <a:xfrm>
            <a:off x="685800" y="533400"/>
            <a:ext cx="10820400" cy="838200"/>
          </a:xfrm>
          <a:prstGeom prst="rect">
            <a:avLst/>
          </a:prstGeom>
          <a:noFill/>
          <a:ln>
            <a:noFill/>
            <a:prstDash val="solid"/>
          </a:ln>
        </p:spPr>
        <p:txBody>
          <a:bodyPr wrap="square" lIns="0" tIns="0" rIns="0" bIns="0" anchor="t">
            <a:normAutofit/>
          </a:bodyPr>
          <a:lstStyle>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a:endParaRPr/>
          </a:p>
        </p:txBody>
      </p:sp>
      <p:sp>
        <p:nvSpPr>
          <p:cNvPr id="2" name="Body">
            <a:extLst>
              <a:ext uri="{FF2B5EF4-FFF2-40B4-BE49-F238E27FC236}">
                <a16:creationId xmlns:a16="http://schemas.microsoft.com/office/drawing/2014/main" id="{999E49F3-36E4-4335-BEA1-029C705C42B6}"/>
              </a:ext>
            </a:extLst>
          </p:cNvPr>
          <p:cNvSpPr>
            <a:spLocks noGrp="1"/>
          </p:cNvSpPr>
          <p:nvPr>
            <p:ph type="body" idx="1"/>
          </p:nvPr>
        </p:nvSpPr>
        <p:spPr>
          <a:xfrm>
            <a:off x="685800" y="1905000"/>
            <a:ext cx="10820400" cy="4267200"/>
          </a:xfrm>
          <a:prstGeom prst="rect">
            <a:avLst/>
          </a:prstGeom>
          <a:noFill/>
          <a:ln>
            <a:noFill/>
            <a:prstDash val="solid"/>
          </a:ln>
        </p:spPr>
        <p:txBody>
          <a:bodyPr wrap="square" lIns="0" tIns="0" rIns="0" bIns="0" anchor="t">
            <a:normAutofit/>
          </a:bodyPr>
          <a:lstStyle>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cSld name="Title and Two Column">
    <p:spTree>
      <p:nvGrpSpPr>
        <p:cNvPr id="1" name=""/>
        <p:cNvGrpSpPr/>
        <p:nvPr/>
      </p:nvGrpSpPr>
      <p:grpSpPr>
        <a:xfrm>
          <a:off x="0" y="0"/>
          <a:ext cx="0" cy="0"/>
          <a:chOff x="0" y="0"/>
          <a:chExt cx="0" cy="0"/>
        </a:xfrm>
      </p:grpSpPr>
      <p:sp>
        <p:nvSpPr>
          <p:cNvPr id="4" name="Title">
            <a:extLst>
              <a:ext uri="{FF2B5EF4-FFF2-40B4-BE49-F238E27FC236}">
                <a16:creationId xmlns:a16="http://schemas.microsoft.com/office/drawing/2014/main" id="{6B9FA833-A294-4123-99A5-90EB88E1E2B5}"/>
              </a:ext>
            </a:extLst>
          </p:cNvPr>
          <p:cNvSpPr>
            <a:spLocks noGrp="1"/>
          </p:cNvSpPr>
          <p:nvPr>
            <p:ph type="title"/>
          </p:nvPr>
        </p:nvSpPr>
        <p:spPr>
          <a:xfrm>
            <a:off x="685800" y="533400"/>
            <a:ext cx="10820400" cy="838200"/>
          </a:xfrm>
          <a:prstGeom prst="rect">
            <a:avLst/>
          </a:prstGeom>
          <a:noFill/>
          <a:ln>
            <a:noFill/>
            <a:prstDash val="solid"/>
          </a:ln>
        </p:spPr>
        <p:txBody>
          <a:bodyPr wrap="square" lIns="0" tIns="0" rIns="0" bIns="0" anchor="t">
            <a:normAutofit/>
          </a:bodyPr>
          <a:lstStyle>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a:endParaRPr/>
          </a:p>
        </p:txBody>
      </p:sp>
      <p:sp>
        <p:nvSpPr>
          <p:cNvPr id="2" name="Left column">
            <a:extLst>
              <a:ext uri="{FF2B5EF4-FFF2-40B4-BE49-F238E27FC236}">
                <a16:creationId xmlns:a16="http://schemas.microsoft.com/office/drawing/2014/main" id="{FBCEF442-6C99-4D7E-9993-98D91B4BDD66}"/>
              </a:ext>
            </a:extLst>
          </p:cNvPr>
          <p:cNvSpPr>
            <a:spLocks noGrp="1"/>
          </p:cNvSpPr>
          <p:nvPr>
            <p:ph type="body" idx="1"/>
          </p:nvPr>
        </p:nvSpPr>
        <p:spPr>
          <a:xfrm>
            <a:off x="685800" y="1905000"/>
            <a:ext cx="5029200" cy="4267200"/>
          </a:xfrm>
          <a:prstGeom prst="rect">
            <a:avLst/>
          </a:prstGeom>
          <a:noFill/>
          <a:ln>
            <a:noFill/>
            <a:prstDash val="solid"/>
          </a:ln>
        </p:spPr>
        <p:txBody>
          <a:bodyPr wrap="square" lIns="0" tIns="0" rIns="0" bIns="0" anchor="t">
            <a:normAutofit/>
          </a:bodyPr>
          <a:lstStyle>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a:endParaRPr/>
          </a:p>
        </p:txBody>
      </p:sp>
      <p:sp>
        <p:nvSpPr>
          <p:cNvPr id="3" name="Right column">
            <a:extLst>
              <a:ext uri="{FF2B5EF4-FFF2-40B4-BE49-F238E27FC236}">
                <a16:creationId xmlns:a16="http://schemas.microsoft.com/office/drawing/2014/main" id="{AA2A83FB-AC33-48B1-A6E6-724522C7D72E}"/>
              </a:ext>
            </a:extLst>
          </p:cNvPr>
          <p:cNvSpPr>
            <a:spLocks noGrp="1"/>
          </p:cNvSpPr>
          <p:nvPr>
            <p:ph type="body" idx="2"/>
          </p:nvPr>
        </p:nvSpPr>
        <p:spPr>
          <a:xfrm>
            <a:off x="6477000" y="1905000"/>
            <a:ext cx="5029200" cy="4267200"/>
          </a:xfrm>
          <a:prstGeom prst="rect">
            <a:avLst/>
          </a:prstGeom>
          <a:noFill/>
          <a:ln>
            <a:noFill/>
            <a:prstDash val="solid"/>
          </a:ln>
        </p:spPr>
        <p:txBody>
          <a:bodyPr wrap="square" lIns="0" tIns="0" rIns="0" bIns="0" anchor="t">
            <a:normAutofit/>
          </a:bodyPr>
          <a:lstStyle>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cSld name="Title and One Column">
    <p:spTree>
      <p:nvGrpSpPr>
        <p:cNvPr id="1" name=""/>
        <p:cNvGrpSpPr/>
        <p:nvPr/>
      </p:nvGrpSpPr>
      <p:grpSpPr>
        <a:xfrm>
          <a:off x="0" y="0"/>
          <a:ext cx="0" cy="0"/>
          <a:chOff x="0" y="0"/>
          <a:chExt cx="0" cy="0"/>
        </a:xfrm>
      </p:grpSpPr>
      <p:sp>
        <p:nvSpPr>
          <p:cNvPr id="3" name="Title">
            <a:extLst>
              <a:ext uri="{FF2B5EF4-FFF2-40B4-BE49-F238E27FC236}">
                <a16:creationId xmlns:a16="http://schemas.microsoft.com/office/drawing/2014/main" id="{0A42188F-75A6-42B6-95DE-9DD096709E53}"/>
              </a:ext>
            </a:extLst>
          </p:cNvPr>
          <p:cNvSpPr>
            <a:spLocks noGrp="1"/>
          </p:cNvSpPr>
          <p:nvPr>
            <p:ph type="title"/>
          </p:nvPr>
        </p:nvSpPr>
        <p:spPr>
          <a:xfrm>
            <a:off x="685800" y="533400"/>
            <a:ext cx="10820400" cy="838200"/>
          </a:xfrm>
          <a:prstGeom prst="rect">
            <a:avLst/>
          </a:prstGeom>
          <a:noFill/>
          <a:ln>
            <a:noFill/>
            <a:prstDash val="solid"/>
          </a:ln>
        </p:spPr>
        <p:txBody>
          <a:bodyPr wrap="square" lIns="0" tIns="0" rIns="0" bIns="0" anchor="t">
            <a:normAutofit/>
          </a:bodyPr>
          <a:lstStyle>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a:endParaRPr/>
          </a:p>
        </p:txBody>
      </p:sp>
      <p:sp>
        <p:nvSpPr>
          <p:cNvPr id="2" name="Left column">
            <a:extLst>
              <a:ext uri="{FF2B5EF4-FFF2-40B4-BE49-F238E27FC236}">
                <a16:creationId xmlns:a16="http://schemas.microsoft.com/office/drawing/2014/main" id="{6B7F00D4-A140-4A39-B564-31724724A770}"/>
              </a:ext>
            </a:extLst>
          </p:cNvPr>
          <p:cNvSpPr>
            <a:spLocks noGrp="1"/>
          </p:cNvSpPr>
          <p:nvPr>
            <p:ph type="body" idx="1"/>
          </p:nvPr>
        </p:nvSpPr>
        <p:spPr>
          <a:xfrm>
            <a:off x="685800" y="1905000"/>
            <a:ext cx="5029200" cy="4267200"/>
          </a:xfrm>
          <a:prstGeom prst="rect">
            <a:avLst/>
          </a:prstGeom>
          <a:noFill/>
          <a:ln>
            <a:noFill/>
            <a:prstDash val="solid"/>
          </a:ln>
        </p:spPr>
        <p:txBody>
          <a:bodyPr wrap="square" lIns="0" tIns="0" rIns="0" bIns="0" anchor="t">
            <a:normAutofit/>
          </a:bodyPr>
          <a:lstStyle>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aster">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jp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jp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ection-jobs-1672.jpg"/>
          <p:cNvPicPr>
            <a:picLocks noChangeAspect="1"/>
          </p:cNvPicPr>
          <p:nvPr/>
        </p:nvPicPr>
        <p:blipFill>
          <a:blip r:embed="rId2"/>
          <a:stretch>
            <a:fillRect/>
          </a:stretch>
        </p:blipFill>
        <p:spPr>
          <a:xfrm>
            <a:off x="0" y="0"/>
            <a:ext cx="12192000" cy="6858000"/>
          </a:xfrm>
          <a:prstGeom prst="rect">
            <a:avLst/>
          </a:prstGeom>
        </p:spPr>
      </p:pic>
      <p:sp>
        <p:nvSpPr>
          <p:cNvPr id="3" name="Rectangle 2"/>
          <p:cNvSpPr/>
          <p:nvPr/>
        </p:nvSpPr>
        <p:spPr>
          <a:xfrm>
            <a:off x="6537960" y="0"/>
            <a:ext cx="5653735" cy="6858000"/>
          </a:xfrm>
          <a:prstGeom prst="rect">
            <a:avLst/>
          </a:prstGeom>
          <a:solidFill>
            <a:srgbClr val="FFFEFB">
              <a:alpha val="9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6903720" y="1691640"/>
            <a:ext cx="4754880" cy="320040"/>
          </a:xfrm>
          <a:prstGeom prst="rect">
            <a:avLst/>
          </a:prstGeom>
          <a:noFill/>
        </p:spPr>
        <p:txBody>
          <a:bodyPr wrap="square" lIns="0" rIns="0" tIns="0" bIns="0" anchor="t">
            <a:spAutoFit/>
          </a:bodyPr>
          <a:lstStyle/>
          <a:p>
            <a:pPr algn="l"/>
            <a:r>
              <a:rPr sz="1400" b="1">
                <a:solidFill>
                  <a:srgbClr val="007879"/>
                </a:solidFill>
                <a:latin typeface="Bahnschrift"/>
              </a:rPr>
              <a:t>CLOSING SESSION</a:t>
            </a:r>
          </a:p>
        </p:txBody>
      </p:sp>
      <p:sp>
        <p:nvSpPr>
          <p:cNvPr id="5" name="TextBox 4"/>
          <p:cNvSpPr txBox="1"/>
          <p:nvPr/>
        </p:nvSpPr>
        <p:spPr>
          <a:xfrm>
            <a:off x="6812280" y="2103120"/>
            <a:ext cx="5029200" cy="1645920"/>
          </a:xfrm>
          <a:prstGeom prst="rect">
            <a:avLst/>
          </a:prstGeom>
          <a:noFill/>
        </p:spPr>
        <p:txBody>
          <a:bodyPr wrap="square" lIns="0" rIns="0" tIns="0" bIns="0" anchor="t">
            <a:spAutoFit/>
          </a:bodyPr>
          <a:lstStyle/>
          <a:p>
            <a:pPr algn="l"/>
            <a:r>
              <a:rPr sz="2800" b="1">
                <a:solidFill>
                  <a:srgbClr val="002B55"/>
                </a:solidFill>
                <a:latin typeface="Bahnschrift"/>
              </a:rPr>
              <a:t>Closing: what we learned,</a:t>
            </a:r>
          </a:p>
          <a:p>
            <a:pPr algn="l"/>
            <a:r>
              <a:rPr sz="2800" b="1">
                <a:solidFill>
                  <a:srgbClr val="002B55"/>
                </a:solidFill>
                <a:latin typeface="Bahnschrift"/>
              </a:rPr>
              <a:t>what we take home</a:t>
            </a:r>
          </a:p>
        </p:txBody>
      </p:sp>
      <p:sp>
        <p:nvSpPr>
          <p:cNvPr id="6" name="TextBox 5"/>
          <p:cNvSpPr txBox="1"/>
          <p:nvPr/>
        </p:nvSpPr>
        <p:spPr>
          <a:xfrm>
            <a:off x="6903720" y="3931920"/>
            <a:ext cx="4754880" cy="822960"/>
          </a:xfrm>
          <a:prstGeom prst="rect">
            <a:avLst/>
          </a:prstGeom>
          <a:noFill/>
        </p:spPr>
        <p:txBody>
          <a:bodyPr wrap="square" lIns="0" rIns="0" tIns="0" bIns="0" anchor="t">
            <a:spAutoFit/>
          </a:bodyPr>
          <a:lstStyle/>
          <a:p>
            <a:pPr algn="l"/>
            <a:r>
              <a:rPr sz="1400" b="0">
                <a:solidFill>
                  <a:srgbClr val="28455F"/>
                </a:solidFill>
                <a:latin typeface="Arial"/>
              </a:rPr>
              <a:t>Moderator: Vivek  ·  Convene Philadelphia  ·  Oct 14, 2026</a:t>
            </a:r>
          </a:p>
        </p:txBody>
      </p:sp>
      <p:sp>
        <p:nvSpPr>
          <p:cNvPr id="7" name="Rounded Rectangle 6"/>
          <p:cNvSpPr/>
          <p:nvPr/>
        </p:nvSpPr>
        <p:spPr>
          <a:xfrm>
            <a:off x="502920" y="6355080"/>
            <a:ext cx="3383280" cy="347472"/>
          </a:xfrm>
          <a:prstGeom prst="roundRect">
            <a:avLst>
              <a:gd name="adj" fmla="val 3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Footer"/>
          <p:cNvSpPr txBox="1"/>
          <p:nvPr/>
        </p:nvSpPr>
        <p:spPr>
          <a:xfrm>
            <a:off x="612648" y="6437376"/>
            <a:ext cx="5715000" cy="192024"/>
          </a:xfrm>
          <a:prstGeom prst="rect">
            <a:avLst/>
          </a:prstGeom>
          <a:noFill/>
        </p:spPr>
        <p:txBody>
          <a:bodyPr wrap="square" lIns="0" rIns="0" tIns="0" bIns="0" anchor="t">
            <a:spAutoFit/>
          </a:bodyPr>
          <a:lstStyle/>
          <a:p>
            <a:pPr algn="l"/>
            <a:r>
              <a:rPr sz="1050" b="0">
                <a:solidFill>
                  <a:srgbClr val="28455F"/>
                </a:solidFill>
                <a:latin typeface="Arial"/>
              </a:rPr>
              <a:t>AI IN ACTION / MEDICAL AFFAIRS</a:t>
            </a:r>
          </a:p>
        </p:txBody>
      </p:sp>
      <p:sp>
        <p:nvSpPr>
          <p:cNvPr id="9" name="Rounded Rectangle 8"/>
          <p:cNvSpPr/>
          <p:nvPr/>
        </p:nvSpPr>
        <p:spPr>
          <a:xfrm>
            <a:off x="11100816" y="6382512"/>
            <a:ext cx="466344" cy="283464"/>
          </a:xfrm>
          <a:prstGeom prst="roundRect">
            <a:avLst>
              <a:gd name="adj" fmla="val 20000"/>
            </a:avLst>
          </a:prstGeom>
          <a:solidFill>
            <a:srgbClr val="FFFFFF"/>
          </a:solidFill>
          <a:ln w="9525">
            <a:solidFill>
              <a:srgbClr val="C9D6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Slide number"/>
          <p:cNvSpPr txBox="1"/>
          <p:nvPr/>
        </p:nvSpPr>
        <p:spPr>
          <a:xfrm>
            <a:off x="11100816" y="6400800"/>
            <a:ext cx="466344" cy="256032"/>
          </a:xfrm>
          <a:prstGeom prst="rect">
            <a:avLst/>
          </a:prstGeom>
          <a:noFill/>
        </p:spPr>
        <p:txBody>
          <a:bodyPr wrap="square" lIns="0" rIns="0" tIns="0" bIns="0" anchor="ctr">
            <a:spAutoFit/>
          </a:bodyPr>
          <a:lstStyle/>
          <a:p>
            <a:pPr algn="ctr"/>
            <a:r>
              <a:rPr sz="1275" b="0">
                <a:solidFill>
                  <a:srgbClr val="28455F"/>
                </a:solidFill>
                <a:latin typeface="Bahnschrift"/>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12648" y="365760"/>
            <a:ext cx="10966399" cy="292608"/>
          </a:xfrm>
          <a:prstGeom prst="rect">
            <a:avLst/>
          </a:prstGeom>
          <a:noFill/>
        </p:spPr>
        <p:txBody>
          <a:bodyPr wrap="square" lIns="0" rIns="0" tIns="0" bIns="0" anchor="t">
            <a:spAutoFit/>
          </a:bodyPr>
          <a:lstStyle/>
          <a:p>
            <a:pPr algn="l"/>
            <a:r>
              <a:rPr sz="1300" b="1">
                <a:solidFill>
                  <a:srgbClr val="007879"/>
                </a:solidFill>
                <a:latin typeface="Bahnschrift"/>
              </a:rPr>
              <a:t>PANEL OPENER</a:t>
            </a:r>
          </a:p>
        </p:txBody>
      </p:sp>
      <p:sp>
        <p:nvSpPr>
          <p:cNvPr id="3" name="TextBox 2"/>
          <p:cNvSpPr txBox="1"/>
          <p:nvPr/>
        </p:nvSpPr>
        <p:spPr>
          <a:xfrm>
            <a:off x="612648" y="685800"/>
            <a:ext cx="10966399" cy="502920"/>
          </a:xfrm>
          <a:prstGeom prst="rect">
            <a:avLst/>
          </a:prstGeom>
          <a:noFill/>
        </p:spPr>
        <p:txBody>
          <a:bodyPr wrap="square" lIns="0" rIns="0" tIns="0" bIns="0" anchor="t">
            <a:spAutoFit/>
          </a:bodyPr>
          <a:lstStyle/>
          <a:p>
            <a:pPr algn="l"/>
            <a:r>
              <a:rPr sz="2600" b="1">
                <a:solidFill>
                  <a:srgbClr val="002B55"/>
                </a:solidFill>
                <a:latin typeface="Bahnschrift"/>
              </a:rPr>
              <a:t>When AI surprised you</a:t>
            </a:r>
          </a:p>
        </p:txBody>
      </p:sp>
      <p:sp>
        <p:nvSpPr>
          <p:cNvPr id="4" name="Rounded Rectangle 3"/>
          <p:cNvSpPr/>
          <p:nvPr/>
        </p:nvSpPr>
        <p:spPr>
          <a:xfrm>
            <a:off x="612648" y="1325880"/>
            <a:ext cx="10966399" cy="4434840"/>
          </a:xfrm>
          <a:prstGeom prst="roundRect">
            <a:avLst>
              <a:gd name="adj" fmla="val 5000"/>
            </a:avLst>
          </a:prstGeom>
          <a:solidFill>
            <a:srgbClr val="FFFEFB"/>
          </a:solidFill>
          <a:ln w="12700">
            <a:solidFill>
              <a:srgbClr val="C9D6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978408" y="1554480"/>
            <a:ext cx="10234879" cy="3977639"/>
          </a:xfrm>
          <a:prstGeom prst="rect">
            <a:avLst/>
          </a:prstGeom>
          <a:noFill/>
        </p:spPr>
        <p:txBody>
          <a:bodyPr wrap="square" lIns="0" rIns="0" tIns="0" bIns="0" anchor="ctr">
            <a:spAutoFit/>
          </a:bodyPr>
          <a:lstStyle/>
          <a:p>
            <a:pPr algn="l"/>
            <a:r>
              <a:rPr sz="2600" b="0">
                <a:solidFill>
                  <a:srgbClr val="002B55"/>
                </a:solidFill>
                <a:latin typeface="Arial"/>
              </a:rPr>
              <a:t>Describe a moment when an AI tool in your function surprised you, did something you didn't expect, or worked around a limit.</a:t>
            </a:r>
          </a:p>
          <a:p>
            <a:pPr algn="l">
              <a:spcBef>
                <a:spcPts val="2200"/>
              </a:spcBef>
            </a:pPr>
            <a:r>
              <a:rPr sz="2600" b="0">
                <a:solidFill>
                  <a:srgbClr val="002B55"/>
                </a:solidFill>
                <a:latin typeface="Arial"/>
              </a:rPr>
              <a:t>What was your human-check setup at the time, and what did you change afterward?</a:t>
            </a:r>
          </a:p>
        </p:txBody>
      </p:sp>
      <p:sp>
        <p:nvSpPr>
          <p:cNvPr id="6" name="Footer"/>
          <p:cNvSpPr txBox="1"/>
          <p:nvPr/>
        </p:nvSpPr>
        <p:spPr>
          <a:xfrm>
            <a:off x="612648" y="6437376"/>
            <a:ext cx="5715000" cy="192024"/>
          </a:xfrm>
          <a:prstGeom prst="rect">
            <a:avLst/>
          </a:prstGeom>
          <a:noFill/>
        </p:spPr>
        <p:txBody>
          <a:bodyPr wrap="square" lIns="0" rIns="0" tIns="0" bIns="0" anchor="t">
            <a:spAutoFit/>
          </a:bodyPr>
          <a:lstStyle/>
          <a:p>
            <a:pPr algn="l"/>
            <a:r>
              <a:rPr sz="1050" b="0">
                <a:solidFill>
                  <a:srgbClr val="28455F"/>
                </a:solidFill>
                <a:latin typeface="Arial"/>
              </a:rPr>
              <a:t>AI IN ACTION / MEDICAL AFFAIRS</a:t>
            </a:r>
          </a:p>
        </p:txBody>
      </p:sp>
      <p:sp>
        <p:nvSpPr>
          <p:cNvPr id="7" name="Rounded Rectangle 6"/>
          <p:cNvSpPr/>
          <p:nvPr/>
        </p:nvSpPr>
        <p:spPr>
          <a:xfrm>
            <a:off x="11100816" y="6382512"/>
            <a:ext cx="466344" cy="283464"/>
          </a:xfrm>
          <a:prstGeom prst="roundRect">
            <a:avLst>
              <a:gd name="adj" fmla="val 20000"/>
            </a:avLst>
          </a:prstGeom>
          <a:solidFill>
            <a:srgbClr val="FFFFFF"/>
          </a:solidFill>
          <a:ln w="9525">
            <a:solidFill>
              <a:srgbClr val="C9D6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Slide number"/>
          <p:cNvSpPr txBox="1"/>
          <p:nvPr/>
        </p:nvSpPr>
        <p:spPr>
          <a:xfrm>
            <a:off x="11100816" y="6400800"/>
            <a:ext cx="466344" cy="256032"/>
          </a:xfrm>
          <a:prstGeom prst="rect">
            <a:avLst/>
          </a:prstGeom>
          <a:noFill/>
        </p:spPr>
        <p:txBody>
          <a:bodyPr wrap="square" lIns="0" rIns="0" tIns="0" bIns="0" anchor="ctr">
            <a:spAutoFit/>
          </a:bodyPr>
          <a:lstStyle/>
          <a:p>
            <a:pPr algn="ctr"/>
            <a:r>
              <a:rPr sz="1275" b="0">
                <a:solidFill>
                  <a:srgbClr val="28455F"/>
                </a:solidFill>
                <a:latin typeface="Bahnschrift"/>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12648" y="365760"/>
            <a:ext cx="10966399" cy="292608"/>
          </a:xfrm>
          <a:prstGeom prst="rect">
            <a:avLst/>
          </a:prstGeom>
          <a:noFill/>
        </p:spPr>
        <p:txBody>
          <a:bodyPr wrap="square" lIns="0" rIns="0" tIns="0" bIns="0" anchor="t">
            <a:spAutoFit/>
          </a:bodyPr>
          <a:lstStyle/>
          <a:p>
            <a:pPr algn="l"/>
            <a:r>
              <a:rPr sz="1300" b="1">
                <a:solidFill>
                  <a:srgbClr val="007879"/>
                </a:solidFill>
                <a:latin typeface="Bahnschrift"/>
              </a:rPr>
              <a:t>PANEL  ·  Q1</a:t>
            </a:r>
          </a:p>
        </p:txBody>
      </p:sp>
      <p:sp>
        <p:nvSpPr>
          <p:cNvPr id="3" name="TextBox 2"/>
          <p:cNvSpPr txBox="1"/>
          <p:nvPr/>
        </p:nvSpPr>
        <p:spPr>
          <a:xfrm>
            <a:off x="612648" y="685800"/>
            <a:ext cx="10966399" cy="502920"/>
          </a:xfrm>
          <a:prstGeom prst="rect">
            <a:avLst/>
          </a:prstGeom>
          <a:noFill/>
        </p:spPr>
        <p:txBody>
          <a:bodyPr wrap="square" lIns="0" rIns="0" tIns="0" bIns="0" anchor="t">
            <a:spAutoFit/>
          </a:bodyPr>
          <a:lstStyle/>
          <a:p>
            <a:pPr algn="l"/>
            <a:r>
              <a:rPr sz="2600" b="1">
                <a:solidFill>
                  <a:srgbClr val="002B55"/>
                </a:solidFill>
                <a:latin typeface="Bahnschrift"/>
              </a:rPr>
              <a:t>Is the HCP relationship shifting?</a:t>
            </a:r>
          </a:p>
        </p:txBody>
      </p:sp>
      <p:sp>
        <p:nvSpPr>
          <p:cNvPr id="4" name="Rounded Rectangle 3"/>
          <p:cNvSpPr/>
          <p:nvPr/>
        </p:nvSpPr>
        <p:spPr>
          <a:xfrm>
            <a:off x="612648" y="1325880"/>
            <a:ext cx="10966399" cy="4434840"/>
          </a:xfrm>
          <a:prstGeom prst="roundRect">
            <a:avLst>
              <a:gd name="adj" fmla="val 5000"/>
            </a:avLst>
          </a:prstGeom>
          <a:solidFill>
            <a:srgbClr val="FFFEFB"/>
          </a:solidFill>
          <a:ln w="12700">
            <a:solidFill>
              <a:srgbClr val="C9D6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978408" y="1554480"/>
            <a:ext cx="10234879" cy="3977639"/>
          </a:xfrm>
          <a:prstGeom prst="rect">
            <a:avLst/>
          </a:prstGeom>
          <a:noFill/>
        </p:spPr>
        <p:txBody>
          <a:bodyPr wrap="square" lIns="0" rIns="0" tIns="0" bIns="0" anchor="ctr">
            <a:spAutoFit/>
          </a:bodyPr>
          <a:lstStyle/>
          <a:p>
            <a:pPr algn="l"/>
            <a:r>
              <a:rPr sz="2600" b="0">
                <a:solidFill>
                  <a:srgbClr val="002B55"/>
                </a:solidFill>
                <a:latin typeface="Arial"/>
              </a:rPr>
              <a:t>Have you felt the HCP relationship shifting in your function: people getting answers from AI assistants instead of your MSLs, your portal, your team?</a:t>
            </a:r>
          </a:p>
          <a:p>
            <a:pPr algn="l">
              <a:spcBef>
                <a:spcPts val="2200"/>
              </a:spcBef>
            </a:pPr>
            <a:r>
              <a:rPr sz="2600" b="0">
                <a:solidFill>
                  <a:srgbClr val="002B55"/>
                </a:solidFill>
                <a:latin typeface="Arial"/>
              </a:rPr>
              <a:t>What's the most concrete example, and how did you respond?</a:t>
            </a:r>
          </a:p>
        </p:txBody>
      </p:sp>
      <p:sp>
        <p:nvSpPr>
          <p:cNvPr id="6" name="Footer"/>
          <p:cNvSpPr txBox="1"/>
          <p:nvPr/>
        </p:nvSpPr>
        <p:spPr>
          <a:xfrm>
            <a:off x="612648" y="6437376"/>
            <a:ext cx="5715000" cy="192024"/>
          </a:xfrm>
          <a:prstGeom prst="rect">
            <a:avLst/>
          </a:prstGeom>
          <a:noFill/>
        </p:spPr>
        <p:txBody>
          <a:bodyPr wrap="square" lIns="0" rIns="0" tIns="0" bIns="0" anchor="t">
            <a:spAutoFit/>
          </a:bodyPr>
          <a:lstStyle/>
          <a:p>
            <a:pPr algn="l"/>
            <a:r>
              <a:rPr sz="1050" b="0">
                <a:solidFill>
                  <a:srgbClr val="28455F"/>
                </a:solidFill>
                <a:latin typeface="Arial"/>
              </a:rPr>
              <a:t>AI IN ACTION / MEDICAL AFFAIRS</a:t>
            </a:r>
          </a:p>
        </p:txBody>
      </p:sp>
      <p:sp>
        <p:nvSpPr>
          <p:cNvPr id="7" name="Rounded Rectangle 6"/>
          <p:cNvSpPr/>
          <p:nvPr/>
        </p:nvSpPr>
        <p:spPr>
          <a:xfrm>
            <a:off x="11100816" y="6382512"/>
            <a:ext cx="466344" cy="283464"/>
          </a:xfrm>
          <a:prstGeom prst="roundRect">
            <a:avLst>
              <a:gd name="adj" fmla="val 20000"/>
            </a:avLst>
          </a:prstGeom>
          <a:solidFill>
            <a:srgbClr val="FFFFFF"/>
          </a:solidFill>
          <a:ln w="9525">
            <a:solidFill>
              <a:srgbClr val="C9D6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Slide number"/>
          <p:cNvSpPr txBox="1"/>
          <p:nvPr/>
        </p:nvSpPr>
        <p:spPr>
          <a:xfrm>
            <a:off x="11100816" y="6400800"/>
            <a:ext cx="466344" cy="256032"/>
          </a:xfrm>
          <a:prstGeom prst="rect">
            <a:avLst/>
          </a:prstGeom>
          <a:noFill/>
        </p:spPr>
        <p:txBody>
          <a:bodyPr wrap="square" lIns="0" rIns="0" tIns="0" bIns="0" anchor="ctr">
            <a:spAutoFit/>
          </a:bodyPr>
          <a:lstStyle/>
          <a:p>
            <a:pPr algn="ctr"/>
            <a:r>
              <a:rPr sz="1275" b="0">
                <a:solidFill>
                  <a:srgbClr val="28455F"/>
                </a:solidFill>
                <a:latin typeface="Bahnschrift"/>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12648" y="320040"/>
            <a:ext cx="10966399" cy="256032"/>
          </a:xfrm>
          <a:prstGeom prst="rect">
            <a:avLst/>
          </a:prstGeom>
          <a:noFill/>
        </p:spPr>
        <p:txBody>
          <a:bodyPr wrap="square" lIns="0" rIns="0" tIns="0" bIns="0" anchor="t">
            <a:spAutoFit/>
          </a:bodyPr>
          <a:lstStyle/>
          <a:p>
            <a:pPr algn="l"/>
            <a:r>
              <a:rPr sz="1300" b="1">
                <a:solidFill>
                  <a:srgbClr val="007879"/>
                </a:solidFill>
                <a:latin typeface="Bahnschrift"/>
              </a:rPr>
              <a:t>PANEL  ·  Q2</a:t>
            </a:r>
          </a:p>
        </p:txBody>
      </p:sp>
      <p:sp>
        <p:nvSpPr>
          <p:cNvPr id="3" name="TextBox 2"/>
          <p:cNvSpPr txBox="1"/>
          <p:nvPr/>
        </p:nvSpPr>
        <p:spPr>
          <a:xfrm>
            <a:off x="612648" y="594360"/>
            <a:ext cx="10966399" cy="411480"/>
          </a:xfrm>
          <a:prstGeom prst="rect">
            <a:avLst/>
          </a:prstGeom>
          <a:noFill/>
        </p:spPr>
        <p:txBody>
          <a:bodyPr wrap="square" lIns="0" rIns="0" tIns="0" bIns="0" anchor="t">
            <a:spAutoFit/>
          </a:bodyPr>
          <a:lstStyle/>
          <a:p>
            <a:pPr algn="l"/>
            <a:r>
              <a:rPr sz="2400" b="1">
                <a:solidFill>
                  <a:srgbClr val="002B55"/>
                </a:solidFill>
                <a:latin typeface="Bahnschrift"/>
              </a:rPr>
              <a:t>What should an agent do, and never touch?</a:t>
            </a:r>
          </a:p>
        </p:txBody>
      </p:sp>
      <p:sp>
        <p:nvSpPr>
          <p:cNvPr id="4" name="TextBox 3"/>
          <p:cNvSpPr txBox="1"/>
          <p:nvPr/>
        </p:nvSpPr>
        <p:spPr>
          <a:xfrm>
            <a:off x="612648" y="1051560"/>
            <a:ext cx="10966399" cy="548640"/>
          </a:xfrm>
          <a:prstGeom prst="rect">
            <a:avLst/>
          </a:prstGeom>
          <a:noFill/>
        </p:spPr>
        <p:txBody>
          <a:bodyPr wrap="square" lIns="0" rIns="0" tIns="0" bIns="0" anchor="t">
            <a:spAutoFit/>
          </a:bodyPr>
          <a:lstStyle/>
          <a:p>
            <a:pPr algn="l"/>
            <a:r>
              <a:rPr sz="1800" b="0">
                <a:solidFill>
                  <a:srgbClr val="28455F"/>
                </a:solidFill>
                <a:latin typeface="Arial"/>
              </a:rPr>
              <a:t>Coinbase's fraud agent can only score risk; it can't act, and it can't override the human system. In your function:</a:t>
            </a:r>
          </a:p>
        </p:txBody>
      </p:sp>
      <p:sp>
        <p:nvSpPr>
          <p:cNvPr id="5" name="Rounded Rectangle 4"/>
          <p:cNvSpPr/>
          <p:nvPr/>
        </p:nvSpPr>
        <p:spPr>
          <a:xfrm>
            <a:off x="612648" y="1691640"/>
            <a:ext cx="3520440" cy="4023360"/>
          </a:xfrm>
          <a:prstGeom prst="roundRect">
            <a:avLst>
              <a:gd name="adj" fmla="val 5000"/>
            </a:avLst>
          </a:prstGeom>
          <a:solidFill>
            <a:srgbClr val="E3F1F1"/>
          </a:solidFill>
          <a:ln w="12700">
            <a:solidFill>
              <a:srgbClr val="C9D6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ounded Rectangle 5"/>
          <p:cNvSpPr/>
          <p:nvPr/>
        </p:nvSpPr>
        <p:spPr>
          <a:xfrm>
            <a:off x="612648" y="1691640"/>
            <a:ext cx="3520440" cy="960120"/>
          </a:xfrm>
          <a:prstGeom prst="roundRect">
            <a:avLst>
              <a:gd name="adj" fmla="val 12000"/>
            </a:avLst>
          </a:prstGeom>
          <a:solidFill>
            <a:srgbClr val="0078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612648" y="1737360"/>
            <a:ext cx="3520440" cy="868680"/>
          </a:xfrm>
          <a:prstGeom prst="rect">
            <a:avLst/>
          </a:prstGeom>
          <a:noFill/>
        </p:spPr>
        <p:txBody>
          <a:bodyPr wrap="square" lIns="0" rIns="0" tIns="0" bIns="0" anchor="ctr">
            <a:spAutoFit/>
          </a:bodyPr>
          <a:lstStyle/>
          <a:p>
            <a:pPr algn="ctr"/>
            <a:r>
              <a:rPr sz="2000" b="1">
                <a:solidFill>
                  <a:srgbClr val="FFFFFF"/>
                </a:solidFill>
                <a:latin typeface="Bahnschrift"/>
              </a:rPr>
              <a:t>DO</a:t>
            </a:r>
          </a:p>
          <a:p>
            <a:pPr algn="ctr">
              <a:spcBef>
                <a:spcPts val="200"/>
              </a:spcBef>
            </a:pPr>
            <a:r>
              <a:rPr sz="1300" b="0">
                <a:solidFill>
                  <a:srgbClr val="FFFFFF"/>
                </a:solidFill>
                <a:latin typeface="Arial"/>
              </a:rPr>
              <a:t>on its own</a:t>
            </a:r>
          </a:p>
        </p:txBody>
      </p:sp>
      <p:sp>
        <p:nvSpPr>
          <p:cNvPr id="8" name="TextBox 7"/>
          <p:cNvSpPr txBox="1"/>
          <p:nvPr/>
        </p:nvSpPr>
        <p:spPr>
          <a:xfrm>
            <a:off x="886968" y="2926080"/>
            <a:ext cx="2971800" cy="2468880"/>
          </a:xfrm>
          <a:prstGeom prst="rect">
            <a:avLst/>
          </a:prstGeom>
          <a:noFill/>
        </p:spPr>
        <p:txBody>
          <a:bodyPr wrap="square" lIns="0" rIns="0" tIns="0" bIns="0" anchor="ctr">
            <a:spAutoFit/>
          </a:bodyPr>
          <a:lstStyle/>
          <a:p>
            <a:pPr algn="ctr"/>
            <a:r>
              <a:rPr sz="2400" b="1">
                <a:solidFill>
                  <a:srgbClr val="002B55"/>
                </a:solidFill>
                <a:latin typeface="Arial"/>
              </a:rPr>
              <a:t>Which tasks should an agent do on its own?</a:t>
            </a:r>
          </a:p>
        </p:txBody>
      </p:sp>
      <p:sp>
        <p:nvSpPr>
          <p:cNvPr id="9" name="Rounded Rectangle 8"/>
          <p:cNvSpPr/>
          <p:nvPr/>
        </p:nvSpPr>
        <p:spPr>
          <a:xfrm>
            <a:off x="4315968" y="1691640"/>
            <a:ext cx="3520440" cy="4023360"/>
          </a:xfrm>
          <a:prstGeom prst="roundRect">
            <a:avLst>
              <a:gd name="adj" fmla="val 5000"/>
            </a:avLst>
          </a:prstGeom>
          <a:solidFill>
            <a:srgbClr val="FDEBE1"/>
          </a:solidFill>
          <a:ln w="12700">
            <a:solidFill>
              <a:srgbClr val="C9D6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ounded Rectangle 9"/>
          <p:cNvSpPr/>
          <p:nvPr/>
        </p:nvSpPr>
        <p:spPr>
          <a:xfrm>
            <a:off x="4315968" y="1691640"/>
            <a:ext cx="3520440" cy="960120"/>
          </a:xfrm>
          <a:prstGeom prst="roundRect">
            <a:avLst>
              <a:gd name="adj" fmla="val 12000"/>
            </a:avLst>
          </a:prstGeom>
          <a:solidFill>
            <a:srgbClr val="F477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4315968" y="1737360"/>
            <a:ext cx="3520440" cy="868680"/>
          </a:xfrm>
          <a:prstGeom prst="rect">
            <a:avLst/>
          </a:prstGeom>
          <a:noFill/>
        </p:spPr>
        <p:txBody>
          <a:bodyPr wrap="square" lIns="0" rIns="0" tIns="0" bIns="0" anchor="ctr">
            <a:spAutoFit/>
          </a:bodyPr>
          <a:lstStyle/>
          <a:p>
            <a:pPr algn="ctr"/>
            <a:r>
              <a:rPr sz="2000" b="1">
                <a:solidFill>
                  <a:srgbClr val="FFFFFF"/>
                </a:solidFill>
                <a:latin typeface="Bahnschrift"/>
              </a:rPr>
              <a:t>DRAFT FOR SIGN-OFF</a:t>
            </a:r>
          </a:p>
          <a:p>
            <a:pPr algn="ctr">
              <a:spcBef>
                <a:spcPts val="200"/>
              </a:spcBef>
            </a:pPr>
            <a:r>
              <a:rPr sz="1300" b="0">
                <a:solidFill>
                  <a:srgbClr val="FFFFFF"/>
                </a:solidFill>
                <a:latin typeface="Arial"/>
              </a:rPr>
              <a:t>a human approves</a:t>
            </a:r>
          </a:p>
        </p:txBody>
      </p:sp>
      <p:sp>
        <p:nvSpPr>
          <p:cNvPr id="12" name="TextBox 11"/>
          <p:cNvSpPr txBox="1"/>
          <p:nvPr/>
        </p:nvSpPr>
        <p:spPr>
          <a:xfrm>
            <a:off x="4590288" y="2926080"/>
            <a:ext cx="2971800" cy="2468880"/>
          </a:xfrm>
          <a:prstGeom prst="rect">
            <a:avLst/>
          </a:prstGeom>
          <a:noFill/>
        </p:spPr>
        <p:txBody>
          <a:bodyPr wrap="square" lIns="0" rIns="0" tIns="0" bIns="0" anchor="ctr">
            <a:spAutoFit/>
          </a:bodyPr>
          <a:lstStyle/>
          <a:p>
            <a:pPr algn="ctr"/>
            <a:r>
              <a:rPr sz="2400" b="1">
                <a:solidFill>
                  <a:srgbClr val="002B55"/>
                </a:solidFill>
                <a:latin typeface="Arial"/>
              </a:rPr>
              <a:t>Which should it only draft for human sign-off?</a:t>
            </a:r>
          </a:p>
        </p:txBody>
      </p:sp>
      <p:sp>
        <p:nvSpPr>
          <p:cNvPr id="13" name="Rounded Rectangle 12"/>
          <p:cNvSpPr/>
          <p:nvPr/>
        </p:nvSpPr>
        <p:spPr>
          <a:xfrm>
            <a:off x="8019288" y="1691640"/>
            <a:ext cx="3520440" cy="4023360"/>
          </a:xfrm>
          <a:prstGeom prst="roundRect">
            <a:avLst>
              <a:gd name="adj" fmla="val 5000"/>
            </a:avLst>
          </a:prstGeom>
          <a:solidFill>
            <a:srgbClr val="FCE8E6"/>
          </a:solidFill>
          <a:ln w="12700">
            <a:solidFill>
              <a:srgbClr val="C9D6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ounded Rectangle 13"/>
          <p:cNvSpPr/>
          <p:nvPr/>
        </p:nvSpPr>
        <p:spPr>
          <a:xfrm>
            <a:off x="8019288" y="1691640"/>
            <a:ext cx="3520440" cy="960120"/>
          </a:xfrm>
          <a:prstGeom prst="roundRect">
            <a:avLst>
              <a:gd name="adj" fmla="val 12000"/>
            </a:avLst>
          </a:prstGeom>
          <a:solidFill>
            <a:srgbClr val="B450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8019288" y="1737360"/>
            <a:ext cx="3520440" cy="868680"/>
          </a:xfrm>
          <a:prstGeom prst="rect">
            <a:avLst/>
          </a:prstGeom>
          <a:noFill/>
        </p:spPr>
        <p:txBody>
          <a:bodyPr wrap="square" lIns="0" rIns="0" tIns="0" bIns="0" anchor="ctr">
            <a:spAutoFit/>
          </a:bodyPr>
          <a:lstStyle/>
          <a:p>
            <a:pPr algn="ctr"/>
            <a:r>
              <a:rPr sz="2000" b="1">
                <a:solidFill>
                  <a:srgbClr val="FFFFFF"/>
                </a:solidFill>
                <a:latin typeface="Bahnschrift"/>
              </a:rPr>
              <a:t>NEVER TOUCH</a:t>
            </a:r>
          </a:p>
          <a:p>
            <a:pPr algn="ctr">
              <a:spcBef>
                <a:spcPts val="200"/>
              </a:spcBef>
            </a:pPr>
            <a:r>
              <a:rPr sz="1300" b="0">
                <a:solidFill>
                  <a:srgbClr val="FFFFFF"/>
                </a:solidFill>
                <a:latin typeface="Arial"/>
              </a:rPr>
              <a:t>humans only</a:t>
            </a:r>
          </a:p>
        </p:txBody>
      </p:sp>
      <p:sp>
        <p:nvSpPr>
          <p:cNvPr id="16" name="TextBox 15"/>
          <p:cNvSpPr txBox="1"/>
          <p:nvPr/>
        </p:nvSpPr>
        <p:spPr>
          <a:xfrm>
            <a:off x="8293608" y="2926080"/>
            <a:ext cx="2971800" cy="2468880"/>
          </a:xfrm>
          <a:prstGeom prst="rect">
            <a:avLst/>
          </a:prstGeom>
          <a:noFill/>
        </p:spPr>
        <p:txBody>
          <a:bodyPr wrap="square" lIns="0" rIns="0" tIns="0" bIns="0" anchor="ctr">
            <a:spAutoFit/>
          </a:bodyPr>
          <a:lstStyle/>
          <a:p>
            <a:pPr algn="ctr"/>
            <a:r>
              <a:rPr sz="2400" b="1">
                <a:solidFill>
                  <a:srgbClr val="002B55"/>
                </a:solidFill>
                <a:latin typeface="Arial"/>
              </a:rPr>
              <a:t>Which should it never touch?</a:t>
            </a:r>
          </a:p>
        </p:txBody>
      </p:sp>
      <p:sp>
        <p:nvSpPr>
          <p:cNvPr id="17" name="Footer"/>
          <p:cNvSpPr txBox="1"/>
          <p:nvPr/>
        </p:nvSpPr>
        <p:spPr>
          <a:xfrm>
            <a:off x="612648" y="6437376"/>
            <a:ext cx="5715000" cy="192024"/>
          </a:xfrm>
          <a:prstGeom prst="rect">
            <a:avLst/>
          </a:prstGeom>
          <a:noFill/>
        </p:spPr>
        <p:txBody>
          <a:bodyPr wrap="square" lIns="0" rIns="0" tIns="0" bIns="0" anchor="t">
            <a:spAutoFit/>
          </a:bodyPr>
          <a:lstStyle/>
          <a:p>
            <a:pPr algn="l"/>
            <a:r>
              <a:rPr sz="1050" b="0">
                <a:solidFill>
                  <a:srgbClr val="28455F"/>
                </a:solidFill>
                <a:latin typeface="Arial"/>
              </a:rPr>
              <a:t>AI IN ACTION / MEDICAL AFFAIRS</a:t>
            </a:r>
          </a:p>
        </p:txBody>
      </p:sp>
      <p:sp>
        <p:nvSpPr>
          <p:cNvPr id="18" name="Rounded Rectangle 17"/>
          <p:cNvSpPr/>
          <p:nvPr/>
        </p:nvSpPr>
        <p:spPr>
          <a:xfrm>
            <a:off x="11100816" y="6382512"/>
            <a:ext cx="466344" cy="283464"/>
          </a:xfrm>
          <a:prstGeom prst="roundRect">
            <a:avLst>
              <a:gd name="adj" fmla="val 20000"/>
            </a:avLst>
          </a:prstGeom>
          <a:solidFill>
            <a:srgbClr val="FFFFFF"/>
          </a:solidFill>
          <a:ln w="9525">
            <a:solidFill>
              <a:srgbClr val="C9D6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Slide number"/>
          <p:cNvSpPr txBox="1"/>
          <p:nvPr/>
        </p:nvSpPr>
        <p:spPr>
          <a:xfrm>
            <a:off x="11100816" y="6400800"/>
            <a:ext cx="466344" cy="256032"/>
          </a:xfrm>
          <a:prstGeom prst="rect">
            <a:avLst/>
          </a:prstGeom>
          <a:noFill/>
        </p:spPr>
        <p:txBody>
          <a:bodyPr wrap="square" lIns="0" rIns="0" tIns="0" bIns="0" anchor="ctr">
            <a:spAutoFit/>
          </a:bodyPr>
          <a:lstStyle/>
          <a:p>
            <a:pPr algn="ctr"/>
            <a:r>
              <a:rPr sz="1275" b="0">
                <a:solidFill>
                  <a:srgbClr val="28455F"/>
                </a:solidFill>
                <a:latin typeface="Bahnschrift"/>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12648" y="365760"/>
            <a:ext cx="10966399" cy="292608"/>
          </a:xfrm>
          <a:prstGeom prst="rect">
            <a:avLst/>
          </a:prstGeom>
          <a:noFill/>
        </p:spPr>
        <p:txBody>
          <a:bodyPr wrap="square" lIns="0" rIns="0" tIns="0" bIns="0" anchor="t">
            <a:spAutoFit/>
          </a:bodyPr>
          <a:lstStyle/>
          <a:p>
            <a:pPr algn="l"/>
            <a:r>
              <a:rPr sz="1300" b="1">
                <a:solidFill>
                  <a:srgbClr val="007879"/>
                </a:solidFill>
                <a:latin typeface="Bahnschrift"/>
              </a:rPr>
              <a:t>PANEL  ·  Q3</a:t>
            </a:r>
          </a:p>
        </p:txBody>
      </p:sp>
      <p:sp>
        <p:nvSpPr>
          <p:cNvPr id="3" name="TextBox 2"/>
          <p:cNvSpPr txBox="1"/>
          <p:nvPr/>
        </p:nvSpPr>
        <p:spPr>
          <a:xfrm>
            <a:off x="612648" y="685800"/>
            <a:ext cx="10966399" cy="502920"/>
          </a:xfrm>
          <a:prstGeom prst="rect">
            <a:avLst/>
          </a:prstGeom>
          <a:noFill/>
        </p:spPr>
        <p:txBody>
          <a:bodyPr wrap="square" lIns="0" rIns="0" tIns="0" bIns="0" anchor="t">
            <a:spAutoFit/>
          </a:bodyPr>
          <a:lstStyle/>
          <a:p>
            <a:pPr algn="l"/>
            <a:r>
              <a:rPr sz="2600" b="1">
                <a:solidFill>
                  <a:srgbClr val="002B55"/>
                </a:solidFill>
                <a:latin typeface="Bahnschrift"/>
              </a:rPr>
              <a:t>Safe-to-fail experiments</a:t>
            </a:r>
          </a:p>
        </p:txBody>
      </p:sp>
      <p:sp>
        <p:nvSpPr>
          <p:cNvPr id="4" name="Rounded Rectangle 3"/>
          <p:cNvSpPr/>
          <p:nvPr/>
        </p:nvSpPr>
        <p:spPr>
          <a:xfrm>
            <a:off x="612648" y="1325880"/>
            <a:ext cx="10966399" cy="4434840"/>
          </a:xfrm>
          <a:prstGeom prst="roundRect">
            <a:avLst>
              <a:gd name="adj" fmla="val 5000"/>
            </a:avLst>
          </a:prstGeom>
          <a:solidFill>
            <a:srgbClr val="FFFEFB"/>
          </a:solidFill>
          <a:ln w="12700">
            <a:solidFill>
              <a:srgbClr val="C9D6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978408" y="1554480"/>
            <a:ext cx="10234879" cy="3977639"/>
          </a:xfrm>
          <a:prstGeom prst="rect">
            <a:avLst/>
          </a:prstGeom>
          <a:noFill/>
        </p:spPr>
        <p:txBody>
          <a:bodyPr wrap="square" lIns="0" rIns="0" tIns="0" bIns="0" anchor="ctr">
            <a:spAutoFit/>
          </a:bodyPr>
          <a:lstStyle/>
          <a:p>
            <a:pPr algn="l"/>
            <a:r>
              <a:rPr sz="2600" b="0">
                <a:solidFill>
                  <a:srgbClr val="002B55"/>
                </a:solidFill>
                <a:latin typeface="Arial"/>
              </a:rPr>
              <a:t>The research says the winners just kept experimenting; most successful AI projects had failures nobody was punished for.</a:t>
            </a:r>
          </a:p>
          <a:p>
            <a:pPr algn="l">
              <a:spcBef>
                <a:spcPts val="2200"/>
              </a:spcBef>
            </a:pPr>
            <a:r>
              <a:rPr sz="2600" b="0">
                <a:solidFill>
                  <a:srgbClr val="002B55"/>
                </a:solidFill>
                <a:latin typeface="Arial"/>
              </a:rPr>
              <a:t>Tell us about a safe-to-fail experiment you ran in your function. What made it safe, and what did you learn?</a:t>
            </a:r>
          </a:p>
        </p:txBody>
      </p:sp>
      <p:sp>
        <p:nvSpPr>
          <p:cNvPr id="6" name="Footer"/>
          <p:cNvSpPr txBox="1"/>
          <p:nvPr/>
        </p:nvSpPr>
        <p:spPr>
          <a:xfrm>
            <a:off x="612648" y="6437376"/>
            <a:ext cx="5715000" cy="192024"/>
          </a:xfrm>
          <a:prstGeom prst="rect">
            <a:avLst/>
          </a:prstGeom>
          <a:noFill/>
        </p:spPr>
        <p:txBody>
          <a:bodyPr wrap="square" lIns="0" rIns="0" tIns="0" bIns="0" anchor="t">
            <a:spAutoFit/>
          </a:bodyPr>
          <a:lstStyle/>
          <a:p>
            <a:pPr algn="l"/>
            <a:r>
              <a:rPr sz="1050" b="0">
                <a:solidFill>
                  <a:srgbClr val="28455F"/>
                </a:solidFill>
                <a:latin typeface="Arial"/>
              </a:rPr>
              <a:t>AI IN ACTION / MEDICAL AFFAIRS</a:t>
            </a:r>
          </a:p>
        </p:txBody>
      </p:sp>
      <p:sp>
        <p:nvSpPr>
          <p:cNvPr id="7" name="Rounded Rectangle 6"/>
          <p:cNvSpPr/>
          <p:nvPr/>
        </p:nvSpPr>
        <p:spPr>
          <a:xfrm>
            <a:off x="11100816" y="6382512"/>
            <a:ext cx="466344" cy="283464"/>
          </a:xfrm>
          <a:prstGeom prst="roundRect">
            <a:avLst>
              <a:gd name="adj" fmla="val 20000"/>
            </a:avLst>
          </a:prstGeom>
          <a:solidFill>
            <a:srgbClr val="FFFFFF"/>
          </a:solidFill>
          <a:ln w="9525">
            <a:solidFill>
              <a:srgbClr val="C9D6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Slide number"/>
          <p:cNvSpPr txBox="1"/>
          <p:nvPr/>
        </p:nvSpPr>
        <p:spPr>
          <a:xfrm>
            <a:off x="11100816" y="6400800"/>
            <a:ext cx="466344" cy="256032"/>
          </a:xfrm>
          <a:prstGeom prst="rect">
            <a:avLst/>
          </a:prstGeom>
          <a:noFill/>
        </p:spPr>
        <p:txBody>
          <a:bodyPr wrap="square" lIns="0" rIns="0" tIns="0" bIns="0" anchor="ctr">
            <a:spAutoFit/>
          </a:bodyPr>
          <a:lstStyle/>
          <a:p>
            <a:pPr algn="ctr"/>
            <a:r>
              <a:rPr sz="1275" b="0">
                <a:solidFill>
                  <a:srgbClr val="28455F"/>
                </a:solidFill>
                <a:latin typeface="Bahnschrift"/>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12648" y="365760"/>
            <a:ext cx="10966399" cy="292608"/>
          </a:xfrm>
          <a:prstGeom prst="rect">
            <a:avLst/>
          </a:prstGeom>
          <a:noFill/>
        </p:spPr>
        <p:txBody>
          <a:bodyPr wrap="square" lIns="0" rIns="0" tIns="0" bIns="0" anchor="t">
            <a:spAutoFit/>
          </a:bodyPr>
          <a:lstStyle/>
          <a:p>
            <a:pPr algn="l"/>
            <a:r>
              <a:rPr sz="1300" b="1">
                <a:solidFill>
                  <a:srgbClr val="007879"/>
                </a:solidFill>
                <a:latin typeface="Bahnschrift"/>
              </a:rPr>
              <a:t>PANEL  ·  Q4</a:t>
            </a:r>
          </a:p>
        </p:txBody>
      </p:sp>
      <p:sp>
        <p:nvSpPr>
          <p:cNvPr id="3" name="TextBox 2"/>
          <p:cNvSpPr txBox="1"/>
          <p:nvPr/>
        </p:nvSpPr>
        <p:spPr>
          <a:xfrm>
            <a:off x="612648" y="685800"/>
            <a:ext cx="10966399" cy="502920"/>
          </a:xfrm>
          <a:prstGeom prst="rect">
            <a:avLst/>
          </a:prstGeom>
          <a:noFill/>
        </p:spPr>
        <p:txBody>
          <a:bodyPr wrap="square" lIns="0" rIns="0" tIns="0" bIns="0" anchor="t">
            <a:spAutoFit/>
          </a:bodyPr>
          <a:lstStyle/>
          <a:p>
            <a:pPr algn="l"/>
            <a:r>
              <a:rPr sz="2600" b="1">
                <a:solidFill>
                  <a:srgbClr val="002B55"/>
                </a:solidFill>
                <a:latin typeface="Bahnschrift"/>
              </a:rPr>
              <a:t>Train experts to challenge AI</a:t>
            </a:r>
          </a:p>
        </p:txBody>
      </p:sp>
      <p:sp>
        <p:nvSpPr>
          <p:cNvPr id="4" name="Rounded Rectangle 3"/>
          <p:cNvSpPr/>
          <p:nvPr/>
        </p:nvSpPr>
        <p:spPr>
          <a:xfrm>
            <a:off x="612648" y="1325880"/>
            <a:ext cx="10966399" cy="4434840"/>
          </a:xfrm>
          <a:prstGeom prst="roundRect">
            <a:avLst>
              <a:gd name="adj" fmla="val 5000"/>
            </a:avLst>
          </a:prstGeom>
          <a:solidFill>
            <a:srgbClr val="FFFEFB"/>
          </a:solidFill>
          <a:ln w="12700">
            <a:solidFill>
              <a:srgbClr val="C9D6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978408" y="1554480"/>
            <a:ext cx="10234879" cy="3977639"/>
          </a:xfrm>
          <a:prstGeom prst="rect">
            <a:avLst/>
          </a:prstGeom>
          <a:noFill/>
        </p:spPr>
        <p:txBody>
          <a:bodyPr wrap="square" lIns="0" rIns="0" tIns="0" bIns="0" anchor="ctr">
            <a:spAutoFit/>
          </a:bodyPr>
          <a:lstStyle/>
          <a:p>
            <a:pPr algn="l"/>
            <a:r>
              <a:rPr sz="2600" b="0">
                <a:solidFill>
                  <a:srgbClr val="002B55"/>
                </a:solidFill>
                <a:latin typeface="Arial"/>
              </a:rPr>
              <a:t>The data says the biggest AI gains go to people who are best at catching the machine's mistakes, not those who trust it most.</a:t>
            </a:r>
          </a:p>
          <a:p>
            <a:pPr algn="l">
              <a:spcBef>
                <a:spcPts val="2200"/>
              </a:spcBef>
            </a:pPr>
            <a:r>
              <a:rPr sz="2600" b="0">
                <a:solidFill>
                  <a:srgbClr val="002B55"/>
                </a:solidFill>
                <a:latin typeface="Arial"/>
              </a:rPr>
              <a:t>How are you training your experts (MSLs, reviewers, analysts) to challenge AI output instead of deferring to it? Give us something concrete that's worked.</a:t>
            </a:r>
          </a:p>
        </p:txBody>
      </p:sp>
      <p:sp>
        <p:nvSpPr>
          <p:cNvPr id="6" name="Footer"/>
          <p:cNvSpPr txBox="1"/>
          <p:nvPr/>
        </p:nvSpPr>
        <p:spPr>
          <a:xfrm>
            <a:off x="612648" y="6437376"/>
            <a:ext cx="5715000" cy="192024"/>
          </a:xfrm>
          <a:prstGeom prst="rect">
            <a:avLst/>
          </a:prstGeom>
          <a:noFill/>
        </p:spPr>
        <p:txBody>
          <a:bodyPr wrap="square" lIns="0" rIns="0" tIns="0" bIns="0" anchor="t">
            <a:spAutoFit/>
          </a:bodyPr>
          <a:lstStyle/>
          <a:p>
            <a:pPr algn="l"/>
            <a:r>
              <a:rPr sz="1050" b="0">
                <a:solidFill>
                  <a:srgbClr val="28455F"/>
                </a:solidFill>
                <a:latin typeface="Arial"/>
              </a:rPr>
              <a:t>AI IN ACTION / MEDICAL AFFAIRS</a:t>
            </a:r>
          </a:p>
        </p:txBody>
      </p:sp>
      <p:sp>
        <p:nvSpPr>
          <p:cNvPr id="7" name="Rounded Rectangle 6"/>
          <p:cNvSpPr/>
          <p:nvPr/>
        </p:nvSpPr>
        <p:spPr>
          <a:xfrm>
            <a:off x="11100816" y="6382512"/>
            <a:ext cx="466344" cy="283464"/>
          </a:xfrm>
          <a:prstGeom prst="roundRect">
            <a:avLst>
              <a:gd name="adj" fmla="val 20000"/>
            </a:avLst>
          </a:prstGeom>
          <a:solidFill>
            <a:srgbClr val="FFFFFF"/>
          </a:solidFill>
          <a:ln w="9525">
            <a:solidFill>
              <a:srgbClr val="C9D6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Slide number"/>
          <p:cNvSpPr txBox="1"/>
          <p:nvPr/>
        </p:nvSpPr>
        <p:spPr>
          <a:xfrm>
            <a:off x="11100816" y="6400800"/>
            <a:ext cx="466344" cy="256032"/>
          </a:xfrm>
          <a:prstGeom prst="rect">
            <a:avLst/>
          </a:prstGeom>
          <a:noFill/>
        </p:spPr>
        <p:txBody>
          <a:bodyPr wrap="square" lIns="0" rIns="0" tIns="0" bIns="0" anchor="ctr">
            <a:spAutoFit/>
          </a:bodyPr>
          <a:lstStyle/>
          <a:p>
            <a:pPr algn="ctr"/>
            <a:r>
              <a:rPr sz="1275" b="0">
                <a:solidFill>
                  <a:srgbClr val="28455F"/>
                </a:solidFill>
                <a:latin typeface="Bahnschrift"/>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12648" y="365760"/>
            <a:ext cx="10966399" cy="292608"/>
          </a:xfrm>
          <a:prstGeom prst="rect">
            <a:avLst/>
          </a:prstGeom>
          <a:noFill/>
        </p:spPr>
        <p:txBody>
          <a:bodyPr wrap="square" lIns="0" rIns="0" tIns="0" bIns="0" anchor="t">
            <a:spAutoFit/>
          </a:bodyPr>
          <a:lstStyle/>
          <a:p>
            <a:pPr algn="l"/>
            <a:r>
              <a:rPr sz="1300" b="1">
                <a:solidFill>
                  <a:srgbClr val="007879"/>
                </a:solidFill>
                <a:latin typeface="Bahnschrift"/>
              </a:rPr>
              <a:t>PANEL  ·  Q5</a:t>
            </a:r>
          </a:p>
        </p:txBody>
      </p:sp>
      <p:sp>
        <p:nvSpPr>
          <p:cNvPr id="3" name="TextBox 2"/>
          <p:cNvSpPr txBox="1"/>
          <p:nvPr/>
        </p:nvSpPr>
        <p:spPr>
          <a:xfrm>
            <a:off x="612648" y="685800"/>
            <a:ext cx="10966399" cy="502920"/>
          </a:xfrm>
          <a:prstGeom prst="rect">
            <a:avLst/>
          </a:prstGeom>
          <a:noFill/>
        </p:spPr>
        <p:txBody>
          <a:bodyPr wrap="square" lIns="0" rIns="0" tIns="0" bIns="0" anchor="t">
            <a:spAutoFit/>
          </a:bodyPr>
          <a:lstStyle/>
          <a:p>
            <a:pPr algn="l"/>
            <a:r>
              <a:rPr sz="2600" b="1">
                <a:solidFill>
                  <a:srgbClr val="002B55"/>
                </a:solidFill>
                <a:latin typeface="Bahnschrift"/>
              </a:rPr>
              <a:t>Design the exam for an AI agent</a:t>
            </a:r>
          </a:p>
        </p:txBody>
      </p:sp>
      <p:sp>
        <p:nvSpPr>
          <p:cNvPr id="4" name="Rounded Rectangle 3"/>
          <p:cNvSpPr/>
          <p:nvPr/>
        </p:nvSpPr>
        <p:spPr>
          <a:xfrm>
            <a:off x="612648" y="1325880"/>
            <a:ext cx="10966399" cy="4434840"/>
          </a:xfrm>
          <a:prstGeom prst="roundRect">
            <a:avLst>
              <a:gd name="adj" fmla="val 5000"/>
            </a:avLst>
          </a:prstGeom>
          <a:solidFill>
            <a:srgbClr val="FFFEFB"/>
          </a:solidFill>
          <a:ln w="12700">
            <a:solidFill>
              <a:srgbClr val="C9D6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978408" y="1554480"/>
            <a:ext cx="10234879" cy="3977639"/>
          </a:xfrm>
          <a:prstGeom prst="rect">
            <a:avLst/>
          </a:prstGeom>
          <a:noFill/>
        </p:spPr>
        <p:txBody>
          <a:bodyPr wrap="square" lIns="0" rIns="0" tIns="0" bIns="0" anchor="ctr">
            <a:spAutoFit/>
          </a:bodyPr>
          <a:lstStyle/>
          <a:p>
            <a:pPr algn="l"/>
            <a:r>
              <a:rPr sz="2600" b="0">
                <a:solidFill>
                  <a:srgbClr val="002B55"/>
                </a:solidFill>
                <a:latin typeface="Arial"/>
              </a:rPr>
              <a:t>Legal now grades its AI agents against strict pass/fail tests judged by real practitioners.</a:t>
            </a:r>
          </a:p>
          <a:p>
            <a:pPr algn="l">
              <a:spcBef>
                <a:spcPts val="2200"/>
              </a:spcBef>
            </a:pPr>
            <a:r>
              <a:rPr sz="2600" b="0">
                <a:solidFill>
                  <a:srgbClr val="002B55"/>
                </a:solidFill>
                <a:latin typeface="Arial"/>
              </a:rPr>
              <a:t>If you had to design the exam for an AI agent in your function, say one answering HCP questions, what would the test be, and who would you trust to grade it?</a:t>
            </a:r>
          </a:p>
        </p:txBody>
      </p:sp>
      <p:sp>
        <p:nvSpPr>
          <p:cNvPr id="6" name="Footer"/>
          <p:cNvSpPr txBox="1"/>
          <p:nvPr/>
        </p:nvSpPr>
        <p:spPr>
          <a:xfrm>
            <a:off x="612648" y="6437376"/>
            <a:ext cx="5715000" cy="192024"/>
          </a:xfrm>
          <a:prstGeom prst="rect">
            <a:avLst/>
          </a:prstGeom>
          <a:noFill/>
        </p:spPr>
        <p:txBody>
          <a:bodyPr wrap="square" lIns="0" rIns="0" tIns="0" bIns="0" anchor="t">
            <a:spAutoFit/>
          </a:bodyPr>
          <a:lstStyle/>
          <a:p>
            <a:pPr algn="l"/>
            <a:r>
              <a:rPr sz="1050" b="0">
                <a:solidFill>
                  <a:srgbClr val="28455F"/>
                </a:solidFill>
                <a:latin typeface="Arial"/>
              </a:rPr>
              <a:t>AI IN ACTION / MEDICAL AFFAIRS</a:t>
            </a:r>
          </a:p>
        </p:txBody>
      </p:sp>
      <p:sp>
        <p:nvSpPr>
          <p:cNvPr id="7" name="Rounded Rectangle 6"/>
          <p:cNvSpPr/>
          <p:nvPr/>
        </p:nvSpPr>
        <p:spPr>
          <a:xfrm>
            <a:off x="11100816" y="6382512"/>
            <a:ext cx="466344" cy="283464"/>
          </a:xfrm>
          <a:prstGeom prst="roundRect">
            <a:avLst>
              <a:gd name="adj" fmla="val 20000"/>
            </a:avLst>
          </a:prstGeom>
          <a:solidFill>
            <a:srgbClr val="FFFFFF"/>
          </a:solidFill>
          <a:ln w="9525">
            <a:solidFill>
              <a:srgbClr val="C9D6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Slide number"/>
          <p:cNvSpPr txBox="1"/>
          <p:nvPr/>
        </p:nvSpPr>
        <p:spPr>
          <a:xfrm>
            <a:off x="11100816" y="6400800"/>
            <a:ext cx="466344" cy="256032"/>
          </a:xfrm>
          <a:prstGeom prst="rect">
            <a:avLst/>
          </a:prstGeom>
          <a:noFill/>
        </p:spPr>
        <p:txBody>
          <a:bodyPr wrap="square" lIns="0" rIns="0" tIns="0" bIns="0" anchor="ctr">
            <a:spAutoFit/>
          </a:bodyPr>
          <a:lstStyle/>
          <a:p>
            <a:pPr algn="ctr"/>
            <a:r>
              <a:rPr sz="1275" b="0">
                <a:solidFill>
                  <a:srgbClr val="28455F"/>
                </a:solidFill>
                <a:latin typeface="Bahnschrift"/>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12648" y="365760"/>
            <a:ext cx="10966399" cy="292608"/>
          </a:xfrm>
          <a:prstGeom prst="rect">
            <a:avLst/>
          </a:prstGeom>
          <a:noFill/>
        </p:spPr>
        <p:txBody>
          <a:bodyPr wrap="square" lIns="0" rIns="0" tIns="0" bIns="0" anchor="t">
            <a:spAutoFit/>
          </a:bodyPr>
          <a:lstStyle/>
          <a:p>
            <a:pPr algn="l"/>
            <a:r>
              <a:rPr sz="1300" b="1">
                <a:solidFill>
                  <a:srgbClr val="007879"/>
                </a:solidFill>
                <a:latin typeface="Bahnschrift"/>
              </a:rPr>
              <a:t>PANEL  ·  Q6</a:t>
            </a:r>
          </a:p>
        </p:txBody>
      </p:sp>
      <p:sp>
        <p:nvSpPr>
          <p:cNvPr id="3" name="TextBox 2"/>
          <p:cNvSpPr txBox="1"/>
          <p:nvPr/>
        </p:nvSpPr>
        <p:spPr>
          <a:xfrm>
            <a:off x="612648" y="685800"/>
            <a:ext cx="10966399" cy="502920"/>
          </a:xfrm>
          <a:prstGeom prst="rect">
            <a:avLst/>
          </a:prstGeom>
          <a:noFill/>
        </p:spPr>
        <p:txBody>
          <a:bodyPr wrap="square" lIns="0" rIns="0" tIns="0" bIns="0" anchor="t">
            <a:spAutoFit/>
          </a:bodyPr>
          <a:lstStyle/>
          <a:p>
            <a:pPr algn="l"/>
            <a:r>
              <a:rPr sz="2600" b="1">
                <a:solidFill>
                  <a:srgbClr val="002B55"/>
                </a:solidFill>
                <a:latin typeface="Bahnschrift"/>
              </a:rPr>
              <a:t>Taking a pilot to legal / compliance</a:t>
            </a:r>
          </a:p>
        </p:txBody>
      </p:sp>
      <p:sp>
        <p:nvSpPr>
          <p:cNvPr id="4" name="Rounded Rectangle 3"/>
          <p:cNvSpPr/>
          <p:nvPr/>
        </p:nvSpPr>
        <p:spPr>
          <a:xfrm>
            <a:off x="612648" y="1325880"/>
            <a:ext cx="10966399" cy="4434840"/>
          </a:xfrm>
          <a:prstGeom prst="roundRect">
            <a:avLst>
              <a:gd name="adj" fmla="val 5000"/>
            </a:avLst>
          </a:prstGeom>
          <a:solidFill>
            <a:srgbClr val="FFFEFB"/>
          </a:solidFill>
          <a:ln w="12700">
            <a:solidFill>
              <a:srgbClr val="C9D6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978408" y="1554480"/>
            <a:ext cx="10234879" cy="3977639"/>
          </a:xfrm>
          <a:prstGeom prst="rect">
            <a:avLst/>
          </a:prstGeom>
          <a:noFill/>
        </p:spPr>
        <p:txBody>
          <a:bodyPr wrap="square" lIns="0" rIns="0" tIns="0" bIns="0" anchor="ctr">
            <a:spAutoFit/>
          </a:bodyPr>
          <a:lstStyle/>
          <a:p>
            <a:pPr algn="l"/>
            <a:r>
              <a:rPr sz="2600" b="0">
                <a:solidFill>
                  <a:srgbClr val="002B55"/>
                </a:solidFill>
                <a:latin typeface="Arial"/>
              </a:rPr>
              <a:t>Think of the last time you took an AI pilot to legal or compliance.</a:t>
            </a:r>
          </a:p>
          <a:p>
            <a:pPr algn="l">
              <a:spcBef>
                <a:spcPts val="2200"/>
              </a:spcBef>
            </a:pPr>
            <a:r>
              <a:rPr sz="2600" b="0">
                <a:solidFill>
                  <a:srgbClr val="002B55"/>
                </a:solidFill>
                <a:latin typeface="Arial"/>
              </a:rPr>
              <a:t>How did you frame the risk, and looking back, did you get the calibration right? What would you do differently?</a:t>
            </a:r>
          </a:p>
        </p:txBody>
      </p:sp>
      <p:sp>
        <p:nvSpPr>
          <p:cNvPr id="6" name="Footer"/>
          <p:cNvSpPr txBox="1"/>
          <p:nvPr/>
        </p:nvSpPr>
        <p:spPr>
          <a:xfrm>
            <a:off x="612648" y="6437376"/>
            <a:ext cx="5715000" cy="192024"/>
          </a:xfrm>
          <a:prstGeom prst="rect">
            <a:avLst/>
          </a:prstGeom>
          <a:noFill/>
        </p:spPr>
        <p:txBody>
          <a:bodyPr wrap="square" lIns="0" rIns="0" tIns="0" bIns="0" anchor="t">
            <a:spAutoFit/>
          </a:bodyPr>
          <a:lstStyle/>
          <a:p>
            <a:pPr algn="l"/>
            <a:r>
              <a:rPr sz="1050" b="0">
                <a:solidFill>
                  <a:srgbClr val="28455F"/>
                </a:solidFill>
                <a:latin typeface="Arial"/>
              </a:rPr>
              <a:t>AI IN ACTION / MEDICAL AFFAIRS</a:t>
            </a:r>
          </a:p>
        </p:txBody>
      </p:sp>
      <p:sp>
        <p:nvSpPr>
          <p:cNvPr id="7" name="Rounded Rectangle 6"/>
          <p:cNvSpPr/>
          <p:nvPr/>
        </p:nvSpPr>
        <p:spPr>
          <a:xfrm>
            <a:off x="11100816" y="6382512"/>
            <a:ext cx="466344" cy="283464"/>
          </a:xfrm>
          <a:prstGeom prst="roundRect">
            <a:avLst>
              <a:gd name="adj" fmla="val 20000"/>
            </a:avLst>
          </a:prstGeom>
          <a:solidFill>
            <a:srgbClr val="FFFFFF"/>
          </a:solidFill>
          <a:ln w="9525">
            <a:solidFill>
              <a:srgbClr val="C9D6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Slide number"/>
          <p:cNvSpPr txBox="1"/>
          <p:nvPr/>
        </p:nvSpPr>
        <p:spPr>
          <a:xfrm>
            <a:off x="11100816" y="6400800"/>
            <a:ext cx="466344" cy="256032"/>
          </a:xfrm>
          <a:prstGeom prst="rect">
            <a:avLst/>
          </a:prstGeom>
          <a:noFill/>
        </p:spPr>
        <p:txBody>
          <a:bodyPr wrap="square" lIns="0" rIns="0" tIns="0" bIns="0" anchor="ctr">
            <a:spAutoFit/>
          </a:bodyPr>
          <a:lstStyle/>
          <a:p>
            <a:pPr algn="ctr"/>
            <a:r>
              <a:rPr sz="1275" b="0">
                <a:solidFill>
                  <a:srgbClr val="28455F"/>
                </a:solidFill>
                <a:latin typeface="Bahnschrift"/>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12648" y="365760"/>
            <a:ext cx="10966399" cy="292608"/>
          </a:xfrm>
          <a:prstGeom prst="rect">
            <a:avLst/>
          </a:prstGeom>
          <a:noFill/>
        </p:spPr>
        <p:txBody>
          <a:bodyPr wrap="square" lIns="0" rIns="0" tIns="0" bIns="0" anchor="t">
            <a:spAutoFit/>
          </a:bodyPr>
          <a:lstStyle/>
          <a:p>
            <a:pPr algn="l"/>
            <a:r>
              <a:rPr sz="1300" b="1">
                <a:solidFill>
                  <a:srgbClr val="007879"/>
                </a:solidFill>
                <a:latin typeface="Bahnschrift"/>
              </a:rPr>
              <a:t>PANEL  ·  Q7</a:t>
            </a:r>
          </a:p>
        </p:txBody>
      </p:sp>
      <p:sp>
        <p:nvSpPr>
          <p:cNvPr id="3" name="TextBox 2"/>
          <p:cNvSpPr txBox="1"/>
          <p:nvPr/>
        </p:nvSpPr>
        <p:spPr>
          <a:xfrm>
            <a:off x="612648" y="685800"/>
            <a:ext cx="10966399" cy="502920"/>
          </a:xfrm>
          <a:prstGeom prst="rect">
            <a:avLst/>
          </a:prstGeom>
          <a:noFill/>
        </p:spPr>
        <p:txBody>
          <a:bodyPr wrap="square" lIns="0" rIns="0" tIns="0" bIns="0" anchor="t">
            <a:spAutoFit/>
          </a:bodyPr>
          <a:lstStyle/>
          <a:p>
            <a:pPr algn="l"/>
            <a:r>
              <a:rPr sz="2600" b="1">
                <a:solidFill>
                  <a:srgbClr val="002B55"/>
                </a:solidFill>
                <a:latin typeface="Bahnschrift"/>
              </a:rPr>
              <a:t>From hackathon to real pilot</a:t>
            </a:r>
          </a:p>
        </p:txBody>
      </p:sp>
      <p:sp>
        <p:nvSpPr>
          <p:cNvPr id="4" name="Rounded Rectangle 3"/>
          <p:cNvSpPr/>
          <p:nvPr/>
        </p:nvSpPr>
        <p:spPr>
          <a:xfrm>
            <a:off x="612648" y="1325880"/>
            <a:ext cx="10966399" cy="4434840"/>
          </a:xfrm>
          <a:prstGeom prst="roundRect">
            <a:avLst>
              <a:gd name="adj" fmla="val 5000"/>
            </a:avLst>
          </a:prstGeom>
          <a:solidFill>
            <a:srgbClr val="FFFEFB"/>
          </a:solidFill>
          <a:ln w="12700">
            <a:solidFill>
              <a:srgbClr val="C9D6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978408" y="1554480"/>
            <a:ext cx="10234879" cy="3977639"/>
          </a:xfrm>
          <a:prstGeom prst="rect">
            <a:avLst/>
          </a:prstGeom>
          <a:noFill/>
        </p:spPr>
        <p:txBody>
          <a:bodyPr wrap="square" lIns="0" rIns="0" tIns="0" bIns="0" anchor="ctr">
            <a:spAutoFit/>
          </a:bodyPr>
          <a:lstStyle/>
          <a:p>
            <a:pPr algn="l"/>
            <a:r>
              <a:rPr sz="2600" b="0">
                <a:solidFill>
                  <a:srgbClr val="002B55"/>
                </a:solidFill>
                <a:latin typeface="Arial"/>
              </a:rPr>
              <a:t>Two days ago most of this room had never built an agent; yesterday you demoed them.</a:t>
            </a:r>
          </a:p>
          <a:p>
            <a:pPr algn="l">
              <a:spcBef>
                <a:spcPts val="2200"/>
              </a:spcBef>
            </a:pPr>
            <a:r>
              <a:rPr sz="2600" b="0">
                <a:solidFill>
                  <a:srgbClr val="002B55"/>
                </a:solidFill>
                <a:latin typeface="Arial"/>
              </a:rPr>
              <a:t>Name the one thing from your hackathon team going into a real pilot, and the one thing that must be true before it touches a real HCP.</a:t>
            </a:r>
          </a:p>
        </p:txBody>
      </p:sp>
      <p:sp>
        <p:nvSpPr>
          <p:cNvPr id="6" name="Footer"/>
          <p:cNvSpPr txBox="1"/>
          <p:nvPr/>
        </p:nvSpPr>
        <p:spPr>
          <a:xfrm>
            <a:off x="612648" y="6437376"/>
            <a:ext cx="5715000" cy="192024"/>
          </a:xfrm>
          <a:prstGeom prst="rect">
            <a:avLst/>
          </a:prstGeom>
          <a:noFill/>
        </p:spPr>
        <p:txBody>
          <a:bodyPr wrap="square" lIns="0" rIns="0" tIns="0" bIns="0" anchor="t">
            <a:spAutoFit/>
          </a:bodyPr>
          <a:lstStyle/>
          <a:p>
            <a:pPr algn="l"/>
            <a:r>
              <a:rPr sz="1050" b="0">
                <a:solidFill>
                  <a:srgbClr val="28455F"/>
                </a:solidFill>
                <a:latin typeface="Arial"/>
              </a:rPr>
              <a:t>AI IN ACTION / MEDICAL AFFAIRS</a:t>
            </a:r>
          </a:p>
        </p:txBody>
      </p:sp>
      <p:sp>
        <p:nvSpPr>
          <p:cNvPr id="7" name="Rounded Rectangle 6"/>
          <p:cNvSpPr/>
          <p:nvPr/>
        </p:nvSpPr>
        <p:spPr>
          <a:xfrm>
            <a:off x="11100816" y="6382512"/>
            <a:ext cx="466344" cy="283464"/>
          </a:xfrm>
          <a:prstGeom prst="roundRect">
            <a:avLst>
              <a:gd name="adj" fmla="val 20000"/>
            </a:avLst>
          </a:prstGeom>
          <a:solidFill>
            <a:srgbClr val="FFFFFF"/>
          </a:solidFill>
          <a:ln w="9525">
            <a:solidFill>
              <a:srgbClr val="C9D6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Slide number"/>
          <p:cNvSpPr txBox="1"/>
          <p:nvPr/>
        </p:nvSpPr>
        <p:spPr>
          <a:xfrm>
            <a:off x="11100816" y="6400800"/>
            <a:ext cx="466344" cy="256032"/>
          </a:xfrm>
          <a:prstGeom prst="rect">
            <a:avLst/>
          </a:prstGeom>
          <a:noFill/>
        </p:spPr>
        <p:txBody>
          <a:bodyPr wrap="square" lIns="0" rIns="0" tIns="0" bIns="0" anchor="ctr">
            <a:spAutoFit/>
          </a:bodyPr>
          <a:lstStyle/>
          <a:p>
            <a:pPr algn="ctr"/>
            <a:r>
              <a:rPr sz="1275" b="0">
                <a:solidFill>
                  <a:srgbClr val="28455F"/>
                </a:solidFill>
                <a:latin typeface="Bahnschrift"/>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closing-question-1672.jpg"/>
          <p:cNvPicPr>
            <a:picLocks noChangeAspect="1"/>
          </p:cNvPicPr>
          <p:nvPr/>
        </p:nvPicPr>
        <p:blipFill>
          <a:blip r:embed="rId2"/>
          <a:stretch>
            <a:fillRect/>
          </a:stretch>
        </p:blipFill>
        <p:spPr>
          <a:xfrm>
            <a:off x="0" y="0"/>
            <a:ext cx="12192000" cy="6858000"/>
          </a:xfrm>
          <a:prstGeom prst="rect">
            <a:avLst/>
          </a:prstGeom>
        </p:spPr>
      </p:pic>
      <p:sp>
        <p:nvSpPr>
          <p:cNvPr id="3" name="Rectangle 2"/>
          <p:cNvSpPr/>
          <p:nvPr/>
        </p:nvSpPr>
        <p:spPr>
          <a:xfrm>
            <a:off x="6537960" y="0"/>
            <a:ext cx="5653735" cy="6858000"/>
          </a:xfrm>
          <a:prstGeom prst="rect">
            <a:avLst/>
          </a:prstGeom>
          <a:solidFill>
            <a:srgbClr val="FFFEFB">
              <a:alpha val="9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6903720" y="1691640"/>
            <a:ext cx="4754880" cy="320040"/>
          </a:xfrm>
          <a:prstGeom prst="rect">
            <a:avLst/>
          </a:prstGeom>
          <a:noFill/>
        </p:spPr>
        <p:txBody>
          <a:bodyPr wrap="square" lIns="0" rIns="0" tIns="0" bIns="0" anchor="t">
            <a:spAutoFit/>
          </a:bodyPr>
          <a:lstStyle/>
          <a:p>
            <a:pPr algn="l"/>
            <a:r>
              <a:rPr sz="1400" b="1">
                <a:solidFill>
                  <a:srgbClr val="007879"/>
                </a:solidFill>
                <a:latin typeface="Bahnschrift"/>
              </a:rPr>
              <a:t>YOUR TURN</a:t>
            </a:r>
          </a:p>
        </p:txBody>
      </p:sp>
      <p:sp>
        <p:nvSpPr>
          <p:cNvPr id="5" name="TextBox 4"/>
          <p:cNvSpPr txBox="1"/>
          <p:nvPr/>
        </p:nvSpPr>
        <p:spPr>
          <a:xfrm>
            <a:off x="6812280" y="2103120"/>
            <a:ext cx="5029200" cy="1645920"/>
          </a:xfrm>
          <a:prstGeom prst="rect">
            <a:avLst/>
          </a:prstGeom>
          <a:noFill/>
        </p:spPr>
        <p:txBody>
          <a:bodyPr wrap="square" lIns="0" rIns="0" tIns="0" bIns="0" anchor="t">
            <a:spAutoFit/>
          </a:bodyPr>
          <a:lstStyle/>
          <a:p>
            <a:pPr algn="l"/>
            <a:r>
              <a:rPr sz="2800" b="1">
                <a:solidFill>
                  <a:srgbClr val="002B55"/>
                </a:solidFill>
                <a:latin typeface="Bahnschrift"/>
              </a:rPr>
              <a:t>Your turn: audience</a:t>
            </a:r>
          </a:p>
        </p:txBody>
      </p:sp>
      <p:sp>
        <p:nvSpPr>
          <p:cNvPr id="6" name="TextBox 5"/>
          <p:cNvSpPr txBox="1"/>
          <p:nvPr/>
        </p:nvSpPr>
        <p:spPr>
          <a:xfrm>
            <a:off x="6903720" y="3931920"/>
            <a:ext cx="4754880" cy="822960"/>
          </a:xfrm>
          <a:prstGeom prst="rect">
            <a:avLst/>
          </a:prstGeom>
          <a:noFill/>
        </p:spPr>
        <p:txBody>
          <a:bodyPr wrap="square" lIns="0" rIns="0" tIns="0" bIns="0" anchor="t">
            <a:spAutoFit/>
          </a:bodyPr>
          <a:lstStyle/>
          <a:p>
            <a:pPr algn="l"/>
            <a:r>
              <a:rPr sz="1400" b="0">
                <a:solidFill>
                  <a:srgbClr val="28455F"/>
                </a:solidFill>
                <a:latin typeface="Arial"/>
              </a:rPr>
              <a:t>Short answers from the room.</a:t>
            </a:r>
          </a:p>
          <a:p>
            <a:pPr algn="l"/>
            <a:r>
              <a:rPr sz="1400" b="0">
                <a:solidFill>
                  <a:srgbClr val="28455F"/>
                </a:solidFill>
                <a:latin typeface="Arial"/>
              </a:rPr>
              <a:t>Hands up when called.</a:t>
            </a:r>
          </a:p>
        </p:txBody>
      </p:sp>
      <p:sp>
        <p:nvSpPr>
          <p:cNvPr id="7" name="Rounded Rectangle 6"/>
          <p:cNvSpPr/>
          <p:nvPr/>
        </p:nvSpPr>
        <p:spPr>
          <a:xfrm>
            <a:off x="502920" y="6355080"/>
            <a:ext cx="3383280" cy="347472"/>
          </a:xfrm>
          <a:prstGeom prst="roundRect">
            <a:avLst>
              <a:gd name="adj" fmla="val 3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Footer"/>
          <p:cNvSpPr txBox="1"/>
          <p:nvPr/>
        </p:nvSpPr>
        <p:spPr>
          <a:xfrm>
            <a:off x="612648" y="6437376"/>
            <a:ext cx="5715000" cy="192024"/>
          </a:xfrm>
          <a:prstGeom prst="rect">
            <a:avLst/>
          </a:prstGeom>
          <a:noFill/>
        </p:spPr>
        <p:txBody>
          <a:bodyPr wrap="square" lIns="0" rIns="0" tIns="0" bIns="0" anchor="t">
            <a:spAutoFit/>
          </a:bodyPr>
          <a:lstStyle/>
          <a:p>
            <a:pPr algn="l"/>
            <a:r>
              <a:rPr sz="1050" b="0">
                <a:solidFill>
                  <a:srgbClr val="28455F"/>
                </a:solidFill>
                <a:latin typeface="Arial"/>
              </a:rPr>
              <a:t>AI IN ACTION / MEDICAL AFFAIRS</a:t>
            </a:r>
          </a:p>
        </p:txBody>
      </p:sp>
      <p:sp>
        <p:nvSpPr>
          <p:cNvPr id="9" name="Rounded Rectangle 8"/>
          <p:cNvSpPr/>
          <p:nvPr/>
        </p:nvSpPr>
        <p:spPr>
          <a:xfrm>
            <a:off x="11100816" y="6382512"/>
            <a:ext cx="466344" cy="283464"/>
          </a:xfrm>
          <a:prstGeom prst="roundRect">
            <a:avLst>
              <a:gd name="adj" fmla="val 20000"/>
            </a:avLst>
          </a:prstGeom>
          <a:solidFill>
            <a:srgbClr val="FFFFFF"/>
          </a:solidFill>
          <a:ln w="9525">
            <a:solidFill>
              <a:srgbClr val="C9D6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Slide number"/>
          <p:cNvSpPr txBox="1"/>
          <p:nvPr/>
        </p:nvSpPr>
        <p:spPr>
          <a:xfrm>
            <a:off x="11100816" y="6400800"/>
            <a:ext cx="466344" cy="256032"/>
          </a:xfrm>
          <a:prstGeom prst="rect">
            <a:avLst/>
          </a:prstGeom>
          <a:noFill/>
        </p:spPr>
        <p:txBody>
          <a:bodyPr wrap="square" lIns="0" rIns="0" tIns="0" bIns="0" anchor="ctr">
            <a:spAutoFit/>
          </a:bodyPr>
          <a:lstStyle/>
          <a:p>
            <a:pPr algn="ctr"/>
            <a:r>
              <a:rPr sz="1275" b="0">
                <a:solidFill>
                  <a:srgbClr val="28455F"/>
                </a:solidFill>
                <a:latin typeface="Bahnschrift"/>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12648" y="320040"/>
            <a:ext cx="10966399" cy="274320"/>
          </a:xfrm>
          <a:prstGeom prst="rect">
            <a:avLst/>
          </a:prstGeom>
          <a:noFill/>
        </p:spPr>
        <p:txBody>
          <a:bodyPr wrap="square" lIns="0" rIns="0" tIns="0" bIns="0" anchor="t">
            <a:spAutoFit/>
          </a:bodyPr>
          <a:lstStyle/>
          <a:p>
            <a:pPr algn="l"/>
            <a:r>
              <a:rPr sz="1300" b="1">
                <a:solidFill>
                  <a:srgbClr val="007879"/>
                </a:solidFill>
                <a:latin typeface="Bahnschrift"/>
              </a:rPr>
              <a:t>AUDIENCE</a:t>
            </a:r>
          </a:p>
        </p:txBody>
      </p:sp>
      <p:sp>
        <p:nvSpPr>
          <p:cNvPr id="3" name="Rounded Rectangle 2"/>
          <p:cNvSpPr/>
          <p:nvPr/>
        </p:nvSpPr>
        <p:spPr>
          <a:xfrm>
            <a:off x="612648" y="777240"/>
            <a:ext cx="10966399" cy="1691640"/>
          </a:xfrm>
          <a:prstGeom prst="roundRect">
            <a:avLst>
              <a:gd name="adj" fmla="val 8000"/>
            </a:avLst>
          </a:prstGeom>
          <a:solidFill>
            <a:srgbClr val="E8EEF5"/>
          </a:solidFill>
          <a:ln w="12700">
            <a:solidFill>
              <a:srgbClr val="C9D6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ounded Rectangle 3"/>
          <p:cNvSpPr/>
          <p:nvPr/>
        </p:nvSpPr>
        <p:spPr>
          <a:xfrm>
            <a:off x="841248" y="1367028"/>
            <a:ext cx="512064" cy="512064"/>
          </a:xfrm>
          <a:prstGeom prst="roundRect">
            <a:avLst>
              <a:gd name="adj" fmla="val 15000"/>
            </a:avLst>
          </a:prstGeom>
          <a:solidFill>
            <a:srgbClr val="0078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841248" y="1367028"/>
            <a:ext cx="512064" cy="512064"/>
          </a:xfrm>
          <a:prstGeom prst="rect">
            <a:avLst/>
          </a:prstGeom>
          <a:noFill/>
        </p:spPr>
        <p:txBody>
          <a:bodyPr wrap="square" lIns="0" rIns="0" tIns="0" bIns="0" anchor="ctr">
            <a:spAutoFit/>
          </a:bodyPr>
          <a:lstStyle/>
          <a:p>
            <a:pPr algn="ctr"/>
            <a:r>
              <a:rPr sz="1800" b="1">
                <a:solidFill>
                  <a:srgbClr val="FFFFFF"/>
                </a:solidFill>
                <a:latin typeface="Bahnschrift"/>
              </a:rPr>
              <a:t>1</a:t>
            </a:r>
          </a:p>
        </p:txBody>
      </p:sp>
      <p:sp>
        <p:nvSpPr>
          <p:cNvPr id="6" name="TextBox 5"/>
          <p:cNvSpPr txBox="1"/>
          <p:nvPr/>
        </p:nvSpPr>
        <p:spPr>
          <a:xfrm>
            <a:off x="1572768" y="960120"/>
            <a:ext cx="9686239" cy="1325880"/>
          </a:xfrm>
          <a:prstGeom prst="rect">
            <a:avLst/>
          </a:prstGeom>
          <a:noFill/>
        </p:spPr>
        <p:txBody>
          <a:bodyPr wrap="square" lIns="0" rIns="0" tIns="0" bIns="0" anchor="ctr">
            <a:spAutoFit/>
          </a:bodyPr>
          <a:lstStyle/>
          <a:p>
            <a:pPr algn="l"/>
            <a:r>
              <a:rPr sz="2100" b="0">
                <a:solidFill>
                  <a:srgbClr val="002B55"/>
                </a:solidFill>
                <a:latin typeface="Arial"/>
              </a:rPr>
              <a:t>What's the one thing from these two days you'll actually use in your work next week?</a:t>
            </a:r>
          </a:p>
        </p:txBody>
      </p:sp>
      <p:sp>
        <p:nvSpPr>
          <p:cNvPr id="7" name="Rounded Rectangle 6"/>
          <p:cNvSpPr/>
          <p:nvPr/>
        </p:nvSpPr>
        <p:spPr>
          <a:xfrm>
            <a:off x="612648" y="2633472"/>
            <a:ext cx="10966399" cy="1691640"/>
          </a:xfrm>
          <a:prstGeom prst="roundRect">
            <a:avLst>
              <a:gd name="adj" fmla="val 8000"/>
            </a:avLst>
          </a:prstGeom>
          <a:solidFill>
            <a:srgbClr val="E3F1F1"/>
          </a:solidFill>
          <a:ln w="12700">
            <a:solidFill>
              <a:srgbClr val="C9D6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ounded Rectangle 7"/>
          <p:cNvSpPr/>
          <p:nvPr/>
        </p:nvSpPr>
        <p:spPr>
          <a:xfrm>
            <a:off x="841248" y="3223259"/>
            <a:ext cx="512064" cy="512064"/>
          </a:xfrm>
          <a:prstGeom prst="roundRect">
            <a:avLst>
              <a:gd name="adj" fmla="val 15000"/>
            </a:avLst>
          </a:prstGeom>
          <a:solidFill>
            <a:srgbClr val="0078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41248" y="3223259"/>
            <a:ext cx="512064" cy="512064"/>
          </a:xfrm>
          <a:prstGeom prst="rect">
            <a:avLst/>
          </a:prstGeom>
          <a:noFill/>
        </p:spPr>
        <p:txBody>
          <a:bodyPr wrap="square" lIns="0" rIns="0" tIns="0" bIns="0" anchor="ctr">
            <a:spAutoFit/>
          </a:bodyPr>
          <a:lstStyle/>
          <a:p>
            <a:pPr algn="ctr"/>
            <a:r>
              <a:rPr sz="1800" b="1">
                <a:solidFill>
                  <a:srgbClr val="FFFFFF"/>
                </a:solidFill>
                <a:latin typeface="Bahnschrift"/>
              </a:rPr>
              <a:t>2</a:t>
            </a:r>
          </a:p>
        </p:txBody>
      </p:sp>
      <p:sp>
        <p:nvSpPr>
          <p:cNvPr id="10" name="TextBox 9"/>
          <p:cNvSpPr txBox="1"/>
          <p:nvPr/>
        </p:nvSpPr>
        <p:spPr>
          <a:xfrm>
            <a:off x="1572768" y="2816352"/>
            <a:ext cx="9686239" cy="1325880"/>
          </a:xfrm>
          <a:prstGeom prst="rect">
            <a:avLst/>
          </a:prstGeom>
          <a:noFill/>
        </p:spPr>
        <p:txBody>
          <a:bodyPr wrap="square" lIns="0" rIns="0" tIns="0" bIns="0" anchor="ctr">
            <a:spAutoFit/>
          </a:bodyPr>
          <a:lstStyle/>
          <a:p>
            <a:pPr algn="l"/>
            <a:r>
              <a:rPr sz="2100" b="0">
                <a:solidFill>
                  <a:srgbClr val="002B55"/>
                </a:solidFill>
                <a:latin typeface="Arial"/>
              </a:rPr>
              <a:t>For the MSL and med-info folks: what's the task you'd most want an agent to take off your plate, and the one you'd never hand over?</a:t>
            </a:r>
          </a:p>
        </p:txBody>
      </p:sp>
      <p:sp>
        <p:nvSpPr>
          <p:cNvPr id="11" name="Rounded Rectangle 10"/>
          <p:cNvSpPr/>
          <p:nvPr/>
        </p:nvSpPr>
        <p:spPr>
          <a:xfrm>
            <a:off x="612648" y="4489703"/>
            <a:ext cx="10966399" cy="1691640"/>
          </a:xfrm>
          <a:prstGeom prst="roundRect">
            <a:avLst>
              <a:gd name="adj" fmla="val 8000"/>
            </a:avLst>
          </a:prstGeom>
          <a:solidFill>
            <a:srgbClr val="E8EEF5"/>
          </a:solidFill>
          <a:ln w="12700">
            <a:solidFill>
              <a:srgbClr val="C9D6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unded Rectangle 11"/>
          <p:cNvSpPr/>
          <p:nvPr/>
        </p:nvSpPr>
        <p:spPr>
          <a:xfrm>
            <a:off x="841248" y="5079491"/>
            <a:ext cx="512064" cy="512064"/>
          </a:xfrm>
          <a:prstGeom prst="roundRect">
            <a:avLst>
              <a:gd name="adj" fmla="val 15000"/>
            </a:avLst>
          </a:prstGeom>
          <a:solidFill>
            <a:srgbClr val="0078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841248" y="5079491"/>
            <a:ext cx="512064" cy="512064"/>
          </a:xfrm>
          <a:prstGeom prst="rect">
            <a:avLst/>
          </a:prstGeom>
          <a:noFill/>
        </p:spPr>
        <p:txBody>
          <a:bodyPr wrap="square" lIns="0" rIns="0" tIns="0" bIns="0" anchor="ctr">
            <a:spAutoFit/>
          </a:bodyPr>
          <a:lstStyle/>
          <a:p>
            <a:pPr algn="ctr"/>
            <a:r>
              <a:rPr sz="1800" b="1">
                <a:solidFill>
                  <a:srgbClr val="FFFFFF"/>
                </a:solidFill>
                <a:latin typeface="Bahnschrift"/>
              </a:rPr>
              <a:t>3</a:t>
            </a:r>
          </a:p>
        </p:txBody>
      </p:sp>
      <p:sp>
        <p:nvSpPr>
          <p:cNvPr id="14" name="TextBox 13"/>
          <p:cNvSpPr txBox="1"/>
          <p:nvPr/>
        </p:nvSpPr>
        <p:spPr>
          <a:xfrm>
            <a:off x="1572768" y="4672583"/>
            <a:ext cx="9686239" cy="1325880"/>
          </a:xfrm>
          <a:prstGeom prst="rect">
            <a:avLst/>
          </a:prstGeom>
          <a:noFill/>
        </p:spPr>
        <p:txBody>
          <a:bodyPr wrap="square" lIns="0" rIns="0" tIns="0" bIns="0" anchor="ctr">
            <a:spAutoFit/>
          </a:bodyPr>
          <a:lstStyle/>
          <a:p>
            <a:pPr algn="l"/>
            <a:r>
              <a:rPr sz="2100" b="0">
                <a:solidFill>
                  <a:srgbClr val="002B55"/>
                </a:solidFill>
                <a:latin typeface="Arial"/>
              </a:rPr>
              <a:t>What was the moment in these two days when you went from skeptical to 'okay, this could actually work'? What triggered it?</a:t>
            </a:r>
          </a:p>
        </p:txBody>
      </p:sp>
      <p:sp>
        <p:nvSpPr>
          <p:cNvPr id="15" name="Footer"/>
          <p:cNvSpPr txBox="1"/>
          <p:nvPr/>
        </p:nvSpPr>
        <p:spPr>
          <a:xfrm>
            <a:off x="612648" y="6437376"/>
            <a:ext cx="5715000" cy="192024"/>
          </a:xfrm>
          <a:prstGeom prst="rect">
            <a:avLst/>
          </a:prstGeom>
          <a:noFill/>
        </p:spPr>
        <p:txBody>
          <a:bodyPr wrap="square" lIns="0" rIns="0" tIns="0" bIns="0" anchor="t">
            <a:spAutoFit/>
          </a:bodyPr>
          <a:lstStyle/>
          <a:p>
            <a:pPr algn="l"/>
            <a:r>
              <a:rPr sz="1050" b="0">
                <a:solidFill>
                  <a:srgbClr val="28455F"/>
                </a:solidFill>
                <a:latin typeface="Arial"/>
              </a:rPr>
              <a:t>AI IN ACTION / MEDICAL AFFAIRS</a:t>
            </a:r>
          </a:p>
        </p:txBody>
      </p:sp>
      <p:sp>
        <p:nvSpPr>
          <p:cNvPr id="16" name="Rounded Rectangle 15"/>
          <p:cNvSpPr/>
          <p:nvPr/>
        </p:nvSpPr>
        <p:spPr>
          <a:xfrm>
            <a:off x="11100816" y="6382512"/>
            <a:ext cx="466344" cy="283464"/>
          </a:xfrm>
          <a:prstGeom prst="roundRect">
            <a:avLst>
              <a:gd name="adj" fmla="val 20000"/>
            </a:avLst>
          </a:prstGeom>
          <a:solidFill>
            <a:srgbClr val="FFFFFF"/>
          </a:solidFill>
          <a:ln w="9525">
            <a:solidFill>
              <a:srgbClr val="C9D6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Slide number"/>
          <p:cNvSpPr txBox="1"/>
          <p:nvPr/>
        </p:nvSpPr>
        <p:spPr>
          <a:xfrm>
            <a:off x="11100816" y="6400800"/>
            <a:ext cx="466344" cy="256032"/>
          </a:xfrm>
          <a:prstGeom prst="rect">
            <a:avLst/>
          </a:prstGeom>
          <a:noFill/>
        </p:spPr>
        <p:txBody>
          <a:bodyPr wrap="square" lIns="0" rIns="0" tIns="0" bIns="0" anchor="ctr">
            <a:spAutoFit/>
          </a:bodyPr>
          <a:lstStyle/>
          <a:p>
            <a:pPr algn="ctr"/>
            <a:r>
              <a:rPr sz="1275" b="0">
                <a:solidFill>
                  <a:srgbClr val="28455F"/>
                </a:solidFill>
                <a:latin typeface="Bahnschrift"/>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12648" y="320040"/>
            <a:ext cx="10966399" cy="274320"/>
          </a:xfrm>
          <a:prstGeom prst="rect">
            <a:avLst/>
          </a:prstGeom>
          <a:noFill/>
        </p:spPr>
        <p:txBody>
          <a:bodyPr wrap="square" lIns="0" rIns="0" tIns="0" bIns="0" anchor="t">
            <a:spAutoFit/>
          </a:bodyPr>
          <a:lstStyle/>
          <a:p>
            <a:pPr algn="l"/>
            <a:r>
              <a:rPr sz="1300" b="1">
                <a:solidFill>
                  <a:srgbClr val="007879"/>
                </a:solidFill>
                <a:latin typeface="Bahnschrift"/>
              </a:rPr>
              <a:t>AUDIENCE</a:t>
            </a:r>
          </a:p>
        </p:txBody>
      </p:sp>
      <p:sp>
        <p:nvSpPr>
          <p:cNvPr id="3" name="Rounded Rectangle 2"/>
          <p:cNvSpPr/>
          <p:nvPr/>
        </p:nvSpPr>
        <p:spPr>
          <a:xfrm>
            <a:off x="612648" y="777240"/>
            <a:ext cx="10966399" cy="1691640"/>
          </a:xfrm>
          <a:prstGeom prst="roundRect">
            <a:avLst>
              <a:gd name="adj" fmla="val 8000"/>
            </a:avLst>
          </a:prstGeom>
          <a:solidFill>
            <a:srgbClr val="E8EEF5"/>
          </a:solidFill>
          <a:ln w="12700">
            <a:solidFill>
              <a:srgbClr val="C9D6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ounded Rectangle 3"/>
          <p:cNvSpPr/>
          <p:nvPr/>
        </p:nvSpPr>
        <p:spPr>
          <a:xfrm>
            <a:off x="841248" y="1367028"/>
            <a:ext cx="512064" cy="512064"/>
          </a:xfrm>
          <a:prstGeom prst="roundRect">
            <a:avLst>
              <a:gd name="adj" fmla="val 15000"/>
            </a:avLst>
          </a:prstGeom>
          <a:solidFill>
            <a:srgbClr val="0078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841248" y="1367028"/>
            <a:ext cx="512064" cy="512064"/>
          </a:xfrm>
          <a:prstGeom prst="rect">
            <a:avLst/>
          </a:prstGeom>
          <a:noFill/>
        </p:spPr>
        <p:txBody>
          <a:bodyPr wrap="square" lIns="0" rIns="0" tIns="0" bIns="0" anchor="ctr">
            <a:spAutoFit/>
          </a:bodyPr>
          <a:lstStyle/>
          <a:p>
            <a:pPr algn="ctr"/>
            <a:r>
              <a:rPr sz="1800" b="1">
                <a:solidFill>
                  <a:srgbClr val="FFFFFF"/>
                </a:solidFill>
                <a:latin typeface="Bahnschrift"/>
              </a:rPr>
              <a:t>4</a:t>
            </a:r>
          </a:p>
        </p:txBody>
      </p:sp>
      <p:sp>
        <p:nvSpPr>
          <p:cNvPr id="6" name="TextBox 5"/>
          <p:cNvSpPr txBox="1"/>
          <p:nvPr/>
        </p:nvSpPr>
        <p:spPr>
          <a:xfrm>
            <a:off x="1572768" y="960120"/>
            <a:ext cx="9686239" cy="1325880"/>
          </a:xfrm>
          <a:prstGeom prst="rect">
            <a:avLst/>
          </a:prstGeom>
          <a:noFill/>
        </p:spPr>
        <p:txBody>
          <a:bodyPr wrap="square" lIns="0" rIns="0" tIns="0" bIns="0" anchor="ctr">
            <a:spAutoFit/>
          </a:bodyPr>
          <a:lstStyle/>
          <a:p>
            <a:pPr algn="l"/>
            <a:r>
              <a:rPr sz="2100" b="0">
                <a:solidFill>
                  <a:srgbClr val="002B55"/>
                </a:solidFill>
                <a:latin typeface="Arial"/>
              </a:rPr>
              <a:t>What's something you believed about AI in medical affairs on Monday morning that you no longer believe?</a:t>
            </a:r>
          </a:p>
        </p:txBody>
      </p:sp>
      <p:sp>
        <p:nvSpPr>
          <p:cNvPr id="7" name="Rounded Rectangle 6"/>
          <p:cNvSpPr/>
          <p:nvPr/>
        </p:nvSpPr>
        <p:spPr>
          <a:xfrm>
            <a:off x="612648" y="2633472"/>
            <a:ext cx="10966399" cy="1691640"/>
          </a:xfrm>
          <a:prstGeom prst="roundRect">
            <a:avLst>
              <a:gd name="adj" fmla="val 8000"/>
            </a:avLst>
          </a:prstGeom>
          <a:solidFill>
            <a:srgbClr val="E3F1F1"/>
          </a:solidFill>
          <a:ln w="12700">
            <a:solidFill>
              <a:srgbClr val="C9D6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ounded Rectangle 7"/>
          <p:cNvSpPr/>
          <p:nvPr/>
        </p:nvSpPr>
        <p:spPr>
          <a:xfrm>
            <a:off x="841248" y="3223259"/>
            <a:ext cx="512064" cy="512064"/>
          </a:xfrm>
          <a:prstGeom prst="roundRect">
            <a:avLst>
              <a:gd name="adj" fmla="val 15000"/>
            </a:avLst>
          </a:prstGeom>
          <a:solidFill>
            <a:srgbClr val="0078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41248" y="3223259"/>
            <a:ext cx="512064" cy="512064"/>
          </a:xfrm>
          <a:prstGeom prst="rect">
            <a:avLst/>
          </a:prstGeom>
          <a:noFill/>
        </p:spPr>
        <p:txBody>
          <a:bodyPr wrap="square" lIns="0" rIns="0" tIns="0" bIns="0" anchor="ctr">
            <a:spAutoFit/>
          </a:bodyPr>
          <a:lstStyle/>
          <a:p>
            <a:pPr algn="ctr"/>
            <a:r>
              <a:rPr sz="1800" b="1">
                <a:solidFill>
                  <a:srgbClr val="FFFFFF"/>
                </a:solidFill>
                <a:latin typeface="Bahnschrift"/>
              </a:rPr>
              <a:t>5</a:t>
            </a:r>
          </a:p>
        </p:txBody>
      </p:sp>
      <p:sp>
        <p:nvSpPr>
          <p:cNvPr id="10" name="TextBox 9"/>
          <p:cNvSpPr txBox="1"/>
          <p:nvPr/>
        </p:nvSpPr>
        <p:spPr>
          <a:xfrm>
            <a:off x="1572768" y="2816352"/>
            <a:ext cx="9686239" cy="1325880"/>
          </a:xfrm>
          <a:prstGeom prst="rect">
            <a:avLst/>
          </a:prstGeom>
          <a:noFill/>
        </p:spPr>
        <p:txBody>
          <a:bodyPr wrap="square" lIns="0" rIns="0" tIns="0" bIns="0" anchor="ctr">
            <a:spAutoFit/>
          </a:bodyPr>
          <a:lstStyle/>
          <a:p>
            <a:pPr algn="l"/>
            <a:r>
              <a:rPr sz="2100" b="0">
                <a:solidFill>
                  <a:srgbClr val="002B55"/>
                </a:solidFill>
                <a:latin typeface="Arial"/>
              </a:rPr>
              <a:t>Who here tried to break someone else's agent in the red-team swap, and what did breaking it teach you about your own build?</a:t>
            </a:r>
          </a:p>
        </p:txBody>
      </p:sp>
      <p:sp>
        <p:nvSpPr>
          <p:cNvPr id="11" name="Rounded Rectangle 10"/>
          <p:cNvSpPr/>
          <p:nvPr/>
        </p:nvSpPr>
        <p:spPr>
          <a:xfrm>
            <a:off x="612648" y="4489703"/>
            <a:ext cx="10966399" cy="1691640"/>
          </a:xfrm>
          <a:prstGeom prst="roundRect">
            <a:avLst>
              <a:gd name="adj" fmla="val 8000"/>
            </a:avLst>
          </a:prstGeom>
          <a:solidFill>
            <a:srgbClr val="E8EEF5"/>
          </a:solidFill>
          <a:ln w="12700">
            <a:solidFill>
              <a:srgbClr val="C9D6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unded Rectangle 11"/>
          <p:cNvSpPr/>
          <p:nvPr/>
        </p:nvSpPr>
        <p:spPr>
          <a:xfrm>
            <a:off x="841248" y="5079491"/>
            <a:ext cx="512064" cy="512064"/>
          </a:xfrm>
          <a:prstGeom prst="roundRect">
            <a:avLst>
              <a:gd name="adj" fmla="val 15000"/>
            </a:avLst>
          </a:prstGeom>
          <a:solidFill>
            <a:srgbClr val="0078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841248" y="5079491"/>
            <a:ext cx="512064" cy="512064"/>
          </a:xfrm>
          <a:prstGeom prst="rect">
            <a:avLst/>
          </a:prstGeom>
          <a:noFill/>
        </p:spPr>
        <p:txBody>
          <a:bodyPr wrap="square" lIns="0" rIns="0" tIns="0" bIns="0" anchor="ctr">
            <a:spAutoFit/>
          </a:bodyPr>
          <a:lstStyle/>
          <a:p>
            <a:pPr algn="ctr"/>
            <a:r>
              <a:rPr sz="1800" b="1">
                <a:solidFill>
                  <a:srgbClr val="FFFFFF"/>
                </a:solidFill>
                <a:latin typeface="Bahnschrift"/>
              </a:rPr>
              <a:t>6</a:t>
            </a:r>
          </a:p>
        </p:txBody>
      </p:sp>
      <p:sp>
        <p:nvSpPr>
          <p:cNvPr id="14" name="TextBox 13"/>
          <p:cNvSpPr txBox="1"/>
          <p:nvPr/>
        </p:nvSpPr>
        <p:spPr>
          <a:xfrm>
            <a:off x="1572768" y="4672583"/>
            <a:ext cx="9686239" cy="1325880"/>
          </a:xfrm>
          <a:prstGeom prst="rect">
            <a:avLst/>
          </a:prstGeom>
          <a:noFill/>
        </p:spPr>
        <p:txBody>
          <a:bodyPr wrap="square" lIns="0" rIns="0" tIns="0" bIns="0" anchor="ctr">
            <a:spAutoFit/>
          </a:bodyPr>
          <a:lstStyle/>
          <a:p>
            <a:pPr algn="l"/>
            <a:r>
              <a:rPr sz="2100" b="0">
                <a:solidFill>
                  <a:srgbClr val="002B55"/>
                </a:solidFill>
                <a:latin typeface="Arial"/>
              </a:rPr>
              <a:t>Think back to the workflow you mapped on day one. After two days of building, what's the part you now realize is harder to automate than you expected?</a:t>
            </a:r>
          </a:p>
        </p:txBody>
      </p:sp>
      <p:sp>
        <p:nvSpPr>
          <p:cNvPr id="15" name="Footer"/>
          <p:cNvSpPr txBox="1"/>
          <p:nvPr/>
        </p:nvSpPr>
        <p:spPr>
          <a:xfrm>
            <a:off x="612648" y="6437376"/>
            <a:ext cx="5715000" cy="192024"/>
          </a:xfrm>
          <a:prstGeom prst="rect">
            <a:avLst/>
          </a:prstGeom>
          <a:noFill/>
        </p:spPr>
        <p:txBody>
          <a:bodyPr wrap="square" lIns="0" rIns="0" tIns="0" bIns="0" anchor="t">
            <a:spAutoFit/>
          </a:bodyPr>
          <a:lstStyle/>
          <a:p>
            <a:pPr algn="l"/>
            <a:r>
              <a:rPr sz="1050" b="0">
                <a:solidFill>
                  <a:srgbClr val="28455F"/>
                </a:solidFill>
                <a:latin typeface="Arial"/>
              </a:rPr>
              <a:t>AI IN ACTION / MEDICAL AFFAIRS</a:t>
            </a:r>
          </a:p>
        </p:txBody>
      </p:sp>
      <p:sp>
        <p:nvSpPr>
          <p:cNvPr id="16" name="Rounded Rectangle 15"/>
          <p:cNvSpPr/>
          <p:nvPr/>
        </p:nvSpPr>
        <p:spPr>
          <a:xfrm>
            <a:off x="11100816" y="6382512"/>
            <a:ext cx="466344" cy="283464"/>
          </a:xfrm>
          <a:prstGeom prst="roundRect">
            <a:avLst>
              <a:gd name="adj" fmla="val 20000"/>
            </a:avLst>
          </a:prstGeom>
          <a:solidFill>
            <a:srgbClr val="FFFFFF"/>
          </a:solidFill>
          <a:ln w="9525">
            <a:solidFill>
              <a:srgbClr val="C9D6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Slide number"/>
          <p:cNvSpPr txBox="1"/>
          <p:nvPr/>
        </p:nvSpPr>
        <p:spPr>
          <a:xfrm>
            <a:off x="11100816" y="6400800"/>
            <a:ext cx="466344" cy="256032"/>
          </a:xfrm>
          <a:prstGeom prst="rect">
            <a:avLst/>
          </a:prstGeom>
          <a:noFill/>
        </p:spPr>
        <p:txBody>
          <a:bodyPr wrap="square" lIns="0" rIns="0" tIns="0" bIns="0" anchor="ctr">
            <a:spAutoFit/>
          </a:bodyPr>
          <a:lstStyle/>
          <a:p>
            <a:pPr algn="ctr"/>
            <a:r>
              <a:rPr sz="1275" b="0">
                <a:solidFill>
                  <a:srgbClr val="28455F"/>
                </a:solidFill>
                <a:latin typeface="Bahnschrift"/>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12648" y="320040"/>
            <a:ext cx="10966399" cy="274320"/>
          </a:xfrm>
          <a:prstGeom prst="rect">
            <a:avLst/>
          </a:prstGeom>
          <a:noFill/>
        </p:spPr>
        <p:txBody>
          <a:bodyPr wrap="square" lIns="0" rIns="0" tIns="0" bIns="0" anchor="t">
            <a:spAutoFit/>
          </a:bodyPr>
          <a:lstStyle/>
          <a:p>
            <a:pPr algn="l"/>
            <a:r>
              <a:rPr sz="1300" b="1">
                <a:solidFill>
                  <a:srgbClr val="007879"/>
                </a:solidFill>
                <a:latin typeface="Bahnschrift"/>
              </a:rPr>
              <a:t>AUDIENCE</a:t>
            </a:r>
          </a:p>
        </p:txBody>
      </p:sp>
      <p:sp>
        <p:nvSpPr>
          <p:cNvPr id="3" name="Rounded Rectangle 2"/>
          <p:cNvSpPr/>
          <p:nvPr/>
        </p:nvSpPr>
        <p:spPr>
          <a:xfrm>
            <a:off x="612648" y="777240"/>
            <a:ext cx="10966399" cy="1691640"/>
          </a:xfrm>
          <a:prstGeom prst="roundRect">
            <a:avLst>
              <a:gd name="adj" fmla="val 8000"/>
            </a:avLst>
          </a:prstGeom>
          <a:solidFill>
            <a:srgbClr val="E8EEF5"/>
          </a:solidFill>
          <a:ln w="12700">
            <a:solidFill>
              <a:srgbClr val="C9D6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ounded Rectangle 3"/>
          <p:cNvSpPr/>
          <p:nvPr/>
        </p:nvSpPr>
        <p:spPr>
          <a:xfrm>
            <a:off x="841248" y="1367028"/>
            <a:ext cx="512064" cy="512064"/>
          </a:xfrm>
          <a:prstGeom prst="roundRect">
            <a:avLst>
              <a:gd name="adj" fmla="val 15000"/>
            </a:avLst>
          </a:prstGeom>
          <a:solidFill>
            <a:srgbClr val="0078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841248" y="1367028"/>
            <a:ext cx="512064" cy="512064"/>
          </a:xfrm>
          <a:prstGeom prst="rect">
            <a:avLst/>
          </a:prstGeom>
          <a:noFill/>
        </p:spPr>
        <p:txBody>
          <a:bodyPr wrap="square" lIns="0" rIns="0" tIns="0" bIns="0" anchor="ctr">
            <a:spAutoFit/>
          </a:bodyPr>
          <a:lstStyle/>
          <a:p>
            <a:pPr algn="ctr"/>
            <a:r>
              <a:rPr sz="1800" b="1">
                <a:solidFill>
                  <a:srgbClr val="FFFFFF"/>
                </a:solidFill>
                <a:latin typeface="Bahnschrift"/>
              </a:rPr>
              <a:t>7</a:t>
            </a:r>
          </a:p>
        </p:txBody>
      </p:sp>
      <p:sp>
        <p:nvSpPr>
          <p:cNvPr id="6" name="TextBox 5"/>
          <p:cNvSpPr txBox="1"/>
          <p:nvPr/>
        </p:nvSpPr>
        <p:spPr>
          <a:xfrm>
            <a:off x="1572768" y="960120"/>
            <a:ext cx="9686239" cy="1325880"/>
          </a:xfrm>
          <a:prstGeom prst="rect">
            <a:avLst/>
          </a:prstGeom>
          <a:noFill/>
        </p:spPr>
        <p:txBody>
          <a:bodyPr wrap="square" lIns="0" rIns="0" tIns="0" bIns="0" anchor="ctr">
            <a:spAutoFit/>
          </a:bodyPr>
          <a:lstStyle/>
          <a:p>
            <a:pPr algn="l"/>
            <a:r>
              <a:rPr sz="2100" b="0">
                <a:solidFill>
                  <a:srgbClr val="002B55"/>
                </a:solidFill>
                <a:latin typeface="Arial"/>
              </a:rPr>
              <a:t>What's the one prompt, routine, or agent behavior going onto your deployment commitment form, and what's the first thing you'll do with it on Monday?</a:t>
            </a:r>
          </a:p>
        </p:txBody>
      </p:sp>
      <p:sp>
        <p:nvSpPr>
          <p:cNvPr id="7" name="Rounded Rectangle 6"/>
          <p:cNvSpPr/>
          <p:nvPr/>
        </p:nvSpPr>
        <p:spPr>
          <a:xfrm>
            <a:off x="612648" y="2633472"/>
            <a:ext cx="10966399" cy="1691640"/>
          </a:xfrm>
          <a:prstGeom prst="roundRect">
            <a:avLst>
              <a:gd name="adj" fmla="val 8000"/>
            </a:avLst>
          </a:prstGeom>
          <a:solidFill>
            <a:srgbClr val="E3F1F1"/>
          </a:solidFill>
          <a:ln w="12700">
            <a:solidFill>
              <a:srgbClr val="C9D6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ounded Rectangle 7"/>
          <p:cNvSpPr/>
          <p:nvPr/>
        </p:nvSpPr>
        <p:spPr>
          <a:xfrm>
            <a:off x="841248" y="3223259"/>
            <a:ext cx="512064" cy="512064"/>
          </a:xfrm>
          <a:prstGeom prst="roundRect">
            <a:avLst>
              <a:gd name="adj" fmla="val 15000"/>
            </a:avLst>
          </a:prstGeom>
          <a:solidFill>
            <a:srgbClr val="0078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41248" y="3223259"/>
            <a:ext cx="512064" cy="512064"/>
          </a:xfrm>
          <a:prstGeom prst="rect">
            <a:avLst/>
          </a:prstGeom>
          <a:noFill/>
        </p:spPr>
        <p:txBody>
          <a:bodyPr wrap="square" lIns="0" rIns="0" tIns="0" bIns="0" anchor="ctr">
            <a:spAutoFit/>
          </a:bodyPr>
          <a:lstStyle/>
          <a:p>
            <a:pPr algn="ctr"/>
            <a:r>
              <a:rPr sz="1800" b="1">
                <a:solidFill>
                  <a:srgbClr val="FFFFFF"/>
                </a:solidFill>
                <a:latin typeface="Bahnschrift"/>
              </a:rPr>
              <a:t>8</a:t>
            </a:r>
          </a:p>
        </p:txBody>
      </p:sp>
      <p:sp>
        <p:nvSpPr>
          <p:cNvPr id="10" name="TextBox 9"/>
          <p:cNvSpPr txBox="1"/>
          <p:nvPr/>
        </p:nvSpPr>
        <p:spPr>
          <a:xfrm>
            <a:off x="1572768" y="2816352"/>
            <a:ext cx="9686239" cy="1325880"/>
          </a:xfrm>
          <a:prstGeom prst="rect">
            <a:avLst/>
          </a:prstGeom>
          <a:noFill/>
        </p:spPr>
        <p:txBody>
          <a:bodyPr wrap="square" lIns="0" rIns="0" tIns="0" bIns="0" anchor="ctr">
            <a:spAutoFit/>
          </a:bodyPr>
          <a:lstStyle/>
          <a:p>
            <a:pPr algn="l"/>
            <a:r>
              <a:rPr sz="2100" b="0">
                <a:solidFill>
                  <a:srgbClr val="002B55"/>
                </a:solidFill>
                <a:latin typeface="Arial"/>
              </a:rPr>
              <a:t>For the leaders in the room: what conversation do you need to have back home before any of this becomes real, and with whom?</a:t>
            </a:r>
          </a:p>
        </p:txBody>
      </p:sp>
      <p:sp>
        <p:nvSpPr>
          <p:cNvPr id="11" name="Rounded Rectangle 10"/>
          <p:cNvSpPr/>
          <p:nvPr/>
        </p:nvSpPr>
        <p:spPr>
          <a:xfrm>
            <a:off x="612648" y="4489703"/>
            <a:ext cx="10966399" cy="1691640"/>
          </a:xfrm>
          <a:prstGeom prst="roundRect">
            <a:avLst>
              <a:gd name="adj" fmla="val 8000"/>
            </a:avLst>
          </a:prstGeom>
          <a:solidFill>
            <a:srgbClr val="E8EEF5"/>
          </a:solidFill>
          <a:ln w="12700">
            <a:solidFill>
              <a:srgbClr val="C9D6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unded Rectangle 11"/>
          <p:cNvSpPr/>
          <p:nvPr/>
        </p:nvSpPr>
        <p:spPr>
          <a:xfrm>
            <a:off x="841248" y="5079491"/>
            <a:ext cx="512064" cy="512064"/>
          </a:xfrm>
          <a:prstGeom prst="roundRect">
            <a:avLst>
              <a:gd name="adj" fmla="val 15000"/>
            </a:avLst>
          </a:prstGeom>
          <a:solidFill>
            <a:srgbClr val="0078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841248" y="5079491"/>
            <a:ext cx="512064" cy="512064"/>
          </a:xfrm>
          <a:prstGeom prst="rect">
            <a:avLst/>
          </a:prstGeom>
          <a:noFill/>
        </p:spPr>
        <p:txBody>
          <a:bodyPr wrap="square" lIns="0" rIns="0" tIns="0" bIns="0" anchor="ctr">
            <a:spAutoFit/>
          </a:bodyPr>
          <a:lstStyle/>
          <a:p>
            <a:pPr algn="ctr"/>
            <a:r>
              <a:rPr sz="1800" b="1">
                <a:solidFill>
                  <a:srgbClr val="FFFFFF"/>
                </a:solidFill>
                <a:latin typeface="Bahnschrift"/>
              </a:rPr>
              <a:t>9</a:t>
            </a:r>
          </a:p>
        </p:txBody>
      </p:sp>
      <p:sp>
        <p:nvSpPr>
          <p:cNvPr id="14" name="TextBox 13"/>
          <p:cNvSpPr txBox="1"/>
          <p:nvPr/>
        </p:nvSpPr>
        <p:spPr>
          <a:xfrm>
            <a:off x="1572768" y="4672583"/>
            <a:ext cx="9686239" cy="1325880"/>
          </a:xfrm>
          <a:prstGeom prst="rect">
            <a:avLst/>
          </a:prstGeom>
          <a:noFill/>
        </p:spPr>
        <p:txBody>
          <a:bodyPr wrap="square" lIns="0" rIns="0" tIns="0" bIns="0" anchor="ctr">
            <a:spAutoFit/>
          </a:bodyPr>
          <a:lstStyle/>
          <a:p>
            <a:pPr algn="l"/>
            <a:r>
              <a:rPr sz="2100" b="0">
                <a:solidFill>
                  <a:srgbClr val="002B55"/>
                </a:solidFill>
                <a:latin typeface="Arial"/>
              </a:rPr>
              <a:t>Show of hands: who arrived worried AI would replace part of their function, and who leaves thinking it will change the function instead? What changed your mind?</a:t>
            </a:r>
          </a:p>
        </p:txBody>
      </p:sp>
      <p:sp>
        <p:nvSpPr>
          <p:cNvPr id="15" name="Footer"/>
          <p:cNvSpPr txBox="1"/>
          <p:nvPr/>
        </p:nvSpPr>
        <p:spPr>
          <a:xfrm>
            <a:off x="612648" y="6437376"/>
            <a:ext cx="5715000" cy="192024"/>
          </a:xfrm>
          <a:prstGeom prst="rect">
            <a:avLst/>
          </a:prstGeom>
          <a:noFill/>
        </p:spPr>
        <p:txBody>
          <a:bodyPr wrap="square" lIns="0" rIns="0" tIns="0" bIns="0" anchor="t">
            <a:spAutoFit/>
          </a:bodyPr>
          <a:lstStyle/>
          <a:p>
            <a:pPr algn="l"/>
            <a:r>
              <a:rPr sz="1050" b="0">
                <a:solidFill>
                  <a:srgbClr val="28455F"/>
                </a:solidFill>
                <a:latin typeface="Arial"/>
              </a:rPr>
              <a:t>AI IN ACTION / MEDICAL AFFAIRS</a:t>
            </a:r>
          </a:p>
        </p:txBody>
      </p:sp>
      <p:sp>
        <p:nvSpPr>
          <p:cNvPr id="16" name="Rounded Rectangle 15"/>
          <p:cNvSpPr/>
          <p:nvPr/>
        </p:nvSpPr>
        <p:spPr>
          <a:xfrm>
            <a:off x="11100816" y="6382512"/>
            <a:ext cx="466344" cy="283464"/>
          </a:xfrm>
          <a:prstGeom prst="roundRect">
            <a:avLst>
              <a:gd name="adj" fmla="val 20000"/>
            </a:avLst>
          </a:prstGeom>
          <a:solidFill>
            <a:srgbClr val="FFFFFF"/>
          </a:solidFill>
          <a:ln w="9525">
            <a:solidFill>
              <a:srgbClr val="C9D6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Slide number"/>
          <p:cNvSpPr txBox="1"/>
          <p:nvPr/>
        </p:nvSpPr>
        <p:spPr>
          <a:xfrm>
            <a:off x="11100816" y="6400800"/>
            <a:ext cx="466344" cy="256032"/>
          </a:xfrm>
          <a:prstGeom prst="rect">
            <a:avLst/>
          </a:prstGeom>
          <a:noFill/>
        </p:spPr>
        <p:txBody>
          <a:bodyPr wrap="square" lIns="0" rIns="0" tIns="0" bIns="0" anchor="ctr">
            <a:spAutoFit/>
          </a:bodyPr>
          <a:lstStyle/>
          <a:p>
            <a:pPr algn="ctr"/>
            <a:r>
              <a:rPr sz="1275" b="0">
                <a:solidFill>
                  <a:srgbClr val="28455F"/>
                </a:solidFill>
                <a:latin typeface="Bahnschrift"/>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closing-humans-agents-ma-1672.jpg"/>
          <p:cNvPicPr>
            <a:picLocks noChangeAspect="1"/>
          </p:cNvPicPr>
          <p:nvPr/>
        </p:nvPicPr>
        <p:blipFill>
          <a:blip r:embed="rId2"/>
          <a:stretch>
            <a:fillRect/>
          </a:stretch>
        </p:blipFill>
        <p:spPr>
          <a:xfrm>
            <a:off x="0" y="0"/>
            <a:ext cx="12192000" cy="6858000"/>
          </a:xfrm>
          <a:prstGeom prst="rect">
            <a:avLst/>
          </a:prstGeom>
        </p:spPr>
      </p:pic>
      <p:sp>
        <p:nvSpPr>
          <p:cNvPr id="3" name="Rectangle 2"/>
          <p:cNvSpPr/>
          <p:nvPr/>
        </p:nvSpPr>
        <p:spPr>
          <a:xfrm>
            <a:off x="0" y="0"/>
            <a:ext cx="4572000" cy="6858000"/>
          </a:xfrm>
          <a:prstGeom prst="rect">
            <a:avLst/>
          </a:prstGeom>
          <a:solidFill>
            <a:srgbClr val="FFFEFB">
              <a:alpha val="9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4572000" y="0"/>
            <a:ext cx="45720" cy="6858000"/>
          </a:xfrm>
          <a:prstGeom prst="rect">
            <a:avLst/>
          </a:prstGeom>
          <a:solidFill>
            <a:srgbClr val="0078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411480" y="411480"/>
            <a:ext cx="4023360" cy="640080"/>
          </a:xfrm>
          <a:prstGeom prst="rect">
            <a:avLst/>
          </a:prstGeom>
          <a:noFill/>
        </p:spPr>
        <p:txBody>
          <a:bodyPr wrap="square" lIns="0" rIns="0" tIns="0" bIns="0" anchor="t">
            <a:spAutoFit/>
          </a:bodyPr>
          <a:lstStyle/>
          <a:p>
            <a:pPr algn="l"/>
            <a:r>
              <a:rPr sz="3000" b="1">
                <a:solidFill>
                  <a:srgbClr val="002B55"/>
                </a:solidFill>
                <a:latin typeface="Bahnschrift"/>
              </a:rPr>
              <a:t>Human at the helm</a:t>
            </a:r>
          </a:p>
        </p:txBody>
      </p:sp>
      <p:sp>
        <p:nvSpPr>
          <p:cNvPr id="6" name="Rounded Rectangle 5"/>
          <p:cNvSpPr/>
          <p:nvPr/>
        </p:nvSpPr>
        <p:spPr>
          <a:xfrm>
            <a:off x="457200" y="1234440"/>
            <a:ext cx="3520440" cy="512064"/>
          </a:xfrm>
          <a:prstGeom prst="roundRect">
            <a:avLst>
              <a:gd name="adj" fmla="val 20000"/>
            </a:avLst>
          </a:prstGeom>
          <a:solidFill>
            <a:srgbClr val="FFFFFF"/>
          </a:solidFill>
          <a:ln w="22225">
            <a:solidFill>
              <a:srgbClr val="00787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457200" y="1234440"/>
            <a:ext cx="128016" cy="512064"/>
          </a:xfrm>
          <a:prstGeom prst="rect">
            <a:avLst/>
          </a:prstGeom>
          <a:solidFill>
            <a:srgbClr val="0078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731520" y="1234440"/>
            <a:ext cx="3108960" cy="512064"/>
          </a:xfrm>
          <a:prstGeom prst="rect">
            <a:avLst/>
          </a:prstGeom>
          <a:noFill/>
        </p:spPr>
        <p:txBody>
          <a:bodyPr wrap="square" lIns="0" rIns="0" tIns="0" bIns="0" anchor="ctr">
            <a:spAutoFit/>
          </a:bodyPr>
          <a:lstStyle/>
          <a:p>
            <a:pPr algn="l"/>
            <a:r>
              <a:rPr sz="2000" b="1">
                <a:solidFill>
                  <a:srgbClr val="007879"/>
                </a:solidFill>
                <a:latin typeface="Bahnschrift"/>
              </a:rPr>
              <a:t>Opportunity AI</a:t>
            </a:r>
          </a:p>
        </p:txBody>
      </p:sp>
      <p:sp>
        <p:nvSpPr>
          <p:cNvPr id="9" name="Rounded Rectangle 8"/>
          <p:cNvSpPr/>
          <p:nvPr/>
        </p:nvSpPr>
        <p:spPr>
          <a:xfrm>
            <a:off x="457200" y="1856232"/>
            <a:ext cx="3520440" cy="512064"/>
          </a:xfrm>
          <a:prstGeom prst="roundRect">
            <a:avLst>
              <a:gd name="adj" fmla="val 20000"/>
            </a:avLst>
          </a:prstGeom>
          <a:solidFill>
            <a:srgbClr val="FFFFFF"/>
          </a:solidFill>
          <a:ln w="22225">
            <a:solidFill>
              <a:srgbClr val="002B5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457200" y="1856232"/>
            <a:ext cx="128016" cy="512064"/>
          </a:xfrm>
          <a:prstGeom prst="rect">
            <a:avLst/>
          </a:prstGeom>
          <a:solidFill>
            <a:srgbClr val="002B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731520" y="1856232"/>
            <a:ext cx="3108960" cy="512064"/>
          </a:xfrm>
          <a:prstGeom prst="rect">
            <a:avLst/>
          </a:prstGeom>
          <a:noFill/>
        </p:spPr>
        <p:txBody>
          <a:bodyPr wrap="square" lIns="0" rIns="0" tIns="0" bIns="0" anchor="ctr">
            <a:spAutoFit/>
          </a:bodyPr>
          <a:lstStyle/>
          <a:p>
            <a:pPr algn="l"/>
            <a:r>
              <a:rPr sz="2000" b="1">
                <a:solidFill>
                  <a:srgbClr val="002B55"/>
                </a:solidFill>
                <a:latin typeface="Bahnschrift"/>
              </a:rPr>
              <a:t>Context</a:t>
            </a:r>
          </a:p>
        </p:txBody>
      </p:sp>
      <p:sp>
        <p:nvSpPr>
          <p:cNvPr id="12" name="Rounded Rectangle 11"/>
          <p:cNvSpPr/>
          <p:nvPr/>
        </p:nvSpPr>
        <p:spPr>
          <a:xfrm>
            <a:off x="457200" y="2478024"/>
            <a:ext cx="3520440" cy="512064"/>
          </a:xfrm>
          <a:prstGeom prst="roundRect">
            <a:avLst>
              <a:gd name="adj" fmla="val 20000"/>
            </a:avLst>
          </a:prstGeom>
          <a:solidFill>
            <a:srgbClr val="FFFFFF"/>
          </a:solidFill>
          <a:ln w="22225">
            <a:solidFill>
              <a:srgbClr val="F477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57200" y="2478024"/>
            <a:ext cx="128016" cy="512064"/>
          </a:xfrm>
          <a:prstGeom prst="rect">
            <a:avLst/>
          </a:prstGeom>
          <a:solidFill>
            <a:srgbClr val="F477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731520" y="2478024"/>
            <a:ext cx="3108960" cy="512064"/>
          </a:xfrm>
          <a:prstGeom prst="rect">
            <a:avLst/>
          </a:prstGeom>
          <a:noFill/>
        </p:spPr>
        <p:txBody>
          <a:bodyPr wrap="square" lIns="0" rIns="0" tIns="0" bIns="0" anchor="ctr">
            <a:spAutoFit/>
          </a:bodyPr>
          <a:lstStyle/>
          <a:p>
            <a:pPr algn="l"/>
            <a:r>
              <a:rPr sz="2000" b="1">
                <a:solidFill>
                  <a:srgbClr val="F47735"/>
                </a:solidFill>
                <a:latin typeface="Bahnschrift"/>
              </a:rPr>
              <a:t>Trust</a:t>
            </a:r>
          </a:p>
        </p:txBody>
      </p:sp>
      <p:sp>
        <p:nvSpPr>
          <p:cNvPr id="15" name="TextBox 14"/>
          <p:cNvSpPr txBox="1"/>
          <p:nvPr/>
        </p:nvSpPr>
        <p:spPr>
          <a:xfrm>
            <a:off x="457200" y="3200400"/>
            <a:ext cx="3566160" cy="274320"/>
          </a:xfrm>
          <a:prstGeom prst="rect">
            <a:avLst/>
          </a:prstGeom>
          <a:noFill/>
        </p:spPr>
        <p:txBody>
          <a:bodyPr wrap="square" lIns="0" rIns="0" tIns="0" bIns="0" anchor="t">
            <a:spAutoFit/>
          </a:bodyPr>
          <a:lstStyle/>
          <a:p>
            <a:pPr algn="l"/>
            <a:r>
              <a:rPr sz="1200" b="1">
                <a:solidFill>
                  <a:srgbClr val="007879"/>
                </a:solidFill>
                <a:latin typeface="Bahnschrift"/>
              </a:rPr>
              <a:t>ACROSS MEDICAL AFFAIRS</a:t>
            </a:r>
          </a:p>
        </p:txBody>
      </p:sp>
      <p:sp>
        <p:nvSpPr>
          <p:cNvPr id="16" name="Rounded Rectangle 15"/>
          <p:cNvSpPr/>
          <p:nvPr/>
        </p:nvSpPr>
        <p:spPr>
          <a:xfrm>
            <a:off x="457200" y="3520440"/>
            <a:ext cx="1719072" cy="329184"/>
          </a:xfrm>
          <a:prstGeom prst="roundRect">
            <a:avLst>
              <a:gd name="adj" fmla="val 30000"/>
            </a:avLst>
          </a:prstGeom>
          <a:solidFill>
            <a:srgbClr val="E3F1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457200" y="3520440"/>
            <a:ext cx="1719072" cy="329184"/>
          </a:xfrm>
          <a:prstGeom prst="rect">
            <a:avLst/>
          </a:prstGeom>
          <a:noFill/>
        </p:spPr>
        <p:txBody>
          <a:bodyPr wrap="square" lIns="0" rIns="0" tIns="0" bIns="0" anchor="ctr">
            <a:spAutoFit/>
          </a:bodyPr>
          <a:lstStyle/>
          <a:p>
            <a:pPr algn="ctr"/>
            <a:r>
              <a:rPr sz="1150" b="1">
                <a:solidFill>
                  <a:srgbClr val="002B55"/>
                </a:solidFill>
                <a:latin typeface="Arial"/>
              </a:rPr>
              <a:t>MSL pre-call</a:t>
            </a:r>
          </a:p>
        </p:txBody>
      </p:sp>
      <p:sp>
        <p:nvSpPr>
          <p:cNvPr id="18" name="Rounded Rectangle 17"/>
          <p:cNvSpPr/>
          <p:nvPr/>
        </p:nvSpPr>
        <p:spPr>
          <a:xfrm>
            <a:off x="2258568" y="3520440"/>
            <a:ext cx="1719072" cy="329184"/>
          </a:xfrm>
          <a:prstGeom prst="roundRect">
            <a:avLst>
              <a:gd name="adj" fmla="val 30000"/>
            </a:avLst>
          </a:prstGeom>
          <a:solidFill>
            <a:srgbClr val="E3F1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2258568" y="3520440"/>
            <a:ext cx="1719072" cy="329184"/>
          </a:xfrm>
          <a:prstGeom prst="rect">
            <a:avLst/>
          </a:prstGeom>
          <a:noFill/>
        </p:spPr>
        <p:txBody>
          <a:bodyPr wrap="square" lIns="0" rIns="0" tIns="0" bIns="0" anchor="ctr">
            <a:spAutoFit/>
          </a:bodyPr>
          <a:lstStyle/>
          <a:p>
            <a:pPr algn="ctr"/>
            <a:r>
              <a:rPr sz="1150" b="1">
                <a:solidFill>
                  <a:srgbClr val="002B55"/>
                </a:solidFill>
                <a:latin typeface="Arial"/>
              </a:rPr>
              <a:t>Medical information</a:t>
            </a:r>
          </a:p>
        </p:txBody>
      </p:sp>
      <p:sp>
        <p:nvSpPr>
          <p:cNvPr id="20" name="Rounded Rectangle 19"/>
          <p:cNvSpPr/>
          <p:nvPr/>
        </p:nvSpPr>
        <p:spPr>
          <a:xfrm>
            <a:off x="457200" y="3931920"/>
            <a:ext cx="1719072" cy="329184"/>
          </a:xfrm>
          <a:prstGeom prst="roundRect">
            <a:avLst>
              <a:gd name="adj" fmla="val 30000"/>
            </a:avLst>
          </a:prstGeom>
          <a:solidFill>
            <a:srgbClr val="E3F1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457200" y="3931920"/>
            <a:ext cx="1719072" cy="329184"/>
          </a:xfrm>
          <a:prstGeom prst="rect">
            <a:avLst/>
          </a:prstGeom>
          <a:noFill/>
        </p:spPr>
        <p:txBody>
          <a:bodyPr wrap="square" lIns="0" rIns="0" tIns="0" bIns="0" anchor="ctr">
            <a:spAutoFit/>
          </a:bodyPr>
          <a:lstStyle/>
          <a:p>
            <a:pPr algn="ctr"/>
            <a:r>
              <a:rPr sz="1150" b="1">
                <a:solidFill>
                  <a:srgbClr val="002B55"/>
                </a:solidFill>
                <a:latin typeface="Arial"/>
              </a:rPr>
              <a:t>Congress intelligence</a:t>
            </a:r>
          </a:p>
        </p:txBody>
      </p:sp>
      <p:sp>
        <p:nvSpPr>
          <p:cNvPr id="22" name="Rounded Rectangle 21"/>
          <p:cNvSpPr/>
          <p:nvPr/>
        </p:nvSpPr>
        <p:spPr>
          <a:xfrm>
            <a:off x="2258568" y="3931920"/>
            <a:ext cx="1719072" cy="329184"/>
          </a:xfrm>
          <a:prstGeom prst="roundRect">
            <a:avLst>
              <a:gd name="adj" fmla="val 30000"/>
            </a:avLst>
          </a:prstGeom>
          <a:solidFill>
            <a:srgbClr val="E3F1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2258568" y="3931920"/>
            <a:ext cx="1719072" cy="329184"/>
          </a:xfrm>
          <a:prstGeom prst="rect">
            <a:avLst/>
          </a:prstGeom>
          <a:noFill/>
        </p:spPr>
        <p:txBody>
          <a:bodyPr wrap="square" lIns="0" rIns="0" tIns="0" bIns="0" anchor="ctr">
            <a:spAutoFit/>
          </a:bodyPr>
          <a:lstStyle/>
          <a:p>
            <a:pPr algn="ctr"/>
            <a:r>
              <a:rPr sz="1150" b="1">
                <a:solidFill>
                  <a:srgbClr val="002B55"/>
                </a:solidFill>
                <a:latin typeface="Arial"/>
              </a:rPr>
              <a:t>Publications</a:t>
            </a:r>
          </a:p>
        </p:txBody>
      </p:sp>
      <p:sp>
        <p:nvSpPr>
          <p:cNvPr id="24" name="Rounded Rectangle 23"/>
          <p:cNvSpPr/>
          <p:nvPr/>
        </p:nvSpPr>
        <p:spPr>
          <a:xfrm>
            <a:off x="457200" y="4343400"/>
            <a:ext cx="1719072" cy="329184"/>
          </a:xfrm>
          <a:prstGeom prst="roundRect">
            <a:avLst>
              <a:gd name="adj" fmla="val 30000"/>
            </a:avLst>
          </a:prstGeom>
          <a:solidFill>
            <a:srgbClr val="E3F1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457200" y="4343400"/>
            <a:ext cx="1719072" cy="329184"/>
          </a:xfrm>
          <a:prstGeom prst="rect">
            <a:avLst/>
          </a:prstGeom>
          <a:noFill/>
        </p:spPr>
        <p:txBody>
          <a:bodyPr wrap="square" lIns="0" rIns="0" tIns="0" bIns="0" anchor="ctr">
            <a:spAutoFit/>
          </a:bodyPr>
          <a:lstStyle/>
          <a:p>
            <a:pPr algn="ctr"/>
            <a:r>
              <a:rPr sz="1150" b="1">
                <a:solidFill>
                  <a:srgbClr val="002B55"/>
                </a:solidFill>
                <a:latin typeface="Arial"/>
              </a:rPr>
              <a:t>Field insights</a:t>
            </a:r>
          </a:p>
        </p:txBody>
      </p:sp>
      <p:sp>
        <p:nvSpPr>
          <p:cNvPr id="26" name="Rounded Rectangle 25"/>
          <p:cNvSpPr/>
          <p:nvPr/>
        </p:nvSpPr>
        <p:spPr>
          <a:xfrm>
            <a:off x="2258568" y="4343400"/>
            <a:ext cx="1719072" cy="329184"/>
          </a:xfrm>
          <a:prstGeom prst="roundRect">
            <a:avLst>
              <a:gd name="adj" fmla="val 30000"/>
            </a:avLst>
          </a:prstGeom>
          <a:solidFill>
            <a:srgbClr val="E3F1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2258568" y="4343400"/>
            <a:ext cx="1719072" cy="329184"/>
          </a:xfrm>
          <a:prstGeom prst="rect">
            <a:avLst/>
          </a:prstGeom>
          <a:noFill/>
        </p:spPr>
        <p:txBody>
          <a:bodyPr wrap="square" lIns="0" rIns="0" tIns="0" bIns="0" anchor="ctr">
            <a:spAutoFit/>
          </a:bodyPr>
          <a:lstStyle/>
          <a:p>
            <a:pPr algn="ctr"/>
            <a:r>
              <a:rPr sz="1150" b="1">
                <a:solidFill>
                  <a:srgbClr val="002B55"/>
                </a:solidFill>
                <a:latin typeface="Arial"/>
              </a:rPr>
              <a:t>Advisory boards</a:t>
            </a:r>
          </a:p>
        </p:txBody>
      </p:sp>
      <p:sp>
        <p:nvSpPr>
          <p:cNvPr id="28" name="Rounded Rectangle 27"/>
          <p:cNvSpPr/>
          <p:nvPr/>
        </p:nvSpPr>
        <p:spPr>
          <a:xfrm>
            <a:off x="457200" y="4754880"/>
            <a:ext cx="1719072" cy="329184"/>
          </a:xfrm>
          <a:prstGeom prst="roundRect">
            <a:avLst>
              <a:gd name="adj" fmla="val 30000"/>
            </a:avLst>
          </a:prstGeom>
          <a:solidFill>
            <a:srgbClr val="E3F1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457200" y="4754880"/>
            <a:ext cx="1719072" cy="329184"/>
          </a:xfrm>
          <a:prstGeom prst="rect">
            <a:avLst/>
          </a:prstGeom>
          <a:noFill/>
        </p:spPr>
        <p:txBody>
          <a:bodyPr wrap="square" lIns="0" rIns="0" tIns="0" bIns="0" anchor="ctr">
            <a:spAutoFit/>
          </a:bodyPr>
          <a:lstStyle/>
          <a:p>
            <a:pPr algn="ctr"/>
            <a:r>
              <a:rPr sz="1150" b="1">
                <a:solidFill>
                  <a:srgbClr val="002B55"/>
                </a:solidFill>
                <a:latin typeface="Arial"/>
              </a:rPr>
              <a:t>Launch planning</a:t>
            </a:r>
          </a:p>
        </p:txBody>
      </p:sp>
      <p:sp>
        <p:nvSpPr>
          <p:cNvPr id="30" name="Rounded Rectangle 29"/>
          <p:cNvSpPr/>
          <p:nvPr/>
        </p:nvSpPr>
        <p:spPr>
          <a:xfrm>
            <a:off x="2258568" y="4754880"/>
            <a:ext cx="1719072" cy="329184"/>
          </a:xfrm>
          <a:prstGeom prst="roundRect">
            <a:avLst>
              <a:gd name="adj" fmla="val 30000"/>
            </a:avLst>
          </a:prstGeom>
          <a:solidFill>
            <a:srgbClr val="E3F1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2258568" y="4754880"/>
            <a:ext cx="1719072" cy="329184"/>
          </a:xfrm>
          <a:prstGeom prst="rect">
            <a:avLst/>
          </a:prstGeom>
          <a:noFill/>
        </p:spPr>
        <p:txBody>
          <a:bodyPr wrap="square" lIns="0" rIns="0" tIns="0" bIns="0" anchor="ctr">
            <a:spAutoFit/>
          </a:bodyPr>
          <a:lstStyle/>
          <a:p>
            <a:pPr algn="ctr"/>
            <a:r>
              <a:rPr sz="1150" b="1">
                <a:solidFill>
                  <a:srgbClr val="002B55"/>
                </a:solidFill>
                <a:latin typeface="Arial"/>
              </a:rPr>
              <a:t>Evidence generation</a:t>
            </a:r>
          </a:p>
        </p:txBody>
      </p:sp>
      <p:sp>
        <p:nvSpPr>
          <p:cNvPr id="32" name="Rounded Rectangle 31"/>
          <p:cNvSpPr/>
          <p:nvPr/>
        </p:nvSpPr>
        <p:spPr>
          <a:xfrm>
            <a:off x="457200" y="5257800"/>
            <a:ext cx="3520440" cy="914400"/>
          </a:xfrm>
          <a:prstGeom prst="roundRect">
            <a:avLst>
              <a:gd name="adj" fmla="val 12000"/>
            </a:avLst>
          </a:prstGeom>
          <a:solidFill>
            <a:srgbClr val="002B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594360" y="5257800"/>
            <a:ext cx="3246120" cy="914400"/>
          </a:xfrm>
          <a:prstGeom prst="rect">
            <a:avLst/>
          </a:prstGeom>
          <a:noFill/>
        </p:spPr>
        <p:txBody>
          <a:bodyPr wrap="square" lIns="0" rIns="0" tIns="0" bIns="0" anchor="ctr">
            <a:spAutoFit/>
          </a:bodyPr>
          <a:lstStyle/>
          <a:p>
            <a:pPr algn="ctr"/>
            <a:r>
              <a:rPr sz="1600" b="1">
                <a:solidFill>
                  <a:srgbClr val="FFFFFF"/>
                </a:solidFill>
                <a:latin typeface="Bahnschrift"/>
              </a:rPr>
              <a:t>Medical Affairs is the steward of trust. AI helps us keep it.</a:t>
            </a:r>
          </a:p>
        </p:txBody>
      </p:sp>
      <p:sp>
        <p:nvSpPr>
          <p:cNvPr id="34" name="Footer"/>
          <p:cNvSpPr txBox="1"/>
          <p:nvPr/>
        </p:nvSpPr>
        <p:spPr>
          <a:xfrm>
            <a:off x="612648" y="6437376"/>
            <a:ext cx="5715000" cy="192024"/>
          </a:xfrm>
          <a:prstGeom prst="rect">
            <a:avLst/>
          </a:prstGeom>
          <a:noFill/>
        </p:spPr>
        <p:txBody>
          <a:bodyPr wrap="square" lIns="0" rIns="0" tIns="0" bIns="0" anchor="t">
            <a:spAutoFit/>
          </a:bodyPr>
          <a:lstStyle/>
          <a:p>
            <a:pPr algn="l"/>
            <a:r>
              <a:rPr sz="1050" b="0">
                <a:solidFill>
                  <a:srgbClr val="28455F"/>
                </a:solidFill>
                <a:latin typeface="Arial"/>
              </a:rPr>
              <a:t>AI IN ACTION / MEDICAL AFFAIRS</a:t>
            </a:r>
          </a:p>
        </p:txBody>
      </p:sp>
      <p:sp>
        <p:nvSpPr>
          <p:cNvPr id="35" name="Rounded Rectangle 34"/>
          <p:cNvSpPr/>
          <p:nvPr/>
        </p:nvSpPr>
        <p:spPr>
          <a:xfrm>
            <a:off x="11100816" y="6382512"/>
            <a:ext cx="466344" cy="283464"/>
          </a:xfrm>
          <a:prstGeom prst="roundRect">
            <a:avLst>
              <a:gd name="adj" fmla="val 20000"/>
            </a:avLst>
          </a:prstGeom>
          <a:solidFill>
            <a:srgbClr val="FFFFFF"/>
          </a:solidFill>
          <a:ln w="9525">
            <a:solidFill>
              <a:srgbClr val="C9D6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Slide number"/>
          <p:cNvSpPr txBox="1"/>
          <p:nvPr/>
        </p:nvSpPr>
        <p:spPr>
          <a:xfrm>
            <a:off x="11100816" y="6400800"/>
            <a:ext cx="466344" cy="256032"/>
          </a:xfrm>
          <a:prstGeom prst="rect">
            <a:avLst/>
          </a:prstGeom>
          <a:noFill/>
        </p:spPr>
        <p:txBody>
          <a:bodyPr wrap="square" lIns="0" rIns="0" tIns="0" bIns="0" anchor="ctr">
            <a:spAutoFit/>
          </a:bodyPr>
          <a:lstStyle/>
          <a:p>
            <a:pPr algn="ctr"/>
            <a:r>
              <a:rPr sz="1275" b="0">
                <a:solidFill>
                  <a:srgbClr val="28455F"/>
                </a:solidFill>
                <a:latin typeface="Bahnschrift"/>
              </a:rPr>
              <a:t>14</a:t>
            </a:r>
          </a:p>
        </p:txBody>
      </p:sp>
    </p:spTree>
  </p:cSld>
  <p:clrMapOvr>
    <a:masterClrMapping/>
  </p:clrMapOvr>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6833</Words>
  <Application>Microsoft Office PowerPoint</Application>
  <DocSecurity>0</DocSecurity>
  <PresentationFormat>Widescreen</PresentationFormat>
  <Paragraphs>666</Paragraphs>
  <Slides>36</Slides>
  <Notes>36</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36</vt:i4>
      </vt:variant>
    </vt:vector>
  </HeadingPairs>
  <TitlesOfParts>
    <vt:vector size="40" baseType="lpstr">
      <vt:lpstr>Aptos</vt:lpstr>
      <vt:lpstr>Arial</vt:lpstr>
      <vt:lpstr>Bahnschrift</vt:lpstr>
      <vt:lpstr>ChatGPT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in Action - Closing Session</dc:title>
  <dc:creator>Vivek Mukhatyar</dc:creator>
  <cp:lastModifiedBy>Vivek Mukhatyar</cp:lastModifiedBy>
  <cp:revision>1</cp:revision>
  <dcterms:created xsi:type="dcterms:W3CDTF">2026-10-08T22:58:18Z</dcterms:created>
  <dcterms:modified xsi:type="dcterms:W3CDTF">2026-10-08T23:18:51Z</dcterms:modified>
</cp:coreProperties>
</file>