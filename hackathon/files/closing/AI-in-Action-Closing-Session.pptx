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4-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orkspace/slides/closing-session/art/section-jobs-1672.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537960" y="0"/>
            <a:ext cx="5650992" cy="6858000"/>
          </a:xfrm>
          <a:prstGeom prst="rect">
            <a:avLst/>
          </a:prstGeom>
          <a:solidFill>
            <a:srgbClr val="FFFEFB">
              <a:alpha val="88000"/>
            </a:srgbClr>
          </a:solidFill>
          <a:ln w="12700">
            <a:solidFill>
              <a:srgbClr val="FFFEFB">
                <a:alpha val="0"/>
              </a:srgbClr>
            </a:solidFill>
            <a:prstDash val="solid"/>
          </a:ln>
        </p:spPr>
      </p:sp>
      <p:sp>
        <p:nvSpPr>
          <p:cNvPr id="4" name="Text 1"/>
          <p:cNvSpPr/>
          <p:nvPr/>
        </p:nvSpPr>
        <p:spPr>
          <a:xfrm>
            <a:off x="6903720" y="1691640"/>
            <a:ext cx="4754880" cy="320040"/>
          </a:xfrm>
          <a:prstGeom prst="rect">
            <a:avLst/>
          </a:prstGeom>
          <a:noFill/>
          <a:ln/>
        </p:spPr>
        <p:txBody>
          <a:bodyPr wrap="square" lIns="0" tIns="0" rIns="0" bIns="0" rtlCol="0" anchor="ctr"/>
          <a:lstStyle/>
          <a:p>
            <a:pPr indent="0" marL="0">
              <a:buNone/>
            </a:pPr>
            <a:r>
              <a:rPr lang="en-US" sz="1400" b="1" dirty="0">
                <a:solidFill>
                  <a:srgbClr val="007879"/>
                </a:solidFill>
                <a:latin typeface="Bahnschrift" pitchFamily="34" charset="0"/>
                <a:ea typeface="Bahnschrift" pitchFamily="34" charset="-122"/>
                <a:cs typeface="Bahnschrift" pitchFamily="34" charset="-120"/>
              </a:rPr>
              <a:t>CLOSING SESSION</a:t>
            </a:r>
            <a:endParaRPr lang="en-US" sz="1400" dirty="0"/>
          </a:p>
        </p:txBody>
      </p:sp>
      <p:sp>
        <p:nvSpPr>
          <p:cNvPr id="5" name="Text 2"/>
          <p:cNvSpPr/>
          <p:nvPr/>
        </p:nvSpPr>
        <p:spPr>
          <a:xfrm>
            <a:off x="6903720" y="2103120"/>
            <a:ext cx="4754880" cy="1554480"/>
          </a:xfrm>
          <a:prstGeom prst="rect">
            <a:avLst/>
          </a:prstGeom>
          <a:noFill/>
          <a:ln/>
        </p:spPr>
        <p:txBody>
          <a:bodyPr wrap="square" lIns="0" tIns="0" rIns="0" bIns="0" rtlCol="0" anchor="ctr"/>
          <a:lstStyle/>
          <a:p>
            <a:pPr indent="0" marL="0">
              <a:buNone/>
            </a:pPr>
            <a:r>
              <a:rPr lang="en-US" sz="3000" b="1" dirty="0">
                <a:solidFill>
                  <a:srgbClr val="002B55"/>
                </a:solidFill>
                <a:latin typeface="Bahnschrift" pitchFamily="34" charset="0"/>
                <a:ea typeface="Bahnschrift" pitchFamily="34" charset="-122"/>
                <a:cs typeface="Bahnschrift" pitchFamily="34" charset="-120"/>
              </a:rPr>
              <a:t>Closing: what we learned,</a:t>
            </a:r>
            <a:endParaRPr lang="en-US" sz="3000" dirty="0"/>
          </a:p>
          <a:p>
            <a:pPr indent="0" marL="0">
              <a:buNone/>
            </a:pPr>
            <a:r>
              <a:rPr lang="en-US" sz="3000" b="1" dirty="0">
                <a:solidFill>
                  <a:srgbClr val="002B55"/>
                </a:solidFill>
                <a:latin typeface="Bahnschrift" pitchFamily="34" charset="0"/>
                <a:ea typeface="Bahnschrift" pitchFamily="34" charset="-122"/>
                <a:cs typeface="Bahnschrift" pitchFamily="34" charset="-120"/>
              </a:rPr>
              <a:t>what we take home</a:t>
            </a:r>
            <a:endParaRPr lang="en-US" sz="3000" dirty="0"/>
          </a:p>
        </p:txBody>
      </p:sp>
      <p:sp>
        <p:nvSpPr>
          <p:cNvPr id="6" name="Text 3"/>
          <p:cNvSpPr/>
          <p:nvPr/>
        </p:nvSpPr>
        <p:spPr>
          <a:xfrm>
            <a:off x="6903720" y="3931920"/>
            <a:ext cx="4754880" cy="365760"/>
          </a:xfrm>
          <a:prstGeom prst="rect">
            <a:avLst/>
          </a:prstGeom>
          <a:noFill/>
          <a:ln/>
        </p:spPr>
        <p:txBody>
          <a:bodyPr wrap="square" lIns="0" tIns="0" rIns="0" bIns="0" rtlCol="0" anchor="ctr"/>
          <a:lstStyle/>
          <a:p>
            <a:pPr indent="0" marL="0">
              <a:buNone/>
            </a:pPr>
            <a:r>
              <a:rPr lang="en-US" sz="1300" dirty="0">
                <a:solidFill>
                  <a:srgbClr val="28455F"/>
                </a:solidFill>
                <a:latin typeface="Arial" pitchFamily="34" charset="0"/>
                <a:ea typeface="Arial" pitchFamily="34" charset="-122"/>
                <a:cs typeface="Arial" pitchFamily="34" charset="-120"/>
              </a:rPr>
              <a:t>Moderator: Vivek  ·  Convene Philadelphia  ·  Oct 14, 2026</a:t>
            </a:r>
            <a:endParaRPr lang="en-US" sz="1300" dirty="0"/>
          </a:p>
        </p:txBody>
      </p:sp>
      <p:sp>
        <p:nvSpPr>
          <p:cNvPr id="7" name="Text 4"/>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8" name="Shape 5"/>
          <p:cNvSpPr/>
          <p:nvPr/>
        </p:nvSpPr>
        <p:spPr>
          <a:xfrm>
            <a:off x="11100816" y="6382512"/>
            <a:ext cx="466344" cy="283464"/>
          </a:xfrm>
          <a:prstGeom prst="roundRect">
            <a:avLst/>
          </a:prstGeom>
          <a:solidFill>
            <a:srgbClr val="FFFFFF"/>
          </a:solidFill>
          <a:ln w="9525">
            <a:solidFill>
              <a:srgbClr val="C9D6E3"/>
            </a:solidFill>
            <a:prstDash val="solid"/>
          </a:ln>
        </p:spPr>
      </p:sp>
      <p:sp>
        <p:nvSpPr>
          <p:cNvPr id="9" name="Text 6"/>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1</a:t>
            </a:r>
            <a:endParaRPr lang="en-US" sz="12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12648" y="365760"/>
            <a:ext cx="10966399" cy="292608"/>
          </a:xfrm>
          <a:prstGeom prst="rect">
            <a:avLst/>
          </a:prstGeom>
          <a:noFill/>
          <a:ln/>
        </p:spPr>
        <p:txBody>
          <a:bodyPr wrap="square" lIns="0" tIns="0" rIns="0" bIns="0" rtlCol="0" anchor="ctr"/>
          <a:lstStyle/>
          <a:p>
            <a:pPr indent="0" marL="0">
              <a:buNone/>
            </a:pPr>
            <a:r>
              <a:rPr lang="en-US" sz="1300" b="1" dirty="0">
                <a:solidFill>
                  <a:srgbClr val="007879"/>
                </a:solidFill>
                <a:latin typeface="Bahnschrift" pitchFamily="34" charset="0"/>
                <a:ea typeface="Bahnschrift" pitchFamily="34" charset="-122"/>
                <a:cs typeface="Bahnschrift" pitchFamily="34" charset="-120"/>
              </a:rPr>
              <a:t>PANEL OPENER</a:t>
            </a:r>
            <a:endParaRPr lang="en-US" sz="1300" dirty="0"/>
          </a:p>
        </p:txBody>
      </p:sp>
      <p:sp>
        <p:nvSpPr>
          <p:cNvPr id="3" name="Text 1"/>
          <p:cNvSpPr/>
          <p:nvPr/>
        </p:nvSpPr>
        <p:spPr>
          <a:xfrm>
            <a:off x="612648" y="685800"/>
            <a:ext cx="10966399" cy="502920"/>
          </a:xfrm>
          <a:prstGeom prst="rect">
            <a:avLst/>
          </a:prstGeom>
          <a:noFill/>
          <a:ln/>
        </p:spPr>
        <p:txBody>
          <a:bodyPr wrap="square" lIns="0" tIns="0" rIns="0" bIns="0" rtlCol="0" anchor="ctr"/>
          <a:lstStyle/>
          <a:p>
            <a:pPr indent="0" marL="0">
              <a:buNone/>
            </a:pPr>
            <a:r>
              <a:rPr lang="en-US" sz="2600" b="1" dirty="0">
                <a:solidFill>
                  <a:srgbClr val="002B55"/>
                </a:solidFill>
                <a:latin typeface="Bahnschrift" pitchFamily="34" charset="0"/>
                <a:ea typeface="Bahnschrift" pitchFamily="34" charset="-122"/>
                <a:cs typeface="Bahnschrift" pitchFamily="34" charset="-120"/>
              </a:rPr>
              <a:t>When AI surprised you</a:t>
            </a:r>
            <a:endParaRPr lang="en-US" sz="2600" dirty="0"/>
          </a:p>
        </p:txBody>
      </p:sp>
      <p:sp>
        <p:nvSpPr>
          <p:cNvPr id="4" name="Shape 2"/>
          <p:cNvSpPr/>
          <p:nvPr/>
        </p:nvSpPr>
        <p:spPr>
          <a:xfrm>
            <a:off x="612648" y="1325880"/>
            <a:ext cx="10966399" cy="4434840"/>
          </a:xfrm>
          <a:prstGeom prst="roundRect">
            <a:avLst/>
          </a:prstGeom>
          <a:solidFill>
            <a:srgbClr val="FFFEFB"/>
          </a:solidFill>
          <a:ln w="12700">
            <a:solidFill>
              <a:srgbClr val="C9D6E3"/>
            </a:solidFill>
            <a:prstDash val="solid"/>
          </a:ln>
        </p:spPr>
      </p:sp>
      <p:sp>
        <p:nvSpPr>
          <p:cNvPr id="5" name="Text 3"/>
          <p:cNvSpPr/>
          <p:nvPr/>
        </p:nvSpPr>
        <p:spPr>
          <a:xfrm>
            <a:off x="978408" y="1554480"/>
            <a:ext cx="10234879" cy="3977640"/>
          </a:xfrm>
          <a:prstGeom prst="rect">
            <a:avLst/>
          </a:prstGeom>
          <a:noFill/>
          <a:ln/>
        </p:spPr>
        <p:txBody>
          <a:bodyPr wrap="square" lIns="0" tIns="0" rIns="0" bIns="0" rtlCol="0" anchor="ctr"/>
          <a:lstStyle/>
          <a:p>
            <a:pPr indent="0" marL="0">
              <a:buNone/>
            </a:pPr>
            <a:r>
              <a:rPr lang="en-US" sz="2600" dirty="0">
                <a:solidFill>
                  <a:srgbClr val="002B55"/>
                </a:solidFill>
                <a:latin typeface="Arial" pitchFamily="34" charset="0"/>
                <a:ea typeface="Arial" pitchFamily="34" charset="-122"/>
                <a:cs typeface="Arial" pitchFamily="34" charset="-120"/>
              </a:rPr>
              <a:t>Describe a moment when an AI tool in your function surprised you, did something you didn't expect, or worked around a limit.</a:t>
            </a:r>
            <a:endParaRPr lang="en-US" sz="2600" dirty="0"/>
          </a:p>
          <a:p>
            <a:pPr indent="0" marL="0">
              <a:buNone/>
            </a:pPr>
            <a:endParaRPr lang="en-US" sz="2600" dirty="0"/>
          </a:p>
          <a:p>
            <a:pPr indent="0" marL="0">
              <a:buNone/>
            </a:pPr>
            <a:r>
              <a:rPr lang="en-US" sz="2600" dirty="0">
                <a:solidFill>
                  <a:srgbClr val="002B55"/>
                </a:solidFill>
                <a:latin typeface="Arial" pitchFamily="34" charset="0"/>
                <a:ea typeface="Arial" pitchFamily="34" charset="-122"/>
                <a:cs typeface="Arial" pitchFamily="34" charset="-120"/>
              </a:rPr>
              <a:t>What was your human-check setup at the time, and what did you change afterward?</a:t>
            </a:r>
            <a:endParaRPr lang="en-US" sz="2600" dirty="0"/>
          </a:p>
        </p:txBody>
      </p:sp>
      <p:sp>
        <p:nvSpPr>
          <p:cNvPr id="6" name="Text 4"/>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7" name="Shape 5"/>
          <p:cNvSpPr/>
          <p:nvPr/>
        </p:nvSpPr>
        <p:spPr>
          <a:xfrm>
            <a:off x="11100816" y="6382512"/>
            <a:ext cx="466344" cy="283464"/>
          </a:xfrm>
          <a:prstGeom prst="roundRect">
            <a:avLst/>
          </a:prstGeom>
          <a:solidFill>
            <a:srgbClr val="FFFFFF"/>
          </a:solidFill>
          <a:ln w="9525">
            <a:solidFill>
              <a:srgbClr val="C9D6E3"/>
            </a:solidFill>
            <a:prstDash val="solid"/>
          </a:ln>
        </p:spPr>
      </p:sp>
      <p:sp>
        <p:nvSpPr>
          <p:cNvPr id="8" name="Text 6"/>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2</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12648" y="365760"/>
            <a:ext cx="10966399" cy="292608"/>
          </a:xfrm>
          <a:prstGeom prst="rect">
            <a:avLst/>
          </a:prstGeom>
          <a:noFill/>
          <a:ln/>
        </p:spPr>
        <p:txBody>
          <a:bodyPr wrap="square" lIns="0" tIns="0" rIns="0" bIns="0" rtlCol="0" anchor="ctr"/>
          <a:lstStyle/>
          <a:p>
            <a:pPr indent="0" marL="0">
              <a:buNone/>
            </a:pPr>
            <a:r>
              <a:rPr lang="en-US" sz="1300" b="1" dirty="0">
                <a:solidFill>
                  <a:srgbClr val="007879"/>
                </a:solidFill>
                <a:latin typeface="Bahnschrift" pitchFamily="34" charset="0"/>
                <a:ea typeface="Bahnschrift" pitchFamily="34" charset="-122"/>
                <a:cs typeface="Bahnschrift" pitchFamily="34" charset="-120"/>
              </a:rPr>
              <a:t>PANEL  ·  Q1</a:t>
            </a:r>
            <a:endParaRPr lang="en-US" sz="1300" dirty="0"/>
          </a:p>
        </p:txBody>
      </p:sp>
      <p:sp>
        <p:nvSpPr>
          <p:cNvPr id="3" name="Text 1"/>
          <p:cNvSpPr/>
          <p:nvPr/>
        </p:nvSpPr>
        <p:spPr>
          <a:xfrm>
            <a:off x="612648" y="685800"/>
            <a:ext cx="10966399" cy="502920"/>
          </a:xfrm>
          <a:prstGeom prst="rect">
            <a:avLst/>
          </a:prstGeom>
          <a:noFill/>
          <a:ln/>
        </p:spPr>
        <p:txBody>
          <a:bodyPr wrap="square" lIns="0" tIns="0" rIns="0" bIns="0" rtlCol="0" anchor="ctr"/>
          <a:lstStyle/>
          <a:p>
            <a:pPr indent="0" marL="0">
              <a:buNone/>
            </a:pPr>
            <a:r>
              <a:rPr lang="en-US" sz="2600" b="1" dirty="0">
                <a:solidFill>
                  <a:srgbClr val="002B55"/>
                </a:solidFill>
                <a:latin typeface="Bahnschrift" pitchFamily="34" charset="0"/>
                <a:ea typeface="Bahnschrift" pitchFamily="34" charset="-122"/>
                <a:cs typeface="Bahnschrift" pitchFamily="34" charset="-120"/>
              </a:rPr>
              <a:t>Is the HCP relationship shifting?</a:t>
            </a:r>
            <a:endParaRPr lang="en-US" sz="2600" dirty="0"/>
          </a:p>
        </p:txBody>
      </p:sp>
      <p:sp>
        <p:nvSpPr>
          <p:cNvPr id="4" name="Shape 2"/>
          <p:cNvSpPr/>
          <p:nvPr/>
        </p:nvSpPr>
        <p:spPr>
          <a:xfrm>
            <a:off x="612648" y="1325880"/>
            <a:ext cx="10966399" cy="4434840"/>
          </a:xfrm>
          <a:prstGeom prst="roundRect">
            <a:avLst/>
          </a:prstGeom>
          <a:solidFill>
            <a:srgbClr val="FFFEFB"/>
          </a:solidFill>
          <a:ln w="12700">
            <a:solidFill>
              <a:srgbClr val="C9D6E3"/>
            </a:solidFill>
            <a:prstDash val="solid"/>
          </a:ln>
        </p:spPr>
      </p:sp>
      <p:sp>
        <p:nvSpPr>
          <p:cNvPr id="5" name="Text 3"/>
          <p:cNvSpPr/>
          <p:nvPr/>
        </p:nvSpPr>
        <p:spPr>
          <a:xfrm>
            <a:off x="978408" y="1554480"/>
            <a:ext cx="10234879" cy="3977640"/>
          </a:xfrm>
          <a:prstGeom prst="rect">
            <a:avLst/>
          </a:prstGeom>
          <a:noFill/>
          <a:ln/>
        </p:spPr>
        <p:txBody>
          <a:bodyPr wrap="square" lIns="0" tIns="0" rIns="0" bIns="0" rtlCol="0" anchor="ctr"/>
          <a:lstStyle/>
          <a:p>
            <a:pPr indent="0" marL="0">
              <a:buNone/>
            </a:pPr>
            <a:r>
              <a:rPr lang="en-US" sz="2600" dirty="0">
                <a:solidFill>
                  <a:srgbClr val="002B55"/>
                </a:solidFill>
                <a:latin typeface="Arial" pitchFamily="34" charset="0"/>
                <a:ea typeface="Arial" pitchFamily="34" charset="-122"/>
                <a:cs typeface="Arial" pitchFamily="34" charset="-120"/>
              </a:rPr>
              <a:t>Have you felt the HCP relationship shifting in your function: people getting answers from AI assistants instead of your MSLs, your portal, your team?</a:t>
            </a:r>
            <a:endParaRPr lang="en-US" sz="2600" dirty="0"/>
          </a:p>
          <a:p>
            <a:pPr indent="0" marL="0">
              <a:buNone/>
            </a:pPr>
            <a:endParaRPr lang="en-US" sz="2600" dirty="0"/>
          </a:p>
          <a:p>
            <a:pPr indent="0" marL="0">
              <a:buNone/>
            </a:pPr>
            <a:r>
              <a:rPr lang="en-US" sz="2600" dirty="0">
                <a:solidFill>
                  <a:srgbClr val="002B55"/>
                </a:solidFill>
                <a:latin typeface="Arial" pitchFamily="34" charset="0"/>
                <a:ea typeface="Arial" pitchFamily="34" charset="-122"/>
                <a:cs typeface="Arial" pitchFamily="34" charset="-120"/>
              </a:rPr>
              <a:t>What's the most concrete example, and how did you respond?</a:t>
            </a:r>
            <a:endParaRPr lang="en-US" sz="2600" dirty="0"/>
          </a:p>
        </p:txBody>
      </p:sp>
      <p:sp>
        <p:nvSpPr>
          <p:cNvPr id="6" name="Text 4"/>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7" name="Shape 5"/>
          <p:cNvSpPr/>
          <p:nvPr/>
        </p:nvSpPr>
        <p:spPr>
          <a:xfrm>
            <a:off x="11100816" y="6382512"/>
            <a:ext cx="466344" cy="283464"/>
          </a:xfrm>
          <a:prstGeom prst="roundRect">
            <a:avLst/>
          </a:prstGeom>
          <a:solidFill>
            <a:srgbClr val="FFFFFF"/>
          </a:solidFill>
          <a:ln w="9525">
            <a:solidFill>
              <a:srgbClr val="C9D6E3"/>
            </a:solidFill>
            <a:prstDash val="solid"/>
          </a:ln>
        </p:spPr>
      </p:sp>
      <p:sp>
        <p:nvSpPr>
          <p:cNvPr id="8" name="Text 6"/>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3</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12648" y="320040"/>
            <a:ext cx="10966399" cy="256032"/>
          </a:xfrm>
          <a:prstGeom prst="rect">
            <a:avLst/>
          </a:prstGeom>
          <a:noFill/>
          <a:ln/>
        </p:spPr>
        <p:txBody>
          <a:bodyPr wrap="square" lIns="0" tIns="0" rIns="0" bIns="0" rtlCol="0" anchor="ctr"/>
          <a:lstStyle/>
          <a:p>
            <a:pPr indent="0" marL="0">
              <a:buNone/>
            </a:pPr>
            <a:r>
              <a:rPr lang="en-US" sz="1300" b="1" dirty="0">
                <a:solidFill>
                  <a:srgbClr val="007879"/>
                </a:solidFill>
                <a:latin typeface="Bahnschrift" pitchFamily="34" charset="0"/>
                <a:ea typeface="Bahnschrift" pitchFamily="34" charset="-122"/>
                <a:cs typeface="Bahnschrift" pitchFamily="34" charset="-120"/>
              </a:rPr>
              <a:t>PANEL  ·  Q2</a:t>
            </a:r>
            <a:endParaRPr lang="en-US" sz="1300" dirty="0"/>
          </a:p>
        </p:txBody>
      </p:sp>
      <p:sp>
        <p:nvSpPr>
          <p:cNvPr id="3" name="Text 1"/>
          <p:cNvSpPr/>
          <p:nvPr/>
        </p:nvSpPr>
        <p:spPr>
          <a:xfrm>
            <a:off x="612648" y="594360"/>
            <a:ext cx="10966399" cy="411480"/>
          </a:xfrm>
          <a:prstGeom prst="rect">
            <a:avLst/>
          </a:prstGeom>
          <a:noFill/>
          <a:ln/>
        </p:spPr>
        <p:txBody>
          <a:bodyPr wrap="square" lIns="0" tIns="0" rIns="0" bIns="0" rtlCol="0" anchor="ctr"/>
          <a:lstStyle/>
          <a:p>
            <a:pPr indent="0" marL="0">
              <a:buNone/>
            </a:pPr>
            <a:r>
              <a:rPr lang="en-US" sz="2400" b="1" dirty="0">
                <a:solidFill>
                  <a:srgbClr val="002B55"/>
                </a:solidFill>
                <a:latin typeface="Bahnschrift" pitchFamily="34" charset="0"/>
                <a:ea typeface="Bahnschrift" pitchFamily="34" charset="-122"/>
                <a:cs typeface="Bahnschrift" pitchFamily="34" charset="-120"/>
              </a:rPr>
              <a:t>What should an agent do — and never touch?</a:t>
            </a:r>
            <a:endParaRPr lang="en-US" sz="2400" dirty="0"/>
          </a:p>
        </p:txBody>
      </p:sp>
      <p:sp>
        <p:nvSpPr>
          <p:cNvPr id="4" name="Text 2"/>
          <p:cNvSpPr/>
          <p:nvPr/>
        </p:nvSpPr>
        <p:spPr>
          <a:xfrm>
            <a:off x="612648" y="1051560"/>
            <a:ext cx="10966399" cy="502920"/>
          </a:xfrm>
          <a:prstGeom prst="rect">
            <a:avLst/>
          </a:prstGeom>
          <a:noFill/>
          <a:ln/>
        </p:spPr>
        <p:txBody>
          <a:bodyPr wrap="square" lIns="0" tIns="0" rIns="0" bIns="0" rtlCol="0" anchor="ctr"/>
          <a:lstStyle/>
          <a:p>
            <a:pPr indent="0" marL="0">
              <a:buNone/>
            </a:pPr>
            <a:r>
              <a:rPr lang="en-US" sz="1800" dirty="0">
                <a:solidFill>
                  <a:srgbClr val="28455F"/>
                </a:solidFill>
                <a:latin typeface="Arial" pitchFamily="34" charset="0"/>
                <a:ea typeface="Arial" pitchFamily="34" charset="-122"/>
                <a:cs typeface="Arial" pitchFamily="34" charset="-120"/>
              </a:rPr>
              <a:t>Coinbase's fraud agent can only score risk; it can't act, and it can't override the human system. In your function:</a:t>
            </a:r>
            <a:endParaRPr lang="en-US" sz="1800" dirty="0"/>
          </a:p>
        </p:txBody>
      </p:sp>
      <p:sp>
        <p:nvSpPr>
          <p:cNvPr id="5" name="Shape 3"/>
          <p:cNvSpPr/>
          <p:nvPr/>
        </p:nvSpPr>
        <p:spPr>
          <a:xfrm>
            <a:off x="612648" y="1691640"/>
            <a:ext cx="3520440" cy="4023360"/>
          </a:xfrm>
          <a:prstGeom prst="roundRect">
            <a:avLst/>
          </a:prstGeom>
          <a:solidFill>
            <a:srgbClr val="E3F1F1"/>
          </a:solidFill>
          <a:ln w="12700">
            <a:solidFill>
              <a:srgbClr val="C9D6E3"/>
            </a:solidFill>
            <a:prstDash val="solid"/>
          </a:ln>
        </p:spPr>
      </p:sp>
      <p:sp>
        <p:nvSpPr>
          <p:cNvPr id="6" name="Shape 4"/>
          <p:cNvSpPr/>
          <p:nvPr/>
        </p:nvSpPr>
        <p:spPr>
          <a:xfrm>
            <a:off x="612648" y="1691640"/>
            <a:ext cx="3520440" cy="960120"/>
          </a:xfrm>
          <a:prstGeom prst="roundRect">
            <a:avLst/>
          </a:prstGeom>
          <a:solidFill>
            <a:srgbClr val="007879"/>
          </a:solidFill>
          <a:ln w="12700">
            <a:solidFill>
              <a:srgbClr val="007879"/>
            </a:solidFill>
            <a:prstDash val="solid"/>
          </a:ln>
        </p:spPr>
      </p:sp>
      <p:sp>
        <p:nvSpPr>
          <p:cNvPr id="7" name="Text 5"/>
          <p:cNvSpPr/>
          <p:nvPr/>
        </p:nvSpPr>
        <p:spPr>
          <a:xfrm>
            <a:off x="612648" y="1737360"/>
            <a:ext cx="352044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Bahnschrift" pitchFamily="34" charset="0"/>
                <a:ea typeface="Bahnschrift" pitchFamily="34" charset="-122"/>
                <a:cs typeface="Bahnschrift" pitchFamily="34" charset="-120"/>
              </a:rPr>
              <a:t>DO
</a:t>
            </a:r>
            <a:r>
              <a:rPr lang="en-US" sz="1200" dirty="0">
                <a:solidFill>
                  <a:srgbClr val="FFFFFF"/>
                </a:solidFill>
                <a:latin typeface="Arial" pitchFamily="34" charset="0"/>
                <a:ea typeface="Arial" pitchFamily="34" charset="-122"/>
                <a:cs typeface="Arial" pitchFamily="34" charset="-120"/>
              </a:rPr>
              <a:t>on its own</a:t>
            </a:r>
            <a:endParaRPr lang="en-US" sz="2000" dirty="0"/>
          </a:p>
        </p:txBody>
      </p:sp>
      <p:sp>
        <p:nvSpPr>
          <p:cNvPr id="8" name="Text 6"/>
          <p:cNvSpPr/>
          <p:nvPr/>
        </p:nvSpPr>
        <p:spPr>
          <a:xfrm>
            <a:off x="841248" y="3017520"/>
            <a:ext cx="3063240" cy="2194560"/>
          </a:xfrm>
          <a:prstGeom prst="rect">
            <a:avLst/>
          </a:prstGeom>
          <a:noFill/>
          <a:ln/>
        </p:spPr>
        <p:txBody>
          <a:bodyPr wrap="square" lIns="0" tIns="0" rIns="0" bIns="0" rtlCol="0" anchor="ctr"/>
          <a:lstStyle/>
          <a:p>
            <a:pPr algn="ctr" indent="0" marL="0">
              <a:buNone/>
            </a:pPr>
            <a:r>
              <a:rPr lang="en-US" sz="2400" b="1" dirty="0">
                <a:solidFill>
                  <a:srgbClr val="002B55"/>
                </a:solidFill>
                <a:latin typeface="Arial" pitchFamily="34" charset="0"/>
                <a:ea typeface="Arial" pitchFamily="34" charset="-122"/>
                <a:cs typeface="Arial" pitchFamily="34" charset="-120"/>
              </a:rPr>
              <a:t>Which tasks</a:t>
            </a:r>
            <a:endParaRPr lang="en-US" sz="2400" dirty="0"/>
          </a:p>
          <a:p>
            <a:pPr algn="ctr" indent="0" marL="0">
              <a:buNone/>
            </a:pPr>
            <a:r>
              <a:rPr lang="en-US" sz="2400" b="1" dirty="0">
                <a:solidFill>
                  <a:srgbClr val="002B55"/>
                </a:solidFill>
                <a:latin typeface="Arial" pitchFamily="34" charset="0"/>
                <a:ea typeface="Arial" pitchFamily="34" charset="-122"/>
                <a:cs typeface="Arial" pitchFamily="34" charset="-120"/>
              </a:rPr>
              <a:t>should an agent</a:t>
            </a:r>
            <a:endParaRPr lang="en-US" sz="2400" dirty="0"/>
          </a:p>
          <a:p>
            <a:pPr algn="ctr" indent="0" marL="0">
              <a:buNone/>
            </a:pPr>
            <a:r>
              <a:rPr lang="en-US" sz="2400" b="1" dirty="0">
                <a:solidFill>
                  <a:srgbClr val="002B55"/>
                </a:solidFill>
                <a:latin typeface="Arial" pitchFamily="34" charset="0"/>
                <a:ea typeface="Arial" pitchFamily="34" charset="-122"/>
                <a:cs typeface="Arial" pitchFamily="34" charset="-120"/>
              </a:rPr>
              <a:t>do on its own?</a:t>
            </a:r>
            <a:endParaRPr lang="en-US" sz="2400" dirty="0"/>
          </a:p>
        </p:txBody>
      </p:sp>
      <p:sp>
        <p:nvSpPr>
          <p:cNvPr id="9" name="Shape 7"/>
          <p:cNvSpPr/>
          <p:nvPr/>
        </p:nvSpPr>
        <p:spPr>
          <a:xfrm>
            <a:off x="4315968" y="1691640"/>
            <a:ext cx="3520440" cy="4023360"/>
          </a:xfrm>
          <a:prstGeom prst="roundRect">
            <a:avLst/>
          </a:prstGeom>
          <a:solidFill>
            <a:srgbClr val="FDEBE1"/>
          </a:solidFill>
          <a:ln w="12700">
            <a:solidFill>
              <a:srgbClr val="C9D6E3"/>
            </a:solidFill>
            <a:prstDash val="solid"/>
          </a:ln>
        </p:spPr>
      </p:sp>
      <p:sp>
        <p:nvSpPr>
          <p:cNvPr id="10" name="Shape 8"/>
          <p:cNvSpPr/>
          <p:nvPr/>
        </p:nvSpPr>
        <p:spPr>
          <a:xfrm>
            <a:off x="4315968" y="1691640"/>
            <a:ext cx="3520440" cy="960120"/>
          </a:xfrm>
          <a:prstGeom prst="roundRect">
            <a:avLst/>
          </a:prstGeom>
          <a:solidFill>
            <a:srgbClr val="F47735"/>
          </a:solidFill>
          <a:ln w="12700">
            <a:solidFill>
              <a:srgbClr val="F47735"/>
            </a:solidFill>
            <a:prstDash val="solid"/>
          </a:ln>
        </p:spPr>
      </p:sp>
      <p:sp>
        <p:nvSpPr>
          <p:cNvPr id="11" name="Text 9"/>
          <p:cNvSpPr/>
          <p:nvPr/>
        </p:nvSpPr>
        <p:spPr>
          <a:xfrm>
            <a:off x="4315968" y="1737360"/>
            <a:ext cx="352044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Bahnschrift" pitchFamily="34" charset="0"/>
                <a:ea typeface="Bahnschrift" pitchFamily="34" charset="-122"/>
                <a:cs typeface="Bahnschrift" pitchFamily="34" charset="-120"/>
              </a:rPr>
              <a:t>DRAFT FOR SIGN-OFF
</a:t>
            </a:r>
            <a:r>
              <a:rPr lang="en-US" sz="1200" dirty="0">
                <a:solidFill>
                  <a:srgbClr val="FFFFFF"/>
                </a:solidFill>
                <a:latin typeface="Arial" pitchFamily="34" charset="0"/>
                <a:ea typeface="Arial" pitchFamily="34" charset="-122"/>
                <a:cs typeface="Arial" pitchFamily="34" charset="-120"/>
              </a:rPr>
              <a:t>a human approves</a:t>
            </a:r>
            <a:endParaRPr lang="en-US" sz="2000" dirty="0"/>
          </a:p>
        </p:txBody>
      </p:sp>
      <p:sp>
        <p:nvSpPr>
          <p:cNvPr id="12" name="Text 10"/>
          <p:cNvSpPr/>
          <p:nvPr/>
        </p:nvSpPr>
        <p:spPr>
          <a:xfrm>
            <a:off x="4544568" y="3017520"/>
            <a:ext cx="3063240" cy="2194560"/>
          </a:xfrm>
          <a:prstGeom prst="rect">
            <a:avLst/>
          </a:prstGeom>
          <a:noFill/>
          <a:ln/>
        </p:spPr>
        <p:txBody>
          <a:bodyPr wrap="square" lIns="0" tIns="0" rIns="0" bIns="0" rtlCol="0" anchor="ctr"/>
          <a:lstStyle/>
          <a:p>
            <a:pPr algn="ctr" indent="0" marL="0">
              <a:buNone/>
            </a:pPr>
            <a:r>
              <a:rPr lang="en-US" sz="2400" b="1" dirty="0">
                <a:solidFill>
                  <a:srgbClr val="002B55"/>
                </a:solidFill>
                <a:latin typeface="Arial" pitchFamily="34" charset="0"/>
                <a:ea typeface="Arial" pitchFamily="34" charset="-122"/>
                <a:cs typeface="Arial" pitchFamily="34" charset="-120"/>
              </a:rPr>
              <a:t>Which should it</a:t>
            </a:r>
            <a:endParaRPr lang="en-US" sz="2400" dirty="0"/>
          </a:p>
          <a:p>
            <a:pPr algn="ctr" indent="0" marL="0">
              <a:buNone/>
            </a:pPr>
            <a:r>
              <a:rPr lang="en-US" sz="2400" b="1" dirty="0">
                <a:solidFill>
                  <a:srgbClr val="002B55"/>
                </a:solidFill>
                <a:latin typeface="Arial" pitchFamily="34" charset="0"/>
                <a:ea typeface="Arial" pitchFamily="34" charset="-122"/>
                <a:cs typeface="Arial" pitchFamily="34" charset="-120"/>
              </a:rPr>
              <a:t>only draft for</a:t>
            </a:r>
            <a:endParaRPr lang="en-US" sz="2400" dirty="0"/>
          </a:p>
          <a:p>
            <a:pPr algn="ctr" indent="0" marL="0">
              <a:buNone/>
            </a:pPr>
            <a:r>
              <a:rPr lang="en-US" sz="2400" b="1" dirty="0">
                <a:solidFill>
                  <a:srgbClr val="002B55"/>
                </a:solidFill>
                <a:latin typeface="Arial" pitchFamily="34" charset="0"/>
                <a:ea typeface="Arial" pitchFamily="34" charset="-122"/>
                <a:cs typeface="Arial" pitchFamily="34" charset="-120"/>
              </a:rPr>
              <a:t>human sign-off?</a:t>
            </a:r>
            <a:endParaRPr lang="en-US" sz="2400" dirty="0"/>
          </a:p>
        </p:txBody>
      </p:sp>
      <p:sp>
        <p:nvSpPr>
          <p:cNvPr id="13" name="Shape 11"/>
          <p:cNvSpPr/>
          <p:nvPr/>
        </p:nvSpPr>
        <p:spPr>
          <a:xfrm>
            <a:off x="8019288" y="1691640"/>
            <a:ext cx="3520440" cy="4023360"/>
          </a:xfrm>
          <a:prstGeom prst="roundRect">
            <a:avLst/>
          </a:prstGeom>
          <a:solidFill>
            <a:srgbClr val="FCE8E6"/>
          </a:solidFill>
          <a:ln w="12700">
            <a:solidFill>
              <a:srgbClr val="C9D6E3"/>
            </a:solidFill>
            <a:prstDash val="solid"/>
          </a:ln>
        </p:spPr>
      </p:sp>
      <p:sp>
        <p:nvSpPr>
          <p:cNvPr id="14" name="Shape 12"/>
          <p:cNvSpPr/>
          <p:nvPr/>
        </p:nvSpPr>
        <p:spPr>
          <a:xfrm>
            <a:off x="8019288" y="1691640"/>
            <a:ext cx="3520440" cy="960120"/>
          </a:xfrm>
          <a:prstGeom prst="roundRect">
            <a:avLst/>
          </a:prstGeom>
          <a:solidFill>
            <a:srgbClr val="B4501F"/>
          </a:solidFill>
          <a:ln w="12700">
            <a:solidFill>
              <a:srgbClr val="B4501F"/>
            </a:solidFill>
            <a:prstDash val="solid"/>
          </a:ln>
        </p:spPr>
      </p:sp>
      <p:sp>
        <p:nvSpPr>
          <p:cNvPr id="15" name="Text 13"/>
          <p:cNvSpPr/>
          <p:nvPr/>
        </p:nvSpPr>
        <p:spPr>
          <a:xfrm>
            <a:off x="8019288" y="1737360"/>
            <a:ext cx="352044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Bahnschrift" pitchFamily="34" charset="0"/>
                <a:ea typeface="Bahnschrift" pitchFamily="34" charset="-122"/>
                <a:cs typeface="Bahnschrift" pitchFamily="34" charset="-120"/>
              </a:rPr>
              <a:t>NEVER TOUCH
</a:t>
            </a:r>
            <a:r>
              <a:rPr lang="en-US" sz="1200" dirty="0">
                <a:solidFill>
                  <a:srgbClr val="FFFFFF"/>
                </a:solidFill>
                <a:latin typeface="Arial" pitchFamily="34" charset="0"/>
                <a:ea typeface="Arial" pitchFamily="34" charset="-122"/>
                <a:cs typeface="Arial" pitchFamily="34" charset="-120"/>
              </a:rPr>
              <a:t>humans only</a:t>
            </a:r>
            <a:endParaRPr lang="en-US" sz="2000" dirty="0"/>
          </a:p>
        </p:txBody>
      </p:sp>
      <p:sp>
        <p:nvSpPr>
          <p:cNvPr id="16" name="Text 14"/>
          <p:cNvSpPr/>
          <p:nvPr/>
        </p:nvSpPr>
        <p:spPr>
          <a:xfrm>
            <a:off x="8247888" y="3017520"/>
            <a:ext cx="3063240" cy="2194560"/>
          </a:xfrm>
          <a:prstGeom prst="rect">
            <a:avLst/>
          </a:prstGeom>
          <a:noFill/>
          <a:ln/>
        </p:spPr>
        <p:txBody>
          <a:bodyPr wrap="square" lIns="0" tIns="0" rIns="0" bIns="0" rtlCol="0" anchor="ctr"/>
          <a:lstStyle/>
          <a:p>
            <a:pPr algn="ctr" indent="0" marL="0">
              <a:buNone/>
            </a:pPr>
            <a:r>
              <a:rPr lang="en-US" sz="2400" b="1" dirty="0">
                <a:solidFill>
                  <a:srgbClr val="002B55"/>
                </a:solidFill>
                <a:latin typeface="Arial" pitchFamily="34" charset="0"/>
                <a:ea typeface="Arial" pitchFamily="34" charset="-122"/>
                <a:cs typeface="Arial" pitchFamily="34" charset="-120"/>
              </a:rPr>
              <a:t>Which should it</a:t>
            </a:r>
            <a:endParaRPr lang="en-US" sz="2400" dirty="0"/>
          </a:p>
          <a:p>
            <a:pPr algn="ctr" indent="0" marL="0">
              <a:buNone/>
            </a:pPr>
            <a:r>
              <a:rPr lang="en-US" sz="2400" b="1" dirty="0">
                <a:solidFill>
                  <a:srgbClr val="002B55"/>
                </a:solidFill>
                <a:latin typeface="Arial" pitchFamily="34" charset="0"/>
                <a:ea typeface="Arial" pitchFamily="34" charset="-122"/>
                <a:cs typeface="Arial" pitchFamily="34" charset="-120"/>
              </a:rPr>
              <a:t>never touch?</a:t>
            </a:r>
            <a:endParaRPr lang="en-US" sz="2400" dirty="0"/>
          </a:p>
        </p:txBody>
      </p:sp>
      <p:sp>
        <p:nvSpPr>
          <p:cNvPr id="17" name="Text 15"/>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18" name="Shape 16"/>
          <p:cNvSpPr/>
          <p:nvPr/>
        </p:nvSpPr>
        <p:spPr>
          <a:xfrm>
            <a:off x="11100816" y="6382512"/>
            <a:ext cx="466344" cy="283464"/>
          </a:xfrm>
          <a:prstGeom prst="roundRect">
            <a:avLst/>
          </a:prstGeom>
          <a:solidFill>
            <a:srgbClr val="FFFFFF"/>
          </a:solidFill>
          <a:ln w="9525">
            <a:solidFill>
              <a:srgbClr val="C9D6E3"/>
            </a:solidFill>
            <a:prstDash val="solid"/>
          </a:ln>
        </p:spPr>
      </p:sp>
      <p:sp>
        <p:nvSpPr>
          <p:cNvPr id="19" name="Text 17"/>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4</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12648" y="365760"/>
            <a:ext cx="10966399" cy="292608"/>
          </a:xfrm>
          <a:prstGeom prst="rect">
            <a:avLst/>
          </a:prstGeom>
          <a:noFill/>
          <a:ln/>
        </p:spPr>
        <p:txBody>
          <a:bodyPr wrap="square" lIns="0" tIns="0" rIns="0" bIns="0" rtlCol="0" anchor="ctr"/>
          <a:lstStyle/>
          <a:p>
            <a:pPr indent="0" marL="0">
              <a:buNone/>
            </a:pPr>
            <a:r>
              <a:rPr lang="en-US" sz="1300" b="1" dirty="0">
                <a:solidFill>
                  <a:srgbClr val="007879"/>
                </a:solidFill>
                <a:latin typeface="Bahnschrift" pitchFamily="34" charset="0"/>
                <a:ea typeface="Bahnschrift" pitchFamily="34" charset="-122"/>
                <a:cs typeface="Bahnschrift" pitchFamily="34" charset="-120"/>
              </a:rPr>
              <a:t>PANEL  ·  Q3</a:t>
            </a:r>
            <a:endParaRPr lang="en-US" sz="1300" dirty="0"/>
          </a:p>
        </p:txBody>
      </p:sp>
      <p:sp>
        <p:nvSpPr>
          <p:cNvPr id="3" name="Text 1"/>
          <p:cNvSpPr/>
          <p:nvPr/>
        </p:nvSpPr>
        <p:spPr>
          <a:xfrm>
            <a:off x="612648" y="685800"/>
            <a:ext cx="10966399" cy="502920"/>
          </a:xfrm>
          <a:prstGeom prst="rect">
            <a:avLst/>
          </a:prstGeom>
          <a:noFill/>
          <a:ln/>
        </p:spPr>
        <p:txBody>
          <a:bodyPr wrap="square" lIns="0" tIns="0" rIns="0" bIns="0" rtlCol="0" anchor="ctr"/>
          <a:lstStyle/>
          <a:p>
            <a:pPr indent="0" marL="0">
              <a:buNone/>
            </a:pPr>
            <a:r>
              <a:rPr lang="en-US" sz="2600" b="1" dirty="0">
                <a:solidFill>
                  <a:srgbClr val="002B55"/>
                </a:solidFill>
                <a:latin typeface="Bahnschrift" pitchFamily="34" charset="0"/>
                <a:ea typeface="Bahnschrift" pitchFamily="34" charset="-122"/>
                <a:cs typeface="Bahnschrift" pitchFamily="34" charset="-120"/>
              </a:rPr>
              <a:t>Safe-to-fail experiments</a:t>
            </a:r>
            <a:endParaRPr lang="en-US" sz="2600" dirty="0"/>
          </a:p>
        </p:txBody>
      </p:sp>
      <p:sp>
        <p:nvSpPr>
          <p:cNvPr id="4" name="Shape 2"/>
          <p:cNvSpPr/>
          <p:nvPr/>
        </p:nvSpPr>
        <p:spPr>
          <a:xfrm>
            <a:off x="612648" y="1325880"/>
            <a:ext cx="10966399" cy="4434840"/>
          </a:xfrm>
          <a:prstGeom prst="roundRect">
            <a:avLst/>
          </a:prstGeom>
          <a:solidFill>
            <a:srgbClr val="FFFEFB"/>
          </a:solidFill>
          <a:ln w="12700">
            <a:solidFill>
              <a:srgbClr val="C9D6E3"/>
            </a:solidFill>
            <a:prstDash val="solid"/>
          </a:ln>
        </p:spPr>
      </p:sp>
      <p:sp>
        <p:nvSpPr>
          <p:cNvPr id="5" name="Text 3"/>
          <p:cNvSpPr/>
          <p:nvPr/>
        </p:nvSpPr>
        <p:spPr>
          <a:xfrm>
            <a:off x="978408" y="1554480"/>
            <a:ext cx="10234879" cy="3977640"/>
          </a:xfrm>
          <a:prstGeom prst="rect">
            <a:avLst/>
          </a:prstGeom>
          <a:noFill/>
          <a:ln/>
        </p:spPr>
        <p:txBody>
          <a:bodyPr wrap="square" lIns="0" tIns="0" rIns="0" bIns="0" rtlCol="0" anchor="ctr"/>
          <a:lstStyle/>
          <a:p>
            <a:pPr indent="0" marL="0">
              <a:buNone/>
            </a:pPr>
            <a:r>
              <a:rPr lang="en-US" sz="2600" dirty="0">
                <a:solidFill>
                  <a:srgbClr val="002B55"/>
                </a:solidFill>
                <a:latin typeface="Arial" pitchFamily="34" charset="0"/>
                <a:ea typeface="Arial" pitchFamily="34" charset="-122"/>
                <a:cs typeface="Arial" pitchFamily="34" charset="-120"/>
              </a:rPr>
              <a:t>The research says the winners just kept experimenting; most successful AI projects had failures nobody was punished for.</a:t>
            </a:r>
            <a:endParaRPr lang="en-US" sz="2600" dirty="0"/>
          </a:p>
          <a:p>
            <a:pPr indent="0" marL="0">
              <a:buNone/>
            </a:pPr>
            <a:endParaRPr lang="en-US" sz="2600" dirty="0"/>
          </a:p>
          <a:p>
            <a:pPr indent="0" marL="0">
              <a:buNone/>
            </a:pPr>
            <a:r>
              <a:rPr lang="en-US" sz="2600" dirty="0">
                <a:solidFill>
                  <a:srgbClr val="002B55"/>
                </a:solidFill>
                <a:latin typeface="Arial" pitchFamily="34" charset="0"/>
                <a:ea typeface="Arial" pitchFamily="34" charset="-122"/>
                <a:cs typeface="Arial" pitchFamily="34" charset="-120"/>
              </a:rPr>
              <a:t>Tell us about a safe-to-fail experiment you ran in your function. What made it safe, and what did you learn?</a:t>
            </a:r>
            <a:endParaRPr lang="en-US" sz="2600" dirty="0"/>
          </a:p>
        </p:txBody>
      </p:sp>
      <p:sp>
        <p:nvSpPr>
          <p:cNvPr id="6" name="Text 4"/>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7" name="Shape 5"/>
          <p:cNvSpPr/>
          <p:nvPr/>
        </p:nvSpPr>
        <p:spPr>
          <a:xfrm>
            <a:off x="11100816" y="6382512"/>
            <a:ext cx="466344" cy="283464"/>
          </a:xfrm>
          <a:prstGeom prst="roundRect">
            <a:avLst/>
          </a:prstGeom>
          <a:solidFill>
            <a:srgbClr val="FFFFFF"/>
          </a:solidFill>
          <a:ln w="9525">
            <a:solidFill>
              <a:srgbClr val="C9D6E3"/>
            </a:solidFill>
            <a:prstDash val="solid"/>
          </a:ln>
        </p:spPr>
      </p:sp>
      <p:sp>
        <p:nvSpPr>
          <p:cNvPr id="8" name="Text 6"/>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5</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12648" y="365760"/>
            <a:ext cx="10966399" cy="292608"/>
          </a:xfrm>
          <a:prstGeom prst="rect">
            <a:avLst/>
          </a:prstGeom>
          <a:noFill/>
          <a:ln/>
        </p:spPr>
        <p:txBody>
          <a:bodyPr wrap="square" lIns="0" tIns="0" rIns="0" bIns="0" rtlCol="0" anchor="ctr"/>
          <a:lstStyle/>
          <a:p>
            <a:pPr indent="0" marL="0">
              <a:buNone/>
            </a:pPr>
            <a:r>
              <a:rPr lang="en-US" sz="1300" b="1" dirty="0">
                <a:solidFill>
                  <a:srgbClr val="007879"/>
                </a:solidFill>
                <a:latin typeface="Bahnschrift" pitchFamily="34" charset="0"/>
                <a:ea typeface="Bahnschrift" pitchFamily="34" charset="-122"/>
                <a:cs typeface="Bahnschrift" pitchFamily="34" charset="-120"/>
              </a:rPr>
              <a:t>PANEL  ·  Q4</a:t>
            </a:r>
            <a:endParaRPr lang="en-US" sz="1300" dirty="0"/>
          </a:p>
        </p:txBody>
      </p:sp>
      <p:sp>
        <p:nvSpPr>
          <p:cNvPr id="3" name="Text 1"/>
          <p:cNvSpPr/>
          <p:nvPr/>
        </p:nvSpPr>
        <p:spPr>
          <a:xfrm>
            <a:off x="612648" y="685800"/>
            <a:ext cx="10966399" cy="502920"/>
          </a:xfrm>
          <a:prstGeom prst="rect">
            <a:avLst/>
          </a:prstGeom>
          <a:noFill/>
          <a:ln/>
        </p:spPr>
        <p:txBody>
          <a:bodyPr wrap="square" lIns="0" tIns="0" rIns="0" bIns="0" rtlCol="0" anchor="ctr"/>
          <a:lstStyle/>
          <a:p>
            <a:pPr indent="0" marL="0">
              <a:buNone/>
            </a:pPr>
            <a:r>
              <a:rPr lang="en-US" sz="2600" b="1" dirty="0">
                <a:solidFill>
                  <a:srgbClr val="002B55"/>
                </a:solidFill>
                <a:latin typeface="Bahnschrift" pitchFamily="34" charset="0"/>
                <a:ea typeface="Bahnschrift" pitchFamily="34" charset="-122"/>
                <a:cs typeface="Bahnschrift" pitchFamily="34" charset="-120"/>
              </a:rPr>
              <a:t>Train experts to challenge AI</a:t>
            </a:r>
            <a:endParaRPr lang="en-US" sz="2600" dirty="0"/>
          </a:p>
        </p:txBody>
      </p:sp>
      <p:sp>
        <p:nvSpPr>
          <p:cNvPr id="4" name="Shape 2"/>
          <p:cNvSpPr/>
          <p:nvPr/>
        </p:nvSpPr>
        <p:spPr>
          <a:xfrm>
            <a:off x="612648" y="1325880"/>
            <a:ext cx="10966399" cy="4434840"/>
          </a:xfrm>
          <a:prstGeom prst="roundRect">
            <a:avLst/>
          </a:prstGeom>
          <a:solidFill>
            <a:srgbClr val="FFFEFB"/>
          </a:solidFill>
          <a:ln w="12700">
            <a:solidFill>
              <a:srgbClr val="C9D6E3"/>
            </a:solidFill>
            <a:prstDash val="solid"/>
          </a:ln>
        </p:spPr>
      </p:sp>
      <p:sp>
        <p:nvSpPr>
          <p:cNvPr id="5" name="Text 3"/>
          <p:cNvSpPr/>
          <p:nvPr/>
        </p:nvSpPr>
        <p:spPr>
          <a:xfrm>
            <a:off x="978408" y="1554480"/>
            <a:ext cx="10234879" cy="3977640"/>
          </a:xfrm>
          <a:prstGeom prst="rect">
            <a:avLst/>
          </a:prstGeom>
          <a:noFill/>
          <a:ln/>
        </p:spPr>
        <p:txBody>
          <a:bodyPr wrap="square" lIns="0" tIns="0" rIns="0" bIns="0" rtlCol="0" anchor="ctr"/>
          <a:lstStyle/>
          <a:p>
            <a:pPr indent="0" marL="0">
              <a:buNone/>
            </a:pPr>
            <a:r>
              <a:rPr lang="en-US" sz="2600" dirty="0">
                <a:solidFill>
                  <a:srgbClr val="002B55"/>
                </a:solidFill>
                <a:latin typeface="Arial" pitchFamily="34" charset="0"/>
                <a:ea typeface="Arial" pitchFamily="34" charset="-122"/>
                <a:cs typeface="Arial" pitchFamily="34" charset="-120"/>
              </a:rPr>
              <a:t>The data says the biggest AI gains go to people who are best at catching the machine's mistakes, not those who trust it most.</a:t>
            </a:r>
            <a:endParaRPr lang="en-US" sz="2600" dirty="0"/>
          </a:p>
          <a:p>
            <a:pPr indent="0" marL="0">
              <a:buNone/>
            </a:pPr>
            <a:endParaRPr lang="en-US" sz="2600" dirty="0"/>
          </a:p>
          <a:p>
            <a:pPr indent="0" marL="0">
              <a:buNone/>
            </a:pPr>
            <a:r>
              <a:rPr lang="en-US" sz="2600" dirty="0">
                <a:solidFill>
                  <a:srgbClr val="002B55"/>
                </a:solidFill>
                <a:latin typeface="Arial" pitchFamily="34" charset="0"/>
                <a:ea typeface="Arial" pitchFamily="34" charset="-122"/>
                <a:cs typeface="Arial" pitchFamily="34" charset="-120"/>
              </a:rPr>
              <a:t>How are you training your experts (MSLs, reviewers, analysts) to challenge AI output instead of deferring to it? Give us something concrete that's worked.</a:t>
            </a:r>
            <a:endParaRPr lang="en-US" sz="2600" dirty="0"/>
          </a:p>
        </p:txBody>
      </p:sp>
      <p:sp>
        <p:nvSpPr>
          <p:cNvPr id="6" name="Text 4"/>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7" name="Shape 5"/>
          <p:cNvSpPr/>
          <p:nvPr/>
        </p:nvSpPr>
        <p:spPr>
          <a:xfrm>
            <a:off x="11100816" y="6382512"/>
            <a:ext cx="466344" cy="283464"/>
          </a:xfrm>
          <a:prstGeom prst="roundRect">
            <a:avLst/>
          </a:prstGeom>
          <a:solidFill>
            <a:srgbClr val="FFFFFF"/>
          </a:solidFill>
          <a:ln w="9525">
            <a:solidFill>
              <a:srgbClr val="C9D6E3"/>
            </a:solidFill>
            <a:prstDash val="solid"/>
          </a:ln>
        </p:spPr>
      </p:sp>
      <p:sp>
        <p:nvSpPr>
          <p:cNvPr id="8" name="Text 6"/>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6</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12648" y="365760"/>
            <a:ext cx="10966399" cy="292608"/>
          </a:xfrm>
          <a:prstGeom prst="rect">
            <a:avLst/>
          </a:prstGeom>
          <a:noFill/>
          <a:ln/>
        </p:spPr>
        <p:txBody>
          <a:bodyPr wrap="square" lIns="0" tIns="0" rIns="0" bIns="0" rtlCol="0" anchor="ctr"/>
          <a:lstStyle/>
          <a:p>
            <a:pPr indent="0" marL="0">
              <a:buNone/>
            </a:pPr>
            <a:r>
              <a:rPr lang="en-US" sz="1300" b="1" dirty="0">
                <a:solidFill>
                  <a:srgbClr val="007879"/>
                </a:solidFill>
                <a:latin typeface="Bahnschrift" pitchFamily="34" charset="0"/>
                <a:ea typeface="Bahnschrift" pitchFamily="34" charset="-122"/>
                <a:cs typeface="Bahnschrift" pitchFamily="34" charset="-120"/>
              </a:rPr>
              <a:t>PANEL  ·  Q5</a:t>
            </a:r>
            <a:endParaRPr lang="en-US" sz="1300" dirty="0"/>
          </a:p>
        </p:txBody>
      </p:sp>
      <p:sp>
        <p:nvSpPr>
          <p:cNvPr id="3" name="Text 1"/>
          <p:cNvSpPr/>
          <p:nvPr/>
        </p:nvSpPr>
        <p:spPr>
          <a:xfrm>
            <a:off x="612648" y="685800"/>
            <a:ext cx="10966399" cy="502920"/>
          </a:xfrm>
          <a:prstGeom prst="rect">
            <a:avLst/>
          </a:prstGeom>
          <a:noFill/>
          <a:ln/>
        </p:spPr>
        <p:txBody>
          <a:bodyPr wrap="square" lIns="0" tIns="0" rIns="0" bIns="0" rtlCol="0" anchor="ctr"/>
          <a:lstStyle/>
          <a:p>
            <a:pPr indent="0" marL="0">
              <a:buNone/>
            </a:pPr>
            <a:r>
              <a:rPr lang="en-US" sz="2600" b="1" dirty="0">
                <a:solidFill>
                  <a:srgbClr val="002B55"/>
                </a:solidFill>
                <a:latin typeface="Bahnschrift" pitchFamily="34" charset="0"/>
                <a:ea typeface="Bahnschrift" pitchFamily="34" charset="-122"/>
                <a:cs typeface="Bahnschrift" pitchFamily="34" charset="-120"/>
              </a:rPr>
              <a:t>Design the exam for an AI agent</a:t>
            </a:r>
            <a:endParaRPr lang="en-US" sz="2600" dirty="0"/>
          </a:p>
        </p:txBody>
      </p:sp>
      <p:sp>
        <p:nvSpPr>
          <p:cNvPr id="4" name="Shape 2"/>
          <p:cNvSpPr/>
          <p:nvPr/>
        </p:nvSpPr>
        <p:spPr>
          <a:xfrm>
            <a:off x="612648" y="1325880"/>
            <a:ext cx="10966399" cy="4434840"/>
          </a:xfrm>
          <a:prstGeom prst="roundRect">
            <a:avLst/>
          </a:prstGeom>
          <a:solidFill>
            <a:srgbClr val="FFFEFB"/>
          </a:solidFill>
          <a:ln w="12700">
            <a:solidFill>
              <a:srgbClr val="C9D6E3"/>
            </a:solidFill>
            <a:prstDash val="solid"/>
          </a:ln>
        </p:spPr>
      </p:sp>
      <p:sp>
        <p:nvSpPr>
          <p:cNvPr id="5" name="Text 3"/>
          <p:cNvSpPr/>
          <p:nvPr/>
        </p:nvSpPr>
        <p:spPr>
          <a:xfrm>
            <a:off x="978408" y="1554480"/>
            <a:ext cx="10234879" cy="3977640"/>
          </a:xfrm>
          <a:prstGeom prst="rect">
            <a:avLst/>
          </a:prstGeom>
          <a:noFill/>
          <a:ln/>
        </p:spPr>
        <p:txBody>
          <a:bodyPr wrap="square" lIns="0" tIns="0" rIns="0" bIns="0" rtlCol="0" anchor="ctr"/>
          <a:lstStyle/>
          <a:p>
            <a:pPr indent="0" marL="0">
              <a:buNone/>
            </a:pPr>
            <a:r>
              <a:rPr lang="en-US" sz="2600" dirty="0">
                <a:solidFill>
                  <a:srgbClr val="002B55"/>
                </a:solidFill>
                <a:latin typeface="Arial" pitchFamily="34" charset="0"/>
                <a:ea typeface="Arial" pitchFamily="34" charset="-122"/>
                <a:cs typeface="Arial" pitchFamily="34" charset="-120"/>
              </a:rPr>
              <a:t>Legal now grades its AI agents against strict pass/fail tests judged by real practitioners.</a:t>
            </a:r>
            <a:endParaRPr lang="en-US" sz="2600" dirty="0"/>
          </a:p>
          <a:p>
            <a:pPr indent="0" marL="0">
              <a:buNone/>
            </a:pPr>
            <a:endParaRPr lang="en-US" sz="2600" dirty="0"/>
          </a:p>
          <a:p>
            <a:pPr indent="0" marL="0">
              <a:buNone/>
            </a:pPr>
            <a:r>
              <a:rPr lang="en-US" sz="2600" dirty="0">
                <a:solidFill>
                  <a:srgbClr val="002B55"/>
                </a:solidFill>
                <a:latin typeface="Arial" pitchFamily="34" charset="0"/>
                <a:ea typeface="Arial" pitchFamily="34" charset="-122"/>
                <a:cs typeface="Arial" pitchFamily="34" charset="-120"/>
              </a:rPr>
              <a:t>If you had to design the exam for an AI agent in your function, say one answering HCP questions, what would the test be, and who would you trust to grade it?</a:t>
            </a:r>
            <a:endParaRPr lang="en-US" sz="2600" dirty="0"/>
          </a:p>
        </p:txBody>
      </p:sp>
      <p:sp>
        <p:nvSpPr>
          <p:cNvPr id="6" name="Text 4"/>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7" name="Shape 5"/>
          <p:cNvSpPr/>
          <p:nvPr/>
        </p:nvSpPr>
        <p:spPr>
          <a:xfrm>
            <a:off x="11100816" y="6382512"/>
            <a:ext cx="466344" cy="283464"/>
          </a:xfrm>
          <a:prstGeom prst="roundRect">
            <a:avLst/>
          </a:prstGeom>
          <a:solidFill>
            <a:srgbClr val="FFFFFF"/>
          </a:solidFill>
          <a:ln w="9525">
            <a:solidFill>
              <a:srgbClr val="C9D6E3"/>
            </a:solidFill>
            <a:prstDash val="solid"/>
          </a:ln>
        </p:spPr>
      </p:sp>
      <p:sp>
        <p:nvSpPr>
          <p:cNvPr id="8" name="Text 6"/>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7</a:t>
            </a:r>
            <a:endParaRPr lang="en-US" sz="12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12648" y="365760"/>
            <a:ext cx="10966399" cy="292608"/>
          </a:xfrm>
          <a:prstGeom prst="rect">
            <a:avLst/>
          </a:prstGeom>
          <a:noFill/>
          <a:ln/>
        </p:spPr>
        <p:txBody>
          <a:bodyPr wrap="square" lIns="0" tIns="0" rIns="0" bIns="0" rtlCol="0" anchor="ctr"/>
          <a:lstStyle/>
          <a:p>
            <a:pPr indent="0" marL="0">
              <a:buNone/>
            </a:pPr>
            <a:r>
              <a:rPr lang="en-US" sz="1300" b="1" dirty="0">
                <a:solidFill>
                  <a:srgbClr val="007879"/>
                </a:solidFill>
                <a:latin typeface="Bahnschrift" pitchFamily="34" charset="0"/>
                <a:ea typeface="Bahnschrift" pitchFamily="34" charset="-122"/>
                <a:cs typeface="Bahnschrift" pitchFamily="34" charset="-120"/>
              </a:rPr>
              <a:t>PANEL  ·  Q6</a:t>
            </a:r>
            <a:endParaRPr lang="en-US" sz="1300" dirty="0"/>
          </a:p>
        </p:txBody>
      </p:sp>
      <p:sp>
        <p:nvSpPr>
          <p:cNvPr id="3" name="Text 1"/>
          <p:cNvSpPr/>
          <p:nvPr/>
        </p:nvSpPr>
        <p:spPr>
          <a:xfrm>
            <a:off x="612648" y="685800"/>
            <a:ext cx="10966399" cy="502920"/>
          </a:xfrm>
          <a:prstGeom prst="rect">
            <a:avLst/>
          </a:prstGeom>
          <a:noFill/>
          <a:ln/>
        </p:spPr>
        <p:txBody>
          <a:bodyPr wrap="square" lIns="0" tIns="0" rIns="0" bIns="0" rtlCol="0" anchor="ctr"/>
          <a:lstStyle/>
          <a:p>
            <a:pPr indent="0" marL="0">
              <a:buNone/>
            </a:pPr>
            <a:r>
              <a:rPr lang="en-US" sz="2600" b="1" dirty="0">
                <a:solidFill>
                  <a:srgbClr val="002B55"/>
                </a:solidFill>
                <a:latin typeface="Bahnschrift" pitchFamily="34" charset="0"/>
                <a:ea typeface="Bahnschrift" pitchFamily="34" charset="-122"/>
                <a:cs typeface="Bahnschrift" pitchFamily="34" charset="-120"/>
              </a:rPr>
              <a:t>Taking a pilot to legal / compliance</a:t>
            </a:r>
            <a:endParaRPr lang="en-US" sz="2600" dirty="0"/>
          </a:p>
        </p:txBody>
      </p:sp>
      <p:sp>
        <p:nvSpPr>
          <p:cNvPr id="4" name="Shape 2"/>
          <p:cNvSpPr/>
          <p:nvPr/>
        </p:nvSpPr>
        <p:spPr>
          <a:xfrm>
            <a:off x="612648" y="1325880"/>
            <a:ext cx="10966399" cy="4434840"/>
          </a:xfrm>
          <a:prstGeom prst="roundRect">
            <a:avLst/>
          </a:prstGeom>
          <a:solidFill>
            <a:srgbClr val="FFFEFB"/>
          </a:solidFill>
          <a:ln w="12700">
            <a:solidFill>
              <a:srgbClr val="C9D6E3"/>
            </a:solidFill>
            <a:prstDash val="solid"/>
          </a:ln>
        </p:spPr>
      </p:sp>
      <p:sp>
        <p:nvSpPr>
          <p:cNvPr id="5" name="Text 3"/>
          <p:cNvSpPr/>
          <p:nvPr/>
        </p:nvSpPr>
        <p:spPr>
          <a:xfrm>
            <a:off x="978408" y="1554480"/>
            <a:ext cx="10234879" cy="3977640"/>
          </a:xfrm>
          <a:prstGeom prst="rect">
            <a:avLst/>
          </a:prstGeom>
          <a:noFill/>
          <a:ln/>
        </p:spPr>
        <p:txBody>
          <a:bodyPr wrap="square" lIns="0" tIns="0" rIns="0" bIns="0" rtlCol="0" anchor="ctr"/>
          <a:lstStyle/>
          <a:p>
            <a:pPr indent="0" marL="0">
              <a:buNone/>
            </a:pPr>
            <a:r>
              <a:rPr lang="en-US" sz="2600" dirty="0">
                <a:solidFill>
                  <a:srgbClr val="002B55"/>
                </a:solidFill>
                <a:latin typeface="Arial" pitchFamily="34" charset="0"/>
                <a:ea typeface="Arial" pitchFamily="34" charset="-122"/>
                <a:cs typeface="Arial" pitchFamily="34" charset="-120"/>
              </a:rPr>
              <a:t>Think of the last time you took an AI pilot to legal or compliance.</a:t>
            </a:r>
            <a:endParaRPr lang="en-US" sz="2600" dirty="0"/>
          </a:p>
          <a:p>
            <a:pPr indent="0" marL="0">
              <a:buNone/>
            </a:pPr>
            <a:endParaRPr lang="en-US" sz="2600" dirty="0"/>
          </a:p>
          <a:p>
            <a:pPr indent="0" marL="0">
              <a:buNone/>
            </a:pPr>
            <a:r>
              <a:rPr lang="en-US" sz="2600" dirty="0">
                <a:solidFill>
                  <a:srgbClr val="002B55"/>
                </a:solidFill>
                <a:latin typeface="Arial" pitchFamily="34" charset="0"/>
                <a:ea typeface="Arial" pitchFamily="34" charset="-122"/>
                <a:cs typeface="Arial" pitchFamily="34" charset="-120"/>
              </a:rPr>
              <a:t>How did you frame the risk, and looking back, did you get the calibration right? What would you do differently?</a:t>
            </a:r>
            <a:endParaRPr lang="en-US" sz="2600" dirty="0"/>
          </a:p>
        </p:txBody>
      </p:sp>
      <p:sp>
        <p:nvSpPr>
          <p:cNvPr id="6" name="Text 4"/>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7" name="Shape 5"/>
          <p:cNvSpPr/>
          <p:nvPr/>
        </p:nvSpPr>
        <p:spPr>
          <a:xfrm>
            <a:off x="11100816" y="6382512"/>
            <a:ext cx="466344" cy="283464"/>
          </a:xfrm>
          <a:prstGeom prst="roundRect">
            <a:avLst/>
          </a:prstGeom>
          <a:solidFill>
            <a:srgbClr val="FFFFFF"/>
          </a:solidFill>
          <a:ln w="9525">
            <a:solidFill>
              <a:srgbClr val="C9D6E3"/>
            </a:solidFill>
            <a:prstDash val="solid"/>
          </a:ln>
        </p:spPr>
      </p:sp>
      <p:sp>
        <p:nvSpPr>
          <p:cNvPr id="8" name="Text 6"/>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8</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12648" y="365760"/>
            <a:ext cx="10966399" cy="292608"/>
          </a:xfrm>
          <a:prstGeom prst="rect">
            <a:avLst/>
          </a:prstGeom>
          <a:noFill/>
          <a:ln/>
        </p:spPr>
        <p:txBody>
          <a:bodyPr wrap="square" lIns="0" tIns="0" rIns="0" bIns="0" rtlCol="0" anchor="ctr"/>
          <a:lstStyle/>
          <a:p>
            <a:pPr indent="0" marL="0">
              <a:buNone/>
            </a:pPr>
            <a:r>
              <a:rPr lang="en-US" sz="1300" b="1" dirty="0">
                <a:solidFill>
                  <a:srgbClr val="007879"/>
                </a:solidFill>
                <a:latin typeface="Bahnschrift" pitchFamily="34" charset="0"/>
                <a:ea typeface="Bahnschrift" pitchFamily="34" charset="-122"/>
                <a:cs typeface="Bahnschrift" pitchFamily="34" charset="-120"/>
              </a:rPr>
              <a:t>PANEL  ·  Q7</a:t>
            </a:r>
            <a:endParaRPr lang="en-US" sz="1300" dirty="0"/>
          </a:p>
        </p:txBody>
      </p:sp>
      <p:sp>
        <p:nvSpPr>
          <p:cNvPr id="3" name="Text 1"/>
          <p:cNvSpPr/>
          <p:nvPr/>
        </p:nvSpPr>
        <p:spPr>
          <a:xfrm>
            <a:off x="612648" y="685800"/>
            <a:ext cx="10966399" cy="502920"/>
          </a:xfrm>
          <a:prstGeom prst="rect">
            <a:avLst/>
          </a:prstGeom>
          <a:noFill/>
          <a:ln/>
        </p:spPr>
        <p:txBody>
          <a:bodyPr wrap="square" lIns="0" tIns="0" rIns="0" bIns="0" rtlCol="0" anchor="ctr"/>
          <a:lstStyle/>
          <a:p>
            <a:pPr indent="0" marL="0">
              <a:buNone/>
            </a:pPr>
            <a:r>
              <a:rPr lang="en-US" sz="2600" b="1" dirty="0">
                <a:solidFill>
                  <a:srgbClr val="002B55"/>
                </a:solidFill>
                <a:latin typeface="Bahnschrift" pitchFamily="34" charset="0"/>
                <a:ea typeface="Bahnschrift" pitchFamily="34" charset="-122"/>
                <a:cs typeface="Bahnschrift" pitchFamily="34" charset="-120"/>
              </a:rPr>
              <a:t>From hackathon to real pilot</a:t>
            </a:r>
            <a:endParaRPr lang="en-US" sz="2600" dirty="0"/>
          </a:p>
        </p:txBody>
      </p:sp>
      <p:sp>
        <p:nvSpPr>
          <p:cNvPr id="4" name="Shape 2"/>
          <p:cNvSpPr/>
          <p:nvPr/>
        </p:nvSpPr>
        <p:spPr>
          <a:xfrm>
            <a:off x="612648" y="1325880"/>
            <a:ext cx="10966399" cy="4434840"/>
          </a:xfrm>
          <a:prstGeom prst="roundRect">
            <a:avLst/>
          </a:prstGeom>
          <a:solidFill>
            <a:srgbClr val="FFFEFB"/>
          </a:solidFill>
          <a:ln w="12700">
            <a:solidFill>
              <a:srgbClr val="C9D6E3"/>
            </a:solidFill>
            <a:prstDash val="solid"/>
          </a:ln>
        </p:spPr>
      </p:sp>
      <p:sp>
        <p:nvSpPr>
          <p:cNvPr id="5" name="Text 3"/>
          <p:cNvSpPr/>
          <p:nvPr/>
        </p:nvSpPr>
        <p:spPr>
          <a:xfrm>
            <a:off x="978408" y="1554480"/>
            <a:ext cx="10234879" cy="3977640"/>
          </a:xfrm>
          <a:prstGeom prst="rect">
            <a:avLst/>
          </a:prstGeom>
          <a:noFill/>
          <a:ln/>
        </p:spPr>
        <p:txBody>
          <a:bodyPr wrap="square" lIns="0" tIns="0" rIns="0" bIns="0" rtlCol="0" anchor="ctr"/>
          <a:lstStyle/>
          <a:p>
            <a:pPr indent="0" marL="0">
              <a:buNone/>
            </a:pPr>
            <a:r>
              <a:rPr lang="en-US" sz="2600" dirty="0">
                <a:solidFill>
                  <a:srgbClr val="002B55"/>
                </a:solidFill>
                <a:latin typeface="Arial" pitchFamily="34" charset="0"/>
                <a:ea typeface="Arial" pitchFamily="34" charset="-122"/>
                <a:cs typeface="Arial" pitchFamily="34" charset="-120"/>
              </a:rPr>
              <a:t>Two days ago most of this room had never built an agent; yesterday you demoed them.</a:t>
            </a:r>
            <a:endParaRPr lang="en-US" sz="2600" dirty="0"/>
          </a:p>
          <a:p>
            <a:pPr indent="0" marL="0">
              <a:buNone/>
            </a:pPr>
            <a:endParaRPr lang="en-US" sz="2600" dirty="0"/>
          </a:p>
          <a:p>
            <a:pPr indent="0" marL="0">
              <a:buNone/>
            </a:pPr>
            <a:r>
              <a:rPr lang="en-US" sz="2600" dirty="0">
                <a:solidFill>
                  <a:srgbClr val="002B55"/>
                </a:solidFill>
                <a:latin typeface="Arial" pitchFamily="34" charset="0"/>
                <a:ea typeface="Arial" pitchFamily="34" charset="-122"/>
                <a:cs typeface="Arial" pitchFamily="34" charset="-120"/>
              </a:rPr>
              <a:t>Name the one thing from your hackathon team going into a real pilot, and the one thing that must be true before it touches a real HCP.</a:t>
            </a:r>
            <a:endParaRPr lang="en-US" sz="2600" dirty="0"/>
          </a:p>
        </p:txBody>
      </p:sp>
      <p:sp>
        <p:nvSpPr>
          <p:cNvPr id="6" name="Text 4"/>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7" name="Shape 5"/>
          <p:cNvSpPr/>
          <p:nvPr/>
        </p:nvSpPr>
        <p:spPr>
          <a:xfrm>
            <a:off x="11100816" y="6382512"/>
            <a:ext cx="466344" cy="283464"/>
          </a:xfrm>
          <a:prstGeom prst="roundRect">
            <a:avLst/>
          </a:prstGeom>
          <a:solidFill>
            <a:srgbClr val="FFFFFF"/>
          </a:solidFill>
          <a:ln w="9525">
            <a:solidFill>
              <a:srgbClr val="C9D6E3"/>
            </a:solidFill>
            <a:prstDash val="solid"/>
          </a:ln>
        </p:spPr>
      </p:sp>
      <p:sp>
        <p:nvSpPr>
          <p:cNvPr id="8" name="Text 6"/>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9</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workspace/slides/closing-session/art/closing-question-1672.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537960" y="0"/>
            <a:ext cx="5650992" cy="6858000"/>
          </a:xfrm>
          <a:prstGeom prst="rect">
            <a:avLst/>
          </a:prstGeom>
          <a:solidFill>
            <a:srgbClr val="FFFEFB">
              <a:alpha val="88000"/>
            </a:srgbClr>
          </a:solidFill>
          <a:ln w="12700">
            <a:solidFill>
              <a:srgbClr val="FFFEFB">
                <a:alpha val="0"/>
              </a:srgbClr>
            </a:solidFill>
            <a:prstDash val="solid"/>
          </a:ln>
        </p:spPr>
      </p:sp>
      <p:sp>
        <p:nvSpPr>
          <p:cNvPr id="4" name="Text 1"/>
          <p:cNvSpPr/>
          <p:nvPr/>
        </p:nvSpPr>
        <p:spPr>
          <a:xfrm>
            <a:off x="6903720" y="2011680"/>
            <a:ext cx="4754880" cy="320040"/>
          </a:xfrm>
          <a:prstGeom prst="rect">
            <a:avLst/>
          </a:prstGeom>
          <a:noFill/>
          <a:ln/>
        </p:spPr>
        <p:txBody>
          <a:bodyPr wrap="square" lIns="0" tIns="0" rIns="0" bIns="0" rtlCol="0" anchor="ctr"/>
          <a:lstStyle/>
          <a:p>
            <a:pPr indent="0" marL="0">
              <a:buNone/>
            </a:pPr>
            <a:r>
              <a:rPr lang="en-US" sz="1400" b="1" dirty="0">
                <a:solidFill>
                  <a:srgbClr val="007879"/>
                </a:solidFill>
                <a:latin typeface="Bahnschrift" pitchFamily="34" charset="0"/>
                <a:ea typeface="Bahnschrift" pitchFamily="34" charset="-122"/>
                <a:cs typeface="Bahnschrift" pitchFamily="34" charset="-120"/>
              </a:rPr>
              <a:t>YOUR TURN</a:t>
            </a:r>
            <a:endParaRPr lang="en-US" sz="1400" dirty="0"/>
          </a:p>
        </p:txBody>
      </p:sp>
      <p:sp>
        <p:nvSpPr>
          <p:cNvPr id="5" name="Text 2"/>
          <p:cNvSpPr/>
          <p:nvPr/>
        </p:nvSpPr>
        <p:spPr>
          <a:xfrm>
            <a:off x="6903720" y="2468880"/>
            <a:ext cx="4754880" cy="914400"/>
          </a:xfrm>
          <a:prstGeom prst="rect">
            <a:avLst/>
          </a:prstGeom>
          <a:noFill/>
          <a:ln/>
        </p:spPr>
        <p:txBody>
          <a:bodyPr wrap="square" lIns="0" tIns="0" rIns="0" bIns="0" rtlCol="0" anchor="ctr"/>
          <a:lstStyle/>
          <a:p>
            <a:pPr indent="0" marL="0">
              <a:buNone/>
            </a:pPr>
            <a:r>
              <a:rPr lang="en-US" sz="3200" b="1" dirty="0">
                <a:solidFill>
                  <a:srgbClr val="002B55"/>
                </a:solidFill>
                <a:latin typeface="Bahnschrift" pitchFamily="34" charset="0"/>
                <a:ea typeface="Bahnschrift" pitchFamily="34" charset="-122"/>
                <a:cs typeface="Bahnschrift" pitchFamily="34" charset="-120"/>
              </a:rPr>
              <a:t>Your turn: audience</a:t>
            </a:r>
            <a:endParaRPr lang="en-US" sz="3200" dirty="0"/>
          </a:p>
        </p:txBody>
      </p:sp>
      <p:sp>
        <p:nvSpPr>
          <p:cNvPr id="6" name="Text 3"/>
          <p:cNvSpPr/>
          <p:nvPr/>
        </p:nvSpPr>
        <p:spPr>
          <a:xfrm>
            <a:off x="6903720" y="3566160"/>
            <a:ext cx="4754880" cy="731520"/>
          </a:xfrm>
          <a:prstGeom prst="rect">
            <a:avLst/>
          </a:prstGeom>
          <a:noFill/>
          <a:ln/>
        </p:spPr>
        <p:txBody>
          <a:bodyPr wrap="square" lIns="0" tIns="0" rIns="0" bIns="0" rtlCol="0" anchor="ctr"/>
          <a:lstStyle/>
          <a:p>
            <a:pPr indent="0" marL="0">
              <a:buNone/>
            </a:pPr>
            <a:r>
              <a:rPr lang="en-US" sz="1600" dirty="0">
                <a:solidFill>
                  <a:srgbClr val="28455F"/>
                </a:solidFill>
                <a:latin typeface="Arial" pitchFamily="34" charset="0"/>
                <a:ea typeface="Arial" pitchFamily="34" charset="-122"/>
                <a:cs typeface="Arial" pitchFamily="34" charset="-120"/>
              </a:rPr>
              <a:t>Short answers from the room.</a:t>
            </a:r>
            <a:endParaRPr lang="en-US" sz="1600" dirty="0"/>
          </a:p>
          <a:p>
            <a:pPr indent="0" marL="0">
              <a:buNone/>
            </a:pPr>
            <a:r>
              <a:rPr lang="en-US" sz="1600" dirty="0">
                <a:solidFill>
                  <a:srgbClr val="28455F"/>
                </a:solidFill>
                <a:latin typeface="Arial" pitchFamily="34" charset="0"/>
                <a:ea typeface="Arial" pitchFamily="34" charset="-122"/>
                <a:cs typeface="Arial" pitchFamily="34" charset="-120"/>
              </a:rPr>
              <a:t>Hands up when called.</a:t>
            </a:r>
            <a:endParaRPr lang="en-US" sz="1600" dirty="0"/>
          </a:p>
        </p:txBody>
      </p:sp>
      <p:sp>
        <p:nvSpPr>
          <p:cNvPr id="7" name="Text 4"/>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8" name="Shape 5"/>
          <p:cNvSpPr/>
          <p:nvPr/>
        </p:nvSpPr>
        <p:spPr>
          <a:xfrm>
            <a:off x="11100816" y="6382512"/>
            <a:ext cx="466344" cy="283464"/>
          </a:xfrm>
          <a:prstGeom prst="roundRect">
            <a:avLst/>
          </a:prstGeom>
          <a:solidFill>
            <a:srgbClr val="FFFFFF"/>
          </a:solidFill>
          <a:ln w="9525">
            <a:solidFill>
              <a:srgbClr val="C9D6E3"/>
            </a:solidFill>
            <a:prstDash val="solid"/>
          </a:ln>
        </p:spPr>
      </p:sp>
      <p:sp>
        <p:nvSpPr>
          <p:cNvPr id="9" name="Text 6"/>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10</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12648" y="320040"/>
            <a:ext cx="10966399" cy="274320"/>
          </a:xfrm>
          <a:prstGeom prst="rect">
            <a:avLst/>
          </a:prstGeom>
          <a:noFill/>
          <a:ln/>
        </p:spPr>
        <p:txBody>
          <a:bodyPr wrap="square" lIns="0" tIns="0" rIns="0" bIns="0" rtlCol="0" anchor="ctr"/>
          <a:lstStyle/>
          <a:p>
            <a:pPr indent="0" marL="0">
              <a:buNone/>
            </a:pPr>
            <a:r>
              <a:rPr lang="en-US" sz="1300" b="1" dirty="0">
                <a:solidFill>
                  <a:srgbClr val="007879"/>
                </a:solidFill>
                <a:latin typeface="Bahnschrift" pitchFamily="34" charset="0"/>
                <a:ea typeface="Bahnschrift" pitchFamily="34" charset="-122"/>
                <a:cs typeface="Bahnschrift" pitchFamily="34" charset="-120"/>
              </a:rPr>
              <a:t>AUDIENCE</a:t>
            </a:r>
            <a:endParaRPr lang="en-US" sz="1300" dirty="0"/>
          </a:p>
        </p:txBody>
      </p:sp>
      <p:sp>
        <p:nvSpPr>
          <p:cNvPr id="3" name="Shape 1"/>
          <p:cNvSpPr/>
          <p:nvPr/>
        </p:nvSpPr>
        <p:spPr>
          <a:xfrm>
            <a:off x="612648" y="777240"/>
            <a:ext cx="10966399" cy="1691640"/>
          </a:xfrm>
          <a:prstGeom prst="roundRect">
            <a:avLst/>
          </a:prstGeom>
          <a:solidFill>
            <a:srgbClr val="E8EEF5"/>
          </a:solidFill>
          <a:ln w="12700">
            <a:solidFill>
              <a:srgbClr val="C9D6E3"/>
            </a:solidFill>
            <a:prstDash val="solid"/>
          </a:ln>
        </p:spPr>
      </p:sp>
      <p:sp>
        <p:nvSpPr>
          <p:cNvPr id="4" name="Shape 2"/>
          <p:cNvSpPr/>
          <p:nvPr/>
        </p:nvSpPr>
        <p:spPr>
          <a:xfrm>
            <a:off x="841248" y="1367028"/>
            <a:ext cx="512064" cy="512064"/>
          </a:xfrm>
          <a:prstGeom prst="roundRect">
            <a:avLst/>
          </a:prstGeom>
          <a:solidFill>
            <a:srgbClr val="007879"/>
          </a:solidFill>
          <a:ln w="12700">
            <a:solidFill>
              <a:srgbClr val="007879"/>
            </a:solidFill>
            <a:prstDash val="solid"/>
          </a:ln>
        </p:spPr>
      </p:sp>
      <p:sp>
        <p:nvSpPr>
          <p:cNvPr id="5" name="Text 3"/>
          <p:cNvSpPr/>
          <p:nvPr/>
        </p:nvSpPr>
        <p:spPr>
          <a:xfrm>
            <a:off x="841248" y="136702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Bahnschrift" pitchFamily="34" charset="0"/>
                <a:ea typeface="Bahnschrift" pitchFamily="34" charset="-122"/>
                <a:cs typeface="Bahnschrift" pitchFamily="34" charset="-120"/>
              </a:rPr>
              <a:t>1</a:t>
            </a:r>
            <a:endParaRPr lang="en-US" sz="1800" dirty="0"/>
          </a:p>
        </p:txBody>
      </p:sp>
      <p:sp>
        <p:nvSpPr>
          <p:cNvPr id="6" name="Text 4"/>
          <p:cNvSpPr/>
          <p:nvPr/>
        </p:nvSpPr>
        <p:spPr>
          <a:xfrm>
            <a:off x="1572768" y="960120"/>
            <a:ext cx="9686239" cy="1325880"/>
          </a:xfrm>
          <a:prstGeom prst="rect">
            <a:avLst/>
          </a:prstGeom>
          <a:noFill/>
          <a:ln/>
        </p:spPr>
        <p:txBody>
          <a:bodyPr wrap="square" lIns="0" tIns="0" rIns="0" bIns="0" rtlCol="0" anchor="ctr"/>
          <a:lstStyle/>
          <a:p>
            <a:pPr indent="0" marL="0">
              <a:buNone/>
            </a:pPr>
            <a:r>
              <a:rPr lang="en-US" sz="2100" dirty="0">
                <a:solidFill>
                  <a:srgbClr val="002B55"/>
                </a:solidFill>
                <a:latin typeface="Arial" pitchFamily="34" charset="0"/>
                <a:ea typeface="Arial" pitchFamily="34" charset="-122"/>
                <a:cs typeface="Arial" pitchFamily="34" charset="-120"/>
              </a:rPr>
              <a:t>What's the one thing from these two days you'll actually use in your work next week?</a:t>
            </a:r>
            <a:endParaRPr lang="en-US" sz="2100" dirty="0"/>
          </a:p>
        </p:txBody>
      </p:sp>
      <p:sp>
        <p:nvSpPr>
          <p:cNvPr id="7" name="Shape 5"/>
          <p:cNvSpPr/>
          <p:nvPr/>
        </p:nvSpPr>
        <p:spPr>
          <a:xfrm>
            <a:off x="612648" y="2633472"/>
            <a:ext cx="10966399" cy="1691640"/>
          </a:xfrm>
          <a:prstGeom prst="roundRect">
            <a:avLst/>
          </a:prstGeom>
          <a:solidFill>
            <a:srgbClr val="E3F1F1"/>
          </a:solidFill>
          <a:ln w="12700">
            <a:solidFill>
              <a:srgbClr val="C9D6E3"/>
            </a:solidFill>
            <a:prstDash val="solid"/>
          </a:ln>
        </p:spPr>
      </p:sp>
      <p:sp>
        <p:nvSpPr>
          <p:cNvPr id="8" name="Shape 6"/>
          <p:cNvSpPr/>
          <p:nvPr/>
        </p:nvSpPr>
        <p:spPr>
          <a:xfrm>
            <a:off x="841248" y="3223260"/>
            <a:ext cx="512064" cy="512064"/>
          </a:xfrm>
          <a:prstGeom prst="roundRect">
            <a:avLst/>
          </a:prstGeom>
          <a:solidFill>
            <a:srgbClr val="007879"/>
          </a:solidFill>
          <a:ln w="12700">
            <a:solidFill>
              <a:srgbClr val="007879"/>
            </a:solidFill>
            <a:prstDash val="solid"/>
          </a:ln>
        </p:spPr>
      </p:sp>
      <p:sp>
        <p:nvSpPr>
          <p:cNvPr id="9" name="Text 7"/>
          <p:cNvSpPr/>
          <p:nvPr/>
        </p:nvSpPr>
        <p:spPr>
          <a:xfrm>
            <a:off x="841248" y="32232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Bahnschrift" pitchFamily="34" charset="0"/>
                <a:ea typeface="Bahnschrift" pitchFamily="34" charset="-122"/>
                <a:cs typeface="Bahnschrift" pitchFamily="34" charset="-120"/>
              </a:rPr>
              <a:t>2</a:t>
            </a:r>
            <a:endParaRPr lang="en-US" sz="1800" dirty="0"/>
          </a:p>
        </p:txBody>
      </p:sp>
      <p:sp>
        <p:nvSpPr>
          <p:cNvPr id="10" name="Text 8"/>
          <p:cNvSpPr/>
          <p:nvPr/>
        </p:nvSpPr>
        <p:spPr>
          <a:xfrm>
            <a:off x="1572768" y="2816352"/>
            <a:ext cx="9686239" cy="1325880"/>
          </a:xfrm>
          <a:prstGeom prst="rect">
            <a:avLst/>
          </a:prstGeom>
          <a:noFill/>
          <a:ln/>
        </p:spPr>
        <p:txBody>
          <a:bodyPr wrap="square" lIns="0" tIns="0" rIns="0" bIns="0" rtlCol="0" anchor="ctr"/>
          <a:lstStyle/>
          <a:p>
            <a:pPr indent="0" marL="0">
              <a:buNone/>
            </a:pPr>
            <a:r>
              <a:rPr lang="en-US" sz="2100" dirty="0">
                <a:solidFill>
                  <a:srgbClr val="002B55"/>
                </a:solidFill>
                <a:latin typeface="Arial" pitchFamily="34" charset="0"/>
                <a:ea typeface="Arial" pitchFamily="34" charset="-122"/>
                <a:cs typeface="Arial" pitchFamily="34" charset="-120"/>
              </a:rPr>
              <a:t>For the MSL and med-info folks: what's the task you'd most want an agent to take off your plate, and the one you'd never hand over?</a:t>
            </a:r>
            <a:endParaRPr lang="en-US" sz="2100" dirty="0"/>
          </a:p>
        </p:txBody>
      </p:sp>
      <p:sp>
        <p:nvSpPr>
          <p:cNvPr id="11" name="Shape 9"/>
          <p:cNvSpPr/>
          <p:nvPr/>
        </p:nvSpPr>
        <p:spPr>
          <a:xfrm>
            <a:off x="612648" y="4489704"/>
            <a:ext cx="10966399" cy="1691640"/>
          </a:xfrm>
          <a:prstGeom prst="roundRect">
            <a:avLst/>
          </a:prstGeom>
          <a:solidFill>
            <a:srgbClr val="E8EEF5"/>
          </a:solidFill>
          <a:ln w="12700">
            <a:solidFill>
              <a:srgbClr val="C9D6E3"/>
            </a:solidFill>
            <a:prstDash val="solid"/>
          </a:ln>
        </p:spPr>
      </p:sp>
      <p:sp>
        <p:nvSpPr>
          <p:cNvPr id="12" name="Shape 10"/>
          <p:cNvSpPr/>
          <p:nvPr/>
        </p:nvSpPr>
        <p:spPr>
          <a:xfrm>
            <a:off x="841248" y="5079492"/>
            <a:ext cx="512064" cy="512064"/>
          </a:xfrm>
          <a:prstGeom prst="roundRect">
            <a:avLst/>
          </a:prstGeom>
          <a:solidFill>
            <a:srgbClr val="007879"/>
          </a:solidFill>
          <a:ln w="12700">
            <a:solidFill>
              <a:srgbClr val="007879"/>
            </a:solidFill>
            <a:prstDash val="solid"/>
          </a:ln>
        </p:spPr>
      </p:sp>
      <p:sp>
        <p:nvSpPr>
          <p:cNvPr id="13" name="Text 11"/>
          <p:cNvSpPr/>
          <p:nvPr/>
        </p:nvSpPr>
        <p:spPr>
          <a:xfrm>
            <a:off x="841248" y="507949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Bahnschrift" pitchFamily="34" charset="0"/>
                <a:ea typeface="Bahnschrift" pitchFamily="34" charset="-122"/>
                <a:cs typeface="Bahnschrift" pitchFamily="34" charset="-120"/>
              </a:rPr>
              <a:t>3</a:t>
            </a:r>
            <a:endParaRPr lang="en-US" sz="1800" dirty="0"/>
          </a:p>
        </p:txBody>
      </p:sp>
      <p:sp>
        <p:nvSpPr>
          <p:cNvPr id="14" name="Text 12"/>
          <p:cNvSpPr/>
          <p:nvPr/>
        </p:nvSpPr>
        <p:spPr>
          <a:xfrm>
            <a:off x="1572768" y="4672584"/>
            <a:ext cx="9686239" cy="1325880"/>
          </a:xfrm>
          <a:prstGeom prst="rect">
            <a:avLst/>
          </a:prstGeom>
          <a:noFill/>
          <a:ln/>
        </p:spPr>
        <p:txBody>
          <a:bodyPr wrap="square" lIns="0" tIns="0" rIns="0" bIns="0" rtlCol="0" anchor="ctr"/>
          <a:lstStyle/>
          <a:p>
            <a:pPr indent="0" marL="0">
              <a:buNone/>
            </a:pPr>
            <a:r>
              <a:rPr lang="en-US" sz="2100" dirty="0">
                <a:solidFill>
                  <a:srgbClr val="002B55"/>
                </a:solidFill>
                <a:latin typeface="Arial" pitchFamily="34" charset="0"/>
                <a:ea typeface="Arial" pitchFamily="34" charset="-122"/>
                <a:cs typeface="Arial" pitchFamily="34" charset="-120"/>
              </a:rPr>
              <a:t>What was the moment in these two days when you went from skeptical to 'okay, this could actually work'? What triggered it?</a:t>
            </a:r>
            <a:endParaRPr lang="en-US" sz="2100" dirty="0"/>
          </a:p>
        </p:txBody>
      </p:sp>
      <p:sp>
        <p:nvSpPr>
          <p:cNvPr id="15" name="Text 13"/>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16" name="Shape 14"/>
          <p:cNvSpPr/>
          <p:nvPr/>
        </p:nvSpPr>
        <p:spPr>
          <a:xfrm>
            <a:off x="11100816" y="6382512"/>
            <a:ext cx="466344" cy="283464"/>
          </a:xfrm>
          <a:prstGeom prst="roundRect">
            <a:avLst/>
          </a:prstGeom>
          <a:solidFill>
            <a:srgbClr val="FFFFFF"/>
          </a:solidFill>
          <a:ln w="9525">
            <a:solidFill>
              <a:srgbClr val="C9D6E3"/>
            </a:solidFill>
            <a:prstDash val="solid"/>
          </a:ln>
        </p:spPr>
      </p:sp>
      <p:sp>
        <p:nvSpPr>
          <p:cNvPr id="17" name="Text 15"/>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11</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12648" y="320040"/>
            <a:ext cx="10966399" cy="274320"/>
          </a:xfrm>
          <a:prstGeom prst="rect">
            <a:avLst/>
          </a:prstGeom>
          <a:noFill/>
          <a:ln/>
        </p:spPr>
        <p:txBody>
          <a:bodyPr wrap="square" lIns="0" tIns="0" rIns="0" bIns="0" rtlCol="0" anchor="ctr"/>
          <a:lstStyle/>
          <a:p>
            <a:pPr indent="0" marL="0">
              <a:buNone/>
            </a:pPr>
            <a:r>
              <a:rPr lang="en-US" sz="1300" b="1" dirty="0">
                <a:solidFill>
                  <a:srgbClr val="007879"/>
                </a:solidFill>
                <a:latin typeface="Bahnschrift" pitchFamily="34" charset="0"/>
                <a:ea typeface="Bahnschrift" pitchFamily="34" charset="-122"/>
                <a:cs typeface="Bahnschrift" pitchFamily="34" charset="-120"/>
              </a:rPr>
              <a:t>AUDIENCE</a:t>
            </a:r>
            <a:endParaRPr lang="en-US" sz="1300" dirty="0"/>
          </a:p>
        </p:txBody>
      </p:sp>
      <p:sp>
        <p:nvSpPr>
          <p:cNvPr id="3" name="Shape 1"/>
          <p:cNvSpPr/>
          <p:nvPr/>
        </p:nvSpPr>
        <p:spPr>
          <a:xfrm>
            <a:off x="612648" y="777240"/>
            <a:ext cx="10966399" cy="1691640"/>
          </a:xfrm>
          <a:prstGeom prst="roundRect">
            <a:avLst/>
          </a:prstGeom>
          <a:solidFill>
            <a:srgbClr val="E8EEF5"/>
          </a:solidFill>
          <a:ln w="12700">
            <a:solidFill>
              <a:srgbClr val="C9D6E3"/>
            </a:solidFill>
            <a:prstDash val="solid"/>
          </a:ln>
        </p:spPr>
      </p:sp>
      <p:sp>
        <p:nvSpPr>
          <p:cNvPr id="4" name="Shape 2"/>
          <p:cNvSpPr/>
          <p:nvPr/>
        </p:nvSpPr>
        <p:spPr>
          <a:xfrm>
            <a:off x="841248" y="1367028"/>
            <a:ext cx="512064" cy="512064"/>
          </a:xfrm>
          <a:prstGeom prst="roundRect">
            <a:avLst/>
          </a:prstGeom>
          <a:solidFill>
            <a:srgbClr val="007879"/>
          </a:solidFill>
          <a:ln w="12700">
            <a:solidFill>
              <a:srgbClr val="007879"/>
            </a:solidFill>
            <a:prstDash val="solid"/>
          </a:ln>
        </p:spPr>
      </p:sp>
      <p:sp>
        <p:nvSpPr>
          <p:cNvPr id="5" name="Text 3"/>
          <p:cNvSpPr/>
          <p:nvPr/>
        </p:nvSpPr>
        <p:spPr>
          <a:xfrm>
            <a:off x="841248" y="136702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Bahnschrift" pitchFamily="34" charset="0"/>
                <a:ea typeface="Bahnschrift" pitchFamily="34" charset="-122"/>
                <a:cs typeface="Bahnschrift" pitchFamily="34" charset="-120"/>
              </a:rPr>
              <a:t>4</a:t>
            </a:r>
            <a:endParaRPr lang="en-US" sz="1800" dirty="0"/>
          </a:p>
        </p:txBody>
      </p:sp>
      <p:sp>
        <p:nvSpPr>
          <p:cNvPr id="6" name="Text 4"/>
          <p:cNvSpPr/>
          <p:nvPr/>
        </p:nvSpPr>
        <p:spPr>
          <a:xfrm>
            <a:off x="1572768" y="960120"/>
            <a:ext cx="9686239" cy="1325880"/>
          </a:xfrm>
          <a:prstGeom prst="rect">
            <a:avLst/>
          </a:prstGeom>
          <a:noFill/>
          <a:ln/>
        </p:spPr>
        <p:txBody>
          <a:bodyPr wrap="square" lIns="0" tIns="0" rIns="0" bIns="0" rtlCol="0" anchor="ctr"/>
          <a:lstStyle/>
          <a:p>
            <a:pPr indent="0" marL="0">
              <a:buNone/>
            </a:pPr>
            <a:r>
              <a:rPr lang="en-US" sz="2100" dirty="0">
                <a:solidFill>
                  <a:srgbClr val="002B55"/>
                </a:solidFill>
                <a:latin typeface="Arial" pitchFamily="34" charset="0"/>
                <a:ea typeface="Arial" pitchFamily="34" charset="-122"/>
                <a:cs typeface="Arial" pitchFamily="34" charset="-120"/>
              </a:rPr>
              <a:t>What's something you believed about AI in medical affairs on Monday morning that you no longer believe?</a:t>
            </a:r>
            <a:endParaRPr lang="en-US" sz="2100" dirty="0"/>
          </a:p>
        </p:txBody>
      </p:sp>
      <p:sp>
        <p:nvSpPr>
          <p:cNvPr id="7" name="Shape 5"/>
          <p:cNvSpPr/>
          <p:nvPr/>
        </p:nvSpPr>
        <p:spPr>
          <a:xfrm>
            <a:off x="612648" y="2633472"/>
            <a:ext cx="10966399" cy="1691640"/>
          </a:xfrm>
          <a:prstGeom prst="roundRect">
            <a:avLst/>
          </a:prstGeom>
          <a:solidFill>
            <a:srgbClr val="E3F1F1"/>
          </a:solidFill>
          <a:ln w="12700">
            <a:solidFill>
              <a:srgbClr val="C9D6E3"/>
            </a:solidFill>
            <a:prstDash val="solid"/>
          </a:ln>
        </p:spPr>
      </p:sp>
      <p:sp>
        <p:nvSpPr>
          <p:cNvPr id="8" name="Shape 6"/>
          <p:cNvSpPr/>
          <p:nvPr/>
        </p:nvSpPr>
        <p:spPr>
          <a:xfrm>
            <a:off x="841248" y="3223260"/>
            <a:ext cx="512064" cy="512064"/>
          </a:xfrm>
          <a:prstGeom prst="roundRect">
            <a:avLst/>
          </a:prstGeom>
          <a:solidFill>
            <a:srgbClr val="007879"/>
          </a:solidFill>
          <a:ln w="12700">
            <a:solidFill>
              <a:srgbClr val="007879"/>
            </a:solidFill>
            <a:prstDash val="solid"/>
          </a:ln>
        </p:spPr>
      </p:sp>
      <p:sp>
        <p:nvSpPr>
          <p:cNvPr id="9" name="Text 7"/>
          <p:cNvSpPr/>
          <p:nvPr/>
        </p:nvSpPr>
        <p:spPr>
          <a:xfrm>
            <a:off x="841248" y="32232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Bahnschrift" pitchFamily="34" charset="0"/>
                <a:ea typeface="Bahnschrift" pitchFamily="34" charset="-122"/>
                <a:cs typeface="Bahnschrift" pitchFamily="34" charset="-120"/>
              </a:rPr>
              <a:t>5</a:t>
            </a:r>
            <a:endParaRPr lang="en-US" sz="1800" dirty="0"/>
          </a:p>
        </p:txBody>
      </p:sp>
      <p:sp>
        <p:nvSpPr>
          <p:cNvPr id="10" name="Text 8"/>
          <p:cNvSpPr/>
          <p:nvPr/>
        </p:nvSpPr>
        <p:spPr>
          <a:xfrm>
            <a:off x="1572768" y="2816352"/>
            <a:ext cx="9686239" cy="1325880"/>
          </a:xfrm>
          <a:prstGeom prst="rect">
            <a:avLst/>
          </a:prstGeom>
          <a:noFill/>
          <a:ln/>
        </p:spPr>
        <p:txBody>
          <a:bodyPr wrap="square" lIns="0" tIns="0" rIns="0" bIns="0" rtlCol="0" anchor="ctr"/>
          <a:lstStyle/>
          <a:p>
            <a:pPr indent="0" marL="0">
              <a:buNone/>
            </a:pPr>
            <a:r>
              <a:rPr lang="en-US" sz="2100" dirty="0">
                <a:solidFill>
                  <a:srgbClr val="002B55"/>
                </a:solidFill>
                <a:latin typeface="Arial" pitchFamily="34" charset="0"/>
                <a:ea typeface="Arial" pitchFamily="34" charset="-122"/>
                <a:cs typeface="Arial" pitchFamily="34" charset="-120"/>
              </a:rPr>
              <a:t>Who here tried to break someone else's agent in the red-team swap, and what did breaking it teach you about your own build?</a:t>
            </a:r>
            <a:endParaRPr lang="en-US" sz="2100" dirty="0"/>
          </a:p>
        </p:txBody>
      </p:sp>
      <p:sp>
        <p:nvSpPr>
          <p:cNvPr id="11" name="Shape 9"/>
          <p:cNvSpPr/>
          <p:nvPr/>
        </p:nvSpPr>
        <p:spPr>
          <a:xfrm>
            <a:off x="612648" y="4489704"/>
            <a:ext cx="10966399" cy="1691640"/>
          </a:xfrm>
          <a:prstGeom prst="roundRect">
            <a:avLst/>
          </a:prstGeom>
          <a:solidFill>
            <a:srgbClr val="E8EEF5"/>
          </a:solidFill>
          <a:ln w="12700">
            <a:solidFill>
              <a:srgbClr val="C9D6E3"/>
            </a:solidFill>
            <a:prstDash val="solid"/>
          </a:ln>
        </p:spPr>
      </p:sp>
      <p:sp>
        <p:nvSpPr>
          <p:cNvPr id="12" name="Shape 10"/>
          <p:cNvSpPr/>
          <p:nvPr/>
        </p:nvSpPr>
        <p:spPr>
          <a:xfrm>
            <a:off x="841248" y="5079492"/>
            <a:ext cx="512064" cy="512064"/>
          </a:xfrm>
          <a:prstGeom prst="roundRect">
            <a:avLst/>
          </a:prstGeom>
          <a:solidFill>
            <a:srgbClr val="007879"/>
          </a:solidFill>
          <a:ln w="12700">
            <a:solidFill>
              <a:srgbClr val="007879"/>
            </a:solidFill>
            <a:prstDash val="solid"/>
          </a:ln>
        </p:spPr>
      </p:sp>
      <p:sp>
        <p:nvSpPr>
          <p:cNvPr id="13" name="Text 11"/>
          <p:cNvSpPr/>
          <p:nvPr/>
        </p:nvSpPr>
        <p:spPr>
          <a:xfrm>
            <a:off x="841248" y="507949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Bahnschrift" pitchFamily="34" charset="0"/>
                <a:ea typeface="Bahnschrift" pitchFamily="34" charset="-122"/>
                <a:cs typeface="Bahnschrift" pitchFamily="34" charset="-120"/>
              </a:rPr>
              <a:t>6</a:t>
            </a:r>
            <a:endParaRPr lang="en-US" sz="1800" dirty="0"/>
          </a:p>
        </p:txBody>
      </p:sp>
      <p:sp>
        <p:nvSpPr>
          <p:cNvPr id="14" name="Text 12"/>
          <p:cNvSpPr/>
          <p:nvPr/>
        </p:nvSpPr>
        <p:spPr>
          <a:xfrm>
            <a:off x="1572768" y="4672584"/>
            <a:ext cx="9686239" cy="1325880"/>
          </a:xfrm>
          <a:prstGeom prst="rect">
            <a:avLst/>
          </a:prstGeom>
          <a:noFill/>
          <a:ln/>
        </p:spPr>
        <p:txBody>
          <a:bodyPr wrap="square" lIns="0" tIns="0" rIns="0" bIns="0" rtlCol="0" anchor="ctr"/>
          <a:lstStyle/>
          <a:p>
            <a:pPr indent="0" marL="0">
              <a:buNone/>
            </a:pPr>
            <a:r>
              <a:rPr lang="en-US" sz="2100" dirty="0">
                <a:solidFill>
                  <a:srgbClr val="002B55"/>
                </a:solidFill>
                <a:latin typeface="Arial" pitchFamily="34" charset="0"/>
                <a:ea typeface="Arial" pitchFamily="34" charset="-122"/>
                <a:cs typeface="Arial" pitchFamily="34" charset="-120"/>
              </a:rPr>
              <a:t>Think back to the workflow you mapped on day one. After two days of building, what's the part you now realize is harder to automate than you expected?</a:t>
            </a:r>
            <a:endParaRPr lang="en-US" sz="2100" dirty="0"/>
          </a:p>
        </p:txBody>
      </p:sp>
      <p:sp>
        <p:nvSpPr>
          <p:cNvPr id="15" name="Text 13"/>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16" name="Shape 14"/>
          <p:cNvSpPr/>
          <p:nvPr/>
        </p:nvSpPr>
        <p:spPr>
          <a:xfrm>
            <a:off x="11100816" y="6382512"/>
            <a:ext cx="466344" cy="283464"/>
          </a:xfrm>
          <a:prstGeom prst="roundRect">
            <a:avLst/>
          </a:prstGeom>
          <a:solidFill>
            <a:srgbClr val="FFFFFF"/>
          </a:solidFill>
          <a:ln w="9525">
            <a:solidFill>
              <a:srgbClr val="C9D6E3"/>
            </a:solidFill>
            <a:prstDash val="solid"/>
          </a:ln>
        </p:spPr>
      </p:sp>
      <p:sp>
        <p:nvSpPr>
          <p:cNvPr id="17" name="Text 15"/>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12</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12648" y="320040"/>
            <a:ext cx="10966399" cy="274320"/>
          </a:xfrm>
          <a:prstGeom prst="rect">
            <a:avLst/>
          </a:prstGeom>
          <a:noFill/>
          <a:ln/>
        </p:spPr>
        <p:txBody>
          <a:bodyPr wrap="square" lIns="0" tIns="0" rIns="0" bIns="0" rtlCol="0" anchor="ctr"/>
          <a:lstStyle/>
          <a:p>
            <a:pPr indent="0" marL="0">
              <a:buNone/>
            </a:pPr>
            <a:r>
              <a:rPr lang="en-US" sz="1300" b="1" dirty="0">
                <a:solidFill>
                  <a:srgbClr val="007879"/>
                </a:solidFill>
                <a:latin typeface="Bahnschrift" pitchFamily="34" charset="0"/>
                <a:ea typeface="Bahnschrift" pitchFamily="34" charset="-122"/>
                <a:cs typeface="Bahnschrift" pitchFamily="34" charset="-120"/>
              </a:rPr>
              <a:t>AUDIENCE</a:t>
            </a:r>
            <a:endParaRPr lang="en-US" sz="1300" dirty="0"/>
          </a:p>
        </p:txBody>
      </p:sp>
      <p:sp>
        <p:nvSpPr>
          <p:cNvPr id="3" name="Shape 1"/>
          <p:cNvSpPr/>
          <p:nvPr/>
        </p:nvSpPr>
        <p:spPr>
          <a:xfrm>
            <a:off x="612648" y="777240"/>
            <a:ext cx="10966399" cy="1691640"/>
          </a:xfrm>
          <a:prstGeom prst="roundRect">
            <a:avLst/>
          </a:prstGeom>
          <a:solidFill>
            <a:srgbClr val="E8EEF5"/>
          </a:solidFill>
          <a:ln w="12700">
            <a:solidFill>
              <a:srgbClr val="C9D6E3"/>
            </a:solidFill>
            <a:prstDash val="solid"/>
          </a:ln>
        </p:spPr>
      </p:sp>
      <p:sp>
        <p:nvSpPr>
          <p:cNvPr id="4" name="Shape 2"/>
          <p:cNvSpPr/>
          <p:nvPr/>
        </p:nvSpPr>
        <p:spPr>
          <a:xfrm>
            <a:off x="841248" y="1367028"/>
            <a:ext cx="512064" cy="512064"/>
          </a:xfrm>
          <a:prstGeom prst="roundRect">
            <a:avLst/>
          </a:prstGeom>
          <a:solidFill>
            <a:srgbClr val="007879"/>
          </a:solidFill>
          <a:ln w="12700">
            <a:solidFill>
              <a:srgbClr val="007879"/>
            </a:solidFill>
            <a:prstDash val="solid"/>
          </a:ln>
        </p:spPr>
      </p:sp>
      <p:sp>
        <p:nvSpPr>
          <p:cNvPr id="5" name="Text 3"/>
          <p:cNvSpPr/>
          <p:nvPr/>
        </p:nvSpPr>
        <p:spPr>
          <a:xfrm>
            <a:off x="841248" y="136702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Bahnschrift" pitchFamily="34" charset="0"/>
                <a:ea typeface="Bahnschrift" pitchFamily="34" charset="-122"/>
                <a:cs typeface="Bahnschrift" pitchFamily="34" charset="-120"/>
              </a:rPr>
              <a:t>7</a:t>
            </a:r>
            <a:endParaRPr lang="en-US" sz="1800" dirty="0"/>
          </a:p>
        </p:txBody>
      </p:sp>
      <p:sp>
        <p:nvSpPr>
          <p:cNvPr id="6" name="Text 4"/>
          <p:cNvSpPr/>
          <p:nvPr/>
        </p:nvSpPr>
        <p:spPr>
          <a:xfrm>
            <a:off x="1572768" y="960120"/>
            <a:ext cx="9686239" cy="1325880"/>
          </a:xfrm>
          <a:prstGeom prst="rect">
            <a:avLst/>
          </a:prstGeom>
          <a:noFill/>
          <a:ln/>
        </p:spPr>
        <p:txBody>
          <a:bodyPr wrap="square" lIns="0" tIns="0" rIns="0" bIns="0" rtlCol="0" anchor="ctr"/>
          <a:lstStyle/>
          <a:p>
            <a:pPr indent="0" marL="0">
              <a:buNone/>
            </a:pPr>
            <a:r>
              <a:rPr lang="en-US" sz="2100" dirty="0">
                <a:solidFill>
                  <a:srgbClr val="002B55"/>
                </a:solidFill>
                <a:latin typeface="Arial" pitchFamily="34" charset="0"/>
                <a:ea typeface="Arial" pitchFamily="34" charset="-122"/>
                <a:cs typeface="Arial" pitchFamily="34" charset="-120"/>
              </a:rPr>
              <a:t>What's the one prompt, routine, or agent behavior going onto your deployment commitment form, and what's the first thing you'll do with it on Monday?</a:t>
            </a:r>
            <a:endParaRPr lang="en-US" sz="2100" dirty="0"/>
          </a:p>
        </p:txBody>
      </p:sp>
      <p:sp>
        <p:nvSpPr>
          <p:cNvPr id="7" name="Shape 5"/>
          <p:cNvSpPr/>
          <p:nvPr/>
        </p:nvSpPr>
        <p:spPr>
          <a:xfrm>
            <a:off x="612648" y="2633472"/>
            <a:ext cx="10966399" cy="1691640"/>
          </a:xfrm>
          <a:prstGeom prst="roundRect">
            <a:avLst/>
          </a:prstGeom>
          <a:solidFill>
            <a:srgbClr val="E3F1F1"/>
          </a:solidFill>
          <a:ln w="12700">
            <a:solidFill>
              <a:srgbClr val="C9D6E3"/>
            </a:solidFill>
            <a:prstDash val="solid"/>
          </a:ln>
        </p:spPr>
      </p:sp>
      <p:sp>
        <p:nvSpPr>
          <p:cNvPr id="8" name="Shape 6"/>
          <p:cNvSpPr/>
          <p:nvPr/>
        </p:nvSpPr>
        <p:spPr>
          <a:xfrm>
            <a:off x="841248" y="3223260"/>
            <a:ext cx="512064" cy="512064"/>
          </a:xfrm>
          <a:prstGeom prst="roundRect">
            <a:avLst/>
          </a:prstGeom>
          <a:solidFill>
            <a:srgbClr val="007879"/>
          </a:solidFill>
          <a:ln w="12700">
            <a:solidFill>
              <a:srgbClr val="007879"/>
            </a:solidFill>
            <a:prstDash val="solid"/>
          </a:ln>
        </p:spPr>
      </p:sp>
      <p:sp>
        <p:nvSpPr>
          <p:cNvPr id="9" name="Text 7"/>
          <p:cNvSpPr/>
          <p:nvPr/>
        </p:nvSpPr>
        <p:spPr>
          <a:xfrm>
            <a:off x="841248" y="32232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Bahnschrift" pitchFamily="34" charset="0"/>
                <a:ea typeface="Bahnschrift" pitchFamily="34" charset="-122"/>
                <a:cs typeface="Bahnschrift" pitchFamily="34" charset="-120"/>
              </a:rPr>
              <a:t>8</a:t>
            </a:r>
            <a:endParaRPr lang="en-US" sz="1800" dirty="0"/>
          </a:p>
        </p:txBody>
      </p:sp>
      <p:sp>
        <p:nvSpPr>
          <p:cNvPr id="10" name="Text 8"/>
          <p:cNvSpPr/>
          <p:nvPr/>
        </p:nvSpPr>
        <p:spPr>
          <a:xfrm>
            <a:off x="1572768" y="2816352"/>
            <a:ext cx="9686239" cy="1325880"/>
          </a:xfrm>
          <a:prstGeom prst="rect">
            <a:avLst/>
          </a:prstGeom>
          <a:noFill/>
          <a:ln/>
        </p:spPr>
        <p:txBody>
          <a:bodyPr wrap="square" lIns="0" tIns="0" rIns="0" bIns="0" rtlCol="0" anchor="ctr"/>
          <a:lstStyle/>
          <a:p>
            <a:pPr indent="0" marL="0">
              <a:buNone/>
            </a:pPr>
            <a:r>
              <a:rPr lang="en-US" sz="2100" dirty="0">
                <a:solidFill>
                  <a:srgbClr val="002B55"/>
                </a:solidFill>
                <a:latin typeface="Arial" pitchFamily="34" charset="0"/>
                <a:ea typeface="Arial" pitchFamily="34" charset="-122"/>
                <a:cs typeface="Arial" pitchFamily="34" charset="-120"/>
              </a:rPr>
              <a:t>For the leaders in the room: what conversation do you need to have back home before any of this becomes real, and with whom?</a:t>
            </a:r>
            <a:endParaRPr lang="en-US" sz="2100" dirty="0"/>
          </a:p>
        </p:txBody>
      </p:sp>
      <p:sp>
        <p:nvSpPr>
          <p:cNvPr id="11" name="Shape 9"/>
          <p:cNvSpPr/>
          <p:nvPr/>
        </p:nvSpPr>
        <p:spPr>
          <a:xfrm>
            <a:off x="612648" y="4489704"/>
            <a:ext cx="10966399" cy="1691640"/>
          </a:xfrm>
          <a:prstGeom prst="roundRect">
            <a:avLst/>
          </a:prstGeom>
          <a:solidFill>
            <a:srgbClr val="E8EEF5"/>
          </a:solidFill>
          <a:ln w="12700">
            <a:solidFill>
              <a:srgbClr val="C9D6E3"/>
            </a:solidFill>
            <a:prstDash val="solid"/>
          </a:ln>
        </p:spPr>
      </p:sp>
      <p:sp>
        <p:nvSpPr>
          <p:cNvPr id="12" name="Shape 10"/>
          <p:cNvSpPr/>
          <p:nvPr/>
        </p:nvSpPr>
        <p:spPr>
          <a:xfrm>
            <a:off x="841248" y="5079492"/>
            <a:ext cx="512064" cy="512064"/>
          </a:xfrm>
          <a:prstGeom prst="roundRect">
            <a:avLst/>
          </a:prstGeom>
          <a:solidFill>
            <a:srgbClr val="007879"/>
          </a:solidFill>
          <a:ln w="12700">
            <a:solidFill>
              <a:srgbClr val="007879"/>
            </a:solidFill>
            <a:prstDash val="solid"/>
          </a:ln>
        </p:spPr>
      </p:sp>
      <p:sp>
        <p:nvSpPr>
          <p:cNvPr id="13" name="Text 11"/>
          <p:cNvSpPr/>
          <p:nvPr/>
        </p:nvSpPr>
        <p:spPr>
          <a:xfrm>
            <a:off x="841248" y="507949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Bahnschrift" pitchFamily="34" charset="0"/>
                <a:ea typeface="Bahnschrift" pitchFamily="34" charset="-122"/>
                <a:cs typeface="Bahnschrift" pitchFamily="34" charset="-120"/>
              </a:rPr>
              <a:t>9</a:t>
            </a:r>
            <a:endParaRPr lang="en-US" sz="1800" dirty="0"/>
          </a:p>
        </p:txBody>
      </p:sp>
      <p:sp>
        <p:nvSpPr>
          <p:cNvPr id="14" name="Text 12"/>
          <p:cNvSpPr/>
          <p:nvPr/>
        </p:nvSpPr>
        <p:spPr>
          <a:xfrm>
            <a:off x="1572768" y="4672584"/>
            <a:ext cx="9686239" cy="1325880"/>
          </a:xfrm>
          <a:prstGeom prst="rect">
            <a:avLst/>
          </a:prstGeom>
          <a:noFill/>
          <a:ln/>
        </p:spPr>
        <p:txBody>
          <a:bodyPr wrap="square" lIns="0" tIns="0" rIns="0" bIns="0" rtlCol="0" anchor="ctr"/>
          <a:lstStyle/>
          <a:p>
            <a:pPr indent="0" marL="0">
              <a:buNone/>
            </a:pPr>
            <a:r>
              <a:rPr lang="en-US" sz="2100" dirty="0">
                <a:solidFill>
                  <a:srgbClr val="002B55"/>
                </a:solidFill>
                <a:latin typeface="Arial" pitchFamily="34" charset="0"/>
                <a:ea typeface="Arial" pitchFamily="34" charset="-122"/>
                <a:cs typeface="Arial" pitchFamily="34" charset="-120"/>
              </a:rPr>
              <a:t>Show of hands: who arrived worried AI would replace part of their function, and who leaves thinking it will change the function instead? What changed your mind?</a:t>
            </a:r>
            <a:endParaRPr lang="en-US" sz="2100" dirty="0"/>
          </a:p>
        </p:txBody>
      </p:sp>
      <p:sp>
        <p:nvSpPr>
          <p:cNvPr id="15" name="Text 13"/>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16" name="Shape 14"/>
          <p:cNvSpPr/>
          <p:nvPr/>
        </p:nvSpPr>
        <p:spPr>
          <a:xfrm>
            <a:off x="11100816" y="6382512"/>
            <a:ext cx="466344" cy="283464"/>
          </a:xfrm>
          <a:prstGeom prst="roundRect">
            <a:avLst/>
          </a:prstGeom>
          <a:solidFill>
            <a:srgbClr val="FFFFFF"/>
          </a:solidFill>
          <a:ln w="9525">
            <a:solidFill>
              <a:srgbClr val="C9D6E3"/>
            </a:solidFill>
            <a:prstDash val="solid"/>
          </a:ln>
        </p:spPr>
      </p:sp>
      <p:sp>
        <p:nvSpPr>
          <p:cNvPr id="17" name="Text 15"/>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13</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workspace/slides/closing-session/art/closing-helm-trust-1672.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411480" y="320040"/>
            <a:ext cx="5120640" cy="1051560"/>
          </a:xfrm>
          <a:prstGeom prst="roundRect">
            <a:avLst/>
          </a:prstGeom>
          <a:solidFill>
            <a:srgbClr val="FFFFFF">
              <a:alpha val="92000"/>
            </a:srgbClr>
          </a:solidFill>
          <a:ln w="12700">
            <a:solidFill>
              <a:srgbClr val="FFFFFF">
                <a:alpha val="0"/>
              </a:srgbClr>
            </a:solidFill>
            <a:prstDash val="solid"/>
          </a:ln>
        </p:spPr>
      </p:sp>
      <p:sp>
        <p:nvSpPr>
          <p:cNvPr id="4" name="Text 1"/>
          <p:cNvSpPr/>
          <p:nvPr/>
        </p:nvSpPr>
        <p:spPr>
          <a:xfrm>
            <a:off x="594360" y="457200"/>
            <a:ext cx="4754880" cy="777240"/>
          </a:xfrm>
          <a:prstGeom prst="rect">
            <a:avLst/>
          </a:prstGeom>
          <a:noFill/>
          <a:ln/>
        </p:spPr>
        <p:txBody>
          <a:bodyPr wrap="square" lIns="0" tIns="0" rIns="0" bIns="0" rtlCol="0" anchor="ctr"/>
          <a:lstStyle/>
          <a:p>
            <a:pPr indent="0" marL="0">
              <a:buNone/>
            </a:pPr>
            <a:r>
              <a:rPr lang="en-US" sz="3400" b="1" dirty="0">
                <a:solidFill>
                  <a:srgbClr val="002B55"/>
                </a:solidFill>
                <a:latin typeface="Bahnschrift" pitchFamily="34" charset="0"/>
                <a:ea typeface="Bahnschrift" pitchFamily="34" charset="-122"/>
                <a:cs typeface="Bahnschrift" pitchFamily="34" charset="-120"/>
              </a:rPr>
              <a:t>Human at the helm</a:t>
            </a:r>
            <a:endParaRPr lang="en-US" sz="3400" dirty="0"/>
          </a:p>
        </p:txBody>
      </p:sp>
      <p:sp>
        <p:nvSpPr>
          <p:cNvPr id="5" name="Shape 2"/>
          <p:cNvSpPr/>
          <p:nvPr/>
        </p:nvSpPr>
        <p:spPr>
          <a:xfrm>
            <a:off x="502920" y="1600200"/>
            <a:ext cx="1691640" cy="640080"/>
          </a:xfrm>
          <a:prstGeom prst="roundRect">
            <a:avLst/>
          </a:prstGeom>
          <a:solidFill>
            <a:srgbClr val="FFFFFF"/>
          </a:solidFill>
          <a:ln w="19050">
            <a:solidFill>
              <a:srgbClr val="007879"/>
            </a:solidFill>
            <a:prstDash val="solid"/>
          </a:ln>
        </p:spPr>
      </p:sp>
      <p:sp>
        <p:nvSpPr>
          <p:cNvPr id="6" name="Text 3"/>
          <p:cNvSpPr/>
          <p:nvPr/>
        </p:nvSpPr>
        <p:spPr>
          <a:xfrm>
            <a:off x="502920" y="1600200"/>
            <a:ext cx="1691640" cy="640080"/>
          </a:xfrm>
          <a:prstGeom prst="rect">
            <a:avLst/>
          </a:prstGeom>
          <a:noFill/>
          <a:ln/>
        </p:spPr>
        <p:txBody>
          <a:bodyPr wrap="square" lIns="0" tIns="0" rIns="0" bIns="0" rtlCol="0" anchor="ctr"/>
          <a:lstStyle/>
          <a:p>
            <a:pPr algn="ctr" indent="0" marL="0">
              <a:buNone/>
            </a:pPr>
            <a:r>
              <a:rPr lang="en-US" sz="1300" b="1" dirty="0">
                <a:solidFill>
                  <a:srgbClr val="007879"/>
                </a:solidFill>
                <a:latin typeface="Bahnschrift" pitchFamily="34" charset="0"/>
                <a:ea typeface="Bahnschrift" pitchFamily="34" charset="-122"/>
                <a:cs typeface="Bahnschrift" pitchFamily="34" charset="-120"/>
              </a:rPr>
              <a:t>Opportunity AI</a:t>
            </a:r>
            <a:endParaRPr lang="en-US" sz="1300" dirty="0"/>
          </a:p>
        </p:txBody>
      </p:sp>
      <p:sp>
        <p:nvSpPr>
          <p:cNvPr id="7" name="Shape 4"/>
          <p:cNvSpPr/>
          <p:nvPr/>
        </p:nvSpPr>
        <p:spPr>
          <a:xfrm>
            <a:off x="2331720" y="1600200"/>
            <a:ext cx="1691640" cy="640080"/>
          </a:xfrm>
          <a:prstGeom prst="roundRect">
            <a:avLst/>
          </a:prstGeom>
          <a:solidFill>
            <a:srgbClr val="FFFFFF"/>
          </a:solidFill>
          <a:ln w="19050">
            <a:solidFill>
              <a:srgbClr val="002B55"/>
            </a:solidFill>
            <a:prstDash val="solid"/>
          </a:ln>
        </p:spPr>
      </p:sp>
      <p:sp>
        <p:nvSpPr>
          <p:cNvPr id="8" name="Text 5"/>
          <p:cNvSpPr/>
          <p:nvPr/>
        </p:nvSpPr>
        <p:spPr>
          <a:xfrm>
            <a:off x="2331720" y="1600200"/>
            <a:ext cx="1691640" cy="640080"/>
          </a:xfrm>
          <a:prstGeom prst="rect">
            <a:avLst/>
          </a:prstGeom>
          <a:noFill/>
          <a:ln/>
        </p:spPr>
        <p:txBody>
          <a:bodyPr wrap="square" lIns="0" tIns="0" rIns="0" bIns="0" rtlCol="0" anchor="ctr"/>
          <a:lstStyle/>
          <a:p>
            <a:pPr algn="ctr" indent="0" marL="0">
              <a:buNone/>
            </a:pPr>
            <a:r>
              <a:rPr lang="en-US" sz="1300" b="1" dirty="0">
                <a:solidFill>
                  <a:srgbClr val="002B55"/>
                </a:solidFill>
                <a:latin typeface="Bahnschrift" pitchFamily="34" charset="0"/>
                <a:ea typeface="Bahnschrift" pitchFamily="34" charset="-122"/>
                <a:cs typeface="Bahnschrift" pitchFamily="34" charset="-120"/>
              </a:rPr>
              <a:t>Context</a:t>
            </a:r>
            <a:endParaRPr lang="en-US" sz="1300" dirty="0"/>
          </a:p>
        </p:txBody>
      </p:sp>
      <p:sp>
        <p:nvSpPr>
          <p:cNvPr id="9" name="Shape 6"/>
          <p:cNvSpPr/>
          <p:nvPr/>
        </p:nvSpPr>
        <p:spPr>
          <a:xfrm>
            <a:off x="4160520" y="1600200"/>
            <a:ext cx="1691640" cy="640080"/>
          </a:xfrm>
          <a:prstGeom prst="roundRect">
            <a:avLst/>
          </a:prstGeom>
          <a:solidFill>
            <a:srgbClr val="FFFFFF"/>
          </a:solidFill>
          <a:ln w="19050">
            <a:solidFill>
              <a:srgbClr val="F47735"/>
            </a:solidFill>
            <a:prstDash val="solid"/>
          </a:ln>
        </p:spPr>
      </p:sp>
      <p:sp>
        <p:nvSpPr>
          <p:cNvPr id="10" name="Text 7"/>
          <p:cNvSpPr/>
          <p:nvPr/>
        </p:nvSpPr>
        <p:spPr>
          <a:xfrm>
            <a:off x="4160520" y="1600200"/>
            <a:ext cx="1691640" cy="640080"/>
          </a:xfrm>
          <a:prstGeom prst="rect">
            <a:avLst/>
          </a:prstGeom>
          <a:noFill/>
          <a:ln/>
        </p:spPr>
        <p:txBody>
          <a:bodyPr wrap="square" lIns="0" tIns="0" rIns="0" bIns="0" rtlCol="0" anchor="ctr"/>
          <a:lstStyle/>
          <a:p>
            <a:pPr algn="ctr" indent="0" marL="0">
              <a:buNone/>
            </a:pPr>
            <a:r>
              <a:rPr lang="en-US" sz="1300" b="1" dirty="0">
                <a:solidFill>
                  <a:srgbClr val="F47735"/>
                </a:solidFill>
                <a:latin typeface="Bahnschrift" pitchFamily="34" charset="0"/>
                <a:ea typeface="Bahnschrift" pitchFamily="34" charset="-122"/>
                <a:cs typeface="Bahnschrift" pitchFamily="34" charset="-120"/>
              </a:rPr>
              <a:t>Trust</a:t>
            </a:r>
            <a:endParaRPr lang="en-US" sz="1300" dirty="0"/>
          </a:p>
        </p:txBody>
      </p:sp>
      <p:sp>
        <p:nvSpPr>
          <p:cNvPr id="11" name="Shape 8"/>
          <p:cNvSpPr/>
          <p:nvPr/>
        </p:nvSpPr>
        <p:spPr>
          <a:xfrm>
            <a:off x="411480" y="5074920"/>
            <a:ext cx="11338560" cy="868680"/>
          </a:xfrm>
          <a:prstGeom prst="roundRect">
            <a:avLst/>
          </a:prstGeom>
          <a:solidFill>
            <a:srgbClr val="002B55"/>
          </a:solidFill>
          <a:ln w="12700">
            <a:solidFill>
              <a:srgbClr val="002B55"/>
            </a:solidFill>
            <a:prstDash val="solid"/>
          </a:ln>
        </p:spPr>
      </p:sp>
      <p:sp>
        <p:nvSpPr>
          <p:cNvPr id="12" name="Text 9"/>
          <p:cNvSpPr/>
          <p:nvPr/>
        </p:nvSpPr>
        <p:spPr>
          <a:xfrm>
            <a:off x="594360" y="5074920"/>
            <a:ext cx="1097280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Bahnschrift" pitchFamily="34" charset="0"/>
                <a:ea typeface="Bahnschrift" pitchFamily="34" charset="-122"/>
                <a:cs typeface="Bahnschrift" pitchFamily="34" charset="-120"/>
              </a:rPr>
              <a:t>Medical Affairs is the steward of trust. AI helps us keep it.</a:t>
            </a:r>
            <a:endParaRPr lang="en-US" sz="2000" dirty="0"/>
          </a:p>
        </p:txBody>
      </p:sp>
      <p:sp>
        <p:nvSpPr>
          <p:cNvPr id="13" name="Shape 10"/>
          <p:cNvSpPr/>
          <p:nvPr/>
        </p:nvSpPr>
        <p:spPr>
          <a:xfrm>
            <a:off x="502920" y="6355080"/>
            <a:ext cx="3383280" cy="347472"/>
          </a:xfrm>
          <a:prstGeom prst="roundRect">
            <a:avLst/>
          </a:prstGeom>
          <a:solidFill>
            <a:srgbClr val="FFFFFF"/>
          </a:solidFill>
          <a:ln w="12700">
            <a:solidFill>
              <a:srgbClr val="FFFFFF">
                <a:alpha val="0"/>
              </a:srgbClr>
            </a:solidFill>
            <a:prstDash val="solid"/>
          </a:ln>
        </p:spPr>
      </p:sp>
      <p:sp>
        <p:nvSpPr>
          <p:cNvPr id="14" name="Shape 11"/>
          <p:cNvSpPr/>
          <p:nvPr/>
        </p:nvSpPr>
        <p:spPr>
          <a:xfrm>
            <a:off x="11018520" y="6336792"/>
            <a:ext cx="640080" cy="384048"/>
          </a:xfrm>
          <a:prstGeom prst="roundRect">
            <a:avLst/>
          </a:prstGeom>
          <a:solidFill>
            <a:srgbClr val="FFFFFF"/>
          </a:solidFill>
          <a:ln w="12700">
            <a:solidFill>
              <a:srgbClr val="FFFFFF">
                <a:alpha val="0"/>
              </a:srgbClr>
            </a:solidFill>
            <a:prstDash val="solid"/>
          </a:ln>
        </p:spPr>
      </p:sp>
      <p:sp>
        <p:nvSpPr>
          <p:cNvPr id="15" name="Text 12"/>
          <p:cNvSpPr/>
          <p:nvPr/>
        </p:nvSpPr>
        <p:spPr>
          <a:xfrm>
            <a:off x="612648" y="6437376"/>
            <a:ext cx="5715000" cy="192024"/>
          </a:xfrm>
          <a:prstGeom prst="rect">
            <a:avLst/>
          </a:prstGeom>
          <a:noFill/>
          <a:ln/>
        </p:spPr>
        <p:txBody>
          <a:bodyPr wrap="square" lIns="0" tIns="0" rIns="0" bIns="0" rtlCol="0" anchor="ctr"/>
          <a:lstStyle/>
          <a:p>
            <a:pPr indent="0" marL="0">
              <a:buNone/>
            </a:pPr>
            <a:r>
              <a:rPr lang="en-US" sz="1050" dirty="0">
                <a:solidFill>
                  <a:srgbClr val="28455F"/>
                </a:solidFill>
                <a:latin typeface="Arial" pitchFamily="34" charset="0"/>
                <a:ea typeface="Arial" pitchFamily="34" charset="-122"/>
                <a:cs typeface="Arial" pitchFamily="34" charset="-120"/>
              </a:rPr>
              <a:t>AI IN ACTION / MEDICAL AFFAIRS</a:t>
            </a:r>
            <a:endParaRPr lang="en-US" sz="1050" dirty="0"/>
          </a:p>
        </p:txBody>
      </p:sp>
      <p:sp>
        <p:nvSpPr>
          <p:cNvPr id="16" name="Shape 13"/>
          <p:cNvSpPr/>
          <p:nvPr/>
        </p:nvSpPr>
        <p:spPr>
          <a:xfrm>
            <a:off x="11100816" y="6382512"/>
            <a:ext cx="466344" cy="283464"/>
          </a:xfrm>
          <a:prstGeom prst="roundRect">
            <a:avLst/>
          </a:prstGeom>
          <a:solidFill>
            <a:srgbClr val="FFFFFF"/>
          </a:solidFill>
          <a:ln w="9525">
            <a:solidFill>
              <a:srgbClr val="C9D6E3"/>
            </a:solidFill>
            <a:prstDash val="solid"/>
          </a:ln>
        </p:spPr>
      </p:sp>
      <p:sp>
        <p:nvSpPr>
          <p:cNvPr id="17" name="Text 14"/>
          <p:cNvSpPr/>
          <p:nvPr/>
        </p:nvSpPr>
        <p:spPr>
          <a:xfrm>
            <a:off x="11100816" y="6400800"/>
            <a:ext cx="466344" cy="256032"/>
          </a:xfrm>
          <a:prstGeom prst="rect">
            <a:avLst/>
          </a:prstGeom>
          <a:noFill/>
          <a:ln/>
        </p:spPr>
        <p:txBody>
          <a:bodyPr wrap="square" lIns="0" tIns="0" rIns="0" bIns="0" rtlCol="0" anchor="ctr"/>
          <a:lstStyle/>
          <a:p>
            <a:pPr algn="ctr" indent="0" marL="0">
              <a:buNone/>
            </a:pPr>
            <a:r>
              <a:rPr lang="en-US" sz="1275" dirty="0">
                <a:solidFill>
                  <a:srgbClr val="28455F"/>
                </a:solidFill>
                <a:latin typeface="Bahnschrift" pitchFamily="34" charset="0"/>
                <a:ea typeface="Bahnschrift" pitchFamily="34" charset="-122"/>
                <a:cs typeface="Bahnschrift" pitchFamily="34" charset="-120"/>
              </a:rPr>
              <a:t>14</a:t>
            </a:r>
            <a:endParaRPr lang="en-US" sz="12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Action — Closing Session</dc:title>
  <dc:subject>Closing Session · AI in Action for Medical Affairs · Convene Philadelphia · Oct 14 2026</dc:subject>
  <dc:creator>Vivek Mukhatyar</dc:creator>
  <cp:lastModifiedBy>Vivek Mukhatyar</cp:lastModifiedBy>
  <cp:revision>1</cp:revision>
  <dcterms:created xsi:type="dcterms:W3CDTF">2026-10-14T13:21:35Z</dcterms:created>
  <dcterms:modified xsi:type="dcterms:W3CDTF">2026-10-14T13:21:35Z</dcterms:modified>
</cp:coreProperties>
</file>