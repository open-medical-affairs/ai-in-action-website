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305" r:id="rId57"/>
    <p:sldId id="268" r:id="rId14"/>
    <p:sldId id="265" r:id="rId11"/>
    <p:sldId id="259" r:id="rId5"/>
    <p:sldId id="281" r:id="rId27"/>
    <p:sldId id="260" r:id="rId6"/>
    <p:sldId id="263" r:id="rId9"/>
    <p:sldId id="299" r:id="rId51"/>
    <p:sldId id="298" r:id="rId50"/>
    <p:sldId id="296" r:id="rId48"/>
    <p:sldId id="300" r:id="rId52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5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4.xml"/><Relationship Id="rId14" Type="http://schemas.openxmlformats.org/officeDocument/2006/relationships/slide" Target="slides/slide3.xml"/><Relationship Id="rId27" Type="http://schemas.openxmlformats.org/officeDocument/2006/relationships/slide" Target="slides/slide6.xml"/><Relationship Id="rId32" Type="http://schemas.openxmlformats.org/officeDocument/2006/relationships/slide" Target="slides/slide13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8" Type="http://schemas.openxmlformats.org/officeDocument/2006/relationships/slide" Target="slides/slide11.xml"/><Relationship Id="rId50" Type="http://schemas.openxmlformats.org/officeDocument/2006/relationships/slide" Target="slides/slide10.xml"/><Relationship Id="rId51" Type="http://schemas.openxmlformats.org/officeDocument/2006/relationships/slide" Target="slides/slide9.xml"/><Relationship Id="rId52" Type="http://schemas.openxmlformats.org/officeDocument/2006/relationships/slide" Target="slides/slide12.xml"/><Relationship Id="rId57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ukhatyar" userId="0325db0cd26ce985" providerId="LiveId" clId="{C2F076DA-27A8-417D-A05E-C65F5A120C5D}"/>
    <pc:docChg chg="undo custSel modSld">
      <pc:chgData name="Vivek Mukhatyar" userId="0325db0cd26ce985" providerId="LiveId" clId="{C2F076DA-27A8-417D-A05E-C65F5A120C5D}" dt="2026-10-08T23:18:42.388" v="10" actId="20577"/>
      <pc:docMkLst>
        <pc:docMk/>
      </pc:docMkLst>
      <pc:sldChg chg="modSp mod">
        <pc:chgData name="Vivek Mukhatyar" userId="0325db0cd26ce985" providerId="LiveId" clId="{C2F076DA-27A8-417D-A05E-C65F5A120C5D}" dt="2026-10-08T23:10:37.202" v="0" actId="1076"/>
        <pc:sldMkLst>
          <pc:docMk/>
          <pc:sldMk cId="76287762" sldId="258"/>
        </pc:sldMkLst>
        <pc:spChg chg="mod">
          <ac:chgData name="Vivek Mukhatyar" userId="0325db0cd26ce985" providerId="LiveId" clId="{C2F076DA-27A8-417D-A05E-C65F5A120C5D}" dt="2026-10-08T23:10:37.202" v="0" actId="1076"/>
          <ac:spMkLst>
            <pc:docMk/>
            <pc:sldMk cId="76287762" sldId="258"/>
            <ac:spMk id="5" creationId="{D12E1EB6-04B4-462A-B459-CD91A446F245}"/>
          </ac:spMkLst>
        </pc:spChg>
      </pc:sldChg>
      <pc:sldChg chg="modSp mod">
        <pc:chgData name="Vivek Mukhatyar" userId="0325db0cd26ce985" providerId="LiveId" clId="{C2F076DA-27A8-417D-A05E-C65F5A120C5D}" dt="2026-10-08T23:18:42.388" v="10" actId="20577"/>
        <pc:sldMkLst>
          <pc:docMk/>
          <pc:sldMk cId="953831724" sldId="291"/>
        </pc:sldMkLst>
        <pc:spChg chg="mod">
          <ac:chgData name="Vivek Mukhatyar" userId="0325db0cd26ce985" providerId="LiveId" clId="{C2F076DA-27A8-417D-A05E-C65F5A120C5D}" dt="2026-10-08T23:18:42.388" v="10" actId="20577"/>
          <ac:spMkLst>
            <pc:docMk/>
            <pc:sldMk cId="953831724" sldId="291"/>
            <ac:spMk id="10" creationId="{E1242166-6221-4116-8F27-F4471634B602}"/>
          </ac:spMkLst>
        </pc:spChg>
      </pc:sldChg>
    </pc:docChg>
  </pc:docChgLst>
</pc:chgInfo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0403-8B8F-4EB6-A12C-4B71459B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00FD8A1-94DC-4C20-BC72-93D5A7C97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E81D71-A886-42D5-8F8C-D69087AC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0ABA4C-D497-4BA7-B12B-EF2467BC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99E49F3-36E4-4335-BEA1-029C705C4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B9FA833-A294-4123-99A5-90EB88E1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CEF442-6C99-4D7E-9993-98D91B4BD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A2A83FB-AC33-48B1-A6E6-724522C7D7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A42188F-75A6-42B6-95DE-9DD09670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7F00D4-A140-4A39-B564-31724724A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2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60" Type="http://schemas.openxmlformats.org/officeDocument/2006/relationships/image" Target="../media/image71.png"/><Relationship Id="rId61" Type="http://schemas.openxmlformats.org/officeDocument/2006/relationships/hyperlink" Target="https://aiinaction.up.railway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aunch-opener.jpg"/>
          <p:cNvPicPr>
            <a:picLocks noChangeAspect="1"/>
          </p:cNvPicPr>
          <p:nvPr/>
        </p:nvPicPr>
        <p:blipFill>
          <a:blip r:embed="rId4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695978-B771-4B13-AA38-501C49D4DFBE}"/>
              </a:ext>
            </a:extLst>
          </p:cNvPr>
          <p:cNvSpPr>
            <a:spLocks noGrp="1"/>
          </p:cNvSpPr>
          <p:nvPr/>
        </p:nvSpPr>
        <p:spPr>
          <a:xfrm>
            <a:off x="609904" y="960120"/>
            <a:ext cx="512064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5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Hack the</a:t>
            </a:r>
          </a:p>
          <a:p>
            <a:pPr algn="l"/>
            <a:r>
              <a:rPr sz="56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901B43-BBC4-4DAE-9A27-A0BDFAEB57D4}"/>
              </a:ext>
            </a:extLst>
          </p:cNvPr>
          <p:cNvSpPr>
            <a:spLocks noGrp="1"/>
          </p:cNvSpPr>
          <p:nvPr/>
        </p:nvSpPr>
        <p:spPr>
          <a:xfrm>
            <a:off x="609904" y="3429000"/>
            <a:ext cx="5120640" cy="2011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</a:pPr>
            <a:r>
              <a:rPr sz="2400" b="1">
                <a:solidFill>
                  <a:srgbClr val="F47735"/>
                </a:solidFill>
                <a:latin typeface="Bahnschrift"/>
                <a:ea typeface="Bahnschrift"/>
                <a:cs typeface="Bahnschrift"/>
              </a:rPr>
              <a:t>Hackathon kickoff</a:t>
            </a:r>
          </a:p>
          <a:p>
            <a:pPr algn="l"/>
            <a:r>
              <a:rPr sz="20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AI in Action · October 13–14, 2026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Convene Philadelphia</a:t>
            </a:r>
          </a:p>
          <a:p>
            <a:pPr algn="l"/>
            <a:r>
              <a:rPr sz="20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Vivek Mukhatyar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889B0-1DF5-4C04-9CB6-D45E1EB4C47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CBAF7B-D28F-4AE5-9BA2-15D12C7B796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B122A-3E6F-4353-8D67-8033E6BC0F3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984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1600200"/>
            <a:ext cx="10972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DISCLOSURE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01" name="Accent rule"/>
          <p:cNvSpPr/>
          <p:nvPr/>
        </p:nvSpPr>
        <p:spPr>
          <a:xfrm>
            <a:off x="5639105" y="2286000"/>
            <a:ext cx="914400" cy="54864"/>
          </a:xfrm>
          <a:prstGeom prst="rect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002" name="Statement"/>
          <p:cNvSpPr/>
          <p:nvPr/>
        </p:nvSpPr>
        <p:spPr>
          <a:xfrm>
            <a:off x="1524305" y="2606040"/>
            <a:ext cx="9144000" cy="1737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3000" b="1" lang="en-US" dirty="0">
                <a:solidFill>
                  <a:srgbClr val="002B55"/>
                </a:solidFill>
                <a:latin typeface="Bahnschrift"/>
              </a:rPr>
              <a:t>The views presented here are my own and do not reflect those of my current employer.</a:t>
            </a:r>
          </a:p>
        </p:txBody>
      </p:sp>
      <p:sp>
        <p:nvSpPr>
          <p:cNvPr id="1003" name="Speaker"/>
          <p:cNvSpPr/>
          <p:nvPr/>
        </p:nvSpPr>
        <p:spPr>
          <a:xfrm>
            <a:off x="1524305" y="4572000"/>
            <a:ext cx="9144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007879"/>
                </a:solidFill>
                <a:latin typeface="Arial"/>
              </a:rPr>
              <a:t>Vivek Mukhatyar</a:t>
            </a:r>
          </a:p>
        </p:txBody>
      </p:sp>
      <p:sp>
        <p:nvSpPr>
          <p:cNvPr id="1004" name="Teal band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4CF685-D052-48E6-9653-6836C645450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C0B5DD-DE70-4E6B-AF33-20C7EB18B30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087B7E-3F72-41BE-BD44-D22C094242E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What is a hack?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1234440"/>
            <a:ext cx="10972800" cy="3931920"/>
          </a:xfrm>
          <a:prstGeom prst="roundRect">
            <a:avLst>
              <a:gd name="adj" fmla="val 4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71600" y="1508760"/>
            <a:ext cx="9692640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hack():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7FD1CF"/>
                </a:solidFill>
                <a:latin typeface="Courier New"/>
                <a:ea typeface="Courier New"/>
                <a:cs typeface="Courier New"/>
              </a:rPr>
              <a:t>    /ˈhak/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1. “an ingenious move”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2. “a shortcut”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i)  </a:t>
            </a:r>
            <a:r>
              <a:rPr sz="2200" b="1">
                <a:solidFill>
                  <a:srgbClr val="F8A47E"/>
                </a:solidFill>
                <a:latin typeface="Courier New"/>
                <a:ea typeface="Courier New"/>
                <a:cs typeface="Courier New"/>
              </a:rPr>
              <a:t>bad </a:t>
            </a:r>
            <a:r>
              <a:rPr sz="2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→ break into systems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ii) </a:t>
            </a:r>
            <a:r>
              <a:rPr sz="2200" b="1">
                <a:solidFill>
                  <a:srgbClr val="7FD1CF"/>
                </a:solidFill>
                <a:latin typeface="Courier New"/>
                <a:ea typeface="Courier New"/>
                <a:cs typeface="Courier New"/>
              </a:rPr>
              <a:t>good</a:t>
            </a:r>
            <a:r>
              <a:rPr sz="2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→ do impressive stuff </a:t>
            </a:r>
            <a:r>
              <a:rPr sz="2200" b="1" u="sng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fast</a:t>
            </a:r>
            <a:r>
              <a:rPr sz="22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54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C9D6E3"/>
                </a:solidFill>
                <a:latin typeface="Arial"/>
                <a:ea typeface="Arial"/>
                <a:cs typeface="Arial"/>
              </a:rPr>
              <a:t>Definition: Sundai Club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" y="5440680"/>
            <a:ext cx="82296" cy="77724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In Medical Affairs, a good hack is a </a:t>
            </a:r>
            <a:r>
              <a:rPr sz="22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clever, safe shortcut</a:t>
            </a:r>
            <a:r>
              <a:rPr sz="2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 — never a way around compliance.</a:t>
            </a:r>
          </a:p>
        </p:txBody>
      </p:sp>
    </p:spTree>
    <p:extLst>
      <p:ext uri="{BB962C8B-B14F-4D97-AF65-F5344CB8AC3E}">
        <p14:creationId xmlns:p14="http://schemas.microsoft.com/office/powerpoint/2010/main" val="176120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3F338A5-D526-40B4-B5F3-11B0CE8D12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9D96BD-E735-4A63-AD00-251293B1603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B2EDF-9D35-46F1-A66C-08D89EB2D28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For the next two days, you are hackers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1234440"/>
            <a:ext cx="7635240" cy="4892040"/>
          </a:xfrm>
          <a:prstGeom prst="roundRect">
            <a:avLst>
              <a:gd name="adj" fmla="val 4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15087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def hacker_vs_engineer():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286000"/>
            <a:ext cx="3794760" cy="2103120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2468880"/>
            <a:ext cx="352044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7FD1CF"/>
                </a:solidFill>
                <a:latin typeface="Courier New"/>
                <a:ea typeface="Courier New"/>
                <a:cs typeface="Courier New"/>
              </a:rPr>
              <a:t>/ˈhakər/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fast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uses structure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flexible, prototypes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46888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7FD1CF"/>
                </a:solidFill>
                <a:latin typeface="Courier New"/>
                <a:ea typeface="Courier New"/>
                <a:cs typeface="Courier New"/>
              </a:rPr>
              <a:t>/ˌenjəˈnir/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meticulous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builds structure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→ stable, robust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262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8A47E"/>
                </a:solidFill>
                <a:latin typeface="Bahnschrift"/>
                <a:ea typeface="Bahnschrift"/>
                <a:cs typeface="Bahnschrift"/>
              </a:rPr>
              <a:t>▲ YOU, FOR TWO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6235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C9D6E3"/>
                </a:solidFill>
                <a:latin typeface="Arial"/>
                <a:ea typeface="Arial"/>
                <a:cs typeface="Arial"/>
              </a:rPr>
              <a:t>Source: Sundai Club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234440"/>
            <a:ext cx="2987344" cy="2148840"/>
          </a:xfrm>
          <a:prstGeom prst="roundRect">
            <a:avLst>
              <a:gd name="adj" fmla="val 6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NOW · DAYS 1–2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Hack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fast. Prove it works.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811512" y="3474720"/>
            <a:ext cx="548640" cy="594360"/>
          </a:xfrm>
          <a:prstGeom prst="downArrow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95360" y="4160520"/>
            <a:ext cx="2987344" cy="1965960"/>
          </a:xfrm>
          <a:prstGeom prst="roundRect">
            <a:avLst>
              <a:gd name="adj" fmla="val 6000"/>
            </a:avLst>
          </a:prstGeom>
          <a:solidFill>
            <a:srgbClr val="D9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LATER</a:t>
            </a:r>
          </a:p>
          <a:p>
            <a:pPr algn="l">
              <a:spcAft>
                <a:spcPts val="200"/>
              </a:spcAft>
            </a:pPr>
            <a:r>
              <a: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Engineer</a:t>
            </a:r>
          </a:p>
          <a:p>
            <a:pPr algn="l"/>
            <a:r>
              <a:rPr sz="1700" b="1">
                <a:solidFill>
                  <a:srgbClr val="002B55"/>
                </a:solidFill>
                <a:latin typeface="Arial"/>
                <a:ea typeface="Arial"/>
                <a:cs typeface="Arial"/>
              </a:rPr>
              <a:t>Harden what works.</a:t>
            </a:r>
          </a:p>
        </p:txBody>
      </p:sp>
    </p:spTree>
    <p:extLst>
      <p:ext uri="{BB962C8B-B14F-4D97-AF65-F5344CB8AC3E}">
        <p14:creationId xmlns:p14="http://schemas.microsoft.com/office/powerpoint/2010/main" val="120597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D200C6-804F-4B6D-B5D3-9F14815572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7CF0A-4536-4D0A-BF9C-260AB3B9945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14000-6B7B-4D3E-9489-DF9A50D5BBB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Two ways to use AI</a:t>
            </a:r>
          </a:p>
        </p:txBody>
      </p:sp>
      <p:pic>
        <p:nvPicPr>
          <p:cNvPr id="13" name="Picture 12" descr="horse-jockey-harness.jpg"/>
          <p:cNvPicPr>
            <a:picLocks noChangeAspect="1"/>
          </p:cNvPicPr>
          <p:nvPr/>
        </p:nvPicPr>
        <p:blipFill>
          <a:blip r:embed="rId3"/>
          <a:srcRect t="7488" b="7488"/>
          <a:stretch>
            <a:fillRect/>
          </a:stretch>
        </p:blipFill>
        <p:spPr>
          <a:xfrm>
            <a:off x="609904" y="1234440"/>
            <a:ext cx="5257800" cy="2514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9904" y="3749039"/>
            <a:ext cx="5257800" cy="205740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EFFICIENCY AI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Do today’s work better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Faster · cheaper · optimized</a:t>
            </a:r>
          </a:p>
        </p:txBody>
      </p:sp>
      <p:pic>
        <p:nvPicPr>
          <p:cNvPr id="15" name="Picture 14" descr="swarm-chariot.jpg"/>
          <p:cNvPicPr>
            <a:picLocks noChangeAspect="1"/>
          </p:cNvPicPr>
          <p:nvPr/>
        </p:nvPicPr>
        <p:blipFill>
          <a:blip r:embed="rId4"/>
          <a:srcRect t="7488" b="7488"/>
          <a:stretch>
            <a:fillRect/>
          </a:stretch>
        </p:blipFill>
        <p:spPr>
          <a:xfrm>
            <a:off x="6324904" y="1234440"/>
            <a:ext cx="5257800" cy="2514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24904" y="3749039"/>
            <a:ext cx="5257800" cy="205740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OPPORTUNITY AI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Do work that was never possible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value · new categories</a:t>
            </a:r>
          </a:p>
        </p:txBody>
      </p:sp>
      <p:sp>
        <p:nvSpPr>
          <p:cNvPr id="17" name="Oval 16"/>
          <p:cNvSpPr/>
          <p:nvPr/>
        </p:nvSpPr>
        <p:spPr>
          <a:xfrm>
            <a:off x="5684824" y="3337560"/>
            <a:ext cx="822960" cy="822960"/>
          </a:xfrm>
          <a:prstGeom prst="ellipse">
            <a:avLst/>
          </a:prstGeom>
          <a:solidFill>
            <a:srgbClr val="002B5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5897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Framework: Nathaniel Whittemore (NLW), </a:t>
            </a:r>
            <a:r>
              <a:rPr sz="1300" b="0" i="1">
                <a:solidFill>
                  <a:srgbClr val="28455F"/>
                </a:solidFill>
                <a:latin typeface="Arial"/>
                <a:ea typeface="Arial"/>
                <a:cs typeface="Arial"/>
              </a:rPr>
              <a:t>The AI Daily Brief</a:t>
            </a:r>
            <a:r>
              <a:rPr sz="13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 podcast</a:t>
            </a:r>
          </a:p>
        </p:txBody>
      </p:sp>
    </p:spTree>
    <p:extLst>
      <p:ext uri="{BB962C8B-B14F-4D97-AF65-F5344CB8AC3E}">
        <p14:creationId xmlns:p14="http://schemas.microsoft.com/office/powerpoint/2010/main" val="154416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F6CB4B-FAF5-4A83-A128-ED3FF233AE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AD448-40D2-4BE1-9420-52CB1D9E02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3D720-7039-431C-86E5-3962528F8309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pic>
        <p:nvPicPr>
          <p:cNvPr id="13" name="Picture 12" descr="workforce.jpg"/>
          <p:cNvPicPr>
            <a:picLocks noChangeAspect="1"/>
          </p:cNvPicPr>
          <p:nvPr/>
        </p:nvPicPr>
        <p:blipFill>
          <a:blip r:embed="rId4"/>
          <a:srcRect l="23792" r="23792"/>
          <a:stretch>
            <a:fillRect/>
          </a:stretch>
        </p:blipFill>
        <p:spPr>
          <a:xfrm>
            <a:off x="6355080" y="0"/>
            <a:ext cx="5836615" cy="6263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904" y="5029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EFFICIENCY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868680"/>
            <a:ext cx="53949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Do your existing work better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2240280"/>
            <a:ext cx="5394960" cy="18288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9904" y="235000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35000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The same work, done faster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" y="3017520"/>
            <a:ext cx="5394960" cy="18288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9904" y="312724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12724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Less effort and spend per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3794760"/>
            <a:ext cx="5394960" cy="18288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9904" y="390448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904488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Optimize the workflows you already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" y="4572000"/>
            <a:ext cx="5394960" cy="18288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9904" y="47548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The foundation of most AI 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" y="5257800"/>
            <a:ext cx="5394960" cy="777240"/>
          </a:xfrm>
          <a:prstGeom prst="rect">
            <a:avLst/>
          </a:prstGeom>
          <a:solidFill>
            <a:srgbClr val="FD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>
            <a:noAutofit/>
          </a:bodyPr>
          <a:lstStyle/>
          <a:p>
            <a:pPr algn="l"/>
            <a:r>
              <a:rPr sz="18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Risk: </a:t>
            </a:r>
            <a:r>
              <a:rPr sz="1800" b="1">
                <a:solidFill>
                  <a:srgbClr val="B4501F"/>
                </a:solidFill>
                <a:latin typeface="Arial"/>
                <a:ea typeface="Arial"/>
                <a:cs typeface="Arial"/>
              </a:rPr>
              <a:t>treating AI as just incremental improvement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5257800"/>
            <a:ext cx="82296" cy="77724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193423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1747B1-FFBA-435A-8439-6FFD9A9C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826604-1EB0-4B9D-9C95-12E755EFD58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F2EAA-1C04-4EA8-AC72-4936EA36D97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2C77E-1D71-4C5A-8D5F-08FB635972D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02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OPPORTUNITY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8686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Unlock what was never possible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" y="2743200"/>
            <a:ext cx="73152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A mindset shift: </a:t>
            </a:r>
            <a:r>
              <a:rPr sz="17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work that was impossible or outside your current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" y="3767328"/>
            <a:ext cx="73152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721608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New categories: </a:t>
            </a:r>
            <a:r>
              <a:rPr sz="17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innovation and value ‘orthogonal’ to your business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" y="4791456"/>
            <a:ext cx="73152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4745736"/>
            <a:ext cx="3429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Race out ahead </a:t>
            </a:r>
            <a:r>
              <a:rPr sz="17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instead of competing on table-stakes efficiency</a:t>
            </a:r>
          </a:p>
        </p:txBody>
      </p:sp>
    </p:spTree>
    <p:extLst>
      <p:ext uri="{BB962C8B-B14F-4D97-AF65-F5344CB8AC3E}">
        <p14:creationId xmlns:p14="http://schemas.microsoft.com/office/powerpoint/2010/main" val="139170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07EED6-ECC8-4C01-870E-0702A6E384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1B6662-8B31-4A43-AA57-0B4F709E32F4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6D22C-28EC-49BA-A635-6267DA26DD68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Not in conflict: opportunity is built on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1143000"/>
            <a:ext cx="10972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>
                <a:solidFill>
                  <a:srgbClr val="F47735"/>
                </a:solidFill>
                <a:latin typeface="Bahnschrift"/>
                <a:ea typeface="Bahnschrift"/>
                <a:cs typeface="Bahnschrift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965960"/>
            <a:ext cx="557784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What might we do now that we never would have considered before?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434340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7879"/>
                </a:solidFill>
                <a:latin typeface="Arial"/>
                <a:ea typeface="Arial"/>
                <a:cs typeface="Arial"/>
              </a:rPr>
              <a:t>— Nathaniel Whittemore (NLW), </a:t>
            </a:r>
            <a:r>
              <a:rPr sz="1600" b="1" i="1">
                <a:solidFill>
                  <a:srgbClr val="007879"/>
                </a:solidFill>
                <a:latin typeface="Arial"/>
                <a:ea typeface="Arial"/>
                <a:cs typeface="Arial"/>
              </a:rPr>
              <a:t>The AI Daily Brief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417320"/>
            <a:ext cx="3749039" cy="182880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OPPORTUNITY AI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on top: new work, new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383280"/>
            <a:ext cx="4846320" cy="182880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>
            <a:no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EFFICIENCY AI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foundation: speed, cost, better processes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303520"/>
            <a:ext cx="5394960" cy="73152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548640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Use both. Build the second on the first.</a:t>
            </a:r>
          </a:p>
        </p:txBody>
      </p:sp>
    </p:spTree>
    <p:extLst>
      <p:ext uri="{BB962C8B-B14F-4D97-AF65-F5344CB8AC3E}">
        <p14:creationId xmlns:p14="http://schemas.microsoft.com/office/powerpoint/2010/main" val="209118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611AFC-60E9-49B8-A1F6-8E28990DC7C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008769-AA8B-4B08-A878-592276EFF2B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8D482-8BDE-4D27-905C-8E76997CA1C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What each looks like in Medical Affairs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904" y="1234440"/>
          <a:ext cx="10972799" cy="48828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68880"/>
                <a:gridCol w="3749039"/>
                <a:gridCol w="47548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ahnschrift"/>
                        </a:rPr>
                        <a:t>Challenge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02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ahnschrift"/>
                        </a:rPr>
                        <a:t>Efficiency AI · do it faster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0078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ahnschrift"/>
                        </a:rPr>
                        <a:t>Opportunity AI · do what wasn’t possible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47735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2B55"/>
                          </a:solidFill>
                          <a:latin typeface="Bahnschrift"/>
                        </a:rPr>
                        <a:t>Publications Brain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Draft and QC abstracts and plain-language summaries faster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A living publication plan that spots gaps and conflicts across every output in real time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DEDE4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2B55"/>
                          </a:solidFill>
                          <a:latin typeface="Bahnschrift"/>
                        </a:rPr>
                        <a:t>Insights Engine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Auto-tag and summarize a quarter of field notes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An always-on insight radar that flags emerging scientific signals and drafts the leadership decision brief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DEDE4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2B55"/>
                          </a:solidFill>
                          <a:latin typeface="Bahnschrift"/>
                        </a:rPr>
                        <a:t>Congress Monitor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Summarize sessions overnight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A swarm that maps what changed in the competitive and evidence landscape and proposes the response plan before you fly home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DEDE4"/>
                    </a:solidFill>
                  </a:tcPr>
                </a:tc>
              </a:tr>
              <a:tr h="107899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2B55"/>
                          </a:solidFill>
                          <a:latin typeface="Bahnschrift"/>
                        </a:rPr>
                        <a:t>Field Intelligence Engine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Pre-call briefs in minutes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2B55"/>
                          </a:solidFill>
                          <a:latin typeface="Arial"/>
                        </a:rPr>
                        <a:t>Every HCP conversation prepared and closed-loop, with coverage gaps found and routed automatically</a:t>
                      </a:r>
                    </a:p>
                  </a:txBody>
                  <a:tcPr marL="164592" marR="164592" marT="54864" marB="54864" anchor="ctr">
                    <a:lnL w="38100">
                      <a:solidFill>
                        <a:srgbClr val="FFFFFF"/>
                      </a:solidFill>
                    </a:lnL>
                    <a:lnR w="381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FDEDE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8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437D4EC-3905-426B-8877-6826505989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3D11E-301C-47DE-9686-13975E170C9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445478-AA4C-45E0-BA51-6E606ADB44B2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Your four challenges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" y="123444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9904" y="1234440"/>
            <a:ext cx="3703320" cy="685800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Publications 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" y="2103120"/>
            <a:ext cx="33375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What to publish, what to stop, and how to keep every output consistent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7544" y="123444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87544" y="1234440"/>
            <a:ext cx="3703320" cy="6858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Insights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8712" y="2103120"/>
            <a:ext cx="33375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Turn a quarter of field records into decisions leadership can act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" y="3749039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09904" y="3749039"/>
            <a:ext cx="3703320" cy="68580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Congress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" y="4617720"/>
            <a:ext cx="33375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The congress just ended. What changed, and what do we do?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7544" y="3749039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87544" y="3749039"/>
            <a:ext cx="3703320" cy="68580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Field Intelligence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8712" y="4617720"/>
            <a:ext cx="333756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Walk into every HCP conversation prepared, and close the loop after</a:t>
            </a:r>
          </a:p>
        </p:txBody>
      </p:sp>
      <p:pic>
        <p:nvPicPr>
          <p:cNvPr id="31" name="Picture 30" descr="build-team.jpg"/>
          <p:cNvPicPr>
            <a:picLocks noChangeAspect="1"/>
          </p:cNvPicPr>
          <p:nvPr/>
        </p:nvPicPr>
        <p:blipFill>
          <a:blip r:embed="rId4"/>
          <a:srcRect l="32663" r="32663"/>
          <a:stretch>
            <a:fillRect/>
          </a:stretch>
        </p:blipFill>
        <p:spPr>
          <a:xfrm>
            <a:off x="8595360" y="1234440"/>
            <a:ext cx="2987344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3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B562396-E406-46D0-AFBF-C2FE281A3D1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D51911-FC8E-4A0E-B78E-9A29A253577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914895-EA7A-4759-A1EE-0458B86AD0E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Day 2: what you’ll present in 20 minutes</a:t>
            </a:r>
          </a:p>
        </p:txBody>
      </p:sp>
      <p:sp>
        <p:nvSpPr>
          <p:cNvPr id="26" name="Pentagon 25"/>
          <p:cNvSpPr/>
          <p:nvPr/>
        </p:nvSpPr>
        <p:spPr>
          <a:xfrm>
            <a:off x="609904" y="1371600"/>
            <a:ext cx="2286000" cy="1051560"/>
          </a:xfrm>
          <a:prstGeom prst="homePlat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Problem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" y="361188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The workflow, and why it hurts today</a:t>
            </a:r>
          </a:p>
        </p:txBody>
      </p:sp>
      <p:sp>
        <p:nvSpPr>
          <p:cNvPr id="29" name="Chevron 28"/>
          <p:cNvSpPr/>
          <p:nvPr/>
        </p:nvSpPr>
        <p:spPr>
          <a:xfrm>
            <a:off x="2781604" y="1371600"/>
            <a:ext cx="2286000" cy="1051560"/>
          </a:xfrm>
          <a:prstGeom prst="chevron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304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1F5C99"/>
                </a:solidFill>
                <a:latin typeface="Bahnschrift"/>
                <a:ea typeface="Bahnschrift"/>
                <a:cs typeface="Bahnschrift"/>
              </a:rPr>
              <a:t>Workflow redesign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3044" y="361188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How the work runs with AI in the loop</a:t>
            </a:r>
          </a:p>
        </p:txBody>
      </p:sp>
      <p:sp>
        <p:nvSpPr>
          <p:cNvPr id="32" name="Chevron 31"/>
          <p:cNvSpPr/>
          <p:nvPr/>
        </p:nvSpPr>
        <p:spPr>
          <a:xfrm>
            <a:off x="4953304" y="1371600"/>
            <a:ext cx="2286000" cy="1051560"/>
          </a:xfrm>
          <a:prstGeom prst="chevron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474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Human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4744" y="361188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Where a person reviews and decides</a:t>
            </a:r>
          </a:p>
        </p:txBody>
      </p:sp>
      <p:sp>
        <p:nvSpPr>
          <p:cNvPr id="35" name="Chevron 34"/>
          <p:cNvSpPr/>
          <p:nvPr/>
        </p:nvSpPr>
        <p:spPr>
          <a:xfrm>
            <a:off x="7125004" y="1371600"/>
            <a:ext cx="2286000" cy="1051560"/>
          </a:xfrm>
          <a:prstGeom prst="chevron">
            <a:avLst/>
          </a:prstGeom>
          <a:solidFill>
            <a:srgbClr val="0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644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0E6E5C"/>
                </a:solidFill>
                <a:latin typeface="Bahnschrift"/>
                <a:ea typeface="Bahnschrift"/>
                <a:cs typeface="Bahnschrift"/>
              </a:rPr>
              <a:t>Swarm orchestration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16444" y="361188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Your agents, working live</a:t>
            </a:r>
          </a:p>
        </p:txBody>
      </p:sp>
      <p:sp>
        <p:nvSpPr>
          <p:cNvPr id="38" name="Chevron 37"/>
          <p:cNvSpPr/>
          <p:nvPr/>
        </p:nvSpPr>
        <p:spPr>
          <a:xfrm>
            <a:off x="9296704" y="1371600"/>
            <a:ext cx="2286000" cy="1051560"/>
          </a:xfrm>
          <a:prstGeom prst="chevron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814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8144" y="3611880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Time saved, cost saved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" y="4434840"/>
            <a:ext cx="10972800" cy="169164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68680" y="4526280"/>
            <a:ext cx="1737360" cy="1508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2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526280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minutes per team on Day 2</a:t>
            </a:r>
          </a:p>
          <a:p>
            <a:pPr algn="l"/>
            <a:r>
              <a:rPr sz="17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Five parts, one story: from the problem to the impact</a:t>
            </a:r>
          </a:p>
        </p:txBody>
      </p:sp>
      <p:pic>
        <p:nvPicPr>
          <p:cNvPr id="44" name="Picture 43" descr="swarm-chariot.jpg"/>
          <p:cNvPicPr>
            <a:picLocks noChangeAspect="1"/>
          </p:cNvPicPr>
          <p:nvPr/>
        </p:nvPicPr>
        <p:blipFill>
          <a:blip r:embed="rId3"/>
          <a:srcRect t="424" b="424"/>
          <a:stretch>
            <a:fillRect/>
          </a:stretch>
        </p:blipFill>
        <p:spPr>
          <a:xfrm>
            <a:off x="8549640" y="4434840"/>
            <a:ext cx="3033064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5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2154F-9987-461E-ADAD-E24881F28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A85202-9FD7-442F-BEBC-AD6BEB2B953C}"/>
              </a:ext>
            </a:extLst>
          </p:cNvPr>
          <p:cNvSpPr>
            <a:spLocks noGrp="1"/>
          </p:cNvSpPr>
          <p:nvPr/>
        </p:nvSpPr>
        <p:spPr>
          <a:xfrm>
            <a:off x="7086600" y="32004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Rules of the hack</a:t>
            </a:r>
          </a:p>
        </p:txBody>
      </p:sp>
      <p:sp>
        <p:nvSpPr>
          <p:cNvPr id="880" name="Footer backing"/>
          <p:cNvSpPr/>
          <p:nvPr/>
        </p:nvSpPr>
        <p:spPr>
          <a:xfrm>
            <a:off x="502920" y="6355080"/>
            <a:ext cx="3291840" cy="347472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B6773-63AC-4BA0-908E-D86C6157F1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500" name="Page backing"/>
          <p:cNvSpPr/>
          <p:nvPr/>
        </p:nvSpPr>
        <p:spPr>
          <a:xfrm>
            <a:off x="11018520" y="6336792"/>
            <a:ext cx="640080" cy="384048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D6512-4E60-47E1-8835-506F0928EB0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A560A-6F60-4397-AA8F-4A30EB309DD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1501" name="Rounded Rectangle 1500"/>
          <p:cNvSpPr/>
          <p:nvPr/>
        </p:nvSpPr>
        <p:spPr>
          <a:xfrm>
            <a:off x="7086600" y="1234440"/>
            <a:ext cx="45720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2" name="Oval 1501"/>
          <p:cNvSpPr/>
          <p:nvPr/>
        </p:nvSpPr>
        <p:spPr>
          <a:xfrm>
            <a:off x="7269480" y="1463040"/>
            <a:ext cx="594360" cy="594360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503" name="TextBox 1502"/>
          <p:cNvSpPr txBox="1"/>
          <p:nvPr/>
        </p:nvSpPr>
        <p:spPr>
          <a:xfrm>
            <a:off x="8046720" y="1417320"/>
            <a:ext cx="347472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Practice data only</a:t>
            </a:r>
          </a:p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Fictional Nordvant Biopharma or your own non-confidential data. </a:t>
            </a:r>
            <a:r>
              <a:rPr sz="1600" b="1">
                <a:solidFill>
                  <a:srgbClr val="B4501F"/>
                </a:solidFill>
                <a:latin typeface="Arial"/>
                <a:ea typeface="Arial"/>
                <a:cs typeface="Arial"/>
              </a:rPr>
              <a:t>Never patient or confidential data.</a:t>
            </a:r>
          </a:p>
        </p:txBody>
      </p:sp>
      <p:sp>
        <p:nvSpPr>
          <p:cNvPr id="1504" name="Rounded Rectangle 1503"/>
          <p:cNvSpPr/>
          <p:nvPr/>
        </p:nvSpPr>
        <p:spPr>
          <a:xfrm>
            <a:off x="7086600" y="301752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5" name="Oval 1504"/>
          <p:cNvSpPr/>
          <p:nvPr/>
        </p:nvSpPr>
        <p:spPr>
          <a:xfrm>
            <a:off x="7269480" y="3246120"/>
            <a:ext cx="594360" cy="594360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06" name="TextBox 1505"/>
          <p:cNvSpPr txBox="1"/>
          <p:nvPr/>
        </p:nvSpPr>
        <p:spPr>
          <a:xfrm>
            <a:off x="8046720" y="320040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Human at the helm, AI in the loop</a:t>
            </a:r>
          </a:p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 person reviews and decides at every gate.</a:t>
            </a:r>
          </a:p>
        </p:txBody>
      </p:sp>
      <p:sp>
        <p:nvSpPr>
          <p:cNvPr id="1507" name="Rounded Rectangle 1506"/>
          <p:cNvSpPr/>
          <p:nvPr/>
        </p:nvSpPr>
        <p:spPr>
          <a:xfrm>
            <a:off x="7086600" y="466344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8" name="Oval 1507"/>
          <p:cNvSpPr/>
          <p:nvPr/>
        </p:nvSpPr>
        <p:spPr>
          <a:xfrm>
            <a:off x="7269480" y="4892040"/>
            <a:ext cx="594360" cy="59436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509" name="TextBox 1508"/>
          <p:cNvSpPr txBox="1"/>
          <p:nvPr/>
        </p:nvSpPr>
        <p:spPr>
          <a:xfrm>
            <a:off x="8046720" y="484632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Ship something that works</a:t>
            </a:r>
          </a:p>
          <a:p>
            <a:pPr algn="l"/>
            <a:r>
              <a:rPr sz="160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Prototype fast. Harden later.</a:t>
            </a:r>
          </a:p>
        </p:txBody>
      </p:sp>
    </p:spTree>
    <p:extLst>
      <p:ext uri="{BB962C8B-B14F-4D97-AF65-F5344CB8AC3E}">
        <p14:creationId xmlns:p14="http://schemas.microsoft.com/office/powerpoint/2010/main" val="199146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70AED14-837C-4EB0-AAE5-60527F3F5C2A}"/>
              </a:ext>
            </a:extLst>
          </p:cNvPr>
          <p:cNvSpPr>
            <a:spLocks noGrp="1"/>
          </p:cNvSpPr>
          <p:nvPr/>
        </p:nvSpPr>
        <p:spPr>
          <a:xfrm>
            <a:off x="609600" y="548640"/>
            <a:ext cx="7863840" cy="1554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>
              <a:def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96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Go.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2E18D-CAC1-4D70-8061-82106F4789B8}"/>
              </a:ext>
            </a:extLst>
          </p:cNvPr>
          <p:cNvSpPr>
            <a:spLocks noGrp="1"/>
          </p:cNvSpPr>
          <p:nvPr/>
        </p:nvSpPr>
        <p:spPr>
          <a:xfrm>
            <a:off x="609600" y="2240280"/>
            <a:ext cx="7863840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Hack for opportunity,</a:t>
            </a:r>
          </a:p>
          <a:p>
            <a:pPr algn="l"/>
            <a:r>
              <a:rPr sz="32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not just efficiency.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37055-E745-4E83-ADFD-96C1B6E9929D}"/>
              </a:ext>
            </a:extLst>
          </p:cNvPr>
          <p:cNvSpPr>
            <a:spLocks noGrp="1"/>
          </p:cNvSpPr>
          <p:nvPr/>
        </p:nvSpPr>
        <p:spPr>
          <a:xfrm>
            <a:off x="60990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>
                <a:solidFill>
                  <a:srgbClr val="007879"/>
                </a:solidFill>
                <a:latin typeface="Bahnschrift"/>
                <a:ea typeface="Bahnschrift"/>
                <a:cs typeface="Bahnschrift"/>
              </a:rPr>
              <a:t>1 · Pick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F73AC-142D-4667-BBFE-2A60BC032651}"/>
              </a:ext>
            </a:extLst>
          </p:cNvPr>
          <p:cNvSpPr>
            <a:spLocks noGrp="1"/>
          </p:cNvSpPr>
          <p:nvPr/>
        </p:nvSpPr>
        <p:spPr>
          <a:xfrm>
            <a:off x="60990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Choose one of the four challenges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66375E-B095-434B-A10D-4181F2A7B25F}"/>
              </a:ext>
            </a:extLst>
          </p:cNvPr>
          <p:cNvSpPr>
            <a:spLocks noGrp="1"/>
          </p:cNvSpPr>
          <p:nvPr/>
        </p:nvSpPr>
        <p:spPr>
          <a:xfrm>
            <a:off x="321594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F4773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2 · Build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3ED01-FC93-4919-9F48-C5693603741C}"/>
              </a:ext>
            </a:extLst>
          </p:cNvPr>
          <p:cNvSpPr>
            <a:spLocks noGrp="1"/>
          </p:cNvSpPr>
          <p:nvPr/>
        </p:nvSpPr>
        <p:spPr>
          <a:xfrm>
            <a:off x="321594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Prototype fast with practice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8BC50-2A65-42B3-BB75-C782C599EE76}"/>
              </a:ext>
            </a:extLst>
          </p:cNvPr>
          <p:cNvSpPr>
            <a:spLocks noGrp="1"/>
          </p:cNvSpPr>
          <p:nvPr/>
        </p:nvSpPr>
        <p:spPr>
          <a:xfrm>
            <a:off x="582198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>
                <a:solidFill>
                  <a:srgbClr val="B4501F"/>
                </a:solidFill>
                <a:latin typeface="Bahnschrift"/>
                <a:ea typeface="Bahnschrift"/>
                <a:cs typeface="Bahnschrift"/>
              </a:rPr>
              <a:t>3 ·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E899D-BA93-40FE-832F-A1CF179645DD}"/>
              </a:ext>
            </a:extLst>
          </p:cNvPr>
          <p:cNvSpPr>
            <a:spLocks noGrp="1"/>
          </p:cNvSpPr>
          <p:nvPr/>
        </p:nvSpPr>
        <p:spPr>
          <a:xfrm>
            <a:off x="582198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>
                <a:solidFill>
                  <a:srgbClr val="002B55"/>
                </a:solidFill>
                <a:latin typeface="Arial"/>
                <a:ea typeface="Arial"/>
                <a:cs typeface="Arial"/>
              </a:rPr>
              <a:t>20 minutes on Day 2, problem to 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1E322-4603-4456-8E4C-4B897B4DCCD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D39031-03CE-4D05-B60A-FB664C929D9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3593BB-A9C8-47DF-804D-2EE224000C6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810" name="Timeline"/>
          <p:cNvSpPr/>
          <p:nvPr/>
        </p:nvSpPr>
        <p:spPr>
          <a:xfrm>
            <a:off x="822960" y="4224528"/>
            <a:ext cx="7223760" cy="54864"/>
          </a:xfrm>
          <a:prstGeom prst="rect">
            <a:avLst/>
          </a:prstGeom>
          <a:solidFill>
            <a:srgbClr val="C9D6E3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1" name="Timeline dot"/>
          <p:cNvSpPr/>
          <p:nvPr/>
        </p:nvSpPr>
        <p:spPr>
          <a:xfrm>
            <a:off x="655625" y="4114800"/>
            <a:ext cx="274320" cy="27432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2" name="Timeline dot"/>
          <p:cNvSpPr/>
          <p:nvPr/>
        </p:nvSpPr>
        <p:spPr>
          <a:xfrm>
            <a:off x="3261665" y="4114800"/>
            <a:ext cx="274320" cy="274320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3" name="Timeline dot"/>
          <p:cNvSpPr/>
          <p:nvPr/>
        </p:nvSpPr>
        <p:spPr>
          <a:xfrm>
            <a:off x="5867705" y="4114800"/>
            <a:ext cx="274320" cy="274320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20" name="QR card"/>
          <p:cNvSpPr/>
          <p:nvPr/>
        </p:nvSpPr>
        <p:spPr>
          <a:xfrm>
            <a:off x="8503920" y="822960"/>
            <a:ext cx="292608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100" name="Website QR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778240" y="1051560"/>
            <a:ext cx="2377440" cy="2377440"/>
          </a:xfrm>
          <a:prstGeom prst="rect">
            <a:avLst/>
          </a:prstGeom>
        </p:spPr>
      </p:pic>
      <p:sp>
        <p:nvSpPr>
          <p:cNvPr id="822" name="QR caption"/>
          <p:cNvSpPr/>
          <p:nvPr/>
        </p:nvSpPr>
        <p:spPr>
          <a:xfrm>
            <a:off x="8595360" y="3611880"/>
            <a:ext cx="2743200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200" b="1" lang="en-US" dirty="0">
                <a:solidFill>
                  <a:srgbClr val="002B55"/>
                </a:solidFill>
                <a:latin typeface="Arial"/>
              </a:rPr>
              <a:t>Scan for the companion website</a:t>
            </a:r>
          </a:p>
          <a:p>
            <a:pPr algn="ctr">
              <a:spcBef>
                <a:spcPts val="300"/>
              </a:spcBef>
            </a:pPr>
            <a:r>
              <a:rPr sz="1200" b="1" lang="en-US" dirty="0">
                <a:solidFill>
                  <a:srgbClr val="007879"/>
                </a:solidFill>
                <a:latin typeface="Arial"/>
                <a:hlinkClick r:id="rId61"/>
              </a:rPr>
              <a:t>aiinaction.up.railway.app</a:t>
            </a:r>
          </a:p>
        </p:txBody>
      </p:sp>
      <p:sp>
        <p:nvSpPr>
          <p:cNvPr id="825" name="QR line"/>
          <p:cNvSpPr/>
          <p:nvPr/>
        </p:nvSpPr>
        <p:spPr>
          <a:xfrm>
            <a:off x="8503920" y="4526280"/>
            <a:ext cx="2926080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300" b="1" lang="en-US" dirty="0">
                <a:solidFill>
                  <a:srgbClr val="007879"/>
                </a:solidFill>
                <a:latin typeface="Arial"/>
              </a:rPr>
              <a:t>Prompts, missions, data and the optimizer</a:t>
            </a:r>
          </a:p>
        </p:txBody>
      </p:sp>
    </p:spTree>
    <p:extLst>
      <p:ext uri="{BB962C8B-B14F-4D97-AF65-F5344CB8AC3E}">
        <p14:creationId xmlns:p14="http://schemas.microsoft.com/office/powerpoint/2010/main" val="286740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6833</Words>
  <Application>Microsoft Office PowerPoint</Application>
  <DocSecurity>0</DocSecurity>
  <PresentationFormat>Widescreen</PresentationFormat>
  <Paragraphs>666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Bahnschrift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Action — Hackathon Kickoff</dc:title>
  <dc:creator>Vivek Mukhatyar</dc:creator>
  <cp:lastModifiedBy>Vivek Mukhatyar</cp:lastModifiedBy>
  <cp:revision>1</cp:revision>
  <dcterms:created xsi:type="dcterms:W3CDTF">2026-10-08T22:58:18Z</dcterms:created>
  <dcterms:modified xsi:type="dcterms:W3CDTF">2026-10-08T23:18:51Z</dcterms:modified>
</cp:coreProperties>
</file>