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3" d="100"/>
          <a:sy n="83" d="100"/>
        </p:scale>
        <p:origin x="572"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vek Mukhatyar" userId="0325db0cd26ce985" providerId="LiveId" clId="{C2F076DA-27A8-417D-A05E-C65F5A120C5D}"/>
    <pc:docChg chg="undo custSel modSld">
      <pc:chgData name="Vivek Mukhatyar" userId="0325db0cd26ce985" providerId="LiveId" clId="{C2F076DA-27A8-417D-A05E-C65F5A120C5D}" dt="2026-10-08T23:18:42.388" v="10" actId="20577"/>
      <pc:docMkLst>
        <pc:docMk/>
      </pc:docMkLst>
      <pc:sldChg chg="modSp mod">
        <pc:chgData name="Vivek Mukhatyar" userId="0325db0cd26ce985" providerId="LiveId" clId="{C2F076DA-27A8-417D-A05E-C65F5A120C5D}" dt="2026-10-08T23:10:37.202" v="0" actId="1076"/>
        <pc:sldMkLst>
          <pc:docMk/>
          <pc:sldMk cId="76287762" sldId="258"/>
        </pc:sldMkLst>
        <pc:spChg chg="mod">
          <ac:chgData name="Vivek Mukhatyar" userId="0325db0cd26ce985" providerId="LiveId" clId="{C2F076DA-27A8-417D-A05E-C65F5A120C5D}" dt="2026-10-08T23:10:37.202" v="0" actId="1076"/>
          <ac:spMkLst>
            <pc:docMk/>
            <pc:sldMk cId="76287762" sldId="258"/>
            <ac:spMk id="5" creationId="{D12E1EB6-04B4-462A-B459-CD91A446F245}"/>
          </ac:spMkLst>
        </pc:spChg>
      </pc:sldChg>
      <pc:sldChg chg="modSp mod">
        <pc:chgData name="Vivek Mukhatyar" userId="0325db0cd26ce985" providerId="LiveId" clId="{C2F076DA-27A8-417D-A05E-C65F5A120C5D}" dt="2026-10-08T23:18:42.388" v="10" actId="20577"/>
        <pc:sldMkLst>
          <pc:docMk/>
          <pc:sldMk cId="953831724" sldId="291"/>
        </pc:sldMkLst>
        <pc:spChg chg="mod">
          <ac:chgData name="Vivek Mukhatyar" userId="0325db0cd26ce985" providerId="LiveId" clId="{C2F076DA-27A8-417D-A05E-C65F5A120C5D}" dt="2026-10-08T23:18:42.388" v="10" actId="20577"/>
          <ac:spMkLst>
            <pc:docMk/>
            <pc:sldMk cId="953831724" sldId="291"/>
            <ac:spMk id="10" creationId="{E1242166-6221-4116-8F27-F4471634B60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8455F"/>
                </a:solidFill>
                <a:latin typeface="Arial"/>
              </a:rPr>
              <a:t>Hours per cycle · ILLUSTRATIVE, replace</a:t>
            </a:r>
          </a:p>
        </c:rich>
      </c:tx>
      <c:layout/>
      <c:overlay val="0"/>
    </c:title>
    <c:autoTitleDeleted val="0"/>
    <c:plotArea>
      <c:barChart>
        <c:barDir val="col"/>
        <c:grouping val="clustered"/>
        <c:ser>
          <c:idx val="0"/>
          <c:order val="0"/>
          <c:tx>
            <c:strRef>
              <c:f>Sheet1!$B$1</c:f>
              <c:strCache>
                <c:ptCount val="1"/>
                <c:pt idx="0">
                  <c:v>Hours per cycle</c:v>
                </c:pt>
              </c:strCache>
            </c:strRef>
          </c:tx>
          <c:dPt>
            <c:idx val="0"/>
            <c:spPr>
              <a:solidFill>
                <a:srgbClr val="28455F"/>
              </a:solidFill>
            </c:spPr>
          </c:dPt>
          <c:dPt>
            <c:idx val="1"/>
            <c:spPr>
              <a:solidFill>
                <a:srgbClr val="007879"/>
              </a:solidFill>
            </c:spPr>
          </c:dPt>
          <c:cat>
            <c:strRef>
              <c:f>Sheet1!$A$2:$A$3</c:f>
              <c:strCache>
                <c:ptCount val="2"/>
                <c:pt idx="0">
                  <c:v>Today</c:v>
                </c:pt>
                <c:pt idx="1">
                  <c:v>AI-assisted</c:v>
                </c:pt>
              </c:strCache>
            </c:strRef>
          </c:cat>
          <c:val>
            <c:numRef>
              <c:f>Sheet1!$B$2:$B$3</c:f>
              <c:numCache>
                <c:formatCode>General</c:formatCode>
                <c:ptCount val="2"/>
                <c:pt idx="0">
                  <c:v>10</c:v>
                </c:pt>
                <c:pt idx="1">
                  <c:v>3</c:v>
                </c:pt>
              </c:numCache>
            </c:numRef>
          </c:val>
        </c:ser>
        <c:dLbls>
          <c:numFmt formatCode="0&quot; h&quot;" sourceLinked="0"/>
          <c:txPr>
            <a:bodyPr/>
            <a:lstStyle/>
            <a:p>
              <a:pPr>
                <a:defRPr sz="1600" b="1">
                  <a:solidFill>
                    <a:srgbClr val="002B55"/>
                  </a:solidFill>
                </a:defRPr>
              </a:pPr>
            </a:p>
          </c:txPr>
          <c:dLblPos val="outEnd"/>
          <c:showLegendKey val="0"/>
          <c:showVal val="1"/>
          <c:showCatName val="0"/>
          <c:showSerName val="0"/>
          <c:showPercent val="0"/>
          <c:showBubbleSize val="0"/>
          <c:showLeaderLines val="1"/>
        </c:dLbls>
        <c:gapWidth val="70"/>
        <c:axId val="1"/>
        <c:axId val="2"/>
      </c:barChart>
      <c:catAx>
        <c:axId val="1"/>
        <c:scaling>
          <c:orientation val="minMax"/>
        </c:scaling>
        <c:delete val="0"/>
        <c:axPos val="b"/>
        <c:majorTickMark val="out"/>
        <c:minorTickMark val="none"/>
        <c:tickLblPos val="nextTo"/>
        <c:txPr>
          <a:bodyPr/>
          <a:lstStyle/>
          <a:p>
            <a:pPr>
              <a:defRPr sz="1300" b="1">
                <a:solidFill>
                  <a:srgbClr val="002B55"/>
                </a:solidFill>
              </a:defRPr>
            </a:pPr>
          </a:p>
        </c:txPr>
        <c:crossAx val="2"/>
        <c:crosses val="autoZero"/>
        <c:auto val="1"/>
        <c:lblAlgn val="ctr"/>
        <c:lblOffset val="100"/>
        <c:noMultiLvlLbl val="0"/>
      </c:catAx>
      <c:valAx>
        <c:axId val="2"/>
        <c:scaling>
          <c:min val="0.0"/>
        </c:scaling>
        <c:delete val="0"/>
        <c:axPos val="l"/>
        <c:majorGridlines>
          <c:spPr>
            <a:ln>
              <a:solidFill>
                <a:srgbClr val="E2E8F0"/>
              </a:solidFill>
            </a:ln>
          </c:spPr>
        </c:majorGridlines>
        <c:majorTickMark val="out"/>
        <c:minorTickMark val="none"/>
        <c:tickLblPos val="nextTo"/>
        <c:spPr>
          <a:ln>
            <a:noFill/>
          </a:ln>
        </c:spPr>
        <c:txPr>
          <a:bodyPr/>
          <a:lstStyle/>
          <a:p>
            <a:pPr>
              <a:defRPr sz="1100">
                <a:solidFill>
                  <a:srgbClr val="8A9BAA"/>
                </a:solidFill>
              </a:defRPr>
            </a:pPr>
          </a:p>
        </c:txPr>
        <c:crossAx val="1"/>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(whole talk: about 20 minutes, give or take, including a few questions).</a:t>
            </a:r>
          </a:p>
          <a:p>
            <a:r>
              <a:t>FILL IN: team name, vertical (01 Publications Brain / 02 Insights Engine / 03 Congress Monitor / 04 Field Intelligence Engine), one line saying what your AI workforce does and for whom, presenter names.</a:t>
            </a:r>
          </a:p>
          <a:p>
            <a:r>
              <a:t>SAY: who you are and the one-sentence promise. Do not explain the agenda.</a:t>
            </a:r>
          </a:p>
          <a:p>
            <a:r>
              <a:t>NOTE: this template is generic and disclosure-free; add your own company disclosure only if your organisation requires one. The hidden last slide is a guide for building the deck; delete it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1:30.</a:t>
            </a:r>
          </a:p>
          <a:p>
            <a:r>
              <a:t>FILL IN: the problem statement in the panel (use the pattern: When [role] needs [outcome], today it takes [time] because [cause]). Then the three numbers on the right: hours per cycle, cycles per year, roles involved. Use your own team estimates; label them as estimates.</a:t>
            </a:r>
          </a:p>
          <a:p>
            <a:r>
              <a:t>SAY: make the room feel the pain with one concrete moment (e.g. the night before a leadership meeting). Keep the slide under 25 words of your own.</a:t>
            </a:r>
          </a:p>
          <a:p>
            <a:r>
              <a:t>TIP: the title should be a claim, not a label. 'Leadership hears about field signals six weeks late' beats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1:30.</a:t>
            </a:r>
          </a:p>
          <a:p>
            <a:r>
              <a:t>FILL IN: rename the four lanes with the real roles (e.g. MSL, insights lead, agency, medical director). Rename the seven step boxes with what really happens today, left to right in time order; move or delete boxes so each sits in the lane of the person who does it. Put your three biggest pain points in the orange boxes (where time is lost, where errors creep in, where people wait).</a:t>
            </a:r>
          </a:p>
          <a:p>
            <a:r>
              <a:t>SAY: walk the flow once, slowly, and point at the hand-offs (every vertical line is somebody waiting). Keep the step labels to 2-4 words.</a:t>
            </a:r>
          </a:p>
          <a:p>
            <a:r>
              <a:t>SOURCE: your ideation block on Day 1 (today's-workflow map in the capture log).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a:t>
            </a:r>
          </a:p>
          <a:p>
            <a:r>
              <a:t>FILL IN: the same work, redesigned. Lane 1 is the human owner, lane 2 the lead agent, lane 3 the sub-agents working in parallel, lane 4 the reviewer. Rename each box; keep the two orange diamonds where your human gates sit (they must match slide 5). Fill the before/after strip at the bottom with your own estimates.</a:t>
            </a:r>
          </a:p>
          <a:p>
            <a:r>
              <a:t>SAY: show what moved from people to agents and what stayed with people. Point out the parallel work in lane 3 and the two gates.</a:t>
            </a:r>
          </a:p>
          <a:p>
            <a:r>
              <a:t>TIP: if a box still needs a person, keep it in a human lane. Honesty here earns trust.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1:30.</a:t>
            </a:r>
          </a:p>
          <a:p>
            <a:r>
              <a:t>FILL IN: for each gate say where it sits (after which step), who decides (a role, not a name), what they see (the evidence pack the agent prepares), why it must be a human (judgment, compliance, safety, accountability) and what happens if they reject it.</a:t>
            </a:r>
          </a:p>
          <a:p>
            <a:r>
              <a:t>SAY: this is the slide that earns trust with Medical Affairs leaders. Be specific: 'the medical director approves the three insights and their confidence before the brief is written'.</a:t>
            </a:r>
          </a:p>
          <a:p>
            <a:r>
              <a:t>KEEP: the always-on safety stop at the bottom; it applies to every vertical.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a:t>
            </a:r>
          </a:p>
          <a:p>
            <a:r>
              <a:t>FILL IN: the human owner (top, orange), the lead agent and its lead skill (navy), and 3-5 sub-agents. For each sub-agent give a name, the skill(s) it loads from the Medical-Affairs-Skills library (or a skill you made with the Skill creator) and the hand-off it passes on. Delete a column if you have three sub-agents; copy one if you have five. Keep the independent checker reporting to the human, not the lead.</a:t>
            </a:r>
          </a:p>
          <a:p>
            <a:r>
              <a:t>SAY: one sentence per worker: 'The Safety Sentinel reads every record first and stops the run if it finds an adverse event.'</a:t>
            </a:r>
          </a:p>
          <a:p>
            <a:r>
              <a:t>LINKS: skills list https://aiinaction.up.railway.app/skills ; mission org charts https://aiinaction.up.railway.app/missions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4:00 (the centrepiece; rehearse it twice).</a:t>
            </a:r>
          </a:p>
          <a:p>
            <a:r>
              <a:t>FILL IN: paste two screenshots into the dashed frames (1: the assignment and the agent's plan; 2: the sub-agents' outputs or the final deliverable). Fill the run-of-show with what you will show at each minute.</a:t>
            </a:r>
          </a:p>
          <a:p>
            <a:r>
              <a:t>DO: run live only if it is fast and reliable; otherwise show the screenshots or a 60-90 second screen recording made on Day 1. Zoom the browser to 150% so the room can read it.</a:t>
            </a:r>
          </a:p>
          <a:p>
            <a:r>
              <a:t>SAY: narrate the hand-offs and stop at the human gate: 'Here the agent stops and asks us to approve...'.</a:t>
            </a:r>
          </a:p>
          <a:p>
            <a:r>
              <a:t>BACKUP: always have the screenshots ready; Wi-Fi fails at the worst moment.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1:30.</a:t>
            </a:r>
          </a:p>
          <a:p>
            <a:r>
              <a:t>FILL IN: your own estimates from the impact worksheet. Baseline hours per cycle (today), AI-assisted hours per cycle INCLUDING human review time, cycles per year, and a loaded hourly rate your team agrees on. Annual hours saved = (baseline - AI-assisted) x cycles per year. Annual value = hours saved x loaded rate.</a:t>
            </a:r>
          </a:p>
          <a:p>
            <a:r>
              <a:t>CHART: right-click the chart &gt; Edit Data and replace the two ILLUSTRATIVE values (10 and 3) with your numbers. Then delete the word ILLUSTRATIVE from the chart title.</a:t>
            </a:r>
          </a:p>
          <a:p>
            <a:r>
              <a:t>SAY: say clearly that these are estimates from the team, not measured results, and that the practice data are fictional. Mention one benefit that is not hours (speed, coverage, consistency).</a:t>
            </a:r>
          </a:p>
          <a:p>
            <a:r>
              <a:t>FORMULA: (baseline h - AI-assisted h) x cycles/yr x loaded rate = annual value.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a:t>
            </a:r>
          </a:p>
          <a:p>
            <a:r>
              <a:t>FILL IN: what your swarm may do on its own (green), what it may do but must flag (yellow), and what only a human may do (red). Then your top three risks and the guardrail you built for each (e.g. 'Invented citation' -&gt; 'citation-integrity check + source IDs on every claim').</a:t>
            </a:r>
          </a:p>
          <a:p>
            <a:r>
              <a:t>THINK ABOUT: safety findings in the data, off-label questions, invented sources, confidential data, anything leaving the building, bias in which HCPs or insights get attention.</a:t>
            </a:r>
          </a:p>
          <a:p>
            <a:r>
              <a:t>SAY: one breath per lane, then the risk you worried about most.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a:t>
            </a:r>
          </a:p>
          <a:p>
            <a:r>
              <a:t>FILL IN: left = Efficiency AI (today's work, done faster: name the task and the time it no longer takes). Right = Opportunity AI (something your team could not do before at all, e.g. reading every congress session instead of the top ten, a brief before every HCP call instead of the top 20 KOLs, insights every week instead of every quarter). Name who benefits.</a:t>
            </a:r>
          </a:p>
          <a:p>
            <a:r>
              <a:t>SAY: spend most of the minute on the right-hand side. That is what leadership remembers.</a:t>
            </a:r>
          </a:p>
          <a:p>
            <a:r>
              <a:t>TIP: the Opportunity idea should be specific enough that someone could pilot it next quarter.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a:t>
            </a:r>
          </a:p>
          <a:p>
            <a:r>
              <a:t>FILL IN: one concrete action per horizon with an owner (role), and what you need from the room: a sponsor, access to non-confidential data, a compliance conversation, a pilot team.</a:t>
            </a:r>
          </a:p>
          <a:p>
            <a:r>
              <a:t>SAY: end with the ask. 'We need one brand team and four weeks of de-identified field notes to pilot this' is a good ask.</a:t>
            </a:r>
          </a:p>
          <a:p>
            <a:r>
              <a:t>KEEP: honest about what is not built yet.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to thank, then a few minutes of questions (whole talk about 20 minutes, give or take).</a:t>
            </a:r>
          </a:p>
          <a:p>
            <a:r>
              <a:t>FILL IN: team name, vertical, every member's name.</a:t>
            </a:r>
          </a:p>
          <a:p>
            <a:r>
              <a:t>KEEP: the fictional-data line if you used the practice data. If you used your own non-confidential data, replace it with: 'Our own non-confidential data; outputs are drafts for qualified human review.'</a:t>
            </a:r>
          </a:p>
          <a:p>
            <a:r>
              <a:t>QUESTIONS PREP: decide now who answers questions on (1) the human gates, (2) the impact numbers, (3) what it would take to pilot.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hidden and will not show in Slide Show. It is a guide for the team and its agent. Delete it before you share the deck.</a:t>
            </a:r>
          </a:p>
          <a:p>
            <a:r>
              <a:t>Agent instructions: see final-presentation-agent-instructions.md in the hackathon pack (https://aiinaction.up.railway.app).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2E40403-8B8F-4EB6-A12C-4B71459B136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100FD8A1-94DC-4C20-BC72-93D5A7C97D4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FE81D71-A886-42D5-8F8C-D69087ACBF8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90ABA4C-D497-4BA7-B12B-EF2467BCC7C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99E49F3-36E4-4335-BEA1-029C705C42B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B9FA833-A294-4123-99A5-90EB88E1E2B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BCEF442-6C99-4D7E-9993-98D91B4BDD6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AA2A83FB-AC33-48B1-A6E6-724522C7D72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A42188F-75A6-42B6-95DE-9DD096709E5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B7F00D4-A140-4A39-B564-31724724A77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ro-titl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12648" y="914400"/>
            <a:ext cx="5120640" cy="365760"/>
          </a:xfrm>
          <a:prstGeom prst="rect">
            <a:avLst/>
          </a:prstGeom>
          <a:noFill/>
        </p:spPr>
        <p:txBody>
          <a:bodyPr wrap="square" lIns="36576" rIns="36576" tIns="18288" bIns="18288" anchor="t">
            <a:spAutoFit/>
          </a:bodyPr>
          <a:lstStyle/>
          <a:p>
            <a:pPr algn="l"/>
            <a:r>
              <a:rPr sz="1300" b="1" i="0">
                <a:solidFill>
                  <a:srgbClr val="007879"/>
                </a:solidFill>
                <a:latin typeface="Bahnschrift"/>
              </a:rPr>
              <a:t>AI IN ACTION HACKATHON · FINAL PRESENTATION</a:t>
            </a:r>
          </a:p>
        </p:txBody>
      </p:sp>
      <p:sp>
        <p:nvSpPr>
          <p:cNvPr id="4" name="TextBox 3"/>
          <p:cNvSpPr txBox="1"/>
          <p:nvPr/>
        </p:nvSpPr>
        <p:spPr>
          <a:xfrm>
            <a:off x="612648" y="1325880"/>
            <a:ext cx="5120640" cy="1280160"/>
          </a:xfrm>
          <a:prstGeom prst="rect">
            <a:avLst/>
          </a:prstGeom>
          <a:noFill/>
        </p:spPr>
        <p:txBody>
          <a:bodyPr wrap="square" lIns="36576" rIns="36576" tIns="18288" bIns="18288" anchor="ctr">
            <a:spAutoFit/>
          </a:bodyPr>
          <a:lstStyle/>
          <a:p>
            <a:pPr algn="l"/>
            <a:r>
              <a:rPr sz="4400" b="1" i="0">
                <a:solidFill>
                  <a:srgbClr val="002B55"/>
                </a:solidFill>
                <a:latin typeface="Bahnschrift"/>
              </a:rPr>
              <a:t>[Team name]</a:t>
            </a:r>
          </a:p>
        </p:txBody>
      </p:sp>
      <p:sp>
        <p:nvSpPr>
          <p:cNvPr id="5" name="TextBox 4"/>
          <p:cNvSpPr txBox="1"/>
          <p:nvPr/>
        </p:nvSpPr>
        <p:spPr>
          <a:xfrm>
            <a:off x="612648" y="2651760"/>
            <a:ext cx="4572000" cy="457200"/>
          </a:xfrm>
          <a:prstGeom prst="rect">
            <a:avLst/>
          </a:prstGeom>
          <a:noFill/>
        </p:spPr>
        <p:txBody>
          <a:bodyPr wrap="square" lIns="36576" rIns="36576" tIns="18288" bIns="18288" anchor="t">
            <a:spAutoFit/>
          </a:bodyPr>
          <a:lstStyle/>
          <a:p>
            <a:pPr algn="l"/>
            <a:r>
              <a:rPr sz="2000" b="1" i="0">
                <a:solidFill>
                  <a:srgbClr val="007879"/>
                </a:solidFill>
                <a:latin typeface="Bahnschrift"/>
              </a:rPr>
              <a:t>[Vertical: e.g. 02 · Insights Engine]</a:t>
            </a:r>
          </a:p>
        </p:txBody>
      </p:sp>
      <p:sp>
        <p:nvSpPr>
          <p:cNvPr id="6" name="TextBox 5"/>
          <p:cNvSpPr txBox="1"/>
          <p:nvPr/>
        </p:nvSpPr>
        <p:spPr>
          <a:xfrm>
            <a:off x="612648" y="3200400"/>
            <a:ext cx="4480560" cy="914400"/>
          </a:xfrm>
          <a:prstGeom prst="rect">
            <a:avLst/>
          </a:prstGeom>
          <a:noFill/>
        </p:spPr>
        <p:txBody>
          <a:bodyPr wrap="square" lIns="36576" rIns="36576" tIns="18288" bIns="18288" anchor="t">
            <a:spAutoFit/>
          </a:bodyPr>
          <a:lstStyle/>
          <a:p>
            <a:pPr algn="l"/>
            <a:r>
              <a:rPr sz="1800" b="0" i="0">
                <a:solidFill>
                  <a:srgbClr val="002B55"/>
                </a:solidFill>
                <a:latin typeface="Arial"/>
              </a:rPr>
              <a:t>[One line: what your AI workforce does, for whom]</a:t>
            </a:r>
          </a:p>
        </p:txBody>
      </p:sp>
      <p:sp>
        <p:nvSpPr>
          <p:cNvPr id="7" name="Rectangle 6"/>
          <p:cNvSpPr/>
          <p:nvPr/>
        </p:nvSpPr>
        <p:spPr>
          <a:xfrm>
            <a:off x="612648" y="4343400"/>
            <a:ext cx="73152" cy="914400"/>
          </a:xfrm>
          <a:prstGeom prst="rect">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822960" y="4315968"/>
            <a:ext cx="4754880" cy="1005840"/>
          </a:xfrm>
          <a:prstGeom prst="rect">
            <a:avLst/>
          </a:prstGeom>
          <a:noFill/>
        </p:spPr>
        <p:txBody>
          <a:bodyPr wrap="square" lIns="36576" rIns="36576" tIns="18288" bIns="18288" anchor="t">
            <a:spAutoFit/>
          </a:bodyPr>
          <a:lstStyle/>
          <a:p>
            <a:pPr algn="l">
              <a:spcAft>
                <a:spcPts val="400"/>
              </a:spcAft>
            </a:pPr>
            <a:r>
              <a:rPr sz="1500" b="0" i="0">
                <a:solidFill>
                  <a:srgbClr val="28455F"/>
                </a:solidFill>
                <a:latin typeface="Arial"/>
              </a:rPr>
              <a:t>[Presenter 1] · [Presenter 2] · [Presenter 3]</a:t>
            </a:r>
          </a:p>
          <a:p>
            <a:pPr algn="l">
              <a:spcAft>
                <a:spcPts val="400"/>
              </a:spcAft>
            </a:pPr>
            <a:r>
              <a:rPr sz="1500" b="0" i="0">
                <a:solidFill>
                  <a:srgbClr val="28455F"/>
                </a:solidFill>
                <a:latin typeface="Arial"/>
              </a:rPr>
              <a:t>October 14, 2026 · Philadelphia</a:t>
            </a:r>
          </a:p>
        </p:txBody>
      </p:sp>
      <p:sp>
        <p:nvSpPr>
          <p:cNvPr id="9" name="TextBox 8"/>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2800" b="1" i="0">
                <a:solidFill>
                  <a:srgbClr val="002B55"/>
                </a:solidFill>
                <a:latin typeface="Bahnschrift"/>
              </a:rPr>
              <a:t>[The problem in one sentence: who loses what, how often]</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02</a:t>
            </a:r>
          </a:p>
        </p:txBody>
      </p:sp>
      <p:sp>
        <p:nvSpPr>
          <p:cNvPr id="5" name="Rounded Rectangle 4"/>
          <p:cNvSpPr/>
          <p:nvPr/>
        </p:nvSpPr>
        <p:spPr>
          <a:xfrm>
            <a:off x="612648" y="1463040"/>
            <a:ext cx="6675120" cy="3200400"/>
          </a:xfrm>
          <a:prstGeom prst="roundRect">
            <a:avLst>
              <a:gd name="adj" fmla="val 6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Rectangle 5"/>
          <p:cNvSpPr/>
          <p:nvPr/>
        </p:nvSpPr>
        <p:spPr>
          <a:xfrm>
            <a:off x="612648" y="1463040"/>
            <a:ext cx="109728" cy="3200400"/>
          </a:xfrm>
          <a:prstGeom prst="rect">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TextBox 6"/>
          <p:cNvSpPr txBox="1"/>
          <p:nvPr/>
        </p:nvSpPr>
        <p:spPr>
          <a:xfrm>
            <a:off x="960120" y="1691640"/>
            <a:ext cx="6126480" cy="365760"/>
          </a:xfrm>
          <a:prstGeom prst="rect">
            <a:avLst/>
          </a:prstGeom>
          <a:noFill/>
        </p:spPr>
        <p:txBody>
          <a:bodyPr wrap="square" lIns="36576" rIns="36576" tIns="18288" bIns="18288" anchor="t">
            <a:spAutoFit/>
          </a:bodyPr>
          <a:lstStyle/>
          <a:p>
            <a:pPr algn="l"/>
            <a:r>
              <a:rPr sz="1300" b="1" i="0">
                <a:solidFill>
                  <a:srgbClr val="007879"/>
                </a:solidFill>
                <a:latin typeface="Bahnschrift"/>
              </a:rPr>
              <a:t>PROBLEM STATEMENT</a:t>
            </a:r>
          </a:p>
        </p:txBody>
      </p:sp>
      <p:sp>
        <p:nvSpPr>
          <p:cNvPr id="8" name="TextBox 7"/>
          <p:cNvSpPr txBox="1"/>
          <p:nvPr/>
        </p:nvSpPr>
        <p:spPr>
          <a:xfrm>
            <a:off x="960120" y="2103120"/>
            <a:ext cx="6126480" cy="2377440"/>
          </a:xfrm>
          <a:prstGeom prst="rect">
            <a:avLst/>
          </a:prstGeom>
          <a:noFill/>
        </p:spPr>
        <p:txBody>
          <a:bodyPr wrap="square" lIns="36576" rIns="36576" tIns="18288" bIns="18288" anchor="t">
            <a:spAutoFit/>
          </a:bodyPr>
          <a:lstStyle/>
          <a:p>
            <a:pPr algn="l">
              <a:spcAft>
                <a:spcPts val="600"/>
              </a:spcAft>
            </a:pPr>
            <a:r>
              <a:rPr sz="2600" b="1" i="0">
                <a:solidFill>
                  <a:srgbClr val="002B55"/>
                </a:solidFill>
                <a:latin typeface="Bahnschrift"/>
              </a:rPr>
              <a:t>When [role] needs [outcome],</a:t>
            </a:r>
          </a:p>
          <a:p>
            <a:pPr algn="l">
              <a:spcAft>
                <a:spcPts val="600"/>
              </a:spcAft>
            </a:pPr>
            <a:r>
              <a:rPr sz="2600" b="1" i="0">
                <a:solidFill>
                  <a:srgbClr val="002B55"/>
                </a:solidFill>
                <a:latin typeface="Bahnschrift"/>
              </a:rPr>
              <a:t>today it takes [time]</a:t>
            </a:r>
          </a:p>
          <a:p>
            <a:pPr algn="l">
              <a:spcAft>
                <a:spcPts val="600"/>
              </a:spcAft>
            </a:pPr>
            <a:r>
              <a:rPr sz="2600" b="1" i="0">
                <a:solidFill>
                  <a:srgbClr val="002B55"/>
                </a:solidFill>
                <a:latin typeface="Bahnschrift"/>
              </a:rPr>
              <a:t>because [root cause].</a:t>
            </a:r>
          </a:p>
        </p:txBody>
      </p:sp>
      <p:sp>
        <p:nvSpPr>
          <p:cNvPr id="9" name="Rounded Rectangle 8"/>
          <p:cNvSpPr/>
          <p:nvPr/>
        </p:nvSpPr>
        <p:spPr>
          <a:xfrm>
            <a:off x="7635240" y="1463040"/>
            <a:ext cx="3950208" cy="960120"/>
          </a:xfrm>
          <a:prstGeom prst="roundRect">
            <a:avLst>
              <a:gd name="adj" fmla="val 8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7772400" y="1536192"/>
            <a:ext cx="1737360" cy="822960"/>
          </a:xfrm>
          <a:prstGeom prst="rect">
            <a:avLst/>
          </a:prstGeom>
          <a:noFill/>
        </p:spPr>
        <p:txBody>
          <a:bodyPr wrap="square" lIns="36576" rIns="36576" tIns="18288" bIns="18288" anchor="ctr">
            <a:spAutoFit/>
          </a:bodyPr>
          <a:lstStyle/>
          <a:p>
            <a:pPr algn="l"/>
            <a:r>
              <a:rPr sz="3400" b="1" i="0">
                <a:solidFill>
                  <a:srgbClr val="F47735"/>
                </a:solidFill>
                <a:latin typeface="Bahnschrift"/>
              </a:rPr>
              <a:t>[X] h</a:t>
            </a:r>
          </a:p>
        </p:txBody>
      </p:sp>
      <p:sp>
        <p:nvSpPr>
          <p:cNvPr id="11" name="TextBox 10"/>
          <p:cNvSpPr txBox="1"/>
          <p:nvPr/>
        </p:nvSpPr>
        <p:spPr>
          <a:xfrm>
            <a:off x="9509760" y="1554480"/>
            <a:ext cx="2011680" cy="777240"/>
          </a:xfrm>
          <a:prstGeom prst="rect">
            <a:avLst/>
          </a:prstGeom>
          <a:noFill/>
        </p:spPr>
        <p:txBody>
          <a:bodyPr wrap="square" lIns="36576" rIns="36576" tIns="18288" bIns="18288" anchor="ctr">
            <a:spAutoFit/>
          </a:bodyPr>
          <a:lstStyle/>
          <a:p>
            <a:pPr algn="l"/>
            <a:r>
              <a:rPr sz="1500" b="0" i="0">
                <a:solidFill>
                  <a:srgbClr val="002B55"/>
                </a:solidFill>
                <a:latin typeface="Arial"/>
              </a:rPr>
              <a:t>per cycle today</a:t>
            </a:r>
          </a:p>
        </p:txBody>
      </p:sp>
      <p:sp>
        <p:nvSpPr>
          <p:cNvPr id="12" name="Rounded Rectangle 11"/>
          <p:cNvSpPr/>
          <p:nvPr/>
        </p:nvSpPr>
        <p:spPr>
          <a:xfrm>
            <a:off x="7635240" y="2560320"/>
            <a:ext cx="3950208" cy="960120"/>
          </a:xfrm>
          <a:prstGeom prst="roundRect">
            <a:avLst>
              <a:gd name="adj" fmla="val 8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7772400" y="2633472"/>
            <a:ext cx="1737360" cy="822960"/>
          </a:xfrm>
          <a:prstGeom prst="rect">
            <a:avLst/>
          </a:prstGeom>
          <a:noFill/>
        </p:spPr>
        <p:txBody>
          <a:bodyPr wrap="square" lIns="36576" rIns="36576" tIns="18288" bIns="18288" anchor="ctr">
            <a:spAutoFit/>
          </a:bodyPr>
          <a:lstStyle/>
          <a:p>
            <a:pPr algn="l"/>
            <a:r>
              <a:rPr sz="3400" b="1" i="0">
                <a:solidFill>
                  <a:srgbClr val="007879"/>
                </a:solidFill>
                <a:latin typeface="Bahnschrift"/>
              </a:rPr>
              <a:t>[N]</a:t>
            </a:r>
          </a:p>
        </p:txBody>
      </p:sp>
      <p:sp>
        <p:nvSpPr>
          <p:cNvPr id="14" name="TextBox 13"/>
          <p:cNvSpPr txBox="1"/>
          <p:nvPr/>
        </p:nvSpPr>
        <p:spPr>
          <a:xfrm>
            <a:off x="9509760" y="2651760"/>
            <a:ext cx="2011680" cy="777240"/>
          </a:xfrm>
          <a:prstGeom prst="rect">
            <a:avLst/>
          </a:prstGeom>
          <a:noFill/>
        </p:spPr>
        <p:txBody>
          <a:bodyPr wrap="square" lIns="36576" rIns="36576" tIns="18288" bIns="18288" anchor="ctr">
            <a:spAutoFit/>
          </a:bodyPr>
          <a:lstStyle/>
          <a:p>
            <a:pPr algn="l"/>
            <a:r>
              <a:rPr sz="1500" b="0" i="0">
                <a:solidFill>
                  <a:srgbClr val="002B55"/>
                </a:solidFill>
                <a:latin typeface="Arial"/>
              </a:rPr>
              <a:t>cycles per year</a:t>
            </a:r>
          </a:p>
        </p:txBody>
      </p:sp>
      <p:sp>
        <p:nvSpPr>
          <p:cNvPr id="15" name="Rounded Rectangle 14"/>
          <p:cNvSpPr/>
          <p:nvPr/>
        </p:nvSpPr>
        <p:spPr>
          <a:xfrm>
            <a:off x="7635240" y="3657600"/>
            <a:ext cx="3950208" cy="960120"/>
          </a:xfrm>
          <a:prstGeom prst="roundRect">
            <a:avLst>
              <a:gd name="adj" fmla="val 8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TextBox 15"/>
          <p:cNvSpPr txBox="1"/>
          <p:nvPr/>
        </p:nvSpPr>
        <p:spPr>
          <a:xfrm>
            <a:off x="7772400" y="3730752"/>
            <a:ext cx="1737360" cy="822960"/>
          </a:xfrm>
          <a:prstGeom prst="rect">
            <a:avLst/>
          </a:prstGeom>
          <a:noFill/>
        </p:spPr>
        <p:txBody>
          <a:bodyPr wrap="square" lIns="36576" rIns="36576" tIns="18288" bIns="18288" anchor="ctr">
            <a:spAutoFit/>
          </a:bodyPr>
          <a:lstStyle/>
          <a:p>
            <a:pPr algn="l"/>
            <a:r>
              <a:rPr sz="3400" b="1" i="0">
                <a:solidFill>
                  <a:srgbClr val="007879"/>
                </a:solidFill>
                <a:latin typeface="Bahnschrift"/>
              </a:rPr>
              <a:t>[N]</a:t>
            </a:r>
          </a:p>
        </p:txBody>
      </p:sp>
      <p:sp>
        <p:nvSpPr>
          <p:cNvPr id="17" name="TextBox 16"/>
          <p:cNvSpPr txBox="1"/>
          <p:nvPr/>
        </p:nvSpPr>
        <p:spPr>
          <a:xfrm>
            <a:off x="9509760" y="3749039"/>
            <a:ext cx="2011680" cy="777240"/>
          </a:xfrm>
          <a:prstGeom prst="rect">
            <a:avLst/>
          </a:prstGeom>
          <a:noFill/>
        </p:spPr>
        <p:txBody>
          <a:bodyPr wrap="square" lIns="36576" rIns="36576" tIns="18288" bIns="18288" anchor="ctr">
            <a:spAutoFit/>
          </a:bodyPr>
          <a:lstStyle/>
          <a:p>
            <a:pPr algn="l"/>
            <a:r>
              <a:rPr sz="1500" b="0" i="0">
                <a:solidFill>
                  <a:srgbClr val="002B55"/>
                </a:solidFill>
                <a:latin typeface="Arial"/>
              </a:rPr>
              <a:t>roles and hand-offs</a:t>
            </a:r>
          </a:p>
        </p:txBody>
      </p:sp>
      <p:cxnSp>
        <p:nvCxnSpPr>
          <p:cNvPr id="18" name="Connector 17"/>
          <p:cNvCxnSpPr/>
          <p:nvPr/>
        </p:nvCxnSpPr>
        <p:spPr>
          <a:xfrm>
            <a:off x="612648" y="5074920"/>
            <a:ext cx="10972800" cy="0"/>
          </a:xfrm>
          <a:prstGeom prst="line">
            <a:avLst/>
          </a:prstGeom>
          <a:ln w="15875">
            <a:solidFill>
              <a:srgbClr val="D5DEE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2648" y="5212080"/>
            <a:ext cx="10972800" cy="457200"/>
          </a:xfrm>
          <a:prstGeom prst="rect">
            <a:avLst/>
          </a:prstGeom>
          <a:noFill/>
        </p:spPr>
        <p:txBody>
          <a:bodyPr wrap="square" lIns="36576" rIns="36576" tIns="18288" bIns="18288" anchor="t">
            <a:spAutoFit/>
          </a:bodyPr>
          <a:lstStyle/>
          <a:p>
            <a:pPr algn="l"/>
            <a:r>
              <a:rPr sz="1700" b="1" i="0">
                <a:solidFill>
                  <a:srgbClr val="007879"/>
                </a:solidFill>
                <a:latin typeface="Arial"/>
              </a:rPr>
              <a:t>Why it matters: </a:t>
            </a:r>
            <a:r>
              <a:rPr sz="1700" b="0" i="0">
                <a:solidFill>
                  <a:srgbClr val="002B55"/>
                </a:solidFill>
                <a:latin typeface="Arial"/>
              </a:rPr>
              <a:t>[the decision, patient or HCP impact that suffers today]</a:t>
            </a:r>
          </a:p>
        </p:txBody>
      </p:sp>
      <p:sp>
        <p:nvSpPr>
          <p:cNvPr id="20" name="TextBox 19"/>
          <p:cNvSpPr txBox="1"/>
          <p:nvPr/>
        </p:nvSpPr>
        <p:spPr>
          <a:xfrm>
            <a:off x="612648" y="5715000"/>
            <a:ext cx="10972800" cy="365760"/>
          </a:xfrm>
          <a:prstGeom prst="rect">
            <a:avLst/>
          </a:prstGeom>
          <a:noFill/>
        </p:spPr>
        <p:txBody>
          <a:bodyPr wrap="square" lIns="36576" rIns="36576" tIns="18288" bIns="18288" anchor="t">
            <a:spAutoFit/>
          </a:bodyPr>
          <a:lstStyle/>
          <a:p>
            <a:pPr algn="l"/>
            <a:r>
              <a:rPr sz="1200" b="0" i="1">
                <a:solidFill>
                  <a:srgbClr val="8A9BAA"/>
                </a:solidFill>
                <a:latin typeface="Arial"/>
              </a:rPr>
              <a:t>[Data used: Nordvant Biopharma practice data (fictional) / our own non-confidential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Today: [N] steps, [N] hand-offs, [X] hours per cycle</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03</a:t>
            </a:r>
          </a:p>
        </p:txBody>
      </p:sp>
      <p:sp>
        <p:nvSpPr>
          <p:cNvPr id="5" name="TextBox 4"/>
          <p:cNvSpPr txBox="1"/>
          <p:nvPr/>
        </p:nvSpPr>
        <p:spPr>
          <a:xfrm>
            <a:off x="2148840" y="1261872"/>
            <a:ext cx="2286000" cy="274320"/>
          </a:xfrm>
          <a:prstGeom prst="rect">
            <a:avLst/>
          </a:prstGeom>
          <a:noFill/>
        </p:spPr>
        <p:txBody>
          <a:bodyPr wrap="square" lIns="36576" rIns="36576" tIns="18288" bIns="18288" anchor="t">
            <a:spAutoFit/>
          </a:bodyPr>
          <a:lstStyle/>
          <a:p>
            <a:pPr algn="l"/>
            <a:r>
              <a:rPr sz="1100" b="0" i="0">
                <a:solidFill>
                  <a:srgbClr val="8A9BAA"/>
                </a:solidFill>
                <a:latin typeface="Arial"/>
              </a:rPr>
              <a:t>[Day 0]</a:t>
            </a:r>
          </a:p>
        </p:txBody>
      </p:sp>
      <p:sp>
        <p:nvSpPr>
          <p:cNvPr id="6" name="TextBox 5"/>
          <p:cNvSpPr txBox="1"/>
          <p:nvPr/>
        </p:nvSpPr>
        <p:spPr>
          <a:xfrm>
            <a:off x="4572000" y="1216152"/>
            <a:ext cx="4206240" cy="320040"/>
          </a:xfrm>
          <a:prstGeom prst="rect">
            <a:avLst/>
          </a:prstGeom>
          <a:noFill/>
        </p:spPr>
        <p:txBody>
          <a:bodyPr wrap="square" lIns="36576" rIns="36576" tIns="18288" bIns="18288" anchor="t">
            <a:spAutoFit/>
          </a:bodyPr>
          <a:lstStyle/>
          <a:p>
            <a:pPr algn="ctr"/>
            <a:r>
              <a:rPr sz="1100" b="1" i="0">
                <a:solidFill>
                  <a:srgbClr val="B4501F"/>
                </a:solidFill>
                <a:latin typeface="Arial"/>
              </a:rPr>
              <a:t>[Where the weeks go (illustrative)]</a:t>
            </a:r>
          </a:p>
        </p:txBody>
      </p:sp>
      <p:sp>
        <p:nvSpPr>
          <p:cNvPr id="7" name="TextBox 6"/>
          <p:cNvSpPr txBox="1"/>
          <p:nvPr/>
        </p:nvSpPr>
        <p:spPr>
          <a:xfrm>
            <a:off x="8869680" y="1261872"/>
            <a:ext cx="2715768" cy="274320"/>
          </a:xfrm>
          <a:prstGeom prst="rect">
            <a:avLst/>
          </a:prstGeom>
          <a:noFill/>
        </p:spPr>
        <p:txBody>
          <a:bodyPr wrap="square" lIns="36576" rIns="36576" tIns="18288" bIns="18288" anchor="t">
            <a:spAutoFit/>
          </a:bodyPr>
          <a:lstStyle/>
          <a:p>
            <a:pPr algn="r"/>
            <a:r>
              <a:rPr sz="1100" b="0" i="0">
                <a:solidFill>
                  <a:srgbClr val="8A9BAA"/>
                </a:solidFill>
                <a:latin typeface="Arial"/>
              </a:rPr>
              <a:t>[Day N]  →</a:t>
            </a:r>
          </a:p>
        </p:txBody>
      </p:sp>
      <p:sp>
        <p:nvSpPr>
          <p:cNvPr id="8" name="Rectangle 7"/>
          <p:cNvSpPr/>
          <p:nvPr/>
        </p:nvSpPr>
        <p:spPr>
          <a:xfrm>
            <a:off x="612648" y="1600200"/>
            <a:ext cx="10972800" cy="86868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Rectangle 8"/>
          <p:cNvSpPr/>
          <p:nvPr/>
        </p:nvSpPr>
        <p:spPr>
          <a:xfrm>
            <a:off x="612648" y="1600200"/>
            <a:ext cx="1417320" cy="868680"/>
          </a:xfrm>
          <a:prstGeom prst="rect">
            <a:avLst/>
          </a:prstGeom>
          <a:solidFill>
            <a:srgbClr val="002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Bahnschrift"/>
              </a:rPr>
              <a:t>[Role 1]</a:t>
            </a:r>
          </a:p>
        </p:txBody>
      </p:sp>
      <p:sp>
        <p:nvSpPr>
          <p:cNvPr id="10" name="Rectangle 9"/>
          <p:cNvSpPr/>
          <p:nvPr/>
        </p:nvSpPr>
        <p:spPr>
          <a:xfrm>
            <a:off x="612648" y="2560320"/>
            <a:ext cx="10972800" cy="86868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ectangle 10"/>
          <p:cNvSpPr/>
          <p:nvPr/>
        </p:nvSpPr>
        <p:spPr>
          <a:xfrm>
            <a:off x="612648" y="2560320"/>
            <a:ext cx="1417320" cy="868680"/>
          </a:xfrm>
          <a:prstGeom prst="rect">
            <a:avLst/>
          </a:prstGeom>
          <a:solidFill>
            <a:srgbClr val="1D5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Bahnschrift"/>
              </a:rPr>
              <a:t>[Role 2]</a:t>
            </a:r>
          </a:p>
        </p:txBody>
      </p:sp>
      <p:sp>
        <p:nvSpPr>
          <p:cNvPr id="12" name="Rectangle 11"/>
          <p:cNvSpPr/>
          <p:nvPr/>
        </p:nvSpPr>
        <p:spPr>
          <a:xfrm>
            <a:off x="612648" y="3520440"/>
            <a:ext cx="10972800" cy="86868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Rectangle 12"/>
          <p:cNvSpPr/>
          <p:nvPr/>
        </p:nvSpPr>
        <p:spPr>
          <a:xfrm>
            <a:off x="612648" y="3520440"/>
            <a:ext cx="1417320" cy="868680"/>
          </a:xfrm>
          <a:prstGeom prst="rect">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Bahnschrift"/>
              </a:rPr>
              <a:t>[Role 3 / agency]</a:t>
            </a:r>
          </a:p>
        </p:txBody>
      </p:sp>
      <p:sp>
        <p:nvSpPr>
          <p:cNvPr id="14" name="Rectangle 13"/>
          <p:cNvSpPr/>
          <p:nvPr/>
        </p:nvSpPr>
        <p:spPr>
          <a:xfrm>
            <a:off x="612648" y="4480560"/>
            <a:ext cx="10972800" cy="86868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5" name="Rectangle 14"/>
          <p:cNvSpPr/>
          <p:nvPr/>
        </p:nvSpPr>
        <p:spPr>
          <a:xfrm>
            <a:off x="612648" y="4480560"/>
            <a:ext cx="1417320" cy="868680"/>
          </a:xfrm>
          <a:prstGeom prst="rect">
            <a:avLst/>
          </a:prstGeom>
          <a:solidFill>
            <a:srgbClr val="2845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Bahnschrift"/>
              </a:rPr>
              <a:t>[Reviewer / approver]</a:t>
            </a:r>
          </a:p>
        </p:txBody>
      </p:sp>
      <p:sp>
        <p:nvSpPr>
          <p:cNvPr id="16" name="Rounded Rectangle 15"/>
          <p:cNvSpPr/>
          <p:nvPr/>
        </p:nvSpPr>
        <p:spPr>
          <a:xfrm>
            <a:off x="2194560" y="1751076"/>
            <a:ext cx="1097280" cy="566928"/>
          </a:xfrm>
          <a:prstGeom prst="roundRect">
            <a:avLst>
              <a:gd name="adj" fmla="val 10000"/>
            </a:avLst>
          </a:prstGeom>
          <a:solidFill>
            <a:srgbClr val="FFFFFF"/>
          </a:solidFill>
          <a:ln w="15875">
            <a:solidFill>
              <a:srgbClr val="002B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[Step 1]</a:t>
            </a:r>
          </a:p>
        </p:txBody>
      </p:sp>
      <p:sp>
        <p:nvSpPr>
          <p:cNvPr id="17" name="Rounded Rectangle 16"/>
          <p:cNvSpPr/>
          <p:nvPr/>
        </p:nvSpPr>
        <p:spPr>
          <a:xfrm>
            <a:off x="3520439" y="2711196"/>
            <a:ext cx="1097280" cy="566928"/>
          </a:xfrm>
          <a:prstGeom prst="roundRect">
            <a:avLst>
              <a:gd name="adj" fmla="val 10000"/>
            </a:avLst>
          </a:prstGeom>
          <a:solidFill>
            <a:srgbClr val="FFFFFF"/>
          </a:solidFill>
          <a:ln w="15875">
            <a:solidFill>
              <a:srgbClr val="002B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[Step 2]</a:t>
            </a:r>
          </a:p>
        </p:txBody>
      </p:sp>
      <p:cxnSp>
        <p:nvCxnSpPr>
          <p:cNvPr id="18" name="Connector 17"/>
          <p:cNvCxnSpPr/>
          <p:nvPr/>
        </p:nvCxnSpPr>
        <p:spPr>
          <a:xfrm>
            <a:off x="3291839" y="2034540"/>
            <a:ext cx="228600" cy="960120"/>
          </a:xfrm>
          <a:prstGeom prst="bentConnector3">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846320" y="1751076"/>
            <a:ext cx="1097280" cy="566928"/>
          </a:xfrm>
          <a:prstGeom prst="roundRect">
            <a:avLst>
              <a:gd name="adj" fmla="val 10000"/>
            </a:avLst>
          </a:prstGeom>
          <a:solidFill>
            <a:srgbClr val="FFFFFF"/>
          </a:solidFill>
          <a:ln w="15875">
            <a:solidFill>
              <a:srgbClr val="002B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[Step 3]</a:t>
            </a:r>
          </a:p>
        </p:txBody>
      </p:sp>
      <p:cxnSp>
        <p:nvCxnSpPr>
          <p:cNvPr id="20" name="Connector 19"/>
          <p:cNvCxnSpPr/>
          <p:nvPr/>
        </p:nvCxnSpPr>
        <p:spPr>
          <a:xfrm flipV="1">
            <a:off x="4617720" y="2034540"/>
            <a:ext cx="228600" cy="960120"/>
          </a:xfrm>
          <a:prstGeom prst="bentConnector3">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72200" y="3671315"/>
            <a:ext cx="1097280" cy="566928"/>
          </a:xfrm>
          <a:prstGeom prst="roundRect">
            <a:avLst>
              <a:gd name="adj" fmla="val 10000"/>
            </a:avLst>
          </a:prstGeom>
          <a:solidFill>
            <a:srgbClr val="FFFFFF"/>
          </a:solidFill>
          <a:ln w="15875">
            <a:solidFill>
              <a:srgbClr val="002B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[Step 4]</a:t>
            </a:r>
          </a:p>
        </p:txBody>
      </p:sp>
      <p:cxnSp>
        <p:nvCxnSpPr>
          <p:cNvPr id="22" name="Connector 21"/>
          <p:cNvCxnSpPr/>
          <p:nvPr/>
        </p:nvCxnSpPr>
        <p:spPr>
          <a:xfrm>
            <a:off x="5943600" y="2034540"/>
            <a:ext cx="228600" cy="1920239"/>
          </a:xfrm>
          <a:prstGeom prst="bentConnector3">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98079" y="2711196"/>
            <a:ext cx="1097280" cy="566928"/>
          </a:xfrm>
          <a:prstGeom prst="roundRect">
            <a:avLst>
              <a:gd name="adj" fmla="val 10000"/>
            </a:avLst>
          </a:prstGeom>
          <a:solidFill>
            <a:srgbClr val="FFFFFF"/>
          </a:solidFill>
          <a:ln w="15875">
            <a:solidFill>
              <a:srgbClr val="002B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[Step 5]</a:t>
            </a:r>
          </a:p>
        </p:txBody>
      </p:sp>
      <p:cxnSp>
        <p:nvCxnSpPr>
          <p:cNvPr id="24" name="Connector 23"/>
          <p:cNvCxnSpPr/>
          <p:nvPr/>
        </p:nvCxnSpPr>
        <p:spPr>
          <a:xfrm flipV="1">
            <a:off x="7269480" y="2994660"/>
            <a:ext cx="228599" cy="960119"/>
          </a:xfrm>
          <a:prstGeom prst="bentConnector3">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23960" y="4631436"/>
            <a:ext cx="1097280" cy="566928"/>
          </a:xfrm>
          <a:prstGeom prst="roundRect">
            <a:avLst>
              <a:gd name="adj" fmla="val 10000"/>
            </a:avLst>
          </a:prstGeom>
          <a:solidFill>
            <a:srgbClr val="FFFFFF"/>
          </a:solidFill>
          <a:ln w="15875">
            <a:solidFill>
              <a:srgbClr val="002B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[Step 6]</a:t>
            </a:r>
          </a:p>
        </p:txBody>
      </p:sp>
      <p:cxnSp>
        <p:nvCxnSpPr>
          <p:cNvPr id="26" name="Connector 25"/>
          <p:cNvCxnSpPr/>
          <p:nvPr/>
        </p:nvCxnSpPr>
        <p:spPr>
          <a:xfrm>
            <a:off x="8595359" y="2994660"/>
            <a:ext cx="228601" cy="1920240"/>
          </a:xfrm>
          <a:prstGeom prst="bentConnector3">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149840" y="4631436"/>
            <a:ext cx="1097280" cy="566928"/>
          </a:xfrm>
          <a:prstGeom prst="roundRect">
            <a:avLst>
              <a:gd name="adj" fmla="val 10000"/>
            </a:avLst>
          </a:prstGeom>
          <a:solidFill>
            <a:srgbClr val="FFFFFF"/>
          </a:solidFill>
          <a:ln w="15875">
            <a:solidFill>
              <a:srgbClr val="002B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[Step 7]</a:t>
            </a:r>
          </a:p>
        </p:txBody>
      </p:sp>
      <p:cxnSp>
        <p:nvCxnSpPr>
          <p:cNvPr id="28" name="Connector 27"/>
          <p:cNvCxnSpPr/>
          <p:nvPr/>
        </p:nvCxnSpPr>
        <p:spPr>
          <a:xfrm>
            <a:off x="9921240" y="4914900"/>
            <a:ext cx="228600" cy="0"/>
          </a:xfrm>
          <a:prstGeom prst="line">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2648" y="5486400"/>
            <a:ext cx="3520440" cy="658368"/>
          </a:xfrm>
          <a:prstGeom prst="roundRect">
            <a:avLst>
              <a:gd name="adj" fmla="val 10000"/>
            </a:avLst>
          </a:prstGeom>
          <a:solidFill>
            <a:srgbClr val="FDEB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B4501F"/>
                </a:solidFill>
                <a:latin typeface="Arial"/>
              </a:rPr>
              <a:t>[Pain 1: where time is lost]</a:t>
            </a:r>
          </a:p>
        </p:txBody>
      </p:sp>
      <p:sp>
        <p:nvSpPr>
          <p:cNvPr id="30" name="Rounded Rectangle 29"/>
          <p:cNvSpPr/>
          <p:nvPr/>
        </p:nvSpPr>
        <p:spPr>
          <a:xfrm>
            <a:off x="4334256" y="5486400"/>
            <a:ext cx="3520440" cy="658368"/>
          </a:xfrm>
          <a:prstGeom prst="roundRect">
            <a:avLst>
              <a:gd name="adj" fmla="val 10000"/>
            </a:avLst>
          </a:prstGeom>
          <a:solidFill>
            <a:srgbClr val="FDEB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B4501F"/>
                </a:solidFill>
                <a:latin typeface="Arial"/>
              </a:rPr>
              <a:t>[Pain 2: where errors creep in]</a:t>
            </a:r>
          </a:p>
        </p:txBody>
      </p:sp>
      <p:sp>
        <p:nvSpPr>
          <p:cNvPr id="31" name="Rounded Rectangle 30"/>
          <p:cNvSpPr/>
          <p:nvPr/>
        </p:nvSpPr>
        <p:spPr>
          <a:xfrm>
            <a:off x="8055864" y="5486400"/>
            <a:ext cx="3520440" cy="658368"/>
          </a:xfrm>
          <a:prstGeom prst="roundRect">
            <a:avLst>
              <a:gd name="adj" fmla="val 10000"/>
            </a:avLst>
          </a:prstGeom>
          <a:solidFill>
            <a:srgbClr val="FDEB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B4501F"/>
                </a:solidFill>
                <a:latin typeface="Arial"/>
              </a:rPr>
              <a:t>[Pain 3: where people wait]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Redesigned: agents assemble, humans decide</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04</a:t>
            </a:r>
          </a:p>
        </p:txBody>
      </p:sp>
      <p:sp>
        <p:nvSpPr>
          <p:cNvPr id="5" name="Rectangle 4"/>
          <p:cNvSpPr/>
          <p:nvPr/>
        </p:nvSpPr>
        <p:spPr>
          <a:xfrm>
            <a:off x="612648" y="1325880"/>
            <a:ext cx="10972800" cy="896112"/>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Rectangle 5"/>
          <p:cNvSpPr/>
          <p:nvPr/>
        </p:nvSpPr>
        <p:spPr>
          <a:xfrm>
            <a:off x="612648" y="1325880"/>
            <a:ext cx="1417320" cy="896112"/>
          </a:xfrm>
          <a:prstGeom prst="rect">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Bahnschrift"/>
              </a:rPr>
              <a:t>You · owner</a:t>
            </a:r>
          </a:p>
        </p:txBody>
      </p:sp>
      <p:sp>
        <p:nvSpPr>
          <p:cNvPr id="7" name="Rectangle 6"/>
          <p:cNvSpPr/>
          <p:nvPr/>
        </p:nvSpPr>
        <p:spPr>
          <a:xfrm>
            <a:off x="612648" y="2313432"/>
            <a:ext cx="10972800" cy="896112"/>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Rectangle 7"/>
          <p:cNvSpPr/>
          <p:nvPr/>
        </p:nvSpPr>
        <p:spPr>
          <a:xfrm>
            <a:off x="612648" y="2313432"/>
            <a:ext cx="1417320" cy="896112"/>
          </a:xfrm>
          <a:prstGeom prst="rect">
            <a:avLst/>
          </a:prstGeom>
          <a:solidFill>
            <a:srgbClr val="002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Bahnschrift"/>
              </a:rPr>
              <a:t>Lead agent</a:t>
            </a:r>
          </a:p>
        </p:txBody>
      </p:sp>
      <p:sp>
        <p:nvSpPr>
          <p:cNvPr id="9" name="Rectangle 8"/>
          <p:cNvSpPr/>
          <p:nvPr/>
        </p:nvSpPr>
        <p:spPr>
          <a:xfrm>
            <a:off x="612648" y="3300984"/>
            <a:ext cx="10972800" cy="896112"/>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Rectangle 9"/>
          <p:cNvSpPr/>
          <p:nvPr/>
        </p:nvSpPr>
        <p:spPr>
          <a:xfrm>
            <a:off x="612648" y="3300984"/>
            <a:ext cx="1417320" cy="896112"/>
          </a:xfrm>
          <a:prstGeom prst="rect">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Bahnschrift"/>
              </a:rPr>
              <a:t>Sub-agents</a:t>
            </a:r>
          </a:p>
        </p:txBody>
      </p:sp>
      <p:sp>
        <p:nvSpPr>
          <p:cNvPr id="11" name="Rectangle 10"/>
          <p:cNvSpPr/>
          <p:nvPr/>
        </p:nvSpPr>
        <p:spPr>
          <a:xfrm>
            <a:off x="612648" y="4288536"/>
            <a:ext cx="10972800" cy="896112"/>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612648" y="4288536"/>
            <a:ext cx="1417320" cy="896112"/>
          </a:xfrm>
          <a:prstGeom prst="rect">
            <a:avLst/>
          </a:prstGeom>
          <a:solidFill>
            <a:srgbClr val="2845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Bahnschrift"/>
              </a:rPr>
              <a:t>Reviewer</a:t>
            </a:r>
          </a:p>
        </p:txBody>
      </p:sp>
      <p:sp>
        <p:nvSpPr>
          <p:cNvPr id="13" name="Rounded Rectangle 12"/>
          <p:cNvSpPr/>
          <p:nvPr/>
        </p:nvSpPr>
        <p:spPr>
          <a:xfrm>
            <a:off x="2194560" y="1499616"/>
            <a:ext cx="1143000" cy="548640"/>
          </a:xfrm>
          <a:prstGeom prst="roundRect">
            <a:avLst>
              <a:gd name="adj" fmla="val 12000"/>
            </a:avLst>
          </a:prstGeom>
          <a:solidFill>
            <a:srgbClr val="FFFFFF"/>
          </a:solidFill>
          <a:ln w="15875">
            <a:solidFill>
              <a:srgbClr val="F477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[Set the goal]</a:t>
            </a:r>
          </a:p>
        </p:txBody>
      </p:sp>
      <p:sp>
        <p:nvSpPr>
          <p:cNvPr id="14" name="Rounded Rectangle 13"/>
          <p:cNvSpPr/>
          <p:nvPr/>
        </p:nvSpPr>
        <p:spPr>
          <a:xfrm>
            <a:off x="3611880" y="2487168"/>
            <a:ext cx="1188720" cy="548640"/>
          </a:xfrm>
          <a:prstGeom prst="roundRect">
            <a:avLst>
              <a:gd name="adj" fmla="val 12000"/>
            </a:avLst>
          </a:prstGeom>
          <a:solidFill>
            <a:srgbClr val="002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Arial"/>
              </a:rPr>
              <a:t>[Plan + split]</a:t>
            </a:r>
          </a:p>
        </p:txBody>
      </p:sp>
      <p:cxnSp>
        <p:nvCxnSpPr>
          <p:cNvPr id="15" name="Connector 14"/>
          <p:cNvCxnSpPr/>
          <p:nvPr/>
        </p:nvCxnSpPr>
        <p:spPr>
          <a:xfrm>
            <a:off x="3337560" y="1773936"/>
            <a:ext cx="274320" cy="987552"/>
          </a:xfrm>
          <a:prstGeom prst="bentConnector3">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20640" y="3474720"/>
            <a:ext cx="822960" cy="548640"/>
          </a:xfrm>
          <a:prstGeom prst="roundRect">
            <a:avLst>
              <a:gd name="adj" fmla="val 10000"/>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Arial"/>
              </a:rPr>
              <a:t>[Agent A]</a:t>
            </a:r>
          </a:p>
        </p:txBody>
      </p:sp>
      <p:sp>
        <p:nvSpPr>
          <p:cNvPr id="17" name="Rounded Rectangle 16"/>
          <p:cNvSpPr/>
          <p:nvPr/>
        </p:nvSpPr>
        <p:spPr>
          <a:xfrm>
            <a:off x="6035040" y="3474720"/>
            <a:ext cx="822960" cy="548640"/>
          </a:xfrm>
          <a:prstGeom prst="roundRect">
            <a:avLst>
              <a:gd name="adj" fmla="val 10000"/>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Arial"/>
              </a:rPr>
              <a:t>[Agent B]</a:t>
            </a:r>
          </a:p>
        </p:txBody>
      </p:sp>
      <p:sp>
        <p:nvSpPr>
          <p:cNvPr id="18" name="Rounded Rectangle 17"/>
          <p:cNvSpPr/>
          <p:nvPr/>
        </p:nvSpPr>
        <p:spPr>
          <a:xfrm>
            <a:off x="6949440" y="3474720"/>
            <a:ext cx="822960" cy="548640"/>
          </a:xfrm>
          <a:prstGeom prst="roundRect">
            <a:avLst>
              <a:gd name="adj" fmla="val 10000"/>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Arial"/>
              </a:rPr>
              <a:t>[Agent C]</a:t>
            </a:r>
          </a:p>
        </p:txBody>
      </p:sp>
      <p:cxnSp>
        <p:nvCxnSpPr>
          <p:cNvPr id="19" name="Connector 18"/>
          <p:cNvCxnSpPr/>
          <p:nvPr/>
        </p:nvCxnSpPr>
        <p:spPr>
          <a:xfrm>
            <a:off x="4800600" y="2761488"/>
            <a:ext cx="320040" cy="987552"/>
          </a:xfrm>
          <a:prstGeom prst="bentConnector3">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8001000" y="1444752"/>
            <a:ext cx="658368" cy="658368"/>
          </a:xfrm>
          <a:prstGeom prst="diamond">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200" b="1" i="0">
                <a:solidFill>
                  <a:srgbClr val="FFFFFF"/>
                </a:solidFill>
                <a:latin typeface="Bahnschrift"/>
              </a:rPr>
              <a:t>G1</a:t>
            </a:r>
          </a:p>
        </p:txBody>
      </p:sp>
      <p:sp>
        <p:nvSpPr>
          <p:cNvPr id="21" name="TextBox 20"/>
          <p:cNvSpPr txBox="1"/>
          <p:nvPr/>
        </p:nvSpPr>
        <p:spPr>
          <a:xfrm>
            <a:off x="8686800" y="1444752"/>
            <a:ext cx="1463040" cy="658368"/>
          </a:xfrm>
          <a:prstGeom prst="rect">
            <a:avLst/>
          </a:prstGeom>
          <a:noFill/>
        </p:spPr>
        <p:txBody>
          <a:bodyPr wrap="square" lIns="36576" rIns="36576" tIns="18288" bIns="18288" anchor="ctr">
            <a:spAutoFit/>
          </a:bodyPr>
          <a:lstStyle/>
          <a:p>
            <a:pPr algn="l"/>
            <a:r>
              <a:rPr sz="1100" b="1" i="0">
                <a:solidFill>
                  <a:srgbClr val="B4501F"/>
                </a:solidFill>
                <a:latin typeface="Arial"/>
              </a:rPr>
              <a:t>[Gate 1 decision]</a:t>
            </a:r>
          </a:p>
        </p:txBody>
      </p:sp>
      <p:cxnSp>
        <p:nvCxnSpPr>
          <p:cNvPr id="22" name="Connector 21"/>
          <p:cNvCxnSpPr/>
          <p:nvPr/>
        </p:nvCxnSpPr>
        <p:spPr>
          <a:xfrm flipV="1">
            <a:off x="7772400" y="1773936"/>
            <a:ext cx="228600" cy="1975104"/>
          </a:xfrm>
          <a:prstGeom prst="bentConnector3">
            <a:avLst/>
          </a:prstGeom>
          <a:ln w="15875">
            <a:solidFill>
              <a:srgbClr val="F4773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229600" y="2487168"/>
            <a:ext cx="1234440" cy="548640"/>
          </a:xfrm>
          <a:prstGeom prst="roundRect">
            <a:avLst>
              <a:gd name="adj" fmla="val 12000"/>
            </a:avLst>
          </a:prstGeom>
          <a:solidFill>
            <a:srgbClr val="002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Arial"/>
              </a:rPr>
              <a:t>[Assemble draft]</a:t>
            </a:r>
          </a:p>
        </p:txBody>
      </p:sp>
      <p:cxnSp>
        <p:nvCxnSpPr>
          <p:cNvPr id="24" name="Connector 23"/>
          <p:cNvCxnSpPr/>
          <p:nvPr/>
        </p:nvCxnSpPr>
        <p:spPr>
          <a:xfrm>
            <a:off x="8330183" y="2103120"/>
            <a:ext cx="0" cy="384048"/>
          </a:xfrm>
          <a:prstGeom prst="line">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Diamond 24"/>
          <p:cNvSpPr/>
          <p:nvPr/>
        </p:nvSpPr>
        <p:spPr>
          <a:xfrm>
            <a:off x="9829800" y="4407408"/>
            <a:ext cx="658368" cy="658368"/>
          </a:xfrm>
          <a:prstGeom prst="diamond">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200" b="1" i="0">
                <a:solidFill>
                  <a:srgbClr val="FFFFFF"/>
                </a:solidFill>
                <a:latin typeface="Bahnschrift"/>
              </a:rPr>
              <a:t>G2</a:t>
            </a:r>
          </a:p>
        </p:txBody>
      </p:sp>
      <p:sp>
        <p:nvSpPr>
          <p:cNvPr id="26" name="TextBox 25"/>
          <p:cNvSpPr txBox="1"/>
          <p:nvPr/>
        </p:nvSpPr>
        <p:spPr>
          <a:xfrm>
            <a:off x="7955279" y="4407408"/>
            <a:ext cx="1600200" cy="658368"/>
          </a:xfrm>
          <a:prstGeom prst="rect">
            <a:avLst/>
          </a:prstGeom>
          <a:noFill/>
        </p:spPr>
        <p:txBody>
          <a:bodyPr wrap="square" lIns="36576" rIns="36576" tIns="18288" bIns="18288" anchor="ctr">
            <a:spAutoFit/>
          </a:bodyPr>
          <a:lstStyle/>
          <a:p>
            <a:pPr algn="r"/>
            <a:r>
              <a:rPr sz="1100" b="1" i="0">
                <a:solidFill>
                  <a:srgbClr val="B4501F"/>
                </a:solidFill>
                <a:latin typeface="Arial"/>
              </a:rPr>
              <a:t>[Gate 2 sign-off]</a:t>
            </a:r>
          </a:p>
        </p:txBody>
      </p:sp>
      <p:cxnSp>
        <p:nvCxnSpPr>
          <p:cNvPr id="27" name="Connector 26"/>
          <p:cNvCxnSpPr/>
          <p:nvPr/>
        </p:nvCxnSpPr>
        <p:spPr>
          <a:xfrm>
            <a:off x="9464040" y="2761488"/>
            <a:ext cx="365760" cy="1975104"/>
          </a:xfrm>
          <a:prstGeom prst="bentConnector3">
            <a:avLst/>
          </a:prstGeom>
          <a:ln w="15875">
            <a:solidFill>
              <a:srgbClr val="F4773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378440" y="1499616"/>
            <a:ext cx="1143000" cy="548640"/>
          </a:xfrm>
          <a:prstGeom prst="roundRect">
            <a:avLst>
              <a:gd name="adj" fmla="val 12000"/>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Arial"/>
              </a:rPr>
              <a:t>[Output]</a:t>
            </a:r>
          </a:p>
        </p:txBody>
      </p:sp>
      <p:cxnSp>
        <p:nvCxnSpPr>
          <p:cNvPr id="29" name="Connector 28"/>
          <p:cNvCxnSpPr/>
          <p:nvPr/>
        </p:nvCxnSpPr>
        <p:spPr>
          <a:xfrm flipV="1">
            <a:off x="10158984" y="2048255"/>
            <a:ext cx="448056" cy="2359153"/>
          </a:xfrm>
          <a:prstGeom prst="bentConnector3">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12648" y="5349240"/>
            <a:ext cx="5349240" cy="777240"/>
          </a:xfrm>
          <a:prstGeom prst="roundRect">
            <a:avLst>
              <a:gd name="adj" fmla="val 10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8A9BAA"/>
                </a:solidFill>
                <a:latin typeface="Bahnschrift"/>
              </a:rPr>
              <a:t>BEFORE  </a:t>
            </a:r>
            <a:r>
              <a:rPr sz="1700" b="1" i="0">
                <a:solidFill>
                  <a:srgbClr val="002B55"/>
                </a:solidFill>
                <a:latin typeface="Arial"/>
              </a:rPr>
              <a:t>[X] h · [N] hand-offs · [N] days</a:t>
            </a:r>
          </a:p>
        </p:txBody>
      </p:sp>
      <p:cxnSp>
        <p:nvCxnSpPr>
          <p:cNvPr id="31" name="Connector 30"/>
          <p:cNvCxnSpPr/>
          <p:nvPr/>
        </p:nvCxnSpPr>
        <p:spPr>
          <a:xfrm>
            <a:off x="6035040" y="5733288"/>
            <a:ext cx="137160" cy="0"/>
          </a:xfrm>
          <a:prstGeom prst="line">
            <a:avLst/>
          </a:prstGeom>
          <a:ln w="31750">
            <a:solidFill>
              <a:srgbClr val="F477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236208" y="5349240"/>
            <a:ext cx="5349240" cy="777240"/>
          </a:xfrm>
          <a:prstGeom prst="roundRect">
            <a:avLst>
              <a:gd name="adj" fmla="val 10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007879"/>
                </a:solidFill>
                <a:latin typeface="Bahnschrift"/>
              </a:rPr>
              <a:t>AFTER  </a:t>
            </a:r>
            <a:r>
              <a:rPr sz="1700" b="1" i="0">
                <a:solidFill>
                  <a:srgbClr val="002B55"/>
                </a:solidFill>
                <a:latin typeface="Arial"/>
              </a:rPr>
              <a:t>[Y] h · [N] hand-offs · [N]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Humans decide at two gates, by design</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05</a:t>
            </a:r>
          </a:p>
        </p:txBody>
      </p:sp>
      <p:pic>
        <p:nvPicPr>
          <p:cNvPr id="5" name="Picture 4" descr="human-judge.jpg"/>
          <p:cNvPicPr>
            <a:picLocks noChangeAspect="1"/>
          </p:cNvPicPr>
          <p:nvPr/>
        </p:nvPicPr>
        <p:blipFill>
          <a:blip r:embed="rId3"/>
          <a:stretch>
            <a:fillRect/>
          </a:stretch>
        </p:blipFill>
        <p:spPr>
          <a:xfrm>
            <a:off x="7635240" y="1325880"/>
            <a:ext cx="3950208" cy="2221992"/>
          </a:xfrm>
          <a:prstGeom prst="rect">
            <a:avLst/>
          </a:prstGeom>
        </p:spPr>
      </p:pic>
      <p:sp>
        <p:nvSpPr>
          <p:cNvPr id="6" name="Rounded Rectangle 5"/>
          <p:cNvSpPr/>
          <p:nvPr/>
        </p:nvSpPr>
        <p:spPr>
          <a:xfrm>
            <a:off x="612648" y="1325880"/>
            <a:ext cx="3383280" cy="3977639"/>
          </a:xfrm>
          <a:prstGeom prst="roundRect">
            <a:avLst>
              <a:gd name="adj" fmla="val 5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Diamond 6"/>
          <p:cNvSpPr/>
          <p:nvPr/>
        </p:nvSpPr>
        <p:spPr>
          <a:xfrm>
            <a:off x="795528" y="1481328"/>
            <a:ext cx="685800" cy="685800"/>
          </a:xfrm>
          <a:prstGeom prst="diamond">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i="0">
                <a:solidFill>
                  <a:srgbClr val="FFFFFF"/>
                </a:solidFill>
                <a:latin typeface="Bahnschrift"/>
              </a:rPr>
              <a:t>G1</a:t>
            </a:r>
          </a:p>
        </p:txBody>
      </p:sp>
      <p:sp>
        <p:nvSpPr>
          <p:cNvPr id="8" name="TextBox 7"/>
          <p:cNvSpPr txBox="1"/>
          <p:nvPr/>
        </p:nvSpPr>
        <p:spPr>
          <a:xfrm>
            <a:off x="1572768" y="1481328"/>
            <a:ext cx="2331720" cy="685800"/>
          </a:xfrm>
          <a:prstGeom prst="rect">
            <a:avLst/>
          </a:prstGeom>
          <a:noFill/>
        </p:spPr>
        <p:txBody>
          <a:bodyPr wrap="square" lIns="36576" rIns="36576" tIns="18288" bIns="18288" anchor="ctr">
            <a:spAutoFit/>
          </a:bodyPr>
          <a:lstStyle/>
          <a:p>
            <a:pPr algn="l"/>
            <a:r>
              <a:rPr sz="1700" b="1" i="0">
                <a:solidFill>
                  <a:srgbClr val="002B55"/>
                </a:solidFill>
                <a:latin typeface="Bahnschrift"/>
              </a:rPr>
              <a:t>[Gate 1 name]</a:t>
            </a:r>
          </a:p>
        </p:txBody>
      </p:sp>
      <p:sp>
        <p:nvSpPr>
          <p:cNvPr id="9" name="TextBox 8"/>
          <p:cNvSpPr txBox="1"/>
          <p:nvPr/>
        </p:nvSpPr>
        <p:spPr>
          <a:xfrm>
            <a:off x="841248" y="2377440"/>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Where  </a:t>
            </a:r>
            <a:r>
              <a:rPr sz="1400" b="0" i="0">
                <a:solidFill>
                  <a:srgbClr val="002B55"/>
                </a:solidFill>
                <a:latin typeface="Arial"/>
              </a:rPr>
              <a:t>[after which step]</a:t>
            </a:r>
          </a:p>
        </p:txBody>
      </p:sp>
      <p:sp>
        <p:nvSpPr>
          <p:cNvPr id="10" name="TextBox 9"/>
          <p:cNvSpPr txBox="1"/>
          <p:nvPr/>
        </p:nvSpPr>
        <p:spPr>
          <a:xfrm>
            <a:off x="841248" y="2953512"/>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Who decides  </a:t>
            </a:r>
            <a:r>
              <a:rPr sz="1400" b="0" i="0">
                <a:solidFill>
                  <a:srgbClr val="002B55"/>
                </a:solidFill>
                <a:latin typeface="Arial"/>
              </a:rPr>
              <a:t>[role]</a:t>
            </a:r>
          </a:p>
        </p:txBody>
      </p:sp>
      <p:sp>
        <p:nvSpPr>
          <p:cNvPr id="11" name="TextBox 10"/>
          <p:cNvSpPr txBox="1"/>
          <p:nvPr/>
        </p:nvSpPr>
        <p:spPr>
          <a:xfrm>
            <a:off x="841248" y="3529584"/>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Sees  </a:t>
            </a:r>
            <a:r>
              <a:rPr sz="1400" b="0" i="0">
                <a:solidFill>
                  <a:srgbClr val="002B55"/>
                </a:solidFill>
                <a:latin typeface="Arial"/>
              </a:rPr>
              <a:t>[evidence pack]</a:t>
            </a:r>
          </a:p>
        </p:txBody>
      </p:sp>
      <p:sp>
        <p:nvSpPr>
          <p:cNvPr id="12" name="TextBox 11"/>
          <p:cNvSpPr txBox="1"/>
          <p:nvPr/>
        </p:nvSpPr>
        <p:spPr>
          <a:xfrm>
            <a:off x="841248" y="4105656"/>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Why a human  </a:t>
            </a:r>
            <a:r>
              <a:rPr sz="1400" b="0" i="0">
                <a:solidFill>
                  <a:srgbClr val="002B55"/>
                </a:solidFill>
                <a:latin typeface="Arial"/>
              </a:rPr>
              <a:t>[reason]</a:t>
            </a:r>
          </a:p>
        </p:txBody>
      </p:sp>
      <p:sp>
        <p:nvSpPr>
          <p:cNvPr id="13" name="TextBox 12"/>
          <p:cNvSpPr txBox="1"/>
          <p:nvPr/>
        </p:nvSpPr>
        <p:spPr>
          <a:xfrm>
            <a:off x="841248" y="4681728"/>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If rejected  </a:t>
            </a:r>
            <a:r>
              <a:rPr sz="1400" b="0" i="0">
                <a:solidFill>
                  <a:srgbClr val="002B55"/>
                </a:solidFill>
                <a:latin typeface="Arial"/>
              </a:rPr>
              <a:t>[what happens]</a:t>
            </a:r>
          </a:p>
        </p:txBody>
      </p:sp>
      <p:sp>
        <p:nvSpPr>
          <p:cNvPr id="14" name="Rounded Rectangle 13"/>
          <p:cNvSpPr/>
          <p:nvPr/>
        </p:nvSpPr>
        <p:spPr>
          <a:xfrm>
            <a:off x="4178808" y="1325880"/>
            <a:ext cx="3383280" cy="3977639"/>
          </a:xfrm>
          <a:prstGeom prst="roundRect">
            <a:avLst>
              <a:gd name="adj" fmla="val 5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5" name="Diamond 14"/>
          <p:cNvSpPr/>
          <p:nvPr/>
        </p:nvSpPr>
        <p:spPr>
          <a:xfrm>
            <a:off x="4361688" y="1481328"/>
            <a:ext cx="685800" cy="685800"/>
          </a:xfrm>
          <a:prstGeom prst="diamond">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i="0">
                <a:solidFill>
                  <a:srgbClr val="FFFFFF"/>
                </a:solidFill>
                <a:latin typeface="Bahnschrift"/>
              </a:rPr>
              <a:t>G2</a:t>
            </a:r>
          </a:p>
        </p:txBody>
      </p:sp>
      <p:sp>
        <p:nvSpPr>
          <p:cNvPr id="16" name="TextBox 15"/>
          <p:cNvSpPr txBox="1"/>
          <p:nvPr/>
        </p:nvSpPr>
        <p:spPr>
          <a:xfrm>
            <a:off x="5138928" y="1481328"/>
            <a:ext cx="2331720" cy="685800"/>
          </a:xfrm>
          <a:prstGeom prst="rect">
            <a:avLst/>
          </a:prstGeom>
          <a:noFill/>
        </p:spPr>
        <p:txBody>
          <a:bodyPr wrap="square" lIns="36576" rIns="36576" tIns="18288" bIns="18288" anchor="ctr">
            <a:spAutoFit/>
          </a:bodyPr>
          <a:lstStyle/>
          <a:p>
            <a:pPr algn="l"/>
            <a:r>
              <a:rPr sz="1700" b="1" i="0">
                <a:solidFill>
                  <a:srgbClr val="002B55"/>
                </a:solidFill>
                <a:latin typeface="Bahnschrift"/>
              </a:rPr>
              <a:t>[Gate 2 name]</a:t>
            </a:r>
          </a:p>
        </p:txBody>
      </p:sp>
      <p:sp>
        <p:nvSpPr>
          <p:cNvPr id="17" name="TextBox 16"/>
          <p:cNvSpPr txBox="1"/>
          <p:nvPr/>
        </p:nvSpPr>
        <p:spPr>
          <a:xfrm>
            <a:off x="4407408" y="2377440"/>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Where  </a:t>
            </a:r>
            <a:r>
              <a:rPr sz="1400" b="0" i="0">
                <a:solidFill>
                  <a:srgbClr val="002B55"/>
                </a:solidFill>
                <a:latin typeface="Arial"/>
              </a:rPr>
              <a:t>[after which step]</a:t>
            </a:r>
          </a:p>
        </p:txBody>
      </p:sp>
      <p:sp>
        <p:nvSpPr>
          <p:cNvPr id="18" name="TextBox 17"/>
          <p:cNvSpPr txBox="1"/>
          <p:nvPr/>
        </p:nvSpPr>
        <p:spPr>
          <a:xfrm>
            <a:off x="4407408" y="2953512"/>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Who decides  </a:t>
            </a:r>
            <a:r>
              <a:rPr sz="1400" b="0" i="0">
                <a:solidFill>
                  <a:srgbClr val="002B55"/>
                </a:solidFill>
                <a:latin typeface="Arial"/>
              </a:rPr>
              <a:t>[role]</a:t>
            </a:r>
          </a:p>
        </p:txBody>
      </p:sp>
      <p:sp>
        <p:nvSpPr>
          <p:cNvPr id="19" name="TextBox 18"/>
          <p:cNvSpPr txBox="1"/>
          <p:nvPr/>
        </p:nvSpPr>
        <p:spPr>
          <a:xfrm>
            <a:off x="4407408" y="3529584"/>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Sees  </a:t>
            </a:r>
            <a:r>
              <a:rPr sz="1400" b="0" i="0">
                <a:solidFill>
                  <a:srgbClr val="002B55"/>
                </a:solidFill>
                <a:latin typeface="Arial"/>
              </a:rPr>
              <a:t>[evidence pack]</a:t>
            </a:r>
          </a:p>
        </p:txBody>
      </p:sp>
      <p:sp>
        <p:nvSpPr>
          <p:cNvPr id="20" name="TextBox 19"/>
          <p:cNvSpPr txBox="1"/>
          <p:nvPr/>
        </p:nvSpPr>
        <p:spPr>
          <a:xfrm>
            <a:off x="4407408" y="4105656"/>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Why a human  </a:t>
            </a:r>
            <a:r>
              <a:rPr sz="1400" b="0" i="0">
                <a:solidFill>
                  <a:srgbClr val="002B55"/>
                </a:solidFill>
                <a:latin typeface="Arial"/>
              </a:rPr>
              <a:t>[reason]</a:t>
            </a:r>
          </a:p>
        </p:txBody>
      </p:sp>
      <p:sp>
        <p:nvSpPr>
          <p:cNvPr id="21" name="TextBox 20"/>
          <p:cNvSpPr txBox="1"/>
          <p:nvPr/>
        </p:nvSpPr>
        <p:spPr>
          <a:xfrm>
            <a:off x="4407408" y="4681728"/>
            <a:ext cx="3017520" cy="548640"/>
          </a:xfrm>
          <a:prstGeom prst="rect">
            <a:avLst/>
          </a:prstGeom>
          <a:noFill/>
        </p:spPr>
        <p:txBody>
          <a:bodyPr wrap="square" lIns="36576" rIns="36576" tIns="18288" bIns="18288" anchor="t">
            <a:spAutoFit/>
          </a:bodyPr>
          <a:lstStyle/>
          <a:p>
            <a:pPr algn="l"/>
            <a:r>
              <a:rPr sz="1400" b="1" i="0">
                <a:solidFill>
                  <a:srgbClr val="007879"/>
                </a:solidFill>
                <a:latin typeface="Arial"/>
              </a:rPr>
              <a:t>If rejected  </a:t>
            </a:r>
            <a:r>
              <a:rPr sz="1400" b="0" i="0">
                <a:solidFill>
                  <a:srgbClr val="002B55"/>
                </a:solidFill>
                <a:latin typeface="Arial"/>
              </a:rPr>
              <a:t>[what happens]</a:t>
            </a:r>
          </a:p>
        </p:txBody>
      </p:sp>
      <p:sp>
        <p:nvSpPr>
          <p:cNvPr id="22" name="Rounded Rectangle 21"/>
          <p:cNvSpPr/>
          <p:nvPr/>
        </p:nvSpPr>
        <p:spPr>
          <a:xfrm>
            <a:off x="7635240" y="3703320"/>
            <a:ext cx="3950208" cy="1600200"/>
          </a:xfrm>
          <a:prstGeom prst="roundRect">
            <a:avLst>
              <a:gd name="adj" fmla="val 6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900" b="1" i="0">
                <a:solidFill>
                  <a:srgbClr val="007879"/>
                </a:solidFill>
                <a:latin typeface="Bahnschrift"/>
              </a:rPr>
              <a:t>Agents prepare. </a:t>
            </a:r>
            <a:r>
              <a:rPr sz="1900" b="1" i="0">
                <a:solidFill>
                  <a:srgbClr val="002B55"/>
                </a:solidFill>
                <a:latin typeface="Bahnschrift"/>
              </a:rPr>
              <a:t>Humans approve, sign and send.</a:t>
            </a:r>
          </a:p>
        </p:txBody>
      </p:sp>
      <p:sp>
        <p:nvSpPr>
          <p:cNvPr id="23" name="Rounded Rectangle 22"/>
          <p:cNvSpPr/>
          <p:nvPr/>
        </p:nvSpPr>
        <p:spPr>
          <a:xfrm>
            <a:off x="612648" y="5532120"/>
            <a:ext cx="10972800" cy="640080"/>
          </a:xfrm>
          <a:prstGeom prst="roundRect">
            <a:avLst>
              <a:gd name="adj" fmla="val 10000"/>
            </a:avLst>
          </a:prstGeom>
          <a:solidFill>
            <a:srgbClr val="FDEB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B4501F"/>
                </a:solidFill>
                <a:latin typeface="Arial"/>
              </a:rPr>
              <a:t>Always-on stop: </a:t>
            </a:r>
            <a:r>
              <a:rPr sz="1500" b="0" i="0">
                <a:solidFill>
                  <a:srgbClr val="B4501F"/>
                </a:solidFill>
                <a:latin typeface="Arial"/>
              </a:rPr>
              <a:t>any possible adverse event, product complaint or off-label signal goes to a human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Our swarm: [N] digital workers, one human judge</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06</a:t>
            </a:r>
          </a:p>
        </p:txBody>
      </p:sp>
      <p:sp>
        <p:nvSpPr>
          <p:cNvPr id="5" name="Rounded Rectangle 4"/>
          <p:cNvSpPr/>
          <p:nvPr/>
        </p:nvSpPr>
        <p:spPr>
          <a:xfrm>
            <a:off x="4087368" y="1188720"/>
            <a:ext cx="4023360" cy="548640"/>
          </a:xfrm>
          <a:prstGeom prst="roundRect">
            <a:avLst>
              <a:gd name="adj" fmla="val 12000"/>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Bahnschrift"/>
              </a:rPr>
              <a:t>[Human owner · role] · final judge</a:t>
            </a:r>
          </a:p>
        </p:txBody>
      </p:sp>
      <p:sp>
        <p:nvSpPr>
          <p:cNvPr id="6" name="Rounded Rectangle 5"/>
          <p:cNvSpPr/>
          <p:nvPr/>
        </p:nvSpPr>
        <p:spPr>
          <a:xfrm>
            <a:off x="4087368" y="1965960"/>
            <a:ext cx="4023360" cy="566928"/>
          </a:xfrm>
          <a:prstGeom prst="roundRect">
            <a:avLst>
              <a:gd name="adj" fmla="val 12000"/>
            </a:avLst>
          </a:prstGeom>
          <a:solidFill>
            <a:srgbClr val="002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Bahnschrift"/>
              </a:rPr>
              <a:t>[Lead agent] · coordinator</a:t>
            </a:r>
          </a:p>
          <a:p>
            <a:pPr algn="ctr"/>
            <a:r>
              <a:rPr sz="1100" b="0" i="0">
                <a:solidFill>
                  <a:srgbClr val="FFFFFF"/>
                </a:solidFill>
                <a:latin typeface="Arial"/>
              </a:rPr>
              <a:t>skill: [lead-skill-name]</a:t>
            </a:r>
          </a:p>
        </p:txBody>
      </p:sp>
      <p:cxnSp>
        <p:nvCxnSpPr>
          <p:cNvPr id="7" name="Connector 6"/>
          <p:cNvCxnSpPr/>
          <p:nvPr/>
        </p:nvCxnSpPr>
        <p:spPr>
          <a:xfrm>
            <a:off x="6099048" y="1737360"/>
            <a:ext cx="0" cy="228600"/>
          </a:xfrm>
          <a:prstGeom prst="line">
            <a:avLst/>
          </a:prstGeom>
          <a:ln w="15875">
            <a:solidFill>
              <a:srgbClr val="2845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915400" y="1188720"/>
            <a:ext cx="2670048" cy="685800"/>
          </a:xfrm>
          <a:prstGeom prst="roundRect">
            <a:avLst>
              <a:gd name="adj" fmla="val 12000"/>
            </a:avLst>
          </a:prstGeom>
          <a:noFill/>
          <a:ln w="15875">
            <a:solidFill>
              <a:srgbClr val="F4773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47735"/>
                </a:solidFill>
                <a:latin typeface="Bahnschrift"/>
              </a:rPr>
              <a:t>[Independent checker]</a:t>
            </a:r>
          </a:p>
          <a:p>
            <a:pPr algn="ctr"/>
            <a:r>
              <a:rPr sz="1050" b="0" i="0">
                <a:solidFill>
                  <a:srgbClr val="28455F"/>
                </a:solidFill>
                <a:latin typeface="Arial"/>
              </a:rPr>
              <a:t>deliverable-quality-review · reports to the human</a:t>
            </a:r>
          </a:p>
        </p:txBody>
      </p:sp>
      <p:cxnSp>
        <p:nvCxnSpPr>
          <p:cNvPr id="9" name="Connector 8"/>
          <p:cNvCxnSpPr/>
          <p:nvPr/>
        </p:nvCxnSpPr>
        <p:spPr>
          <a:xfrm flipH="1">
            <a:off x="8110727" y="1463040"/>
            <a:ext cx="804673" cy="0"/>
          </a:xfrm>
          <a:prstGeom prst="line">
            <a:avLst/>
          </a:prstGeom>
          <a:ln w="15875">
            <a:solidFill>
              <a:srgbClr val="F4773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612648" y="1143000"/>
            <a:ext cx="502920" cy="502920"/>
          </a:xfrm>
          <a:prstGeom prst="diamond">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G1</a:t>
            </a:r>
          </a:p>
        </p:txBody>
      </p:sp>
      <p:sp>
        <p:nvSpPr>
          <p:cNvPr id="11" name="TextBox 10"/>
          <p:cNvSpPr txBox="1"/>
          <p:nvPr/>
        </p:nvSpPr>
        <p:spPr>
          <a:xfrm>
            <a:off x="1188720" y="1161288"/>
            <a:ext cx="2834640" cy="457200"/>
          </a:xfrm>
          <a:prstGeom prst="rect">
            <a:avLst/>
          </a:prstGeom>
          <a:noFill/>
        </p:spPr>
        <p:txBody>
          <a:bodyPr wrap="square" lIns="36576" rIns="36576" tIns="18288" bIns="18288" anchor="t">
            <a:spAutoFit/>
          </a:bodyPr>
          <a:lstStyle/>
          <a:p>
            <a:pPr algn="l"/>
            <a:r>
              <a:rPr sz="1200" b="0" i="0">
                <a:solidFill>
                  <a:srgbClr val="002B55"/>
                </a:solidFill>
                <a:latin typeface="Arial"/>
              </a:rPr>
              <a:t>Gate 1 · [what the human approves]</a:t>
            </a:r>
          </a:p>
        </p:txBody>
      </p:sp>
      <p:sp>
        <p:nvSpPr>
          <p:cNvPr id="12" name="Diamond 11"/>
          <p:cNvSpPr/>
          <p:nvPr/>
        </p:nvSpPr>
        <p:spPr>
          <a:xfrm>
            <a:off x="612648" y="1737360"/>
            <a:ext cx="502920" cy="502920"/>
          </a:xfrm>
          <a:prstGeom prst="diamond">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G2</a:t>
            </a:r>
          </a:p>
        </p:txBody>
      </p:sp>
      <p:sp>
        <p:nvSpPr>
          <p:cNvPr id="13" name="TextBox 12"/>
          <p:cNvSpPr txBox="1"/>
          <p:nvPr/>
        </p:nvSpPr>
        <p:spPr>
          <a:xfrm>
            <a:off x="1188720" y="1755648"/>
            <a:ext cx="2834640" cy="457200"/>
          </a:xfrm>
          <a:prstGeom prst="rect">
            <a:avLst/>
          </a:prstGeom>
          <a:noFill/>
        </p:spPr>
        <p:txBody>
          <a:bodyPr wrap="square" lIns="36576" rIns="36576" tIns="18288" bIns="18288" anchor="t">
            <a:spAutoFit/>
          </a:bodyPr>
          <a:lstStyle/>
          <a:p>
            <a:pPr algn="l"/>
            <a:r>
              <a:rPr sz="1200" b="0" i="0">
                <a:solidFill>
                  <a:srgbClr val="002B55"/>
                </a:solidFill>
                <a:latin typeface="Arial"/>
              </a:rPr>
              <a:t>Gate 2 · [what the human signs off]</a:t>
            </a:r>
          </a:p>
        </p:txBody>
      </p:sp>
      <p:cxnSp>
        <p:nvCxnSpPr>
          <p:cNvPr id="14" name="Connector 13"/>
          <p:cNvCxnSpPr/>
          <p:nvPr/>
        </p:nvCxnSpPr>
        <p:spPr>
          <a:xfrm>
            <a:off x="6099048" y="2532888"/>
            <a:ext cx="0" cy="192024"/>
          </a:xfrm>
          <a:prstGeom prst="line">
            <a:avLst/>
          </a:prstGeom>
          <a:ln w="15875">
            <a:solidFill>
              <a:srgbClr val="28455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915668" y="2724912"/>
            <a:ext cx="8366760" cy="0"/>
          </a:xfrm>
          <a:prstGeom prst="line">
            <a:avLst/>
          </a:prstGeom>
          <a:ln w="15875">
            <a:solidFill>
              <a:srgbClr val="28455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2648" y="2926080"/>
            <a:ext cx="2606040" cy="566928"/>
          </a:xfrm>
          <a:prstGeom prst="roundRect">
            <a:avLst>
              <a:gd name="adj" fmla="val 12000"/>
            </a:avLst>
          </a:prstGeom>
          <a:solidFill>
            <a:srgbClr val="002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Bahnschrift"/>
              </a:rPr>
              <a:t>[Sub-agent 1]</a:t>
            </a:r>
          </a:p>
        </p:txBody>
      </p:sp>
      <p:cxnSp>
        <p:nvCxnSpPr>
          <p:cNvPr id="17" name="Connector 16"/>
          <p:cNvCxnSpPr/>
          <p:nvPr/>
        </p:nvCxnSpPr>
        <p:spPr>
          <a:xfrm>
            <a:off x="1915668" y="2724912"/>
            <a:ext cx="0" cy="201168"/>
          </a:xfrm>
          <a:prstGeom prst="line">
            <a:avLst/>
          </a:prstGeom>
          <a:ln w="15875">
            <a:solidFill>
              <a:srgbClr val="2845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2648" y="3611880"/>
            <a:ext cx="2606040" cy="4572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Skill: </a:t>
            </a:r>
            <a:r>
              <a:rPr sz="1200" b="0" i="0">
                <a:solidFill>
                  <a:srgbClr val="002B55"/>
                </a:solidFill>
                <a:latin typeface="Arial"/>
              </a:rPr>
              <a:t>[skill-name]</a:t>
            </a:r>
          </a:p>
        </p:txBody>
      </p:sp>
      <p:sp>
        <p:nvSpPr>
          <p:cNvPr id="19" name="Rounded Rectangle 18"/>
          <p:cNvSpPr/>
          <p:nvPr/>
        </p:nvSpPr>
        <p:spPr>
          <a:xfrm>
            <a:off x="612648" y="4160520"/>
            <a:ext cx="2606040" cy="6858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Does: </a:t>
            </a:r>
            <a:r>
              <a:rPr sz="1200" b="0" i="0">
                <a:solidFill>
                  <a:srgbClr val="002B55"/>
                </a:solidFill>
                <a:latin typeface="Arial"/>
              </a:rPr>
              <a:t>[one task in 6 words]</a:t>
            </a:r>
          </a:p>
        </p:txBody>
      </p:sp>
      <p:sp>
        <p:nvSpPr>
          <p:cNvPr id="20" name="Rounded Rectangle 19"/>
          <p:cNvSpPr/>
          <p:nvPr/>
        </p:nvSpPr>
        <p:spPr>
          <a:xfrm>
            <a:off x="612648" y="4937760"/>
            <a:ext cx="2606040" cy="457200"/>
          </a:xfrm>
          <a:prstGeom prst="roundRect">
            <a:avLst>
              <a:gd name="adj" fmla="val 12000"/>
            </a:avLst>
          </a:prstGeom>
          <a:solidFill>
            <a:srgbClr val="FFFFFF"/>
          </a:solidFill>
          <a:ln w="15875">
            <a:solidFill>
              <a:srgbClr val="F477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47735"/>
                </a:solidFill>
                <a:latin typeface="Arial"/>
              </a:rPr>
              <a:t>Hands off → </a:t>
            </a:r>
            <a:r>
              <a:rPr sz="1200" b="0" i="0">
                <a:solidFill>
                  <a:srgbClr val="002B55"/>
                </a:solidFill>
                <a:latin typeface="Arial"/>
              </a:rPr>
              <a:t>[output]</a:t>
            </a:r>
          </a:p>
        </p:txBody>
      </p:sp>
      <p:sp>
        <p:nvSpPr>
          <p:cNvPr id="21" name="Rounded Rectangle 20"/>
          <p:cNvSpPr/>
          <p:nvPr/>
        </p:nvSpPr>
        <p:spPr>
          <a:xfrm>
            <a:off x="3401568" y="2926080"/>
            <a:ext cx="2606040" cy="566928"/>
          </a:xfrm>
          <a:prstGeom prst="roundRect">
            <a:avLst>
              <a:gd name="adj" fmla="val 12000"/>
            </a:avLst>
          </a:prstGeom>
          <a:solidFill>
            <a:srgbClr val="1D5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Bahnschrift"/>
              </a:rPr>
              <a:t>[Sub-agent 2]</a:t>
            </a:r>
          </a:p>
        </p:txBody>
      </p:sp>
      <p:cxnSp>
        <p:nvCxnSpPr>
          <p:cNvPr id="22" name="Connector 21"/>
          <p:cNvCxnSpPr/>
          <p:nvPr/>
        </p:nvCxnSpPr>
        <p:spPr>
          <a:xfrm>
            <a:off x="4704588" y="2724912"/>
            <a:ext cx="0" cy="201168"/>
          </a:xfrm>
          <a:prstGeom prst="line">
            <a:avLst/>
          </a:prstGeom>
          <a:ln w="15875">
            <a:solidFill>
              <a:srgbClr val="2845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401568" y="3611880"/>
            <a:ext cx="2606040" cy="457200"/>
          </a:xfrm>
          <a:prstGeom prst="roundRect">
            <a:avLst>
              <a:gd name="adj" fmla="val 12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Skill: </a:t>
            </a:r>
            <a:r>
              <a:rPr sz="1200" b="0" i="0">
                <a:solidFill>
                  <a:srgbClr val="002B55"/>
                </a:solidFill>
                <a:latin typeface="Arial"/>
              </a:rPr>
              <a:t>[skill-name]</a:t>
            </a:r>
          </a:p>
        </p:txBody>
      </p:sp>
      <p:sp>
        <p:nvSpPr>
          <p:cNvPr id="24" name="Rounded Rectangle 23"/>
          <p:cNvSpPr/>
          <p:nvPr/>
        </p:nvSpPr>
        <p:spPr>
          <a:xfrm>
            <a:off x="3401568" y="4160520"/>
            <a:ext cx="2606040" cy="685800"/>
          </a:xfrm>
          <a:prstGeom prst="roundRect">
            <a:avLst>
              <a:gd name="adj" fmla="val 12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Does: </a:t>
            </a:r>
            <a:r>
              <a:rPr sz="1200" b="0" i="0">
                <a:solidFill>
                  <a:srgbClr val="002B55"/>
                </a:solidFill>
                <a:latin typeface="Arial"/>
              </a:rPr>
              <a:t>[one task in 6 words]</a:t>
            </a:r>
          </a:p>
        </p:txBody>
      </p:sp>
      <p:sp>
        <p:nvSpPr>
          <p:cNvPr id="25" name="Rounded Rectangle 24"/>
          <p:cNvSpPr/>
          <p:nvPr/>
        </p:nvSpPr>
        <p:spPr>
          <a:xfrm>
            <a:off x="3401568" y="4937760"/>
            <a:ext cx="2606040" cy="457200"/>
          </a:xfrm>
          <a:prstGeom prst="roundRect">
            <a:avLst>
              <a:gd name="adj" fmla="val 12000"/>
            </a:avLst>
          </a:prstGeom>
          <a:solidFill>
            <a:srgbClr val="FFFFFF"/>
          </a:solidFill>
          <a:ln w="15875">
            <a:solidFill>
              <a:srgbClr val="F477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47735"/>
                </a:solidFill>
                <a:latin typeface="Arial"/>
              </a:rPr>
              <a:t>Hands off → </a:t>
            </a:r>
            <a:r>
              <a:rPr sz="1200" b="0" i="0">
                <a:solidFill>
                  <a:srgbClr val="002B55"/>
                </a:solidFill>
                <a:latin typeface="Arial"/>
              </a:rPr>
              <a:t>[output]</a:t>
            </a:r>
          </a:p>
        </p:txBody>
      </p:sp>
      <p:sp>
        <p:nvSpPr>
          <p:cNvPr id="26" name="Rounded Rectangle 25"/>
          <p:cNvSpPr/>
          <p:nvPr/>
        </p:nvSpPr>
        <p:spPr>
          <a:xfrm>
            <a:off x="6190488" y="2926080"/>
            <a:ext cx="2606040" cy="566928"/>
          </a:xfrm>
          <a:prstGeom prst="roundRect">
            <a:avLst>
              <a:gd name="adj" fmla="val 12000"/>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Bahnschrift"/>
              </a:rPr>
              <a:t>[Sub-agent 3]</a:t>
            </a:r>
          </a:p>
        </p:txBody>
      </p:sp>
      <p:cxnSp>
        <p:nvCxnSpPr>
          <p:cNvPr id="27" name="Connector 26"/>
          <p:cNvCxnSpPr/>
          <p:nvPr/>
        </p:nvCxnSpPr>
        <p:spPr>
          <a:xfrm>
            <a:off x="7493508" y="2724912"/>
            <a:ext cx="0" cy="201168"/>
          </a:xfrm>
          <a:prstGeom prst="line">
            <a:avLst/>
          </a:prstGeom>
          <a:ln w="15875">
            <a:solidFill>
              <a:srgbClr val="2845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90488" y="3611880"/>
            <a:ext cx="2606040" cy="4572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Skill: </a:t>
            </a:r>
            <a:r>
              <a:rPr sz="1200" b="0" i="0">
                <a:solidFill>
                  <a:srgbClr val="002B55"/>
                </a:solidFill>
                <a:latin typeface="Arial"/>
              </a:rPr>
              <a:t>[skill-name]</a:t>
            </a:r>
          </a:p>
        </p:txBody>
      </p:sp>
      <p:sp>
        <p:nvSpPr>
          <p:cNvPr id="29" name="Rounded Rectangle 28"/>
          <p:cNvSpPr/>
          <p:nvPr/>
        </p:nvSpPr>
        <p:spPr>
          <a:xfrm>
            <a:off x="6190488" y="4160520"/>
            <a:ext cx="2606040" cy="6858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Does: </a:t>
            </a:r>
            <a:r>
              <a:rPr sz="1200" b="0" i="0">
                <a:solidFill>
                  <a:srgbClr val="002B55"/>
                </a:solidFill>
                <a:latin typeface="Arial"/>
              </a:rPr>
              <a:t>[one task in 6 words]</a:t>
            </a:r>
          </a:p>
        </p:txBody>
      </p:sp>
      <p:sp>
        <p:nvSpPr>
          <p:cNvPr id="30" name="Rounded Rectangle 29"/>
          <p:cNvSpPr/>
          <p:nvPr/>
        </p:nvSpPr>
        <p:spPr>
          <a:xfrm>
            <a:off x="6190488" y="4937760"/>
            <a:ext cx="2606040" cy="457200"/>
          </a:xfrm>
          <a:prstGeom prst="roundRect">
            <a:avLst>
              <a:gd name="adj" fmla="val 12000"/>
            </a:avLst>
          </a:prstGeom>
          <a:solidFill>
            <a:srgbClr val="FFFFFF"/>
          </a:solidFill>
          <a:ln w="15875">
            <a:solidFill>
              <a:srgbClr val="F477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47735"/>
                </a:solidFill>
                <a:latin typeface="Arial"/>
              </a:rPr>
              <a:t>Hands off → </a:t>
            </a:r>
            <a:r>
              <a:rPr sz="1200" b="0" i="0">
                <a:solidFill>
                  <a:srgbClr val="002B55"/>
                </a:solidFill>
                <a:latin typeface="Arial"/>
              </a:rPr>
              <a:t>[output]</a:t>
            </a:r>
          </a:p>
        </p:txBody>
      </p:sp>
      <p:sp>
        <p:nvSpPr>
          <p:cNvPr id="31" name="Rounded Rectangle 30"/>
          <p:cNvSpPr/>
          <p:nvPr/>
        </p:nvSpPr>
        <p:spPr>
          <a:xfrm>
            <a:off x="8979408" y="2926080"/>
            <a:ext cx="2606040" cy="566928"/>
          </a:xfrm>
          <a:prstGeom prst="roundRect">
            <a:avLst>
              <a:gd name="adj" fmla="val 12000"/>
            </a:avLst>
          </a:prstGeom>
          <a:solidFill>
            <a:srgbClr val="3A8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Bahnschrift"/>
              </a:rPr>
              <a:t>[Sub-agent 4]</a:t>
            </a:r>
          </a:p>
        </p:txBody>
      </p:sp>
      <p:cxnSp>
        <p:nvCxnSpPr>
          <p:cNvPr id="32" name="Connector 31"/>
          <p:cNvCxnSpPr/>
          <p:nvPr/>
        </p:nvCxnSpPr>
        <p:spPr>
          <a:xfrm>
            <a:off x="10282428" y="2724912"/>
            <a:ext cx="0" cy="201168"/>
          </a:xfrm>
          <a:prstGeom prst="line">
            <a:avLst/>
          </a:prstGeom>
          <a:ln w="15875">
            <a:solidFill>
              <a:srgbClr val="2845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979408" y="3611880"/>
            <a:ext cx="2606040" cy="457200"/>
          </a:xfrm>
          <a:prstGeom prst="roundRect">
            <a:avLst>
              <a:gd name="adj" fmla="val 12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Skill: </a:t>
            </a:r>
            <a:r>
              <a:rPr sz="1200" b="0" i="0">
                <a:solidFill>
                  <a:srgbClr val="002B55"/>
                </a:solidFill>
                <a:latin typeface="Arial"/>
              </a:rPr>
              <a:t>[skill-name]</a:t>
            </a:r>
          </a:p>
        </p:txBody>
      </p:sp>
      <p:sp>
        <p:nvSpPr>
          <p:cNvPr id="34" name="Rounded Rectangle 33"/>
          <p:cNvSpPr/>
          <p:nvPr/>
        </p:nvSpPr>
        <p:spPr>
          <a:xfrm>
            <a:off x="8979408" y="4160520"/>
            <a:ext cx="2606040" cy="685800"/>
          </a:xfrm>
          <a:prstGeom prst="roundRect">
            <a:avLst>
              <a:gd name="adj" fmla="val 12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55"/>
                </a:solidFill>
                <a:latin typeface="Arial"/>
              </a:rPr>
              <a:t>Does: </a:t>
            </a:r>
            <a:r>
              <a:rPr sz="1200" b="0" i="0">
                <a:solidFill>
                  <a:srgbClr val="002B55"/>
                </a:solidFill>
                <a:latin typeface="Arial"/>
              </a:rPr>
              <a:t>[one task in 6 words]</a:t>
            </a:r>
          </a:p>
        </p:txBody>
      </p:sp>
      <p:sp>
        <p:nvSpPr>
          <p:cNvPr id="35" name="Rounded Rectangle 34"/>
          <p:cNvSpPr/>
          <p:nvPr/>
        </p:nvSpPr>
        <p:spPr>
          <a:xfrm>
            <a:off x="8979408" y="4937760"/>
            <a:ext cx="2606040" cy="457200"/>
          </a:xfrm>
          <a:prstGeom prst="roundRect">
            <a:avLst>
              <a:gd name="adj" fmla="val 12000"/>
            </a:avLst>
          </a:prstGeom>
          <a:solidFill>
            <a:srgbClr val="FFFFFF"/>
          </a:solidFill>
          <a:ln w="15875">
            <a:solidFill>
              <a:srgbClr val="F477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47735"/>
                </a:solidFill>
                <a:latin typeface="Arial"/>
              </a:rPr>
              <a:t>Hands off → </a:t>
            </a:r>
            <a:r>
              <a:rPr sz="1200" b="0" i="0">
                <a:solidFill>
                  <a:srgbClr val="002B55"/>
                </a:solidFill>
                <a:latin typeface="Arial"/>
              </a:rPr>
              <a:t>[output]</a:t>
            </a:r>
          </a:p>
        </p:txBody>
      </p:sp>
      <p:sp>
        <p:nvSpPr>
          <p:cNvPr id="36" name="TextBox 35"/>
          <p:cNvSpPr txBox="1"/>
          <p:nvPr/>
        </p:nvSpPr>
        <p:spPr>
          <a:xfrm>
            <a:off x="612648" y="5623560"/>
            <a:ext cx="10972800" cy="411480"/>
          </a:xfrm>
          <a:prstGeom prst="rect">
            <a:avLst/>
          </a:prstGeom>
          <a:noFill/>
        </p:spPr>
        <p:txBody>
          <a:bodyPr wrap="square" lIns="36576" rIns="36576" tIns="18288" bIns="18288" anchor="t">
            <a:spAutoFit/>
          </a:bodyPr>
          <a:lstStyle/>
          <a:p>
            <a:pPr algn="ctr"/>
            <a:r>
              <a:rPr sz="1500" b="1" i="0">
                <a:solidFill>
                  <a:srgbClr val="007879"/>
                </a:solidFill>
                <a:latin typeface="Bahnschrift"/>
              </a:rPr>
              <a:t>[N] sub-agents · [N] skills · [N] hand-offs · 2 human gates · </a:t>
            </a:r>
            <a:r>
              <a:rPr sz="1500" b="1" i="0">
                <a:solidFill>
                  <a:srgbClr val="F47735"/>
                </a:solidFill>
                <a:latin typeface="Bahnschrift"/>
              </a:rPr>
              <a:t>a human is the final judge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Live: watch the swarm run</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07</a:t>
            </a:r>
          </a:p>
        </p:txBody>
      </p:sp>
      <p:sp>
        <p:nvSpPr>
          <p:cNvPr id="5" name="Rounded Rectangle 4"/>
          <p:cNvSpPr/>
          <p:nvPr/>
        </p:nvSpPr>
        <p:spPr>
          <a:xfrm>
            <a:off x="612648" y="1325880"/>
            <a:ext cx="3383280" cy="4069080"/>
          </a:xfrm>
          <a:prstGeom prst="roundRect">
            <a:avLst>
              <a:gd name="adj" fmla="val 4000"/>
            </a:avLst>
          </a:prstGeom>
          <a:solidFill>
            <a:srgbClr val="FFFFFF"/>
          </a:solidFill>
          <a:ln w="15875">
            <a:solidFill>
              <a:srgbClr val="8A9BA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solidFill>
                  <a:srgbClr val="8A9BAA"/>
                </a:solidFill>
                <a:latin typeface="Arial"/>
              </a:rPr>
              <a:t>[Screenshot 1: the assignment + the agent's plan]</a:t>
            </a:r>
          </a:p>
        </p:txBody>
      </p:sp>
      <p:sp>
        <p:nvSpPr>
          <p:cNvPr id="6" name="Rounded Rectangle 5"/>
          <p:cNvSpPr/>
          <p:nvPr/>
        </p:nvSpPr>
        <p:spPr>
          <a:xfrm>
            <a:off x="4178808" y="1325880"/>
            <a:ext cx="3383280" cy="4069080"/>
          </a:xfrm>
          <a:prstGeom prst="roundRect">
            <a:avLst>
              <a:gd name="adj" fmla="val 4000"/>
            </a:avLst>
          </a:prstGeom>
          <a:solidFill>
            <a:srgbClr val="FFFFFF"/>
          </a:solidFill>
          <a:ln w="15875">
            <a:solidFill>
              <a:srgbClr val="8A9BA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solidFill>
                  <a:srgbClr val="8A9BAA"/>
                </a:solidFill>
                <a:latin typeface="Arial"/>
              </a:rPr>
              <a:t>[Screenshot 2: sub-agent outputs / final deliverable]</a:t>
            </a:r>
          </a:p>
        </p:txBody>
      </p:sp>
      <p:sp>
        <p:nvSpPr>
          <p:cNvPr id="7" name="TextBox 6"/>
          <p:cNvSpPr txBox="1"/>
          <p:nvPr/>
        </p:nvSpPr>
        <p:spPr>
          <a:xfrm>
            <a:off x="7863840" y="1280160"/>
            <a:ext cx="3657600" cy="365760"/>
          </a:xfrm>
          <a:prstGeom prst="rect">
            <a:avLst/>
          </a:prstGeom>
          <a:noFill/>
        </p:spPr>
        <p:txBody>
          <a:bodyPr wrap="square" lIns="36576" rIns="36576" tIns="18288" bIns="18288" anchor="t">
            <a:spAutoFit/>
          </a:bodyPr>
          <a:lstStyle/>
          <a:p>
            <a:pPr algn="l"/>
            <a:r>
              <a:rPr sz="1300" b="1" i="0">
                <a:solidFill>
                  <a:srgbClr val="007879"/>
                </a:solidFill>
                <a:latin typeface="Bahnschrift"/>
              </a:rPr>
              <a:t>RUN OF SHOW · 4 MIN</a:t>
            </a:r>
          </a:p>
        </p:txBody>
      </p:sp>
      <p:sp>
        <p:nvSpPr>
          <p:cNvPr id="8" name="Oval 7"/>
          <p:cNvSpPr/>
          <p:nvPr/>
        </p:nvSpPr>
        <p:spPr>
          <a:xfrm>
            <a:off x="7863840" y="1737360"/>
            <a:ext cx="566928" cy="566928"/>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i="0">
                <a:solidFill>
                  <a:srgbClr val="FFFFFF"/>
                </a:solidFill>
                <a:latin typeface="Bahnschrift"/>
              </a:rPr>
              <a:t>1</a:t>
            </a:r>
          </a:p>
        </p:txBody>
      </p:sp>
      <p:sp>
        <p:nvSpPr>
          <p:cNvPr id="9" name="TextBox 8"/>
          <p:cNvSpPr txBox="1"/>
          <p:nvPr/>
        </p:nvSpPr>
        <p:spPr>
          <a:xfrm>
            <a:off x="8549640" y="1719072"/>
            <a:ext cx="3063240" cy="237744"/>
          </a:xfrm>
          <a:prstGeom prst="rect">
            <a:avLst/>
          </a:prstGeom>
          <a:noFill/>
        </p:spPr>
        <p:txBody>
          <a:bodyPr wrap="square" lIns="36576" rIns="36576" tIns="18288" bIns="18288" anchor="t">
            <a:spAutoFit/>
          </a:bodyPr>
          <a:lstStyle/>
          <a:p>
            <a:pPr algn="l"/>
            <a:r>
              <a:rPr sz="1100" b="1" i="0">
                <a:solidFill>
                  <a:srgbClr val="8A9BAA"/>
                </a:solidFill>
                <a:latin typeface="Arial"/>
              </a:rPr>
              <a:t>0:00</a:t>
            </a:r>
          </a:p>
        </p:txBody>
      </p:sp>
      <p:sp>
        <p:nvSpPr>
          <p:cNvPr id="10" name="TextBox 9"/>
          <p:cNvSpPr txBox="1"/>
          <p:nvPr/>
        </p:nvSpPr>
        <p:spPr>
          <a:xfrm>
            <a:off x="8549640" y="1965960"/>
            <a:ext cx="3063240" cy="411480"/>
          </a:xfrm>
          <a:prstGeom prst="rect">
            <a:avLst/>
          </a:prstGeom>
          <a:noFill/>
        </p:spPr>
        <p:txBody>
          <a:bodyPr wrap="square" lIns="36576" rIns="36576" tIns="18288" bIns="18288" anchor="t">
            <a:spAutoFit/>
          </a:bodyPr>
          <a:lstStyle/>
          <a:p>
            <a:pPr algn="l"/>
            <a:r>
              <a:rPr sz="1300" b="1" i="0">
                <a:solidFill>
                  <a:srgbClr val="002B55"/>
                </a:solidFill>
                <a:latin typeface="Arial"/>
              </a:rPr>
              <a:t>[Show the assignment we gave]</a:t>
            </a:r>
          </a:p>
        </p:txBody>
      </p:sp>
      <p:sp>
        <p:nvSpPr>
          <p:cNvPr id="11" name="Oval 10"/>
          <p:cNvSpPr/>
          <p:nvPr/>
        </p:nvSpPr>
        <p:spPr>
          <a:xfrm>
            <a:off x="7863840" y="2487168"/>
            <a:ext cx="566928" cy="566928"/>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i="0">
                <a:solidFill>
                  <a:srgbClr val="FFFFFF"/>
                </a:solidFill>
                <a:latin typeface="Bahnschrift"/>
              </a:rPr>
              <a:t>2</a:t>
            </a:r>
          </a:p>
        </p:txBody>
      </p:sp>
      <p:sp>
        <p:nvSpPr>
          <p:cNvPr id="12" name="TextBox 11"/>
          <p:cNvSpPr txBox="1"/>
          <p:nvPr/>
        </p:nvSpPr>
        <p:spPr>
          <a:xfrm>
            <a:off x="8549640" y="2468879"/>
            <a:ext cx="3063240" cy="237744"/>
          </a:xfrm>
          <a:prstGeom prst="rect">
            <a:avLst/>
          </a:prstGeom>
          <a:noFill/>
        </p:spPr>
        <p:txBody>
          <a:bodyPr wrap="square" lIns="36576" rIns="36576" tIns="18288" bIns="18288" anchor="t">
            <a:spAutoFit/>
          </a:bodyPr>
          <a:lstStyle/>
          <a:p>
            <a:pPr algn="l"/>
            <a:r>
              <a:rPr sz="1100" b="1" i="0">
                <a:solidFill>
                  <a:srgbClr val="8A9BAA"/>
                </a:solidFill>
                <a:latin typeface="Arial"/>
              </a:rPr>
              <a:t>0:45</a:t>
            </a:r>
          </a:p>
        </p:txBody>
      </p:sp>
      <p:sp>
        <p:nvSpPr>
          <p:cNvPr id="13" name="TextBox 12"/>
          <p:cNvSpPr txBox="1"/>
          <p:nvPr/>
        </p:nvSpPr>
        <p:spPr>
          <a:xfrm>
            <a:off x="8549640" y="2715768"/>
            <a:ext cx="3063240" cy="411480"/>
          </a:xfrm>
          <a:prstGeom prst="rect">
            <a:avLst/>
          </a:prstGeom>
          <a:noFill/>
        </p:spPr>
        <p:txBody>
          <a:bodyPr wrap="square" lIns="36576" rIns="36576" tIns="18288" bIns="18288" anchor="t">
            <a:spAutoFit/>
          </a:bodyPr>
          <a:lstStyle/>
          <a:p>
            <a:pPr algn="l"/>
            <a:r>
              <a:rPr sz="1300" b="1" i="0">
                <a:solidFill>
                  <a:srgbClr val="002B55"/>
                </a:solidFill>
                <a:latin typeface="Arial"/>
              </a:rPr>
              <a:t>[Lead agent plans and splits]</a:t>
            </a:r>
          </a:p>
        </p:txBody>
      </p:sp>
      <p:sp>
        <p:nvSpPr>
          <p:cNvPr id="14" name="Oval 13"/>
          <p:cNvSpPr/>
          <p:nvPr/>
        </p:nvSpPr>
        <p:spPr>
          <a:xfrm>
            <a:off x="7863840" y="3236976"/>
            <a:ext cx="566928" cy="566928"/>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i="0">
                <a:solidFill>
                  <a:srgbClr val="FFFFFF"/>
                </a:solidFill>
                <a:latin typeface="Bahnschrift"/>
              </a:rPr>
              <a:t>3</a:t>
            </a:r>
          </a:p>
        </p:txBody>
      </p:sp>
      <p:sp>
        <p:nvSpPr>
          <p:cNvPr id="15" name="TextBox 14"/>
          <p:cNvSpPr txBox="1"/>
          <p:nvPr/>
        </p:nvSpPr>
        <p:spPr>
          <a:xfrm>
            <a:off x="8549640" y="3218688"/>
            <a:ext cx="3063240" cy="237744"/>
          </a:xfrm>
          <a:prstGeom prst="rect">
            <a:avLst/>
          </a:prstGeom>
          <a:noFill/>
        </p:spPr>
        <p:txBody>
          <a:bodyPr wrap="square" lIns="36576" rIns="36576" tIns="18288" bIns="18288" anchor="t">
            <a:spAutoFit/>
          </a:bodyPr>
          <a:lstStyle/>
          <a:p>
            <a:pPr algn="l"/>
            <a:r>
              <a:rPr sz="1100" b="1" i="0">
                <a:solidFill>
                  <a:srgbClr val="8A9BAA"/>
                </a:solidFill>
                <a:latin typeface="Arial"/>
              </a:rPr>
              <a:t>1:30</a:t>
            </a:r>
          </a:p>
        </p:txBody>
      </p:sp>
      <p:sp>
        <p:nvSpPr>
          <p:cNvPr id="16" name="TextBox 15"/>
          <p:cNvSpPr txBox="1"/>
          <p:nvPr/>
        </p:nvSpPr>
        <p:spPr>
          <a:xfrm>
            <a:off x="8549640" y="3465576"/>
            <a:ext cx="3063240" cy="411480"/>
          </a:xfrm>
          <a:prstGeom prst="rect">
            <a:avLst/>
          </a:prstGeom>
          <a:noFill/>
        </p:spPr>
        <p:txBody>
          <a:bodyPr wrap="square" lIns="36576" rIns="36576" tIns="18288" bIns="18288" anchor="t">
            <a:spAutoFit/>
          </a:bodyPr>
          <a:lstStyle/>
          <a:p>
            <a:pPr algn="l"/>
            <a:r>
              <a:rPr sz="1300" b="1" i="0">
                <a:solidFill>
                  <a:srgbClr val="002B55"/>
                </a:solidFill>
                <a:latin typeface="Arial"/>
              </a:rPr>
              <a:t>[Sub-agents work and hand off]</a:t>
            </a:r>
          </a:p>
        </p:txBody>
      </p:sp>
      <p:sp>
        <p:nvSpPr>
          <p:cNvPr id="17" name="Oval 16"/>
          <p:cNvSpPr/>
          <p:nvPr/>
        </p:nvSpPr>
        <p:spPr>
          <a:xfrm>
            <a:off x="7863840" y="3986783"/>
            <a:ext cx="566928" cy="566928"/>
          </a:xfrm>
          <a:prstGeom prst="ellipse">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i="0">
                <a:solidFill>
                  <a:srgbClr val="FFFFFF"/>
                </a:solidFill>
                <a:latin typeface="Bahnschrift"/>
              </a:rPr>
              <a:t>4</a:t>
            </a:r>
          </a:p>
        </p:txBody>
      </p:sp>
      <p:sp>
        <p:nvSpPr>
          <p:cNvPr id="18" name="TextBox 17"/>
          <p:cNvSpPr txBox="1"/>
          <p:nvPr/>
        </p:nvSpPr>
        <p:spPr>
          <a:xfrm>
            <a:off x="8549640" y="3968496"/>
            <a:ext cx="3063240" cy="237744"/>
          </a:xfrm>
          <a:prstGeom prst="rect">
            <a:avLst/>
          </a:prstGeom>
          <a:noFill/>
        </p:spPr>
        <p:txBody>
          <a:bodyPr wrap="square" lIns="36576" rIns="36576" tIns="18288" bIns="18288" anchor="t">
            <a:spAutoFit/>
          </a:bodyPr>
          <a:lstStyle/>
          <a:p>
            <a:pPr algn="l"/>
            <a:r>
              <a:rPr sz="1100" b="1" i="0">
                <a:solidFill>
                  <a:srgbClr val="8A9BAA"/>
                </a:solidFill>
                <a:latin typeface="Arial"/>
              </a:rPr>
              <a:t>2:30</a:t>
            </a:r>
          </a:p>
        </p:txBody>
      </p:sp>
      <p:sp>
        <p:nvSpPr>
          <p:cNvPr id="19" name="TextBox 18"/>
          <p:cNvSpPr txBox="1"/>
          <p:nvPr/>
        </p:nvSpPr>
        <p:spPr>
          <a:xfrm>
            <a:off x="8549640" y="4215383"/>
            <a:ext cx="3063240" cy="411480"/>
          </a:xfrm>
          <a:prstGeom prst="rect">
            <a:avLst/>
          </a:prstGeom>
          <a:noFill/>
        </p:spPr>
        <p:txBody>
          <a:bodyPr wrap="square" lIns="36576" rIns="36576" tIns="18288" bIns="18288" anchor="t">
            <a:spAutoFit/>
          </a:bodyPr>
          <a:lstStyle/>
          <a:p>
            <a:pPr algn="l"/>
            <a:r>
              <a:rPr sz="1300" b="1" i="0">
                <a:solidFill>
                  <a:srgbClr val="002B55"/>
                </a:solidFill>
                <a:latin typeface="Arial"/>
              </a:rPr>
              <a:t>[Gate: the agent stops; we decide]</a:t>
            </a:r>
          </a:p>
        </p:txBody>
      </p:sp>
      <p:sp>
        <p:nvSpPr>
          <p:cNvPr id="20" name="Oval 19"/>
          <p:cNvSpPr/>
          <p:nvPr/>
        </p:nvSpPr>
        <p:spPr>
          <a:xfrm>
            <a:off x="7863840" y="4736592"/>
            <a:ext cx="566928" cy="566928"/>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600" b="1" i="0">
                <a:solidFill>
                  <a:srgbClr val="FFFFFF"/>
                </a:solidFill>
                <a:latin typeface="Bahnschrift"/>
              </a:rPr>
              <a:t>5</a:t>
            </a:r>
          </a:p>
        </p:txBody>
      </p:sp>
      <p:sp>
        <p:nvSpPr>
          <p:cNvPr id="21" name="TextBox 20"/>
          <p:cNvSpPr txBox="1"/>
          <p:nvPr/>
        </p:nvSpPr>
        <p:spPr>
          <a:xfrm>
            <a:off x="8549640" y="4718304"/>
            <a:ext cx="3063240" cy="237744"/>
          </a:xfrm>
          <a:prstGeom prst="rect">
            <a:avLst/>
          </a:prstGeom>
          <a:noFill/>
        </p:spPr>
        <p:txBody>
          <a:bodyPr wrap="square" lIns="36576" rIns="36576" tIns="18288" bIns="18288" anchor="t">
            <a:spAutoFit/>
          </a:bodyPr>
          <a:lstStyle/>
          <a:p>
            <a:pPr algn="l"/>
            <a:r>
              <a:rPr sz="1100" b="1" i="0">
                <a:solidFill>
                  <a:srgbClr val="8A9BAA"/>
                </a:solidFill>
                <a:latin typeface="Arial"/>
              </a:rPr>
              <a:t>3:15</a:t>
            </a:r>
          </a:p>
        </p:txBody>
      </p:sp>
      <p:sp>
        <p:nvSpPr>
          <p:cNvPr id="22" name="TextBox 21"/>
          <p:cNvSpPr txBox="1"/>
          <p:nvPr/>
        </p:nvSpPr>
        <p:spPr>
          <a:xfrm>
            <a:off x="8549640" y="4965192"/>
            <a:ext cx="3063240" cy="411480"/>
          </a:xfrm>
          <a:prstGeom prst="rect">
            <a:avLst/>
          </a:prstGeom>
          <a:noFill/>
        </p:spPr>
        <p:txBody>
          <a:bodyPr wrap="square" lIns="36576" rIns="36576" tIns="18288" bIns="18288" anchor="t">
            <a:spAutoFit/>
          </a:bodyPr>
          <a:lstStyle/>
          <a:p>
            <a:pPr algn="l"/>
            <a:r>
              <a:rPr sz="1300" b="1" i="0">
                <a:solidFill>
                  <a:srgbClr val="002B55"/>
                </a:solidFill>
                <a:latin typeface="Arial"/>
              </a:rPr>
              <a:t>[The output, and what it replaced]</a:t>
            </a:r>
          </a:p>
        </p:txBody>
      </p:sp>
      <p:sp>
        <p:nvSpPr>
          <p:cNvPr id="23" name="Rounded Rectangle 22"/>
          <p:cNvSpPr/>
          <p:nvPr/>
        </p:nvSpPr>
        <p:spPr>
          <a:xfrm>
            <a:off x="612648" y="5577840"/>
            <a:ext cx="10972800" cy="566928"/>
          </a:xfrm>
          <a:prstGeom prst="roundRect">
            <a:avLst>
              <a:gd name="adj" fmla="val 10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007879"/>
                </a:solidFill>
                <a:latin typeface="Arial"/>
              </a:rPr>
              <a:t>Backup: </a:t>
            </a:r>
            <a:r>
              <a:rPr sz="1400" b="0" i="0">
                <a:solidFill>
                  <a:srgbClr val="002B55"/>
                </a:solidFill>
                <a:latin typeface="Arial"/>
              </a:rPr>
              <a:t>[screenshots or a 60-second recording, in case the live run is slow]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Impact: [X] hours back per year (team estimate)</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08</a:t>
            </a:r>
          </a:p>
        </p:txBody>
      </p:sp>
      <p:sp>
        <p:nvSpPr>
          <p:cNvPr id="5" name="TextBox 4"/>
          <p:cNvSpPr txBox="1"/>
          <p:nvPr/>
        </p:nvSpPr>
        <p:spPr>
          <a:xfrm>
            <a:off x="612648" y="1325880"/>
            <a:ext cx="228600" cy="868680"/>
          </a:xfrm>
          <a:prstGeom prst="rect">
            <a:avLst/>
          </a:prstGeom>
          <a:noFill/>
        </p:spPr>
        <p:txBody>
          <a:bodyPr wrap="square" lIns="36576" rIns="36576" tIns="18288" bIns="18288" anchor="ctr">
            <a:spAutoFit/>
          </a:bodyPr>
          <a:lstStyle/>
          <a:p>
            <a:pPr algn="ctr"/>
            <a:r>
              <a:rPr sz="3400" b="0" i="0">
                <a:solidFill>
                  <a:srgbClr val="28455F"/>
                </a:solidFill>
                <a:latin typeface="Arial"/>
              </a:rPr>
              <a:t>(</a:t>
            </a:r>
          </a:p>
        </p:txBody>
      </p:sp>
      <p:sp>
        <p:nvSpPr>
          <p:cNvPr id="6" name="Rounded Rectangle 5"/>
          <p:cNvSpPr/>
          <p:nvPr/>
        </p:nvSpPr>
        <p:spPr>
          <a:xfrm>
            <a:off x="841248" y="1371600"/>
            <a:ext cx="1737360" cy="868680"/>
          </a:xfrm>
          <a:prstGeom prst="roundRect">
            <a:avLst>
              <a:gd name="adj" fmla="val 8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TextBox 6"/>
          <p:cNvSpPr txBox="1"/>
          <p:nvPr/>
        </p:nvSpPr>
        <p:spPr>
          <a:xfrm>
            <a:off x="841248" y="1389888"/>
            <a:ext cx="1737360" cy="475488"/>
          </a:xfrm>
          <a:prstGeom prst="rect">
            <a:avLst/>
          </a:prstGeom>
          <a:noFill/>
        </p:spPr>
        <p:txBody>
          <a:bodyPr wrap="square" lIns="36576" rIns="36576" tIns="18288" bIns="18288" anchor="ctr">
            <a:spAutoFit/>
          </a:bodyPr>
          <a:lstStyle/>
          <a:p>
            <a:pPr algn="ctr"/>
            <a:r>
              <a:rPr sz="2400" b="1" i="0">
                <a:solidFill>
                  <a:srgbClr val="002B55"/>
                </a:solidFill>
                <a:latin typeface="Bahnschrift"/>
              </a:rPr>
              <a:t>[B] h</a:t>
            </a:r>
          </a:p>
        </p:txBody>
      </p:sp>
      <p:sp>
        <p:nvSpPr>
          <p:cNvPr id="8" name="TextBox 7"/>
          <p:cNvSpPr txBox="1"/>
          <p:nvPr/>
        </p:nvSpPr>
        <p:spPr>
          <a:xfrm>
            <a:off x="841248" y="1883664"/>
            <a:ext cx="1737360" cy="329184"/>
          </a:xfrm>
          <a:prstGeom prst="rect">
            <a:avLst/>
          </a:prstGeom>
          <a:noFill/>
        </p:spPr>
        <p:txBody>
          <a:bodyPr wrap="square" lIns="36576" rIns="36576" tIns="18288" bIns="18288" anchor="t">
            <a:spAutoFit/>
          </a:bodyPr>
          <a:lstStyle/>
          <a:p>
            <a:pPr algn="ctr"/>
            <a:r>
              <a:rPr sz="1100" b="0" i="0">
                <a:solidFill>
                  <a:srgbClr val="28455F"/>
                </a:solidFill>
                <a:latin typeface="Arial"/>
              </a:rPr>
              <a:t>baseline per cycle</a:t>
            </a:r>
          </a:p>
        </p:txBody>
      </p:sp>
      <p:sp>
        <p:nvSpPr>
          <p:cNvPr id="9" name="TextBox 8"/>
          <p:cNvSpPr txBox="1"/>
          <p:nvPr/>
        </p:nvSpPr>
        <p:spPr>
          <a:xfrm>
            <a:off x="2578608" y="1371600"/>
            <a:ext cx="365760" cy="868680"/>
          </a:xfrm>
          <a:prstGeom prst="rect">
            <a:avLst/>
          </a:prstGeom>
          <a:noFill/>
        </p:spPr>
        <p:txBody>
          <a:bodyPr wrap="square" lIns="36576" rIns="36576" tIns="18288" bIns="18288" anchor="ctr">
            <a:spAutoFit/>
          </a:bodyPr>
          <a:lstStyle/>
          <a:p>
            <a:pPr algn="ctr"/>
            <a:r>
              <a:rPr sz="3000" b="1" i="0">
                <a:solidFill>
                  <a:srgbClr val="28455F"/>
                </a:solidFill>
                <a:latin typeface="Bahnschrift"/>
              </a:rPr>
              <a:t>−</a:t>
            </a:r>
          </a:p>
        </p:txBody>
      </p:sp>
      <p:sp>
        <p:nvSpPr>
          <p:cNvPr id="10" name="Rounded Rectangle 9"/>
          <p:cNvSpPr/>
          <p:nvPr/>
        </p:nvSpPr>
        <p:spPr>
          <a:xfrm>
            <a:off x="2944368" y="1371600"/>
            <a:ext cx="1737360" cy="868680"/>
          </a:xfrm>
          <a:prstGeom prst="roundRect">
            <a:avLst>
              <a:gd name="adj" fmla="val 8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2944368" y="1389888"/>
            <a:ext cx="1737360" cy="475488"/>
          </a:xfrm>
          <a:prstGeom prst="rect">
            <a:avLst/>
          </a:prstGeom>
          <a:noFill/>
        </p:spPr>
        <p:txBody>
          <a:bodyPr wrap="square" lIns="36576" rIns="36576" tIns="18288" bIns="18288" anchor="ctr">
            <a:spAutoFit/>
          </a:bodyPr>
          <a:lstStyle/>
          <a:p>
            <a:pPr algn="ctr"/>
            <a:r>
              <a:rPr sz="2400" b="1" i="0">
                <a:solidFill>
                  <a:srgbClr val="002B55"/>
                </a:solidFill>
                <a:latin typeface="Bahnschrift"/>
              </a:rPr>
              <a:t>[A] h</a:t>
            </a:r>
          </a:p>
        </p:txBody>
      </p:sp>
      <p:sp>
        <p:nvSpPr>
          <p:cNvPr id="12" name="TextBox 11"/>
          <p:cNvSpPr txBox="1"/>
          <p:nvPr/>
        </p:nvSpPr>
        <p:spPr>
          <a:xfrm>
            <a:off x="2944368" y="1883664"/>
            <a:ext cx="1737360" cy="329184"/>
          </a:xfrm>
          <a:prstGeom prst="rect">
            <a:avLst/>
          </a:prstGeom>
          <a:noFill/>
        </p:spPr>
        <p:txBody>
          <a:bodyPr wrap="square" lIns="36576" rIns="36576" tIns="18288" bIns="18288" anchor="t">
            <a:spAutoFit/>
          </a:bodyPr>
          <a:lstStyle/>
          <a:p>
            <a:pPr algn="ctr"/>
            <a:r>
              <a:rPr sz="1100" b="0" i="0">
                <a:solidFill>
                  <a:srgbClr val="28455F"/>
                </a:solidFill>
                <a:latin typeface="Arial"/>
              </a:rPr>
              <a:t>AI-assisted incl. review</a:t>
            </a:r>
          </a:p>
        </p:txBody>
      </p:sp>
      <p:sp>
        <p:nvSpPr>
          <p:cNvPr id="13" name="TextBox 12"/>
          <p:cNvSpPr txBox="1"/>
          <p:nvPr/>
        </p:nvSpPr>
        <p:spPr>
          <a:xfrm>
            <a:off x="4681727" y="1325880"/>
            <a:ext cx="228600" cy="868680"/>
          </a:xfrm>
          <a:prstGeom prst="rect">
            <a:avLst/>
          </a:prstGeom>
          <a:noFill/>
        </p:spPr>
        <p:txBody>
          <a:bodyPr wrap="square" lIns="36576" rIns="36576" tIns="18288" bIns="18288" anchor="ctr">
            <a:spAutoFit/>
          </a:bodyPr>
          <a:lstStyle/>
          <a:p>
            <a:pPr algn="ctr"/>
            <a:r>
              <a:rPr sz="3400" b="0" i="0">
                <a:solidFill>
                  <a:srgbClr val="28455F"/>
                </a:solidFill>
                <a:latin typeface="Arial"/>
              </a:rPr>
              <a:t>)</a:t>
            </a:r>
          </a:p>
        </p:txBody>
      </p:sp>
      <p:sp>
        <p:nvSpPr>
          <p:cNvPr id="14" name="TextBox 13"/>
          <p:cNvSpPr txBox="1"/>
          <p:nvPr/>
        </p:nvSpPr>
        <p:spPr>
          <a:xfrm>
            <a:off x="4910327" y="1371600"/>
            <a:ext cx="365760" cy="868680"/>
          </a:xfrm>
          <a:prstGeom prst="rect">
            <a:avLst/>
          </a:prstGeom>
          <a:noFill/>
        </p:spPr>
        <p:txBody>
          <a:bodyPr wrap="square" lIns="36576" rIns="36576" tIns="18288" bIns="18288" anchor="ctr">
            <a:spAutoFit/>
          </a:bodyPr>
          <a:lstStyle/>
          <a:p>
            <a:pPr algn="ctr"/>
            <a:r>
              <a:rPr sz="3000" b="1" i="0">
                <a:solidFill>
                  <a:srgbClr val="28455F"/>
                </a:solidFill>
                <a:latin typeface="Bahnschrift"/>
              </a:rPr>
              <a:t>×</a:t>
            </a:r>
          </a:p>
        </p:txBody>
      </p:sp>
      <p:sp>
        <p:nvSpPr>
          <p:cNvPr id="15" name="Rounded Rectangle 14"/>
          <p:cNvSpPr/>
          <p:nvPr/>
        </p:nvSpPr>
        <p:spPr>
          <a:xfrm>
            <a:off x="5276088" y="1371600"/>
            <a:ext cx="1737360" cy="868680"/>
          </a:xfrm>
          <a:prstGeom prst="roundRect">
            <a:avLst>
              <a:gd name="adj" fmla="val 8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TextBox 15"/>
          <p:cNvSpPr txBox="1"/>
          <p:nvPr/>
        </p:nvSpPr>
        <p:spPr>
          <a:xfrm>
            <a:off x="5276088" y="1389888"/>
            <a:ext cx="1737360" cy="475488"/>
          </a:xfrm>
          <a:prstGeom prst="rect">
            <a:avLst/>
          </a:prstGeom>
          <a:noFill/>
        </p:spPr>
        <p:txBody>
          <a:bodyPr wrap="square" lIns="36576" rIns="36576" tIns="18288" bIns="18288" anchor="ctr">
            <a:spAutoFit/>
          </a:bodyPr>
          <a:lstStyle/>
          <a:p>
            <a:pPr algn="ctr"/>
            <a:r>
              <a:rPr sz="2400" b="1" i="0">
                <a:solidFill>
                  <a:srgbClr val="002B55"/>
                </a:solidFill>
                <a:latin typeface="Bahnschrift"/>
              </a:rPr>
              <a:t>[N]</a:t>
            </a:r>
          </a:p>
        </p:txBody>
      </p:sp>
      <p:sp>
        <p:nvSpPr>
          <p:cNvPr id="17" name="TextBox 16"/>
          <p:cNvSpPr txBox="1"/>
          <p:nvPr/>
        </p:nvSpPr>
        <p:spPr>
          <a:xfrm>
            <a:off x="5276088" y="1883664"/>
            <a:ext cx="1737360" cy="329184"/>
          </a:xfrm>
          <a:prstGeom prst="rect">
            <a:avLst/>
          </a:prstGeom>
          <a:noFill/>
        </p:spPr>
        <p:txBody>
          <a:bodyPr wrap="square" lIns="36576" rIns="36576" tIns="18288" bIns="18288" anchor="t">
            <a:spAutoFit/>
          </a:bodyPr>
          <a:lstStyle/>
          <a:p>
            <a:pPr algn="ctr"/>
            <a:r>
              <a:rPr sz="1100" b="0" i="0">
                <a:solidFill>
                  <a:srgbClr val="28455F"/>
                </a:solidFill>
                <a:latin typeface="Arial"/>
              </a:rPr>
              <a:t>cycles / year</a:t>
            </a:r>
          </a:p>
        </p:txBody>
      </p:sp>
      <p:sp>
        <p:nvSpPr>
          <p:cNvPr id="18" name="TextBox 17"/>
          <p:cNvSpPr txBox="1"/>
          <p:nvPr/>
        </p:nvSpPr>
        <p:spPr>
          <a:xfrm>
            <a:off x="7013448" y="1371600"/>
            <a:ext cx="365760" cy="868680"/>
          </a:xfrm>
          <a:prstGeom prst="rect">
            <a:avLst/>
          </a:prstGeom>
          <a:noFill/>
        </p:spPr>
        <p:txBody>
          <a:bodyPr wrap="square" lIns="36576" rIns="36576" tIns="18288" bIns="18288" anchor="ctr">
            <a:spAutoFit/>
          </a:bodyPr>
          <a:lstStyle/>
          <a:p>
            <a:pPr algn="ctr"/>
            <a:r>
              <a:rPr sz="3000" b="1" i="0">
                <a:solidFill>
                  <a:srgbClr val="28455F"/>
                </a:solidFill>
                <a:latin typeface="Bahnschrift"/>
              </a:rPr>
              <a:t>×</a:t>
            </a:r>
          </a:p>
        </p:txBody>
      </p:sp>
      <p:sp>
        <p:nvSpPr>
          <p:cNvPr id="19" name="Rounded Rectangle 18"/>
          <p:cNvSpPr/>
          <p:nvPr/>
        </p:nvSpPr>
        <p:spPr>
          <a:xfrm>
            <a:off x="7379208" y="1371600"/>
            <a:ext cx="1737360" cy="868680"/>
          </a:xfrm>
          <a:prstGeom prst="roundRect">
            <a:avLst>
              <a:gd name="adj" fmla="val 8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TextBox 19"/>
          <p:cNvSpPr txBox="1"/>
          <p:nvPr/>
        </p:nvSpPr>
        <p:spPr>
          <a:xfrm>
            <a:off x="7379208" y="1389888"/>
            <a:ext cx="1737360" cy="475488"/>
          </a:xfrm>
          <a:prstGeom prst="rect">
            <a:avLst/>
          </a:prstGeom>
          <a:noFill/>
        </p:spPr>
        <p:txBody>
          <a:bodyPr wrap="square" lIns="36576" rIns="36576" tIns="18288" bIns="18288" anchor="ctr">
            <a:spAutoFit/>
          </a:bodyPr>
          <a:lstStyle/>
          <a:p>
            <a:pPr algn="ctr"/>
            <a:r>
              <a:rPr sz="2400" b="1" i="0">
                <a:solidFill>
                  <a:srgbClr val="002B55"/>
                </a:solidFill>
                <a:latin typeface="Bahnschrift"/>
              </a:rPr>
              <a:t>$[R]</a:t>
            </a:r>
          </a:p>
        </p:txBody>
      </p:sp>
      <p:sp>
        <p:nvSpPr>
          <p:cNvPr id="21" name="TextBox 20"/>
          <p:cNvSpPr txBox="1"/>
          <p:nvPr/>
        </p:nvSpPr>
        <p:spPr>
          <a:xfrm>
            <a:off x="7379208" y="1883664"/>
            <a:ext cx="1737360" cy="329184"/>
          </a:xfrm>
          <a:prstGeom prst="rect">
            <a:avLst/>
          </a:prstGeom>
          <a:noFill/>
        </p:spPr>
        <p:txBody>
          <a:bodyPr wrap="square" lIns="36576" rIns="36576" tIns="18288" bIns="18288" anchor="t">
            <a:spAutoFit/>
          </a:bodyPr>
          <a:lstStyle/>
          <a:p>
            <a:pPr algn="ctr"/>
            <a:r>
              <a:rPr sz="1100" b="0" i="0">
                <a:solidFill>
                  <a:srgbClr val="28455F"/>
                </a:solidFill>
                <a:latin typeface="Arial"/>
              </a:rPr>
              <a:t>loaded rate / hour</a:t>
            </a:r>
          </a:p>
        </p:txBody>
      </p:sp>
      <p:sp>
        <p:nvSpPr>
          <p:cNvPr id="22" name="TextBox 21"/>
          <p:cNvSpPr txBox="1"/>
          <p:nvPr/>
        </p:nvSpPr>
        <p:spPr>
          <a:xfrm>
            <a:off x="9116568" y="1371600"/>
            <a:ext cx="365760" cy="868680"/>
          </a:xfrm>
          <a:prstGeom prst="rect">
            <a:avLst/>
          </a:prstGeom>
          <a:noFill/>
        </p:spPr>
        <p:txBody>
          <a:bodyPr wrap="square" lIns="36576" rIns="36576" tIns="18288" bIns="18288" anchor="ctr">
            <a:spAutoFit/>
          </a:bodyPr>
          <a:lstStyle/>
          <a:p>
            <a:pPr algn="ctr"/>
            <a:r>
              <a:rPr sz="3000" b="1" i="0">
                <a:solidFill>
                  <a:srgbClr val="28455F"/>
                </a:solidFill>
                <a:latin typeface="Bahnschrift"/>
              </a:rPr>
              <a:t>=</a:t>
            </a:r>
          </a:p>
        </p:txBody>
      </p:sp>
      <p:sp>
        <p:nvSpPr>
          <p:cNvPr id="23" name="Rounded Rectangle 22"/>
          <p:cNvSpPr/>
          <p:nvPr/>
        </p:nvSpPr>
        <p:spPr>
          <a:xfrm>
            <a:off x="9482328" y="1371600"/>
            <a:ext cx="2011680" cy="868680"/>
          </a:xfrm>
          <a:prstGeom prst="roundRect">
            <a:avLst>
              <a:gd name="adj" fmla="val 8000"/>
            </a:avLst>
          </a:prstGeom>
          <a:solidFill>
            <a:srgbClr val="FDEBE1"/>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TextBox 23"/>
          <p:cNvSpPr txBox="1"/>
          <p:nvPr/>
        </p:nvSpPr>
        <p:spPr>
          <a:xfrm>
            <a:off x="9482328" y="1389888"/>
            <a:ext cx="2011680" cy="475488"/>
          </a:xfrm>
          <a:prstGeom prst="rect">
            <a:avLst/>
          </a:prstGeom>
          <a:noFill/>
        </p:spPr>
        <p:txBody>
          <a:bodyPr wrap="square" lIns="36576" rIns="36576" tIns="18288" bIns="18288" anchor="ctr">
            <a:spAutoFit/>
          </a:bodyPr>
          <a:lstStyle/>
          <a:p>
            <a:pPr algn="ctr"/>
            <a:r>
              <a:rPr sz="2400" b="1" i="0">
                <a:solidFill>
                  <a:srgbClr val="F47735"/>
                </a:solidFill>
                <a:latin typeface="Bahnschrift"/>
              </a:rPr>
              <a:t>$[V]</a:t>
            </a:r>
          </a:p>
        </p:txBody>
      </p:sp>
      <p:sp>
        <p:nvSpPr>
          <p:cNvPr id="25" name="TextBox 24"/>
          <p:cNvSpPr txBox="1"/>
          <p:nvPr/>
        </p:nvSpPr>
        <p:spPr>
          <a:xfrm>
            <a:off x="9482328" y="1883664"/>
            <a:ext cx="2011680" cy="329184"/>
          </a:xfrm>
          <a:prstGeom prst="rect">
            <a:avLst/>
          </a:prstGeom>
          <a:noFill/>
        </p:spPr>
        <p:txBody>
          <a:bodyPr wrap="square" lIns="36576" rIns="36576" tIns="18288" bIns="18288" anchor="t">
            <a:spAutoFit/>
          </a:bodyPr>
          <a:lstStyle/>
          <a:p>
            <a:pPr algn="ctr"/>
            <a:r>
              <a:rPr sz="1100" b="0" i="0">
                <a:solidFill>
                  <a:srgbClr val="28455F"/>
                </a:solidFill>
                <a:latin typeface="Arial"/>
              </a:rPr>
              <a:t>annual value</a:t>
            </a:r>
          </a:p>
        </p:txBody>
      </p:sp>
      <p:graphicFrame>
        <p:nvGraphicFramePr>
          <p:cNvPr id="26" name="Chart 25"/>
          <p:cNvGraphicFramePr>
            <a:graphicFrameLocks noGrp="1"/>
          </p:cNvGraphicFramePr>
          <p:nvPr/>
        </p:nvGraphicFramePr>
        <p:xfrm>
          <a:off x="612648" y="2514600"/>
          <a:ext cx="6035040" cy="3429000"/>
        </p:xfrm>
        <a:graphic>
          <a:graphicData uri="http://schemas.openxmlformats.org/drawingml/2006/chart">
            <c:chart xmlns:c="http://schemas.openxmlformats.org/drawingml/2006/chart" r:id="rId3"/>
          </a:graphicData>
        </a:graphic>
      </p:graphicFrame>
      <p:sp>
        <p:nvSpPr>
          <p:cNvPr id="27" name="TextBox 26"/>
          <p:cNvSpPr txBox="1"/>
          <p:nvPr/>
        </p:nvSpPr>
        <p:spPr>
          <a:xfrm>
            <a:off x="7040880" y="2606040"/>
            <a:ext cx="4544568" cy="914400"/>
          </a:xfrm>
          <a:prstGeom prst="rect">
            <a:avLst/>
          </a:prstGeom>
          <a:noFill/>
        </p:spPr>
        <p:txBody>
          <a:bodyPr wrap="square" lIns="36576" rIns="36576" tIns="18288" bIns="18288" anchor="ctr">
            <a:spAutoFit/>
          </a:bodyPr>
          <a:lstStyle/>
          <a:p>
            <a:pPr algn="l"/>
            <a:r>
              <a:rPr sz="5400" b="1" i="0">
                <a:solidFill>
                  <a:srgbClr val="007879"/>
                </a:solidFill>
                <a:latin typeface="Bahnschrift"/>
              </a:rPr>
              <a:t>[X] h</a:t>
            </a:r>
          </a:p>
        </p:txBody>
      </p:sp>
      <p:sp>
        <p:nvSpPr>
          <p:cNvPr id="28" name="TextBox 27"/>
          <p:cNvSpPr txBox="1"/>
          <p:nvPr/>
        </p:nvSpPr>
        <p:spPr>
          <a:xfrm>
            <a:off x="7040880" y="3520440"/>
            <a:ext cx="4544568" cy="411480"/>
          </a:xfrm>
          <a:prstGeom prst="rect">
            <a:avLst/>
          </a:prstGeom>
          <a:noFill/>
        </p:spPr>
        <p:txBody>
          <a:bodyPr wrap="square" lIns="36576" rIns="36576" tIns="18288" bIns="18288" anchor="t">
            <a:spAutoFit/>
          </a:bodyPr>
          <a:lstStyle/>
          <a:p>
            <a:pPr algn="l"/>
            <a:r>
              <a:rPr sz="1600" b="0" i="0">
                <a:solidFill>
                  <a:srgbClr val="002B55"/>
                </a:solidFill>
                <a:latin typeface="Arial"/>
              </a:rPr>
              <a:t>saved per year</a:t>
            </a:r>
          </a:p>
        </p:txBody>
      </p:sp>
      <p:sp>
        <p:nvSpPr>
          <p:cNvPr id="29" name="TextBox 28"/>
          <p:cNvSpPr txBox="1"/>
          <p:nvPr/>
        </p:nvSpPr>
        <p:spPr>
          <a:xfrm>
            <a:off x="7040880" y="4206240"/>
            <a:ext cx="4544568" cy="914400"/>
          </a:xfrm>
          <a:prstGeom prst="rect">
            <a:avLst/>
          </a:prstGeom>
          <a:noFill/>
        </p:spPr>
        <p:txBody>
          <a:bodyPr wrap="square" lIns="36576" rIns="36576" tIns="18288" bIns="18288" anchor="ctr">
            <a:spAutoFit/>
          </a:bodyPr>
          <a:lstStyle/>
          <a:p>
            <a:pPr algn="l"/>
            <a:r>
              <a:rPr sz="5400" b="1" i="0">
                <a:solidFill>
                  <a:srgbClr val="F47735"/>
                </a:solidFill>
                <a:latin typeface="Bahnschrift"/>
              </a:rPr>
              <a:t>$[Y]</a:t>
            </a:r>
          </a:p>
        </p:txBody>
      </p:sp>
      <p:sp>
        <p:nvSpPr>
          <p:cNvPr id="30" name="TextBox 29"/>
          <p:cNvSpPr txBox="1"/>
          <p:nvPr/>
        </p:nvSpPr>
        <p:spPr>
          <a:xfrm>
            <a:off x="7040880" y="5120640"/>
            <a:ext cx="4544568" cy="411480"/>
          </a:xfrm>
          <a:prstGeom prst="rect">
            <a:avLst/>
          </a:prstGeom>
          <a:noFill/>
        </p:spPr>
        <p:txBody>
          <a:bodyPr wrap="square" lIns="36576" rIns="36576" tIns="18288" bIns="18288" anchor="t">
            <a:spAutoFit/>
          </a:bodyPr>
          <a:lstStyle/>
          <a:p>
            <a:pPr algn="l"/>
            <a:r>
              <a:rPr sz="1600" b="0" i="0">
                <a:solidFill>
                  <a:srgbClr val="002B55"/>
                </a:solidFill>
                <a:latin typeface="Arial"/>
              </a:rPr>
              <a:t>value per year</a:t>
            </a:r>
          </a:p>
        </p:txBody>
      </p:sp>
      <p:sp>
        <p:nvSpPr>
          <p:cNvPr id="31" name="TextBox 30"/>
          <p:cNvSpPr txBox="1"/>
          <p:nvPr/>
        </p:nvSpPr>
        <p:spPr>
          <a:xfrm>
            <a:off x="7040880" y="5715000"/>
            <a:ext cx="4544568" cy="457200"/>
          </a:xfrm>
          <a:prstGeom prst="rect">
            <a:avLst/>
          </a:prstGeom>
          <a:noFill/>
        </p:spPr>
        <p:txBody>
          <a:bodyPr wrap="square" lIns="36576" rIns="36576" tIns="18288" bIns="18288" anchor="t">
            <a:spAutoFit/>
          </a:bodyPr>
          <a:lstStyle/>
          <a:p>
            <a:pPr algn="l"/>
            <a:r>
              <a:rPr sz="1100" b="0" i="1">
                <a:solidFill>
                  <a:srgbClr val="8A9BAA"/>
                </a:solidFill>
                <a:latin typeface="Arial"/>
              </a:rPr>
              <a:t>Team estimates, not measured results. Practice data are fictional.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Risks we designed out</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09</a:t>
            </a:r>
          </a:p>
        </p:txBody>
      </p:sp>
      <p:sp>
        <p:nvSpPr>
          <p:cNvPr id="5" name="Rounded Rectangle 4"/>
          <p:cNvSpPr/>
          <p:nvPr/>
        </p:nvSpPr>
        <p:spPr>
          <a:xfrm>
            <a:off x="612648" y="1325880"/>
            <a:ext cx="10972800" cy="822960"/>
          </a:xfrm>
          <a:prstGeom prst="roundRect">
            <a:avLst>
              <a:gd name="adj" fmla="val 12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Rounded Rectangle 5"/>
          <p:cNvSpPr/>
          <p:nvPr/>
        </p:nvSpPr>
        <p:spPr>
          <a:xfrm>
            <a:off x="612648" y="1325880"/>
            <a:ext cx="2377440" cy="822960"/>
          </a:xfrm>
          <a:prstGeom prst="roundRect">
            <a:avLst>
              <a:gd name="adj" fmla="val 12000"/>
            </a:avLst>
          </a:prstGeom>
          <a:solidFill>
            <a:srgbClr val="2E9D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FFFFFF"/>
                </a:solidFill>
                <a:latin typeface="Bahnschrift"/>
              </a:rPr>
              <a:t>GREEN</a:t>
            </a:r>
          </a:p>
          <a:p>
            <a:pPr algn="ctr"/>
            <a:r>
              <a:rPr sz="1200" b="0" i="0">
                <a:solidFill>
                  <a:srgbClr val="FFFFFF"/>
                </a:solidFill>
                <a:latin typeface="Arial"/>
              </a:rPr>
              <a:t>Agent proceeds</a:t>
            </a:r>
          </a:p>
        </p:txBody>
      </p:sp>
      <p:sp>
        <p:nvSpPr>
          <p:cNvPr id="7" name="TextBox 6"/>
          <p:cNvSpPr txBox="1"/>
          <p:nvPr/>
        </p:nvSpPr>
        <p:spPr>
          <a:xfrm>
            <a:off x="3200400" y="1325880"/>
            <a:ext cx="6400800" cy="822960"/>
          </a:xfrm>
          <a:prstGeom prst="rect">
            <a:avLst/>
          </a:prstGeom>
          <a:noFill/>
        </p:spPr>
        <p:txBody>
          <a:bodyPr wrap="square" lIns="36576" rIns="36576" tIns="18288" bIns="18288" anchor="ctr">
            <a:spAutoFit/>
          </a:bodyPr>
          <a:lstStyle/>
          <a:p>
            <a:pPr algn="l"/>
            <a:r>
              <a:rPr sz="1500" b="0" i="0">
                <a:solidFill>
                  <a:srgbClr val="002B55"/>
                </a:solidFill>
                <a:latin typeface="Arial"/>
              </a:rPr>
              <a:t>[e.g. read files, build tables, draft]</a:t>
            </a:r>
          </a:p>
        </p:txBody>
      </p:sp>
      <p:sp>
        <p:nvSpPr>
          <p:cNvPr id="8" name="TextBox 7"/>
          <p:cNvSpPr txBox="1"/>
          <p:nvPr/>
        </p:nvSpPr>
        <p:spPr>
          <a:xfrm>
            <a:off x="9601200" y="1325880"/>
            <a:ext cx="1874519" cy="822960"/>
          </a:xfrm>
          <a:prstGeom prst="rect">
            <a:avLst/>
          </a:prstGeom>
          <a:noFill/>
        </p:spPr>
        <p:txBody>
          <a:bodyPr wrap="square" lIns="36576" rIns="36576" tIns="18288" bIns="18288" anchor="ctr">
            <a:spAutoFit/>
          </a:bodyPr>
          <a:lstStyle/>
          <a:p>
            <a:pPr algn="r"/>
            <a:r>
              <a:rPr sz="1400" b="1" i="0">
                <a:solidFill>
                  <a:srgbClr val="2E9D6B"/>
                </a:solidFill>
                <a:latin typeface="Bahnschrift"/>
              </a:rPr>
              <a:t>Agent</a:t>
            </a:r>
          </a:p>
        </p:txBody>
      </p:sp>
      <p:sp>
        <p:nvSpPr>
          <p:cNvPr id="9" name="Rounded Rectangle 8"/>
          <p:cNvSpPr/>
          <p:nvPr/>
        </p:nvSpPr>
        <p:spPr>
          <a:xfrm>
            <a:off x="612648" y="2286000"/>
            <a:ext cx="10972800" cy="822960"/>
          </a:xfrm>
          <a:prstGeom prst="roundRect">
            <a:avLst>
              <a:gd name="adj" fmla="val 12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Rounded Rectangle 9"/>
          <p:cNvSpPr/>
          <p:nvPr/>
        </p:nvSpPr>
        <p:spPr>
          <a:xfrm>
            <a:off x="612648" y="2286000"/>
            <a:ext cx="2377440" cy="822960"/>
          </a:xfrm>
          <a:prstGeom prst="roundRect">
            <a:avLst>
              <a:gd name="adj" fmla="val 12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FFFFFF"/>
                </a:solidFill>
                <a:latin typeface="Bahnschrift"/>
              </a:rPr>
              <a:t>YELLOW</a:t>
            </a:r>
          </a:p>
          <a:p>
            <a:pPr algn="ctr"/>
            <a:r>
              <a:rPr sz="1200" b="0" i="0">
                <a:solidFill>
                  <a:srgbClr val="FFFFFF"/>
                </a:solidFill>
                <a:latin typeface="Arial"/>
              </a:rPr>
              <a:t>Proceed and flag</a:t>
            </a:r>
          </a:p>
        </p:txBody>
      </p:sp>
      <p:sp>
        <p:nvSpPr>
          <p:cNvPr id="11" name="TextBox 10"/>
          <p:cNvSpPr txBox="1"/>
          <p:nvPr/>
        </p:nvSpPr>
        <p:spPr>
          <a:xfrm>
            <a:off x="3200400" y="2286000"/>
            <a:ext cx="6400800" cy="822960"/>
          </a:xfrm>
          <a:prstGeom prst="rect">
            <a:avLst/>
          </a:prstGeom>
          <a:noFill/>
        </p:spPr>
        <p:txBody>
          <a:bodyPr wrap="square" lIns="36576" rIns="36576" tIns="18288" bIns="18288" anchor="ctr">
            <a:spAutoFit/>
          </a:bodyPr>
          <a:lstStyle/>
          <a:p>
            <a:pPr algn="l"/>
            <a:r>
              <a:rPr sz="1500" b="0" i="0">
                <a:solidFill>
                  <a:srgbClr val="002B55"/>
                </a:solidFill>
                <a:latin typeface="Arial"/>
              </a:rPr>
              <a:t>[e.g. conflicting or missing sources]</a:t>
            </a:r>
          </a:p>
        </p:txBody>
      </p:sp>
      <p:sp>
        <p:nvSpPr>
          <p:cNvPr id="12" name="TextBox 11"/>
          <p:cNvSpPr txBox="1"/>
          <p:nvPr/>
        </p:nvSpPr>
        <p:spPr>
          <a:xfrm>
            <a:off x="9601200" y="2286000"/>
            <a:ext cx="1874519" cy="822960"/>
          </a:xfrm>
          <a:prstGeom prst="rect">
            <a:avLst/>
          </a:prstGeom>
          <a:noFill/>
        </p:spPr>
        <p:txBody>
          <a:bodyPr wrap="square" lIns="36576" rIns="36576" tIns="18288" bIns="18288" anchor="ctr">
            <a:spAutoFit/>
          </a:bodyPr>
          <a:lstStyle/>
          <a:p>
            <a:pPr algn="r"/>
            <a:r>
              <a:rPr sz="1400" b="1" i="0">
                <a:solidFill>
                  <a:srgbClr val="B7791F"/>
                </a:solidFill>
                <a:latin typeface="Bahnschrift"/>
              </a:rPr>
              <a:t>Agent + flag</a:t>
            </a:r>
          </a:p>
        </p:txBody>
      </p:sp>
      <p:sp>
        <p:nvSpPr>
          <p:cNvPr id="13" name="Rounded Rectangle 12"/>
          <p:cNvSpPr/>
          <p:nvPr/>
        </p:nvSpPr>
        <p:spPr>
          <a:xfrm>
            <a:off x="612648" y="3246120"/>
            <a:ext cx="10972800" cy="822960"/>
          </a:xfrm>
          <a:prstGeom prst="roundRect">
            <a:avLst>
              <a:gd name="adj" fmla="val 12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Rounded Rectangle 13"/>
          <p:cNvSpPr/>
          <p:nvPr/>
        </p:nvSpPr>
        <p:spPr>
          <a:xfrm>
            <a:off x="612648" y="3246120"/>
            <a:ext cx="2377440" cy="822960"/>
          </a:xfrm>
          <a:prstGeom prst="roundRect">
            <a:avLst>
              <a:gd name="adj" fmla="val 12000"/>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FFFFFF"/>
                </a:solidFill>
                <a:latin typeface="Bahnschrift"/>
              </a:rPr>
              <a:t>RED</a:t>
            </a:r>
          </a:p>
          <a:p>
            <a:pPr algn="ctr"/>
            <a:r>
              <a:rPr sz="1200" b="0" i="0">
                <a:solidFill>
                  <a:srgbClr val="FFFFFF"/>
                </a:solidFill>
                <a:latin typeface="Arial"/>
              </a:rPr>
              <a:t>Human decides</a:t>
            </a:r>
          </a:p>
        </p:txBody>
      </p:sp>
      <p:sp>
        <p:nvSpPr>
          <p:cNvPr id="15" name="TextBox 14"/>
          <p:cNvSpPr txBox="1"/>
          <p:nvPr/>
        </p:nvSpPr>
        <p:spPr>
          <a:xfrm>
            <a:off x="3200400" y="3246120"/>
            <a:ext cx="6400800" cy="822960"/>
          </a:xfrm>
          <a:prstGeom prst="rect">
            <a:avLst/>
          </a:prstGeom>
          <a:noFill/>
        </p:spPr>
        <p:txBody>
          <a:bodyPr wrap="square" lIns="36576" rIns="36576" tIns="18288" bIns="18288" anchor="ctr">
            <a:spAutoFit/>
          </a:bodyPr>
          <a:lstStyle/>
          <a:p>
            <a:pPr algn="l"/>
            <a:r>
              <a:rPr sz="1500" b="0" i="0">
                <a:solidFill>
                  <a:srgbClr val="002B55"/>
                </a:solidFill>
                <a:latin typeface="Arial"/>
              </a:rPr>
              <a:t>[e.g. anything external, safety, approvals]</a:t>
            </a:r>
          </a:p>
        </p:txBody>
      </p:sp>
      <p:sp>
        <p:nvSpPr>
          <p:cNvPr id="16" name="TextBox 15"/>
          <p:cNvSpPr txBox="1"/>
          <p:nvPr/>
        </p:nvSpPr>
        <p:spPr>
          <a:xfrm>
            <a:off x="9601200" y="3246120"/>
            <a:ext cx="1874519" cy="822960"/>
          </a:xfrm>
          <a:prstGeom prst="rect">
            <a:avLst/>
          </a:prstGeom>
          <a:noFill/>
        </p:spPr>
        <p:txBody>
          <a:bodyPr wrap="square" lIns="36576" rIns="36576" tIns="18288" bIns="18288" anchor="ctr">
            <a:spAutoFit/>
          </a:bodyPr>
          <a:lstStyle/>
          <a:p>
            <a:pPr algn="r"/>
            <a:r>
              <a:rPr sz="1400" b="1" i="0">
                <a:solidFill>
                  <a:srgbClr val="D64545"/>
                </a:solidFill>
                <a:latin typeface="Bahnschrift"/>
              </a:rPr>
              <a:t>You decide</a:t>
            </a:r>
          </a:p>
        </p:txBody>
      </p:sp>
      <p:sp>
        <p:nvSpPr>
          <p:cNvPr id="17" name="Rounded Rectangle 16"/>
          <p:cNvSpPr/>
          <p:nvPr/>
        </p:nvSpPr>
        <p:spPr>
          <a:xfrm>
            <a:off x="612648" y="4343400"/>
            <a:ext cx="3520440" cy="685800"/>
          </a:xfrm>
          <a:prstGeom prst="roundRect">
            <a:avLst>
              <a:gd name="adj" fmla="val 10000"/>
            </a:avLst>
          </a:prstGeom>
          <a:solidFill>
            <a:srgbClr val="FDEB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B4501F"/>
                </a:solidFill>
                <a:latin typeface="Arial"/>
              </a:rPr>
              <a:t>[Risk 1]</a:t>
            </a:r>
          </a:p>
        </p:txBody>
      </p:sp>
      <p:cxnSp>
        <p:nvCxnSpPr>
          <p:cNvPr id="18" name="Connector 17"/>
          <p:cNvCxnSpPr/>
          <p:nvPr/>
        </p:nvCxnSpPr>
        <p:spPr>
          <a:xfrm>
            <a:off x="2368296" y="5029200"/>
            <a:ext cx="0" cy="228600"/>
          </a:xfrm>
          <a:prstGeom prst="line">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 y="5257800"/>
            <a:ext cx="3520440" cy="868680"/>
          </a:xfrm>
          <a:prstGeom prst="roundRect">
            <a:avLst>
              <a:gd name="adj" fmla="val 10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007879"/>
                </a:solidFill>
                <a:latin typeface="Arial"/>
              </a:rPr>
              <a:t>[Guardrail we built]</a:t>
            </a:r>
          </a:p>
        </p:txBody>
      </p:sp>
      <p:sp>
        <p:nvSpPr>
          <p:cNvPr id="20" name="Rounded Rectangle 19"/>
          <p:cNvSpPr/>
          <p:nvPr/>
        </p:nvSpPr>
        <p:spPr>
          <a:xfrm>
            <a:off x="4334256" y="4343400"/>
            <a:ext cx="3520440" cy="685800"/>
          </a:xfrm>
          <a:prstGeom prst="roundRect">
            <a:avLst>
              <a:gd name="adj" fmla="val 10000"/>
            </a:avLst>
          </a:prstGeom>
          <a:solidFill>
            <a:srgbClr val="FDEB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B4501F"/>
                </a:solidFill>
                <a:latin typeface="Arial"/>
              </a:rPr>
              <a:t>[Risk 2]</a:t>
            </a:r>
          </a:p>
        </p:txBody>
      </p:sp>
      <p:cxnSp>
        <p:nvCxnSpPr>
          <p:cNvPr id="21" name="Connector 20"/>
          <p:cNvCxnSpPr/>
          <p:nvPr/>
        </p:nvCxnSpPr>
        <p:spPr>
          <a:xfrm>
            <a:off x="6089904" y="5029200"/>
            <a:ext cx="0" cy="228600"/>
          </a:xfrm>
          <a:prstGeom prst="line">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34256" y="5257800"/>
            <a:ext cx="3520440" cy="868680"/>
          </a:xfrm>
          <a:prstGeom prst="roundRect">
            <a:avLst>
              <a:gd name="adj" fmla="val 10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007879"/>
                </a:solidFill>
                <a:latin typeface="Arial"/>
              </a:rPr>
              <a:t>[Guardrail we built]</a:t>
            </a:r>
          </a:p>
        </p:txBody>
      </p:sp>
      <p:sp>
        <p:nvSpPr>
          <p:cNvPr id="23" name="Rounded Rectangle 22"/>
          <p:cNvSpPr/>
          <p:nvPr/>
        </p:nvSpPr>
        <p:spPr>
          <a:xfrm>
            <a:off x="8055864" y="4343400"/>
            <a:ext cx="3520440" cy="685800"/>
          </a:xfrm>
          <a:prstGeom prst="roundRect">
            <a:avLst>
              <a:gd name="adj" fmla="val 10000"/>
            </a:avLst>
          </a:prstGeom>
          <a:solidFill>
            <a:srgbClr val="FDEB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B4501F"/>
                </a:solidFill>
                <a:latin typeface="Arial"/>
              </a:rPr>
              <a:t>[Risk 3]</a:t>
            </a:r>
          </a:p>
        </p:txBody>
      </p:sp>
      <p:cxnSp>
        <p:nvCxnSpPr>
          <p:cNvPr id="24" name="Connector 23"/>
          <p:cNvCxnSpPr/>
          <p:nvPr/>
        </p:nvCxnSpPr>
        <p:spPr>
          <a:xfrm>
            <a:off x="9811512" y="5029200"/>
            <a:ext cx="0" cy="228600"/>
          </a:xfrm>
          <a:prstGeom prst="line">
            <a:avLst/>
          </a:prstGeom>
          <a:ln w="15875">
            <a:solidFill>
              <a:srgbClr val="8A9B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055864" y="5257800"/>
            <a:ext cx="3520440" cy="868680"/>
          </a:xfrm>
          <a:prstGeom prst="roundRect">
            <a:avLst>
              <a:gd name="adj" fmla="val 10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007879"/>
                </a:solidFill>
                <a:latin typeface="Arial"/>
              </a:rPr>
              <a:t>[Guardrail we built]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Faster is good. New is better.</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10</a:t>
            </a:r>
          </a:p>
        </p:txBody>
      </p:sp>
      <p:sp>
        <p:nvSpPr>
          <p:cNvPr id="5" name="Rounded Rectangle 4"/>
          <p:cNvSpPr/>
          <p:nvPr/>
        </p:nvSpPr>
        <p:spPr>
          <a:xfrm>
            <a:off x="612648" y="1371600"/>
            <a:ext cx="5257800" cy="4434840"/>
          </a:xfrm>
          <a:prstGeom prst="roundRect">
            <a:avLst>
              <a:gd name="adj" fmla="val 5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Rectangle 5"/>
          <p:cNvSpPr/>
          <p:nvPr/>
        </p:nvSpPr>
        <p:spPr>
          <a:xfrm>
            <a:off x="612648" y="1371600"/>
            <a:ext cx="5257800" cy="109728"/>
          </a:xfrm>
          <a:prstGeom prst="rect">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TextBox 6"/>
          <p:cNvSpPr txBox="1"/>
          <p:nvPr/>
        </p:nvSpPr>
        <p:spPr>
          <a:xfrm>
            <a:off x="932688" y="1645920"/>
            <a:ext cx="4663440" cy="365760"/>
          </a:xfrm>
          <a:prstGeom prst="rect">
            <a:avLst/>
          </a:prstGeom>
          <a:noFill/>
        </p:spPr>
        <p:txBody>
          <a:bodyPr wrap="square" lIns="36576" rIns="36576" tIns="18288" bIns="18288" anchor="t">
            <a:spAutoFit/>
          </a:bodyPr>
          <a:lstStyle/>
          <a:p>
            <a:pPr algn="l"/>
            <a:r>
              <a:rPr sz="1400" b="1" i="0">
                <a:solidFill>
                  <a:srgbClr val="007879"/>
                </a:solidFill>
                <a:latin typeface="Bahnschrift"/>
              </a:rPr>
              <a:t>EFFICIENCY AI</a:t>
            </a:r>
          </a:p>
        </p:txBody>
      </p:sp>
      <p:sp>
        <p:nvSpPr>
          <p:cNvPr id="8" name="TextBox 7"/>
          <p:cNvSpPr txBox="1"/>
          <p:nvPr/>
        </p:nvSpPr>
        <p:spPr>
          <a:xfrm>
            <a:off x="932688" y="2011680"/>
            <a:ext cx="4663440" cy="548640"/>
          </a:xfrm>
          <a:prstGeom prst="rect">
            <a:avLst/>
          </a:prstGeom>
          <a:noFill/>
        </p:spPr>
        <p:txBody>
          <a:bodyPr wrap="square" lIns="36576" rIns="36576" tIns="18288" bIns="18288" anchor="t">
            <a:spAutoFit/>
          </a:bodyPr>
          <a:lstStyle/>
          <a:p>
            <a:pPr algn="l"/>
            <a:r>
              <a:rPr sz="2400" b="1" i="0">
                <a:solidFill>
                  <a:srgbClr val="002B55"/>
                </a:solidFill>
                <a:latin typeface="Bahnschrift"/>
              </a:rPr>
              <a:t>Do today's work faster</a:t>
            </a:r>
          </a:p>
        </p:txBody>
      </p:sp>
      <p:sp>
        <p:nvSpPr>
          <p:cNvPr id="9" name="TextBox 8"/>
          <p:cNvSpPr txBox="1"/>
          <p:nvPr/>
        </p:nvSpPr>
        <p:spPr>
          <a:xfrm>
            <a:off x="932688" y="2788920"/>
            <a:ext cx="4663440" cy="1005840"/>
          </a:xfrm>
          <a:prstGeom prst="rect">
            <a:avLst/>
          </a:prstGeom>
          <a:noFill/>
        </p:spPr>
        <p:txBody>
          <a:bodyPr wrap="square" lIns="36576" rIns="36576" tIns="18288" bIns="18288" anchor="ctr">
            <a:spAutoFit/>
          </a:bodyPr>
          <a:lstStyle/>
          <a:p>
            <a:pPr algn="l"/>
            <a:r>
              <a:rPr sz="4000" b="1" i="0">
                <a:solidFill>
                  <a:srgbClr val="007879"/>
                </a:solidFill>
                <a:latin typeface="Bahnschrift"/>
              </a:rPr>
              <a:t>[X]% less time</a:t>
            </a:r>
          </a:p>
        </p:txBody>
      </p:sp>
      <p:cxnSp>
        <p:nvCxnSpPr>
          <p:cNvPr id="10" name="Connector 9"/>
          <p:cNvCxnSpPr/>
          <p:nvPr/>
        </p:nvCxnSpPr>
        <p:spPr>
          <a:xfrm>
            <a:off x="932688" y="3977639"/>
            <a:ext cx="4617720"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32688" y="4114800"/>
            <a:ext cx="4663440" cy="731520"/>
          </a:xfrm>
          <a:prstGeom prst="rect">
            <a:avLst/>
          </a:prstGeom>
          <a:noFill/>
        </p:spPr>
        <p:txBody>
          <a:bodyPr wrap="square" lIns="36576" rIns="36576" tIns="18288" bIns="18288" anchor="t">
            <a:spAutoFit/>
          </a:bodyPr>
          <a:lstStyle/>
          <a:p>
            <a:pPr algn="l"/>
            <a:r>
              <a:rPr sz="1700" b="1" i="0">
                <a:solidFill>
                  <a:srgbClr val="002B55"/>
                </a:solidFill>
                <a:latin typeface="Arial"/>
              </a:rPr>
              <a:t>[Task] takes [Y] h, not [Z] h</a:t>
            </a:r>
          </a:p>
        </p:txBody>
      </p:sp>
      <p:sp>
        <p:nvSpPr>
          <p:cNvPr id="12" name="TextBox 11"/>
          <p:cNvSpPr txBox="1"/>
          <p:nvPr/>
        </p:nvSpPr>
        <p:spPr>
          <a:xfrm>
            <a:off x="932688" y="4892040"/>
            <a:ext cx="4663440" cy="731520"/>
          </a:xfrm>
          <a:prstGeom prst="rect">
            <a:avLst/>
          </a:prstGeom>
          <a:noFill/>
        </p:spPr>
        <p:txBody>
          <a:bodyPr wrap="square" lIns="36576" rIns="36576" tIns="18288" bIns="18288" anchor="t">
            <a:spAutoFit/>
          </a:bodyPr>
          <a:lstStyle/>
          <a:p>
            <a:pPr algn="l"/>
            <a:r>
              <a:rPr sz="1500" b="0" i="0">
                <a:solidFill>
                  <a:srgbClr val="28455F"/>
                </a:solidFill>
                <a:latin typeface="Arial"/>
              </a:rPr>
              <a:t>[Who gets the time back]</a:t>
            </a:r>
          </a:p>
        </p:txBody>
      </p:sp>
      <p:sp>
        <p:nvSpPr>
          <p:cNvPr id="13" name="Rounded Rectangle 12"/>
          <p:cNvSpPr/>
          <p:nvPr/>
        </p:nvSpPr>
        <p:spPr>
          <a:xfrm>
            <a:off x="6327648" y="1371600"/>
            <a:ext cx="5257800" cy="4434840"/>
          </a:xfrm>
          <a:prstGeom prst="roundRect">
            <a:avLst>
              <a:gd name="adj" fmla="val 5000"/>
            </a:avLst>
          </a:prstGeom>
          <a:solidFill>
            <a:srgbClr val="FDEB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Rectangle 13"/>
          <p:cNvSpPr/>
          <p:nvPr/>
        </p:nvSpPr>
        <p:spPr>
          <a:xfrm>
            <a:off x="6327648" y="1371600"/>
            <a:ext cx="5257800" cy="109728"/>
          </a:xfrm>
          <a:prstGeom prst="rect">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5" name="TextBox 14"/>
          <p:cNvSpPr txBox="1"/>
          <p:nvPr/>
        </p:nvSpPr>
        <p:spPr>
          <a:xfrm>
            <a:off x="6647688" y="1645920"/>
            <a:ext cx="4663440" cy="365760"/>
          </a:xfrm>
          <a:prstGeom prst="rect">
            <a:avLst/>
          </a:prstGeom>
          <a:noFill/>
        </p:spPr>
        <p:txBody>
          <a:bodyPr wrap="square" lIns="36576" rIns="36576" tIns="18288" bIns="18288" anchor="t">
            <a:spAutoFit/>
          </a:bodyPr>
          <a:lstStyle/>
          <a:p>
            <a:pPr algn="l"/>
            <a:r>
              <a:rPr sz="1400" b="1" i="0">
                <a:solidFill>
                  <a:srgbClr val="F47735"/>
                </a:solidFill>
                <a:latin typeface="Bahnschrift"/>
              </a:rPr>
              <a:t>OPPORTUNITY AI</a:t>
            </a:r>
          </a:p>
        </p:txBody>
      </p:sp>
      <p:sp>
        <p:nvSpPr>
          <p:cNvPr id="16" name="TextBox 15"/>
          <p:cNvSpPr txBox="1"/>
          <p:nvPr/>
        </p:nvSpPr>
        <p:spPr>
          <a:xfrm>
            <a:off x="6647688" y="2011680"/>
            <a:ext cx="4663440" cy="548640"/>
          </a:xfrm>
          <a:prstGeom prst="rect">
            <a:avLst/>
          </a:prstGeom>
          <a:noFill/>
        </p:spPr>
        <p:txBody>
          <a:bodyPr wrap="square" lIns="36576" rIns="36576" tIns="18288" bIns="18288" anchor="t">
            <a:spAutoFit/>
          </a:bodyPr>
          <a:lstStyle/>
          <a:p>
            <a:pPr algn="l"/>
            <a:r>
              <a:rPr sz="2400" b="1" i="0">
                <a:solidFill>
                  <a:srgbClr val="002B55"/>
                </a:solidFill>
                <a:latin typeface="Bahnschrift"/>
              </a:rPr>
              <a:t>Do what was not possible</a:t>
            </a:r>
          </a:p>
        </p:txBody>
      </p:sp>
      <p:sp>
        <p:nvSpPr>
          <p:cNvPr id="17" name="TextBox 16"/>
          <p:cNvSpPr txBox="1"/>
          <p:nvPr/>
        </p:nvSpPr>
        <p:spPr>
          <a:xfrm>
            <a:off x="6647688" y="2788920"/>
            <a:ext cx="4663440" cy="1005840"/>
          </a:xfrm>
          <a:prstGeom prst="rect">
            <a:avLst/>
          </a:prstGeom>
          <a:noFill/>
        </p:spPr>
        <p:txBody>
          <a:bodyPr wrap="square" lIns="36576" rIns="36576" tIns="18288" bIns="18288" anchor="ctr">
            <a:spAutoFit/>
          </a:bodyPr>
          <a:lstStyle/>
          <a:p>
            <a:pPr algn="l"/>
            <a:r>
              <a:rPr sz="4000" b="1" i="0">
                <a:solidFill>
                  <a:srgbClr val="F47735"/>
                </a:solidFill>
                <a:latin typeface="Bahnschrift"/>
              </a:rPr>
              <a:t>[New capability]</a:t>
            </a:r>
          </a:p>
        </p:txBody>
      </p:sp>
      <p:cxnSp>
        <p:nvCxnSpPr>
          <p:cNvPr id="18" name="Connector 17"/>
          <p:cNvCxnSpPr/>
          <p:nvPr/>
        </p:nvCxnSpPr>
        <p:spPr>
          <a:xfrm>
            <a:off x="6647688" y="3977639"/>
            <a:ext cx="4617720"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647688" y="4114800"/>
            <a:ext cx="4663440" cy="731520"/>
          </a:xfrm>
          <a:prstGeom prst="rect">
            <a:avLst/>
          </a:prstGeom>
          <a:noFill/>
        </p:spPr>
        <p:txBody>
          <a:bodyPr wrap="square" lIns="36576" rIns="36576" tIns="18288" bIns="18288" anchor="t">
            <a:spAutoFit/>
          </a:bodyPr>
          <a:lstStyle/>
          <a:p>
            <a:pPr algn="l"/>
            <a:r>
              <a:rPr sz="1700" b="1" i="0">
                <a:solidFill>
                  <a:srgbClr val="002B55"/>
                </a:solidFill>
                <a:latin typeface="Arial"/>
              </a:rPr>
              <a:t>[e.g. every session, every HCP, every week]</a:t>
            </a:r>
          </a:p>
        </p:txBody>
      </p:sp>
      <p:sp>
        <p:nvSpPr>
          <p:cNvPr id="20" name="TextBox 19"/>
          <p:cNvSpPr txBox="1"/>
          <p:nvPr/>
        </p:nvSpPr>
        <p:spPr>
          <a:xfrm>
            <a:off x="6647688" y="4892040"/>
            <a:ext cx="4663440" cy="731520"/>
          </a:xfrm>
          <a:prstGeom prst="rect">
            <a:avLst/>
          </a:prstGeom>
          <a:noFill/>
        </p:spPr>
        <p:txBody>
          <a:bodyPr wrap="square" lIns="36576" rIns="36576" tIns="18288" bIns="18288" anchor="t">
            <a:spAutoFit/>
          </a:bodyPr>
          <a:lstStyle/>
          <a:p>
            <a:pPr algn="l"/>
            <a:r>
              <a:rPr sz="1500" b="0" i="0">
                <a:solidFill>
                  <a:srgbClr val="28455F"/>
                </a:solidFill>
                <a:latin typeface="Arial"/>
              </a:rPr>
              <a:t>[Who benefits, and how]</a:t>
            </a:r>
          </a:p>
        </p:txBody>
      </p:sp>
      <p:sp>
        <p:nvSpPr>
          <p:cNvPr id="21" name="Oval 20"/>
          <p:cNvSpPr/>
          <p:nvPr/>
        </p:nvSpPr>
        <p:spPr>
          <a:xfrm>
            <a:off x="5733288" y="3017520"/>
            <a:ext cx="548640" cy="548640"/>
          </a:xfrm>
          <a:prstGeom prst="ellipse">
            <a:avLst/>
          </a:prstGeom>
          <a:solidFill>
            <a:srgbClr val="002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2000" b="1" i="0">
                <a:solidFill>
                  <a:srgbClr val="FFFFFF"/>
                </a:solidFill>
                <a:latin typeface="Arial"/>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3000" b="1" i="0">
                <a:solidFill>
                  <a:srgbClr val="002B55"/>
                </a:solidFill>
                <a:latin typeface="Bahnschrift"/>
              </a:rPr>
              <a:t>From hackathon to pilot</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11</a:t>
            </a:r>
          </a:p>
        </p:txBody>
      </p:sp>
      <p:cxnSp>
        <p:nvCxnSpPr>
          <p:cNvPr id="5" name="Connector 4"/>
          <p:cNvCxnSpPr/>
          <p:nvPr/>
        </p:nvCxnSpPr>
        <p:spPr>
          <a:xfrm>
            <a:off x="1463040" y="1965960"/>
            <a:ext cx="9326880" cy="0"/>
          </a:xfrm>
          <a:prstGeom prst="line">
            <a:avLst/>
          </a:prstGeom>
          <a:ln w="38100">
            <a:solidFill>
              <a:srgbClr val="0078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2029968" y="1645920"/>
            <a:ext cx="640080" cy="640080"/>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800" b="1" i="0">
                <a:solidFill>
                  <a:srgbClr val="FFFFFF"/>
                </a:solidFill>
                <a:latin typeface="Bahnschrift"/>
              </a:rPr>
              <a:t>1</a:t>
            </a:r>
          </a:p>
        </p:txBody>
      </p:sp>
      <p:sp>
        <p:nvSpPr>
          <p:cNvPr id="7" name="TextBox 6"/>
          <p:cNvSpPr txBox="1"/>
          <p:nvPr/>
        </p:nvSpPr>
        <p:spPr>
          <a:xfrm>
            <a:off x="612648" y="2468880"/>
            <a:ext cx="3520440" cy="457200"/>
          </a:xfrm>
          <a:prstGeom prst="rect">
            <a:avLst/>
          </a:prstGeom>
          <a:noFill/>
        </p:spPr>
        <p:txBody>
          <a:bodyPr wrap="square" lIns="36576" rIns="36576" tIns="18288" bIns="18288" anchor="t">
            <a:spAutoFit/>
          </a:bodyPr>
          <a:lstStyle/>
          <a:p>
            <a:pPr algn="ctr"/>
            <a:r>
              <a:rPr sz="2000" b="1" i="0">
                <a:solidFill>
                  <a:srgbClr val="007879"/>
                </a:solidFill>
                <a:latin typeface="Bahnschrift"/>
              </a:rPr>
              <a:t>Next week</a:t>
            </a:r>
          </a:p>
        </p:txBody>
      </p:sp>
      <p:sp>
        <p:nvSpPr>
          <p:cNvPr id="8" name="Rounded Rectangle 7"/>
          <p:cNvSpPr/>
          <p:nvPr/>
        </p:nvSpPr>
        <p:spPr>
          <a:xfrm>
            <a:off x="612648" y="3017520"/>
            <a:ext cx="3520440" cy="2514600"/>
          </a:xfrm>
          <a:prstGeom prst="roundRect">
            <a:avLst>
              <a:gd name="adj" fmla="val 6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841248" y="3200400"/>
            <a:ext cx="3108960" cy="1005840"/>
          </a:xfrm>
          <a:prstGeom prst="rect">
            <a:avLst/>
          </a:prstGeom>
          <a:noFill/>
        </p:spPr>
        <p:txBody>
          <a:bodyPr wrap="square" lIns="36576" rIns="36576" tIns="18288" bIns="18288" anchor="t">
            <a:spAutoFit/>
          </a:bodyPr>
          <a:lstStyle/>
          <a:p>
            <a:pPr algn="l"/>
            <a:r>
              <a:rPr sz="1800" b="1" i="0">
                <a:solidFill>
                  <a:srgbClr val="002B55"/>
                </a:solidFill>
                <a:latin typeface="Arial"/>
              </a:rPr>
              <a:t>[Action]</a:t>
            </a:r>
          </a:p>
        </p:txBody>
      </p:sp>
      <p:sp>
        <p:nvSpPr>
          <p:cNvPr id="10" name="TextBox 9"/>
          <p:cNvSpPr txBox="1"/>
          <p:nvPr/>
        </p:nvSpPr>
        <p:spPr>
          <a:xfrm>
            <a:off x="841248" y="4251960"/>
            <a:ext cx="3108960" cy="457200"/>
          </a:xfrm>
          <a:prstGeom prst="rect">
            <a:avLst/>
          </a:prstGeom>
          <a:noFill/>
        </p:spPr>
        <p:txBody>
          <a:bodyPr wrap="square" lIns="36576" rIns="36576" tIns="18288" bIns="18288" anchor="t">
            <a:spAutoFit/>
          </a:bodyPr>
          <a:lstStyle/>
          <a:p>
            <a:pPr algn="l"/>
            <a:r>
              <a:rPr sz="1400" b="1" i="0">
                <a:solidFill>
                  <a:srgbClr val="007879"/>
                </a:solidFill>
                <a:latin typeface="Arial"/>
              </a:rPr>
              <a:t>Owner: </a:t>
            </a:r>
            <a:r>
              <a:rPr sz="1400" b="0" i="0">
                <a:solidFill>
                  <a:srgbClr val="002B55"/>
                </a:solidFill>
                <a:latin typeface="Arial"/>
              </a:rPr>
              <a:t>[role]</a:t>
            </a:r>
          </a:p>
        </p:txBody>
      </p:sp>
      <p:sp>
        <p:nvSpPr>
          <p:cNvPr id="11" name="TextBox 10"/>
          <p:cNvSpPr txBox="1"/>
          <p:nvPr/>
        </p:nvSpPr>
        <p:spPr>
          <a:xfrm>
            <a:off x="841248" y="4709160"/>
            <a:ext cx="3108960" cy="731520"/>
          </a:xfrm>
          <a:prstGeom prst="rect">
            <a:avLst/>
          </a:prstGeom>
          <a:noFill/>
        </p:spPr>
        <p:txBody>
          <a:bodyPr wrap="square" lIns="36576" rIns="36576" tIns="18288" bIns="18288" anchor="t">
            <a:spAutoFit/>
          </a:bodyPr>
          <a:lstStyle/>
          <a:p>
            <a:pPr algn="l"/>
            <a:r>
              <a:rPr sz="1400" b="1" i="0">
                <a:solidFill>
                  <a:srgbClr val="007879"/>
                </a:solidFill>
                <a:latin typeface="Arial"/>
              </a:rPr>
              <a:t>Needs: </a:t>
            </a:r>
            <a:r>
              <a:rPr sz="1400" b="0" i="0">
                <a:solidFill>
                  <a:srgbClr val="002B55"/>
                </a:solidFill>
                <a:latin typeface="Arial"/>
              </a:rPr>
              <a:t>[data, access, sponsor]</a:t>
            </a:r>
          </a:p>
        </p:txBody>
      </p:sp>
      <p:sp>
        <p:nvSpPr>
          <p:cNvPr id="12" name="Oval 11"/>
          <p:cNvSpPr/>
          <p:nvPr/>
        </p:nvSpPr>
        <p:spPr>
          <a:xfrm>
            <a:off x="5751576" y="1645920"/>
            <a:ext cx="640080" cy="640080"/>
          </a:xfrm>
          <a:prstGeom prst="ellipse">
            <a:avLst/>
          </a:prstGeom>
          <a:solidFill>
            <a:srgbClr val="1D5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800" b="1" i="0">
                <a:solidFill>
                  <a:srgbClr val="FFFFFF"/>
                </a:solidFill>
                <a:latin typeface="Bahnschrift"/>
              </a:rPr>
              <a:t>2</a:t>
            </a:r>
          </a:p>
        </p:txBody>
      </p:sp>
      <p:sp>
        <p:nvSpPr>
          <p:cNvPr id="13" name="TextBox 12"/>
          <p:cNvSpPr txBox="1"/>
          <p:nvPr/>
        </p:nvSpPr>
        <p:spPr>
          <a:xfrm>
            <a:off x="4334256" y="2468880"/>
            <a:ext cx="3520440" cy="457200"/>
          </a:xfrm>
          <a:prstGeom prst="rect">
            <a:avLst/>
          </a:prstGeom>
          <a:noFill/>
        </p:spPr>
        <p:txBody>
          <a:bodyPr wrap="square" lIns="36576" rIns="36576" tIns="18288" bIns="18288" anchor="t">
            <a:spAutoFit/>
          </a:bodyPr>
          <a:lstStyle/>
          <a:p>
            <a:pPr algn="ctr"/>
            <a:r>
              <a:rPr sz="2000" b="1" i="0">
                <a:solidFill>
                  <a:srgbClr val="1D5C8C"/>
                </a:solidFill>
                <a:latin typeface="Bahnschrift"/>
              </a:rPr>
              <a:t>Next 90 days</a:t>
            </a:r>
          </a:p>
        </p:txBody>
      </p:sp>
      <p:sp>
        <p:nvSpPr>
          <p:cNvPr id="14" name="Rounded Rectangle 13"/>
          <p:cNvSpPr/>
          <p:nvPr/>
        </p:nvSpPr>
        <p:spPr>
          <a:xfrm>
            <a:off x="4334256" y="3017520"/>
            <a:ext cx="3520440" cy="2514600"/>
          </a:xfrm>
          <a:prstGeom prst="roundRect">
            <a:avLst>
              <a:gd name="adj" fmla="val 6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5" name="TextBox 14"/>
          <p:cNvSpPr txBox="1"/>
          <p:nvPr/>
        </p:nvSpPr>
        <p:spPr>
          <a:xfrm>
            <a:off x="4562856" y="3200400"/>
            <a:ext cx="3108960" cy="1005840"/>
          </a:xfrm>
          <a:prstGeom prst="rect">
            <a:avLst/>
          </a:prstGeom>
          <a:noFill/>
        </p:spPr>
        <p:txBody>
          <a:bodyPr wrap="square" lIns="36576" rIns="36576" tIns="18288" bIns="18288" anchor="t">
            <a:spAutoFit/>
          </a:bodyPr>
          <a:lstStyle/>
          <a:p>
            <a:pPr algn="l"/>
            <a:r>
              <a:rPr sz="1800" b="1" i="0">
                <a:solidFill>
                  <a:srgbClr val="002B55"/>
                </a:solidFill>
                <a:latin typeface="Arial"/>
              </a:rPr>
              <a:t>[Action]</a:t>
            </a:r>
          </a:p>
        </p:txBody>
      </p:sp>
      <p:sp>
        <p:nvSpPr>
          <p:cNvPr id="16" name="TextBox 15"/>
          <p:cNvSpPr txBox="1"/>
          <p:nvPr/>
        </p:nvSpPr>
        <p:spPr>
          <a:xfrm>
            <a:off x="4562856" y="4251960"/>
            <a:ext cx="3108960" cy="457200"/>
          </a:xfrm>
          <a:prstGeom prst="rect">
            <a:avLst/>
          </a:prstGeom>
          <a:noFill/>
        </p:spPr>
        <p:txBody>
          <a:bodyPr wrap="square" lIns="36576" rIns="36576" tIns="18288" bIns="18288" anchor="t">
            <a:spAutoFit/>
          </a:bodyPr>
          <a:lstStyle/>
          <a:p>
            <a:pPr algn="l"/>
            <a:r>
              <a:rPr sz="1400" b="1" i="0">
                <a:solidFill>
                  <a:srgbClr val="007879"/>
                </a:solidFill>
                <a:latin typeface="Arial"/>
              </a:rPr>
              <a:t>Owner: </a:t>
            </a:r>
            <a:r>
              <a:rPr sz="1400" b="0" i="0">
                <a:solidFill>
                  <a:srgbClr val="002B55"/>
                </a:solidFill>
                <a:latin typeface="Arial"/>
              </a:rPr>
              <a:t>[role]</a:t>
            </a:r>
          </a:p>
        </p:txBody>
      </p:sp>
      <p:sp>
        <p:nvSpPr>
          <p:cNvPr id="17" name="TextBox 16"/>
          <p:cNvSpPr txBox="1"/>
          <p:nvPr/>
        </p:nvSpPr>
        <p:spPr>
          <a:xfrm>
            <a:off x="4562856" y="4709160"/>
            <a:ext cx="3108960" cy="731520"/>
          </a:xfrm>
          <a:prstGeom prst="rect">
            <a:avLst/>
          </a:prstGeom>
          <a:noFill/>
        </p:spPr>
        <p:txBody>
          <a:bodyPr wrap="square" lIns="36576" rIns="36576" tIns="18288" bIns="18288" anchor="t">
            <a:spAutoFit/>
          </a:bodyPr>
          <a:lstStyle/>
          <a:p>
            <a:pPr algn="l"/>
            <a:r>
              <a:rPr sz="1400" b="1" i="0">
                <a:solidFill>
                  <a:srgbClr val="007879"/>
                </a:solidFill>
                <a:latin typeface="Arial"/>
              </a:rPr>
              <a:t>Needs: </a:t>
            </a:r>
            <a:r>
              <a:rPr sz="1400" b="0" i="0">
                <a:solidFill>
                  <a:srgbClr val="002B55"/>
                </a:solidFill>
                <a:latin typeface="Arial"/>
              </a:rPr>
              <a:t>[data, access, sponsor]</a:t>
            </a:r>
          </a:p>
        </p:txBody>
      </p:sp>
      <p:sp>
        <p:nvSpPr>
          <p:cNvPr id="18" name="Oval 17"/>
          <p:cNvSpPr/>
          <p:nvPr/>
        </p:nvSpPr>
        <p:spPr>
          <a:xfrm>
            <a:off x="9473184" y="1645920"/>
            <a:ext cx="640080" cy="640080"/>
          </a:xfrm>
          <a:prstGeom prst="ellipse">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800" b="1" i="0">
                <a:solidFill>
                  <a:srgbClr val="FFFFFF"/>
                </a:solidFill>
                <a:latin typeface="Bahnschrift"/>
              </a:rPr>
              <a:t>3</a:t>
            </a:r>
          </a:p>
        </p:txBody>
      </p:sp>
      <p:sp>
        <p:nvSpPr>
          <p:cNvPr id="19" name="TextBox 18"/>
          <p:cNvSpPr txBox="1"/>
          <p:nvPr/>
        </p:nvSpPr>
        <p:spPr>
          <a:xfrm>
            <a:off x="8055864" y="2468880"/>
            <a:ext cx="3520440" cy="457200"/>
          </a:xfrm>
          <a:prstGeom prst="rect">
            <a:avLst/>
          </a:prstGeom>
          <a:noFill/>
        </p:spPr>
        <p:txBody>
          <a:bodyPr wrap="square" lIns="36576" rIns="36576" tIns="18288" bIns="18288" anchor="t">
            <a:spAutoFit/>
          </a:bodyPr>
          <a:lstStyle/>
          <a:p>
            <a:pPr algn="ctr"/>
            <a:r>
              <a:rPr sz="2000" b="1" i="0">
                <a:solidFill>
                  <a:srgbClr val="F47735"/>
                </a:solidFill>
                <a:latin typeface="Bahnschrift"/>
              </a:rPr>
              <a:t>Our ask today</a:t>
            </a:r>
          </a:p>
        </p:txBody>
      </p:sp>
      <p:sp>
        <p:nvSpPr>
          <p:cNvPr id="20" name="Rounded Rectangle 19"/>
          <p:cNvSpPr/>
          <p:nvPr/>
        </p:nvSpPr>
        <p:spPr>
          <a:xfrm>
            <a:off x="8055864" y="3017520"/>
            <a:ext cx="3520440" cy="2514600"/>
          </a:xfrm>
          <a:prstGeom prst="roundRect">
            <a:avLst>
              <a:gd name="adj" fmla="val 6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TextBox 20"/>
          <p:cNvSpPr txBox="1"/>
          <p:nvPr/>
        </p:nvSpPr>
        <p:spPr>
          <a:xfrm>
            <a:off x="8284464" y="3200400"/>
            <a:ext cx="3108960" cy="1005840"/>
          </a:xfrm>
          <a:prstGeom prst="rect">
            <a:avLst/>
          </a:prstGeom>
          <a:noFill/>
        </p:spPr>
        <p:txBody>
          <a:bodyPr wrap="square" lIns="36576" rIns="36576" tIns="18288" bIns="18288" anchor="t">
            <a:spAutoFit/>
          </a:bodyPr>
          <a:lstStyle/>
          <a:p>
            <a:pPr algn="l"/>
            <a:r>
              <a:rPr sz="1800" b="1" i="0">
                <a:solidFill>
                  <a:srgbClr val="002B55"/>
                </a:solidFill>
                <a:latin typeface="Arial"/>
              </a:rPr>
              <a:t>[Action]</a:t>
            </a:r>
          </a:p>
        </p:txBody>
      </p:sp>
      <p:sp>
        <p:nvSpPr>
          <p:cNvPr id="22" name="TextBox 21"/>
          <p:cNvSpPr txBox="1"/>
          <p:nvPr/>
        </p:nvSpPr>
        <p:spPr>
          <a:xfrm>
            <a:off x="8284464" y="4251960"/>
            <a:ext cx="3108960" cy="457200"/>
          </a:xfrm>
          <a:prstGeom prst="rect">
            <a:avLst/>
          </a:prstGeom>
          <a:noFill/>
        </p:spPr>
        <p:txBody>
          <a:bodyPr wrap="square" lIns="36576" rIns="36576" tIns="18288" bIns="18288" anchor="t">
            <a:spAutoFit/>
          </a:bodyPr>
          <a:lstStyle/>
          <a:p>
            <a:pPr algn="l"/>
            <a:r>
              <a:rPr sz="1400" b="1" i="0">
                <a:solidFill>
                  <a:srgbClr val="007879"/>
                </a:solidFill>
                <a:latin typeface="Arial"/>
              </a:rPr>
              <a:t>Owner: </a:t>
            </a:r>
            <a:r>
              <a:rPr sz="1400" b="0" i="0">
                <a:solidFill>
                  <a:srgbClr val="002B55"/>
                </a:solidFill>
                <a:latin typeface="Arial"/>
              </a:rPr>
              <a:t>[role]</a:t>
            </a:r>
          </a:p>
        </p:txBody>
      </p:sp>
      <p:sp>
        <p:nvSpPr>
          <p:cNvPr id="23" name="TextBox 22"/>
          <p:cNvSpPr txBox="1"/>
          <p:nvPr/>
        </p:nvSpPr>
        <p:spPr>
          <a:xfrm>
            <a:off x="8284464" y="4709160"/>
            <a:ext cx="3108960" cy="731520"/>
          </a:xfrm>
          <a:prstGeom prst="rect">
            <a:avLst/>
          </a:prstGeom>
          <a:noFill/>
        </p:spPr>
        <p:txBody>
          <a:bodyPr wrap="square" lIns="36576" rIns="36576" tIns="18288" bIns="18288" anchor="t">
            <a:spAutoFit/>
          </a:bodyPr>
          <a:lstStyle/>
          <a:p>
            <a:pPr algn="l"/>
            <a:r>
              <a:rPr sz="1400" b="1" i="0">
                <a:solidFill>
                  <a:srgbClr val="007879"/>
                </a:solidFill>
                <a:latin typeface="Arial"/>
              </a:rPr>
              <a:t>Needs: </a:t>
            </a:r>
            <a:r>
              <a:rPr sz="1400" b="0" i="0">
                <a:solidFill>
                  <a:srgbClr val="002B55"/>
                </a:solidFill>
                <a:latin typeface="Arial"/>
              </a:rPr>
              <a:t>[data, access, sponsor]</a:t>
            </a:r>
          </a:p>
        </p:txBody>
      </p:sp>
      <p:sp>
        <p:nvSpPr>
          <p:cNvPr id="24" name="TextBox 23"/>
          <p:cNvSpPr txBox="1"/>
          <p:nvPr/>
        </p:nvSpPr>
        <p:spPr>
          <a:xfrm>
            <a:off x="612648" y="5760720"/>
            <a:ext cx="10972800" cy="411480"/>
          </a:xfrm>
          <a:prstGeom prst="rect">
            <a:avLst/>
          </a:prstGeom>
          <a:noFill/>
        </p:spPr>
        <p:txBody>
          <a:bodyPr wrap="square" lIns="36576" rIns="36576" tIns="18288" bIns="18288" anchor="t">
            <a:spAutoFit/>
          </a:bodyPr>
          <a:lstStyle/>
          <a:p>
            <a:pPr algn="ctr"/>
            <a:r>
              <a:rPr sz="1600" b="1" i="0">
                <a:solidFill>
                  <a:srgbClr val="F47735"/>
                </a:solidFill>
                <a:latin typeface="Bahnschrift"/>
              </a:rPr>
              <a:t>[One sentence: the decision we want from leadership]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ing-question.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26679" y="1828800"/>
            <a:ext cx="3886200" cy="1005840"/>
          </a:xfrm>
          <a:prstGeom prst="rect">
            <a:avLst/>
          </a:prstGeom>
          <a:noFill/>
        </p:spPr>
        <p:txBody>
          <a:bodyPr wrap="square" lIns="36576" rIns="36576" tIns="18288" bIns="18288" anchor="t">
            <a:spAutoFit/>
          </a:bodyPr>
          <a:lstStyle/>
          <a:p>
            <a:pPr algn="l"/>
            <a:r>
              <a:rPr sz="4800" b="1" i="0">
                <a:solidFill>
                  <a:srgbClr val="002B55"/>
                </a:solidFill>
                <a:latin typeface="Bahnschrift"/>
              </a:rPr>
              <a:t>Thank you</a:t>
            </a:r>
          </a:p>
        </p:txBody>
      </p:sp>
      <p:sp>
        <p:nvSpPr>
          <p:cNvPr id="4" name="TextBox 3"/>
          <p:cNvSpPr txBox="1"/>
          <p:nvPr/>
        </p:nvSpPr>
        <p:spPr>
          <a:xfrm>
            <a:off x="7726679" y="2834640"/>
            <a:ext cx="3886200" cy="548640"/>
          </a:xfrm>
          <a:prstGeom prst="rect">
            <a:avLst/>
          </a:prstGeom>
          <a:noFill/>
        </p:spPr>
        <p:txBody>
          <a:bodyPr wrap="square" lIns="36576" rIns="36576" tIns="18288" bIns="18288" anchor="t">
            <a:spAutoFit/>
          </a:bodyPr>
          <a:lstStyle/>
          <a:p>
            <a:pPr algn="l"/>
            <a:r>
              <a:rPr sz="2600" b="1" i="0">
                <a:solidFill>
                  <a:srgbClr val="007879"/>
                </a:solidFill>
                <a:latin typeface="Bahnschrift"/>
              </a:rPr>
              <a:t>Questions?</a:t>
            </a:r>
          </a:p>
        </p:txBody>
      </p:sp>
      <p:sp>
        <p:nvSpPr>
          <p:cNvPr id="5" name="TextBox 4"/>
          <p:cNvSpPr txBox="1"/>
          <p:nvPr/>
        </p:nvSpPr>
        <p:spPr>
          <a:xfrm>
            <a:off x="7726679" y="3520440"/>
            <a:ext cx="3886200" cy="1097280"/>
          </a:xfrm>
          <a:prstGeom prst="rect">
            <a:avLst/>
          </a:prstGeom>
          <a:noFill/>
        </p:spPr>
        <p:txBody>
          <a:bodyPr wrap="square" lIns="36576" rIns="36576" tIns="18288" bIns="18288" anchor="t">
            <a:spAutoFit/>
          </a:bodyPr>
          <a:lstStyle/>
          <a:p>
            <a:pPr algn="l">
              <a:spcAft>
                <a:spcPts val="400"/>
              </a:spcAft>
            </a:pPr>
            <a:r>
              <a:rPr sz="1500" b="0" i="0">
                <a:solidFill>
                  <a:srgbClr val="002B55"/>
                </a:solidFill>
                <a:latin typeface="Arial"/>
              </a:rPr>
              <a:t>[Team name] · [Vertical]</a:t>
            </a:r>
          </a:p>
          <a:p>
            <a:pPr algn="l">
              <a:spcAft>
                <a:spcPts val="400"/>
              </a:spcAft>
            </a:pPr>
            <a:r>
              <a:rPr sz="1500" b="0" i="0">
                <a:solidFill>
                  <a:srgbClr val="002B55"/>
                </a:solidFill>
                <a:latin typeface="Arial"/>
              </a:rPr>
              <a:t>[Member 1] · [Member 2] · [Member 3] · [Member 4]</a:t>
            </a:r>
          </a:p>
        </p:txBody>
      </p:sp>
      <p:sp>
        <p:nvSpPr>
          <p:cNvPr id="6" name="Rounded Rectangle 5"/>
          <p:cNvSpPr/>
          <p:nvPr/>
        </p:nvSpPr>
        <p:spPr>
          <a:xfrm>
            <a:off x="7726679" y="4800600"/>
            <a:ext cx="3858768" cy="1097280"/>
          </a:xfrm>
          <a:prstGeom prst="roundRect">
            <a:avLst>
              <a:gd name="adj" fmla="val 8000"/>
            </a:avLst>
          </a:prstGeom>
          <a:solidFill>
            <a:srgbClr val="FFFFFF"/>
          </a:solidFill>
          <a:ln w="15875">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50" b="0" i="0">
                <a:solidFill>
                  <a:srgbClr val="28455F"/>
                </a:solidFill>
                <a:latin typeface="Arial"/>
              </a:rPr>
              <a:t>Practice data: Nordvant Biopharma, NORVANTIB, DERMALYX and ADIPOSYN are fictional. Outputs are drafts for qualified human review.</a:t>
            </a:r>
          </a:p>
        </p:txBody>
      </p:sp>
      <p:sp>
        <p:nvSpPr>
          <p:cNvPr id="7" name="TextBox 6"/>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8" name="TextBox 7"/>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FFEFB"/>
        </a:solidFill>
        <a:effectLst/>
      </p:bgPr>
    </p:bg>
    <p:spTree>
      <p:nvGrpSpPr>
        <p:cNvPr id="1" name=""/>
        <p:cNvGrpSpPr/>
        <p:nvPr/>
      </p:nvGrpSpPr>
      <p:grpSpPr/>
      <p:sp>
        <p:nvSpPr>
          <p:cNvPr id="2" name="TextBox 1"/>
          <p:cNvSpPr txBox="1"/>
          <p:nvPr/>
        </p:nvSpPr>
        <p:spPr>
          <a:xfrm>
            <a:off x="612648" y="365760"/>
            <a:ext cx="10972800" cy="777240"/>
          </a:xfrm>
          <a:prstGeom prst="rect">
            <a:avLst/>
          </a:prstGeom>
          <a:noFill/>
        </p:spPr>
        <p:txBody>
          <a:bodyPr wrap="square" lIns="36576" rIns="36576" tIns="18288" bIns="18288" anchor="ctr">
            <a:spAutoFit/>
          </a:bodyPr>
          <a:lstStyle/>
          <a:p>
            <a:pPr algn="l"/>
            <a:r>
              <a:rPr sz="2600" b="1" i="0">
                <a:solidFill>
                  <a:srgbClr val="002B55"/>
                </a:solidFill>
                <a:latin typeface="Bahnschrift"/>
              </a:rPr>
              <a:t>Template guide · hidden · delete before presenting</a:t>
            </a:r>
          </a:p>
        </p:txBody>
      </p:sp>
      <p:sp>
        <p:nvSpPr>
          <p:cNvPr id="3" name="TextBox 2"/>
          <p:cNvSpPr txBox="1"/>
          <p:nvPr/>
        </p:nvSpPr>
        <p:spPr>
          <a:xfrm>
            <a:off x="612648" y="6437376"/>
            <a:ext cx="5715000" cy="219456"/>
          </a:xfrm>
          <a:prstGeom prst="rect">
            <a:avLst/>
          </a:prstGeom>
          <a:noFill/>
        </p:spPr>
        <p:txBody>
          <a:bodyPr wrap="square" lIns="36576" rIns="36576" tIns="18288" bIns="18288" anchor="t">
            <a:spAutoFit/>
          </a:bodyPr>
          <a:lstStyle/>
          <a:p>
            <a:pPr algn="l"/>
            <a:r>
              <a:rPr sz="1050" b="0" i="0">
                <a:solidFill>
                  <a:srgbClr val="28455F"/>
                </a:solidFill>
                <a:latin typeface="Arial"/>
              </a:rPr>
              <a:t>AI IN ACTION / MEDICAL AFFAIRS</a:t>
            </a:r>
          </a:p>
        </p:txBody>
      </p:sp>
      <p:sp>
        <p:nvSpPr>
          <p:cNvPr id="4" name="TextBox 3"/>
          <p:cNvSpPr txBox="1"/>
          <p:nvPr/>
        </p:nvSpPr>
        <p:spPr>
          <a:xfrm>
            <a:off x="11064240" y="6400800"/>
            <a:ext cx="548640" cy="256032"/>
          </a:xfrm>
          <a:prstGeom prst="rect">
            <a:avLst/>
          </a:prstGeom>
          <a:noFill/>
        </p:spPr>
        <p:txBody>
          <a:bodyPr wrap="square" lIns="36576" rIns="36576" tIns="18288" bIns="18288" anchor="t">
            <a:spAutoFit/>
          </a:bodyPr>
          <a:lstStyle/>
          <a:p>
            <a:pPr algn="r"/>
            <a:r>
              <a:rPr sz="1275" b="1" i="0">
                <a:solidFill>
                  <a:srgbClr val="28455F"/>
                </a:solidFill>
                <a:latin typeface="Bahnschrift"/>
              </a:rPr>
              <a:t>13</a:t>
            </a:r>
          </a:p>
        </p:txBody>
      </p:sp>
      <p:graphicFrame>
        <p:nvGraphicFramePr>
          <p:cNvPr id="5" name="Table 4"/>
          <p:cNvGraphicFramePr>
            <a:graphicFrameLocks noGrp="1"/>
          </p:cNvGraphicFramePr>
          <p:nvPr/>
        </p:nvGraphicFramePr>
        <p:xfrm>
          <a:off x="612648" y="1280160"/>
          <a:ext cx="5120640" cy="4846320"/>
        </p:xfrm>
        <a:graphic>
          <a:graphicData uri="http://schemas.openxmlformats.org/drawingml/2006/table">
            <a:tbl>
              <a:tblPr firstRow="1" bandRow="1">
                <a:tableStyleId>{5C22544A-7EE6-4342-B048-85BDC9FD1C3A}</a:tableStyleId>
              </a:tblPr>
              <a:tblGrid>
                <a:gridCol w="3566160"/>
                <a:gridCol w="1554480"/>
              </a:tblGrid>
              <a:tr h="372793">
                <a:tc>
                  <a:txBody>
                    <a:bodyPr/>
                    <a:lstStyle/>
                    <a:p>
                      <a:r>
                        <a:rPr sz="1250" b="1">
                          <a:solidFill>
                            <a:srgbClr val="FFFFFF"/>
                          </a:solidFill>
                          <a:latin typeface="Arial"/>
                        </a:rPr>
                        <a:t>Slide</a:t>
                      </a:r>
                    </a:p>
                  </a:txBody>
                  <a:tcPr marT="27432" marB="27432">
                    <a:solidFill>
                      <a:srgbClr val="007879"/>
                    </a:solidFill>
                  </a:tcPr>
                </a:tc>
                <a:tc>
                  <a:txBody>
                    <a:bodyPr/>
                    <a:lstStyle/>
                    <a:p>
                      <a:r>
                        <a:rPr sz="1250" b="1">
                          <a:solidFill>
                            <a:srgbClr val="FFFFFF"/>
                          </a:solidFill>
                          <a:latin typeface="Arial"/>
                        </a:rPr>
                        <a:t>Time</a:t>
                      </a:r>
                    </a:p>
                  </a:txBody>
                  <a:tcPr marT="27432" marB="27432">
                    <a:solidFill>
                      <a:srgbClr val="007879"/>
                    </a:solidFill>
                  </a:tcPr>
                </a:tc>
              </a:tr>
              <a:tr h="372793">
                <a:tc>
                  <a:txBody>
                    <a:bodyPr/>
                    <a:lstStyle/>
                    <a:p>
                      <a:r>
                        <a:rPr sz="1250" b="0">
                          <a:solidFill>
                            <a:srgbClr val="002B55"/>
                          </a:solidFill>
                          <a:latin typeface="Arial"/>
                        </a:rPr>
                        <a:t>1 Title</a:t>
                      </a:r>
                    </a:p>
                  </a:txBody>
                  <a:tcPr marT="27432" marB="27432">
                    <a:solidFill>
                      <a:srgbClr val="FFFFFF"/>
                    </a:solidFill>
                  </a:tcPr>
                </a:tc>
                <a:tc>
                  <a:txBody>
                    <a:bodyPr/>
                    <a:lstStyle/>
                    <a:p>
                      <a:r>
                        <a:rPr sz="1250" b="0">
                          <a:solidFill>
                            <a:srgbClr val="002B55"/>
                          </a:solidFill>
                          <a:latin typeface="Arial"/>
                        </a:rPr>
                        <a:t>0:30</a:t>
                      </a:r>
                    </a:p>
                  </a:txBody>
                  <a:tcPr marT="27432" marB="27432">
                    <a:solidFill>
                      <a:srgbClr val="FFFFFF"/>
                    </a:solidFill>
                  </a:tcPr>
                </a:tc>
              </a:tr>
              <a:tr h="372793">
                <a:tc>
                  <a:txBody>
                    <a:bodyPr/>
                    <a:lstStyle/>
                    <a:p>
                      <a:r>
                        <a:rPr sz="1250" b="0">
                          <a:solidFill>
                            <a:srgbClr val="002B55"/>
                          </a:solidFill>
                          <a:latin typeface="Arial"/>
                        </a:rPr>
                        <a:t>2 Problem</a:t>
                      </a:r>
                    </a:p>
                  </a:txBody>
                  <a:tcPr marT="27432" marB="27432">
                    <a:solidFill>
                      <a:srgbClr val="F1F3F5"/>
                    </a:solidFill>
                  </a:tcPr>
                </a:tc>
                <a:tc>
                  <a:txBody>
                    <a:bodyPr/>
                    <a:lstStyle/>
                    <a:p>
                      <a:r>
                        <a:rPr sz="1250" b="0">
                          <a:solidFill>
                            <a:srgbClr val="002B55"/>
                          </a:solidFill>
                          <a:latin typeface="Arial"/>
                        </a:rPr>
                        <a:t>1:30</a:t>
                      </a:r>
                    </a:p>
                  </a:txBody>
                  <a:tcPr marT="27432" marB="27432">
                    <a:solidFill>
                      <a:srgbClr val="F1F3F5"/>
                    </a:solidFill>
                  </a:tcPr>
                </a:tc>
              </a:tr>
              <a:tr h="372793">
                <a:tc>
                  <a:txBody>
                    <a:bodyPr/>
                    <a:lstStyle/>
                    <a:p>
                      <a:r>
                        <a:rPr sz="1250" b="0">
                          <a:solidFill>
                            <a:srgbClr val="002B55"/>
                          </a:solidFill>
                          <a:latin typeface="Arial"/>
                        </a:rPr>
                        <a:t>3 Today's workflow</a:t>
                      </a:r>
                    </a:p>
                  </a:txBody>
                  <a:tcPr marT="27432" marB="27432">
                    <a:solidFill>
                      <a:srgbClr val="FFFFFF"/>
                    </a:solidFill>
                  </a:tcPr>
                </a:tc>
                <a:tc>
                  <a:txBody>
                    <a:bodyPr/>
                    <a:lstStyle/>
                    <a:p>
                      <a:r>
                        <a:rPr sz="1250" b="0">
                          <a:solidFill>
                            <a:srgbClr val="002B55"/>
                          </a:solidFill>
                          <a:latin typeface="Arial"/>
                        </a:rPr>
                        <a:t>1:30</a:t>
                      </a:r>
                    </a:p>
                  </a:txBody>
                  <a:tcPr marT="27432" marB="27432">
                    <a:solidFill>
                      <a:srgbClr val="FFFFFF"/>
                    </a:solidFill>
                  </a:tcPr>
                </a:tc>
              </a:tr>
              <a:tr h="372793">
                <a:tc>
                  <a:txBody>
                    <a:bodyPr/>
                    <a:lstStyle/>
                    <a:p>
                      <a:r>
                        <a:rPr sz="1250" b="0">
                          <a:solidFill>
                            <a:srgbClr val="002B55"/>
                          </a:solidFill>
                          <a:latin typeface="Arial"/>
                        </a:rPr>
                        <a:t>4 Redesigned workflow</a:t>
                      </a:r>
                    </a:p>
                  </a:txBody>
                  <a:tcPr marT="27432" marB="27432">
                    <a:solidFill>
                      <a:srgbClr val="F1F3F5"/>
                    </a:solidFill>
                  </a:tcPr>
                </a:tc>
                <a:tc>
                  <a:txBody>
                    <a:bodyPr/>
                    <a:lstStyle/>
                    <a:p>
                      <a:r>
                        <a:rPr sz="1250" b="0">
                          <a:solidFill>
                            <a:srgbClr val="002B55"/>
                          </a:solidFill>
                          <a:latin typeface="Arial"/>
                        </a:rPr>
                        <a:t>2:00</a:t>
                      </a:r>
                    </a:p>
                  </a:txBody>
                  <a:tcPr marT="27432" marB="27432">
                    <a:solidFill>
                      <a:srgbClr val="F1F3F5"/>
                    </a:solidFill>
                  </a:tcPr>
                </a:tc>
              </a:tr>
              <a:tr h="372793">
                <a:tc>
                  <a:txBody>
                    <a:bodyPr/>
                    <a:lstStyle/>
                    <a:p>
                      <a:r>
                        <a:rPr sz="1250" b="0">
                          <a:solidFill>
                            <a:srgbClr val="002B55"/>
                          </a:solidFill>
                          <a:latin typeface="Arial"/>
                        </a:rPr>
                        <a:t>5 Human gates</a:t>
                      </a:r>
                    </a:p>
                  </a:txBody>
                  <a:tcPr marT="27432" marB="27432">
                    <a:solidFill>
                      <a:srgbClr val="FFFFFF"/>
                    </a:solidFill>
                  </a:tcPr>
                </a:tc>
                <a:tc>
                  <a:txBody>
                    <a:bodyPr/>
                    <a:lstStyle/>
                    <a:p>
                      <a:r>
                        <a:rPr sz="1250" b="0">
                          <a:solidFill>
                            <a:srgbClr val="002B55"/>
                          </a:solidFill>
                          <a:latin typeface="Arial"/>
                        </a:rPr>
                        <a:t>1:30</a:t>
                      </a:r>
                    </a:p>
                  </a:txBody>
                  <a:tcPr marT="27432" marB="27432">
                    <a:solidFill>
                      <a:srgbClr val="FFFFFF"/>
                    </a:solidFill>
                  </a:tcPr>
                </a:tc>
              </a:tr>
              <a:tr h="372793">
                <a:tc>
                  <a:txBody>
                    <a:bodyPr/>
                    <a:lstStyle/>
                    <a:p>
                      <a:r>
                        <a:rPr sz="1250" b="0">
                          <a:solidFill>
                            <a:srgbClr val="002B55"/>
                          </a:solidFill>
                          <a:latin typeface="Arial"/>
                        </a:rPr>
                        <a:t>6 Swarm org chart</a:t>
                      </a:r>
                    </a:p>
                  </a:txBody>
                  <a:tcPr marT="27432" marB="27432">
                    <a:solidFill>
                      <a:srgbClr val="F1F3F5"/>
                    </a:solidFill>
                  </a:tcPr>
                </a:tc>
                <a:tc>
                  <a:txBody>
                    <a:bodyPr/>
                    <a:lstStyle/>
                    <a:p>
                      <a:r>
                        <a:rPr sz="1250" b="0">
                          <a:solidFill>
                            <a:srgbClr val="002B55"/>
                          </a:solidFill>
                          <a:latin typeface="Arial"/>
                        </a:rPr>
                        <a:t>1:00</a:t>
                      </a:r>
                    </a:p>
                  </a:txBody>
                  <a:tcPr marT="27432" marB="27432">
                    <a:solidFill>
                      <a:srgbClr val="F1F3F5"/>
                    </a:solidFill>
                  </a:tcPr>
                </a:tc>
              </a:tr>
              <a:tr h="372793">
                <a:tc>
                  <a:txBody>
                    <a:bodyPr/>
                    <a:lstStyle/>
                    <a:p>
                      <a:r>
                        <a:rPr sz="1250" b="0">
                          <a:solidFill>
                            <a:srgbClr val="002B55"/>
                          </a:solidFill>
                          <a:latin typeface="Arial"/>
                        </a:rPr>
                        <a:t>7 Live demo</a:t>
                      </a:r>
                    </a:p>
                  </a:txBody>
                  <a:tcPr marT="27432" marB="27432">
                    <a:solidFill>
                      <a:srgbClr val="FFFFFF"/>
                    </a:solidFill>
                  </a:tcPr>
                </a:tc>
                <a:tc>
                  <a:txBody>
                    <a:bodyPr/>
                    <a:lstStyle/>
                    <a:p>
                      <a:r>
                        <a:rPr sz="1250" b="0">
                          <a:solidFill>
                            <a:srgbClr val="002B55"/>
                          </a:solidFill>
                          <a:latin typeface="Arial"/>
                        </a:rPr>
                        <a:t>4:00</a:t>
                      </a:r>
                    </a:p>
                  </a:txBody>
                  <a:tcPr marT="27432" marB="27432">
                    <a:solidFill>
                      <a:srgbClr val="FFFFFF"/>
                    </a:solidFill>
                  </a:tcPr>
                </a:tc>
              </a:tr>
              <a:tr h="372793">
                <a:tc>
                  <a:txBody>
                    <a:bodyPr/>
                    <a:lstStyle/>
                    <a:p>
                      <a:r>
                        <a:rPr sz="1250" b="0">
                          <a:solidFill>
                            <a:srgbClr val="002B55"/>
                          </a:solidFill>
                          <a:latin typeface="Arial"/>
                        </a:rPr>
                        <a:t>8 Impact</a:t>
                      </a:r>
                    </a:p>
                  </a:txBody>
                  <a:tcPr marT="27432" marB="27432">
                    <a:solidFill>
                      <a:srgbClr val="F1F3F5"/>
                    </a:solidFill>
                  </a:tcPr>
                </a:tc>
                <a:tc>
                  <a:txBody>
                    <a:bodyPr/>
                    <a:lstStyle/>
                    <a:p>
                      <a:r>
                        <a:rPr sz="1250" b="0">
                          <a:solidFill>
                            <a:srgbClr val="002B55"/>
                          </a:solidFill>
                          <a:latin typeface="Arial"/>
                        </a:rPr>
                        <a:t>1:30</a:t>
                      </a:r>
                    </a:p>
                  </a:txBody>
                  <a:tcPr marT="27432" marB="27432">
                    <a:solidFill>
                      <a:srgbClr val="F1F3F5"/>
                    </a:solidFill>
                  </a:tcPr>
                </a:tc>
              </a:tr>
              <a:tr h="372793">
                <a:tc>
                  <a:txBody>
                    <a:bodyPr/>
                    <a:lstStyle/>
                    <a:p>
                      <a:r>
                        <a:rPr sz="1250" b="0">
                          <a:solidFill>
                            <a:srgbClr val="002B55"/>
                          </a:solidFill>
                          <a:latin typeface="Arial"/>
                        </a:rPr>
                        <a:t>9 Risks &amp; guardrails</a:t>
                      </a:r>
                    </a:p>
                  </a:txBody>
                  <a:tcPr marT="27432" marB="27432">
                    <a:solidFill>
                      <a:srgbClr val="FFFFFF"/>
                    </a:solidFill>
                  </a:tcPr>
                </a:tc>
                <a:tc>
                  <a:txBody>
                    <a:bodyPr/>
                    <a:lstStyle/>
                    <a:p>
                      <a:r>
                        <a:rPr sz="1250" b="0">
                          <a:solidFill>
                            <a:srgbClr val="002B55"/>
                          </a:solidFill>
                          <a:latin typeface="Arial"/>
                        </a:rPr>
                        <a:t>1:00</a:t>
                      </a:r>
                    </a:p>
                  </a:txBody>
                  <a:tcPr marT="27432" marB="27432">
                    <a:solidFill>
                      <a:srgbClr val="FFFFFF"/>
                    </a:solidFill>
                  </a:tcPr>
                </a:tc>
              </a:tr>
              <a:tr h="372793">
                <a:tc>
                  <a:txBody>
                    <a:bodyPr/>
                    <a:lstStyle/>
                    <a:p>
                      <a:r>
                        <a:rPr sz="1250" b="0">
                          <a:solidFill>
                            <a:srgbClr val="002B55"/>
                          </a:solidFill>
                          <a:latin typeface="Arial"/>
                        </a:rPr>
                        <a:t>10 Efficiency vs Opportunity</a:t>
                      </a:r>
                    </a:p>
                  </a:txBody>
                  <a:tcPr marT="27432" marB="27432">
                    <a:solidFill>
                      <a:srgbClr val="F1F3F5"/>
                    </a:solidFill>
                  </a:tcPr>
                </a:tc>
                <a:tc>
                  <a:txBody>
                    <a:bodyPr/>
                    <a:lstStyle/>
                    <a:p>
                      <a:r>
                        <a:rPr sz="1250" b="0">
                          <a:solidFill>
                            <a:srgbClr val="002B55"/>
                          </a:solidFill>
                          <a:latin typeface="Arial"/>
                        </a:rPr>
                        <a:t>1:00</a:t>
                      </a:r>
                    </a:p>
                  </a:txBody>
                  <a:tcPr marT="27432" marB="27432">
                    <a:solidFill>
                      <a:srgbClr val="F1F3F5"/>
                    </a:solidFill>
                  </a:tcPr>
                </a:tc>
              </a:tr>
              <a:tr h="372793">
                <a:tc>
                  <a:txBody>
                    <a:bodyPr/>
                    <a:lstStyle/>
                    <a:p>
                      <a:r>
                        <a:rPr sz="1250" b="0">
                          <a:solidFill>
                            <a:srgbClr val="002B55"/>
                          </a:solidFill>
                          <a:latin typeface="Arial"/>
                        </a:rPr>
                        <a:t>11 Next steps</a:t>
                      </a:r>
                    </a:p>
                  </a:txBody>
                  <a:tcPr marT="27432" marB="27432">
                    <a:solidFill>
                      <a:srgbClr val="FFFFFF"/>
                    </a:solidFill>
                  </a:tcPr>
                </a:tc>
                <a:tc>
                  <a:txBody>
                    <a:bodyPr/>
                    <a:lstStyle/>
                    <a:p>
                      <a:r>
                        <a:rPr sz="1250" b="0">
                          <a:solidFill>
                            <a:srgbClr val="002B55"/>
                          </a:solidFill>
                          <a:latin typeface="Arial"/>
                        </a:rPr>
                        <a:t>1:00</a:t>
                      </a:r>
                    </a:p>
                  </a:txBody>
                  <a:tcPr marT="27432" marB="27432">
                    <a:solidFill>
                      <a:srgbClr val="FFFFFF"/>
                    </a:solidFill>
                  </a:tcPr>
                </a:tc>
              </a:tr>
              <a:tr h="372804">
                <a:tc>
                  <a:txBody>
                    <a:bodyPr/>
                    <a:lstStyle/>
                    <a:p>
                      <a:r>
                        <a:rPr sz="1250" b="0">
                          <a:solidFill>
                            <a:srgbClr val="002B55"/>
                          </a:solidFill>
                          <a:latin typeface="Arial"/>
                        </a:rPr>
                        <a:t>12 Thank you + questions</a:t>
                      </a:r>
                    </a:p>
                  </a:txBody>
                  <a:tcPr marT="27432" marB="27432">
                    <a:solidFill>
                      <a:srgbClr val="F1F3F5"/>
                    </a:solidFill>
                  </a:tcPr>
                </a:tc>
                <a:tc>
                  <a:txBody>
                    <a:bodyPr/>
                    <a:lstStyle/>
                    <a:p>
                      <a:r>
                        <a:rPr sz="1250" b="0">
                          <a:solidFill>
                            <a:srgbClr val="002B55"/>
                          </a:solidFill>
                          <a:latin typeface="Arial"/>
                        </a:rPr>
                        <a:t>0:30 + a few min</a:t>
                      </a:r>
                    </a:p>
                  </a:txBody>
                  <a:tcPr marT="27432" marB="27432">
                    <a:solidFill>
                      <a:srgbClr val="F1F3F5"/>
                    </a:solidFill>
                  </a:tcPr>
                </a:tc>
              </a:tr>
            </a:tbl>
          </a:graphicData>
        </a:graphic>
      </p:graphicFrame>
      <p:sp>
        <p:nvSpPr>
          <p:cNvPr id="6" name="TextBox 5"/>
          <p:cNvSpPr txBox="1"/>
          <p:nvPr/>
        </p:nvSpPr>
        <p:spPr>
          <a:xfrm>
            <a:off x="6217920" y="1280160"/>
            <a:ext cx="5394960" cy="365760"/>
          </a:xfrm>
          <a:prstGeom prst="rect">
            <a:avLst/>
          </a:prstGeom>
          <a:noFill/>
        </p:spPr>
        <p:txBody>
          <a:bodyPr wrap="square" lIns="36576" rIns="36576" tIns="18288" bIns="18288" anchor="t">
            <a:spAutoFit/>
          </a:bodyPr>
          <a:lstStyle/>
          <a:p>
            <a:pPr algn="l"/>
            <a:r>
              <a:rPr sz="1300" b="1" i="0">
                <a:solidFill>
                  <a:srgbClr val="007879"/>
                </a:solidFill>
                <a:latin typeface="Bahnschrift"/>
              </a:rPr>
              <a:t>HOUSE RULES FOR THE FINAL DECK</a:t>
            </a:r>
          </a:p>
        </p:txBody>
      </p:sp>
      <p:sp>
        <p:nvSpPr>
          <p:cNvPr id="7" name="Oval 6"/>
          <p:cNvSpPr/>
          <p:nvPr/>
        </p:nvSpPr>
        <p:spPr>
          <a:xfrm>
            <a:off x="6217920" y="1810512"/>
            <a:ext cx="329184" cy="329184"/>
          </a:xfrm>
          <a:prstGeom prst="ellipse">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1</a:t>
            </a:r>
          </a:p>
        </p:txBody>
      </p:sp>
      <p:sp>
        <p:nvSpPr>
          <p:cNvPr id="8" name="TextBox 7"/>
          <p:cNvSpPr txBox="1"/>
          <p:nvPr/>
        </p:nvSpPr>
        <p:spPr>
          <a:xfrm>
            <a:off x="6675120" y="1737360"/>
            <a:ext cx="4937760" cy="548640"/>
          </a:xfrm>
          <a:prstGeom prst="rect">
            <a:avLst/>
          </a:prstGeom>
          <a:noFill/>
        </p:spPr>
        <p:txBody>
          <a:bodyPr wrap="square" lIns="36576" rIns="36576" tIns="18288" bIns="18288" anchor="ctr">
            <a:spAutoFit/>
          </a:bodyPr>
          <a:lstStyle/>
          <a:p>
            <a:pPr algn="l"/>
            <a:r>
              <a:rPr sz="1400" b="0" i="0">
                <a:solidFill>
                  <a:srgbClr val="002B55"/>
                </a:solidFill>
                <a:latin typeface="Arial"/>
              </a:rPr>
              <a:t>Replace every [bracket]. Search the deck for "[" before you present.</a:t>
            </a:r>
          </a:p>
        </p:txBody>
      </p:sp>
      <p:sp>
        <p:nvSpPr>
          <p:cNvPr id="9" name="Oval 8"/>
          <p:cNvSpPr/>
          <p:nvPr/>
        </p:nvSpPr>
        <p:spPr>
          <a:xfrm>
            <a:off x="6217920" y="2432304"/>
            <a:ext cx="329184" cy="329184"/>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2</a:t>
            </a:r>
          </a:p>
        </p:txBody>
      </p:sp>
      <p:sp>
        <p:nvSpPr>
          <p:cNvPr id="10" name="TextBox 9"/>
          <p:cNvSpPr txBox="1"/>
          <p:nvPr/>
        </p:nvSpPr>
        <p:spPr>
          <a:xfrm>
            <a:off x="6675120" y="2359152"/>
            <a:ext cx="4937760" cy="548640"/>
          </a:xfrm>
          <a:prstGeom prst="rect">
            <a:avLst/>
          </a:prstGeom>
          <a:noFill/>
        </p:spPr>
        <p:txBody>
          <a:bodyPr wrap="square" lIns="36576" rIns="36576" tIns="18288" bIns="18288" anchor="ctr">
            <a:spAutoFit/>
          </a:bodyPr>
          <a:lstStyle/>
          <a:p>
            <a:pPr algn="l"/>
            <a:r>
              <a:rPr sz="1400" b="0" i="0">
                <a:solidFill>
                  <a:srgbClr val="002B55"/>
                </a:solidFill>
                <a:latin typeface="Arial"/>
              </a:rPr>
              <a:t>Diagrams, not bullets. About 25 words per slide, at most.</a:t>
            </a:r>
          </a:p>
        </p:txBody>
      </p:sp>
      <p:sp>
        <p:nvSpPr>
          <p:cNvPr id="11" name="Oval 10"/>
          <p:cNvSpPr/>
          <p:nvPr/>
        </p:nvSpPr>
        <p:spPr>
          <a:xfrm>
            <a:off x="6217920" y="3054096"/>
            <a:ext cx="329184" cy="329184"/>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3</a:t>
            </a:r>
          </a:p>
        </p:txBody>
      </p:sp>
      <p:sp>
        <p:nvSpPr>
          <p:cNvPr id="12" name="TextBox 11"/>
          <p:cNvSpPr txBox="1"/>
          <p:nvPr/>
        </p:nvSpPr>
        <p:spPr>
          <a:xfrm>
            <a:off x="6675120" y="2980944"/>
            <a:ext cx="4937760" cy="548640"/>
          </a:xfrm>
          <a:prstGeom prst="rect">
            <a:avLst/>
          </a:prstGeom>
          <a:noFill/>
        </p:spPr>
        <p:txBody>
          <a:bodyPr wrap="square" lIns="36576" rIns="36576" tIns="18288" bIns="18288" anchor="ctr">
            <a:spAutoFit/>
          </a:bodyPr>
          <a:lstStyle/>
          <a:p>
            <a:pPr algn="l"/>
            <a:r>
              <a:rPr sz="1400" b="0" i="0">
                <a:solidFill>
                  <a:srgbClr val="002B55"/>
                </a:solidFill>
                <a:latin typeface="Arial"/>
              </a:rPr>
              <a:t>Numbers are team estimates. Say so out loud.</a:t>
            </a:r>
          </a:p>
        </p:txBody>
      </p:sp>
      <p:sp>
        <p:nvSpPr>
          <p:cNvPr id="13" name="Oval 12"/>
          <p:cNvSpPr/>
          <p:nvPr/>
        </p:nvSpPr>
        <p:spPr>
          <a:xfrm>
            <a:off x="6217920" y="3675887"/>
            <a:ext cx="329184" cy="329184"/>
          </a:xfrm>
          <a:prstGeom prst="ellipse">
            <a:avLst/>
          </a:prstGeom>
          <a:solidFill>
            <a:srgbClr val="F477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4</a:t>
            </a:r>
          </a:p>
        </p:txBody>
      </p:sp>
      <p:sp>
        <p:nvSpPr>
          <p:cNvPr id="14" name="TextBox 13"/>
          <p:cNvSpPr txBox="1"/>
          <p:nvPr/>
        </p:nvSpPr>
        <p:spPr>
          <a:xfrm>
            <a:off x="6675120" y="3602736"/>
            <a:ext cx="4937760" cy="548640"/>
          </a:xfrm>
          <a:prstGeom prst="rect">
            <a:avLst/>
          </a:prstGeom>
          <a:noFill/>
        </p:spPr>
        <p:txBody>
          <a:bodyPr wrap="square" lIns="36576" rIns="36576" tIns="18288" bIns="18288" anchor="ctr">
            <a:spAutoFit/>
          </a:bodyPr>
          <a:lstStyle/>
          <a:p>
            <a:pPr algn="l"/>
            <a:r>
              <a:rPr sz="1400" b="0" i="0">
                <a:solidFill>
                  <a:srgbClr val="002B55"/>
                </a:solidFill>
                <a:latin typeface="Arial"/>
              </a:rPr>
              <a:t>Mark practice data as fictional (Nordvant Biopharma).</a:t>
            </a:r>
          </a:p>
        </p:txBody>
      </p:sp>
      <p:sp>
        <p:nvSpPr>
          <p:cNvPr id="15" name="Oval 14"/>
          <p:cNvSpPr/>
          <p:nvPr/>
        </p:nvSpPr>
        <p:spPr>
          <a:xfrm>
            <a:off x="6217920" y="4297680"/>
            <a:ext cx="329184" cy="329184"/>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5</a:t>
            </a:r>
          </a:p>
        </p:txBody>
      </p:sp>
      <p:sp>
        <p:nvSpPr>
          <p:cNvPr id="16" name="TextBox 15"/>
          <p:cNvSpPr txBox="1"/>
          <p:nvPr/>
        </p:nvSpPr>
        <p:spPr>
          <a:xfrm>
            <a:off x="6675120" y="4224528"/>
            <a:ext cx="4937760" cy="548640"/>
          </a:xfrm>
          <a:prstGeom prst="rect">
            <a:avLst/>
          </a:prstGeom>
          <a:noFill/>
        </p:spPr>
        <p:txBody>
          <a:bodyPr wrap="square" lIns="36576" rIns="36576" tIns="18288" bIns="18288" anchor="ctr">
            <a:spAutoFit/>
          </a:bodyPr>
          <a:lstStyle/>
          <a:p>
            <a:pPr algn="l"/>
            <a:r>
              <a:rPr sz="1400" b="0" i="0">
                <a:solidFill>
                  <a:srgbClr val="002B55"/>
                </a:solidFill>
                <a:latin typeface="Arial"/>
              </a:rPr>
              <a:t>No confidential data, no patient data, no real HCP names.</a:t>
            </a:r>
          </a:p>
        </p:txBody>
      </p:sp>
      <p:sp>
        <p:nvSpPr>
          <p:cNvPr id="17" name="Oval 16"/>
          <p:cNvSpPr/>
          <p:nvPr/>
        </p:nvSpPr>
        <p:spPr>
          <a:xfrm>
            <a:off x="6217920" y="4919472"/>
            <a:ext cx="329184" cy="329184"/>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6</a:t>
            </a:r>
          </a:p>
        </p:txBody>
      </p:sp>
      <p:sp>
        <p:nvSpPr>
          <p:cNvPr id="18" name="TextBox 17"/>
          <p:cNvSpPr txBox="1"/>
          <p:nvPr/>
        </p:nvSpPr>
        <p:spPr>
          <a:xfrm>
            <a:off x="6675120" y="4846320"/>
            <a:ext cx="4937760" cy="548640"/>
          </a:xfrm>
          <a:prstGeom prst="rect">
            <a:avLst/>
          </a:prstGeom>
          <a:noFill/>
        </p:spPr>
        <p:txBody>
          <a:bodyPr wrap="square" lIns="36576" rIns="36576" tIns="18288" bIns="18288" anchor="ctr">
            <a:spAutoFit/>
          </a:bodyPr>
          <a:lstStyle/>
          <a:p>
            <a:pPr algn="l"/>
            <a:r>
              <a:rPr sz="1400" b="0" i="0">
                <a:solidFill>
                  <a:srgbClr val="002B55"/>
                </a:solidFill>
                <a:latin typeface="Arial"/>
              </a:rPr>
              <a:t>Rehearse once: about 20 minutes, including a few questions.</a:t>
            </a:r>
          </a:p>
        </p:txBody>
      </p:sp>
      <p:sp>
        <p:nvSpPr>
          <p:cNvPr id="19" name="Oval 18"/>
          <p:cNvSpPr/>
          <p:nvPr/>
        </p:nvSpPr>
        <p:spPr>
          <a:xfrm>
            <a:off x="6217920" y="5541264"/>
            <a:ext cx="329184" cy="329184"/>
          </a:xfrm>
          <a:prstGeom prst="ellipse">
            <a:avLst/>
          </a:prstGeom>
          <a:solidFill>
            <a:srgbClr val="0078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100" b="1" i="0">
                <a:solidFill>
                  <a:srgbClr val="FFFFFF"/>
                </a:solidFill>
                <a:latin typeface="Bahnschrift"/>
              </a:rPr>
              <a:t>7</a:t>
            </a:r>
          </a:p>
        </p:txBody>
      </p:sp>
      <p:sp>
        <p:nvSpPr>
          <p:cNvPr id="20" name="TextBox 19"/>
          <p:cNvSpPr txBox="1"/>
          <p:nvPr/>
        </p:nvSpPr>
        <p:spPr>
          <a:xfrm>
            <a:off x="6675120" y="5468112"/>
            <a:ext cx="4937760" cy="548640"/>
          </a:xfrm>
          <a:prstGeom prst="rect">
            <a:avLst/>
          </a:prstGeom>
          <a:noFill/>
        </p:spPr>
        <p:txBody>
          <a:bodyPr wrap="square" lIns="36576" rIns="36576" tIns="18288" bIns="18288" anchor="ctr">
            <a:spAutoFit/>
          </a:bodyPr>
          <a:lstStyle/>
          <a:p>
            <a:pPr algn="l"/>
            <a:r>
              <a:rPr sz="1400" b="0" i="0">
                <a:solidFill>
                  <a:srgbClr val="002B55"/>
                </a:solidFill>
                <a:latin typeface="Arial"/>
              </a:rPr>
              <a:t>Speaker notes on every slide say what to fill in.</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6833</Words>
  <Application>Microsoft Office PowerPoint</Application>
  <DocSecurity>0</DocSecurity>
  <PresentationFormat>Widescreen</PresentationFormat>
  <Paragraphs>666</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Arial</vt:lpstr>
      <vt:lpstr>Bahnschrift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Action Hackathon · Final presentation template</dc:title>
  <dc:creator>AI in Action for Medical Affairs</dc:creator>
  <cp:lastModifiedBy>Vivek Mukhatyar</cp:lastModifiedBy>
  <cp:revision>1</cp:revision>
  <dcterms:created xsi:type="dcterms:W3CDTF">2026-10-08T22:58:18Z</dcterms:created>
  <dcterms:modified xsi:type="dcterms:W3CDTF">2026-10-08T23:18:51Z</dcterms:modified>
  <dc:subject>Team final presentation template (generic, disclosure-free)</dc:subject>
</cp:coreProperties>
</file>