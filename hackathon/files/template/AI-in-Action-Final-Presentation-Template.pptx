
<file path=[Content_Types].xml><?xml version="1.0" encoding="utf-8"?>
<Types xmlns="http://schemas.openxmlformats.org/package/2006/content-types">
  <Default Extension="jp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8"/>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p:scale>
          <a:sx n="83" d="100"/>
          <a:sy n="83" d="100"/>
        </p:scale>
        <p:origin x="572" y="3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43"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ivek Mukhatyar" userId="0325db0cd26ce985" providerId="LiveId" clId="{C2F076DA-27A8-417D-A05E-C65F5A120C5D}"/>
    <pc:docChg chg="undo custSel modSld">
      <pc:chgData name="Vivek Mukhatyar" userId="0325db0cd26ce985" providerId="LiveId" clId="{C2F076DA-27A8-417D-A05E-C65F5A120C5D}" dt="2026-10-08T23:18:42.388" v="10" actId="20577"/>
      <pc:docMkLst>
        <pc:docMk/>
      </pc:docMkLst>
      <pc:sldChg chg="modSp mod">
        <pc:chgData name="Vivek Mukhatyar" userId="0325db0cd26ce985" providerId="LiveId" clId="{C2F076DA-27A8-417D-A05E-C65F5A120C5D}" dt="2026-10-08T23:10:37.202" v="0" actId="1076"/>
        <pc:sldMkLst>
          <pc:docMk/>
          <pc:sldMk cId="76287762" sldId="258"/>
        </pc:sldMkLst>
        <pc:spChg chg="mod">
          <ac:chgData name="Vivek Mukhatyar" userId="0325db0cd26ce985" providerId="LiveId" clId="{C2F076DA-27A8-417D-A05E-C65F5A120C5D}" dt="2026-10-08T23:10:37.202" v="0" actId="1076"/>
          <ac:spMkLst>
            <pc:docMk/>
            <pc:sldMk cId="76287762" sldId="258"/>
            <ac:spMk id="5" creationId="{D12E1EB6-04B4-462A-B459-CD91A446F245}"/>
          </ac:spMkLst>
        </pc:spChg>
      </pc:sldChg>
      <pc:sldChg chg="modSp mod">
        <pc:chgData name="Vivek Mukhatyar" userId="0325db0cd26ce985" providerId="LiveId" clId="{C2F076DA-27A8-417D-A05E-C65F5A120C5D}" dt="2026-10-08T23:18:42.388" v="10" actId="20577"/>
        <pc:sldMkLst>
          <pc:docMk/>
          <pc:sldMk cId="953831724" sldId="291"/>
        </pc:sldMkLst>
        <pc:spChg chg="mod">
          <ac:chgData name="Vivek Mukhatyar" userId="0325db0cd26ce985" providerId="LiveId" clId="{C2F076DA-27A8-417D-A05E-C65F5A120C5D}" dt="2026-10-08T23:18:42.388" v="10" actId="20577"/>
          <ac:spMkLst>
            <pc:docMk/>
            <pc:sldMk cId="953831724" sldId="291"/>
            <ac:spMk id="10" creationId="{E1242166-6221-4116-8F27-F4471634B602}"/>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28455F"/>
                </a:solidFill>
                <a:latin typeface="Arial"/>
              </a:rPr>
              <a:t>Hours per cycle · ILLUSTRATIVE, replace</a:t>
            </a:r>
          </a:p>
        </c:rich>
      </c:tx>
      <c:layout/>
      <c:overlay val="0"/>
    </c:title>
    <c:autoTitleDeleted val="0"/>
    <c:plotArea>
      <c:barChart>
        <c:barDir val="col"/>
        <c:grouping val="clustered"/>
        <c:ser>
          <c:idx val="0"/>
          <c:order val="0"/>
          <c:tx>
            <c:strRef>
              <c:f>Sheet1!$B$1</c:f>
              <c:strCache>
                <c:ptCount val="1"/>
                <c:pt idx="0">
                  <c:v>Hours per cycle</c:v>
                </c:pt>
              </c:strCache>
            </c:strRef>
          </c:tx>
          <c:dPt>
            <c:idx val="0"/>
            <c:spPr>
              <a:solidFill>
                <a:srgbClr val="28455F"/>
              </a:solidFill>
            </c:spPr>
          </c:dPt>
          <c:dPt>
            <c:idx val="1"/>
            <c:spPr>
              <a:solidFill>
                <a:srgbClr val="007879"/>
              </a:solidFill>
            </c:spPr>
          </c:dPt>
          <c:cat>
            <c:strRef>
              <c:f>Sheet1!$A$2:$A$3</c:f>
              <c:strCache>
                <c:ptCount val="2"/>
                <c:pt idx="0">
                  <c:v>Today</c:v>
                </c:pt>
                <c:pt idx="1">
                  <c:v>AI-assisted</c:v>
                </c:pt>
              </c:strCache>
            </c:strRef>
          </c:cat>
          <c:val>
            <c:numRef>
              <c:f>Sheet1!$B$2:$B$3</c:f>
              <c:numCache>
                <c:formatCode>General</c:formatCode>
                <c:ptCount val="2"/>
                <c:pt idx="0">
                  <c:v>10</c:v>
                </c:pt>
                <c:pt idx="1">
                  <c:v>3</c:v>
                </c:pt>
              </c:numCache>
            </c:numRef>
          </c:val>
        </c:ser>
        <c:dLbls>
          <c:numFmt formatCode="0&quot; h&quot;" sourceLinked="0"/>
          <c:txPr>
            <a:bodyPr/>
            <a:lstStyle/>
            <a:p>
              <a:pPr>
                <a:defRPr sz="1600" b="1">
                  <a:solidFill>
                    <a:srgbClr val="002B55"/>
                  </a:solidFill>
                </a:defRPr>
              </a:pPr>
            </a:p>
          </c:txPr>
          <c:dLblPos val="outEnd"/>
          <c:showLegendKey val="0"/>
          <c:showVal val="1"/>
          <c:showCatName val="0"/>
          <c:showSerName val="0"/>
          <c:showPercent val="0"/>
          <c:showBubbleSize val="0"/>
          <c:showLeaderLines val="1"/>
        </c:dLbls>
        <c:gapWidth val="70"/>
        <c:axId val="1"/>
        <c:axId val="2"/>
      </c:barChart>
      <c:catAx>
        <c:axId val="1"/>
        <c:scaling>
          <c:orientation val="minMax"/>
        </c:scaling>
        <c:delete val="0"/>
        <c:axPos val="b"/>
        <c:majorTickMark val="out"/>
        <c:minorTickMark val="none"/>
        <c:tickLblPos val="nextTo"/>
        <c:txPr>
          <a:bodyPr/>
          <a:lstStyle/>
          <a:p>
            <a:pPr>
              <a:defRPr sz="1300" b="1">
                <a:solidFill>
                  <a:srgbClr val="002B55"/>
                </a:solidFill>
              </a:defRPr>
            </a:pPr>
          </a:p>
        </c:txPr>
        <c:crossAx val="2"/>
        <c:crosses val="autoZero"/>
        <c:auto val="1"/>
        <c:lblAlgn val="ctr"/>
        <c:lblOffset val="100"/>
        <c:noMultiLvlLbl val="0"/>
      </c:catAx>
      <c:valAx>
        <c:axId val="2"/>
        <c:scaling>
          <c:min val="0.0"/>
        </c:scaling>
        <c:delete val="0"/>
        <c:axPos val="l"/>
        <c:majorGridlines>
          <c:spPr>
            <a:ln>
              <a:solidFill>
                <a:srgbClr val="E2E8F0"/>
              </a:solidFill>
            </a:ln>
          </c:spPr>
        </c:majorGridlines>
        <c:majorTickMark val="out"/>
        <c:minorTickMark val="none"/>
        <c:tickLblPos val="nextTo"/>
        <c:spPr>
          <a:ln>
            <a:noFill/>
          </a:ln>
        </c:spPr>
        <c:txPr>
          <a:bodyPr/>
          <a:lstStyle/>
          <a:p>
            <a:pPr>
              <a:defRPr sz="1100">
                <a:solidFill>
                  <a:srgbClr val="8A9BAA"/>
                </a:solidFill>
              </a:defRPr>
            </a:pPr>
          </a:p>
        </c:txPr>
        <c:crossAx val="1"/>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AGENT:</a:t>
            </a:r>
          </a:p>
          <a:p>
            <a:r>
              <a:t>- Put here: team name, vertical (01 Publications Brain / 02 Insights Engine / 03 Congress Monitor / 04 Field Intelligence Engine), a one-line promise of what the AI workforce does and for whom, presenter names.</a:t>
            </a:r>
          </a:p>
          <a:p>
            <a:r>
              <a:t>- Draw from: capture log §0 Team and setup; §4 Problem statement.</a:t>
            </a:r>
          </a:p>
          <a:p>
            <a:r>
              <a:t>- Word limit: about 20 words of your own.</a:t>
            </a:r>
          </a:p>
          <a:p>
            <a:r>
              <a:t>- Visual: keep the hero illustration and layout; text stays on the left.</a:t>
            </a:r>
          </a:p>
          <a:p>
            <a:r>
              <a:t>- Also: the deck is generic and disclosure-free; do not add a speaker disclosure unless the team asks.</a:t>
            </a:r>
          </a:p>
          <a:p>
            <a:r>
              <a:t>- Never invent numbers, names, quotes or sources. If the capture log does not have it, leave the [bracket] and ask the team.</a:t>
            </a:r>
          </a:p>
          <a:p/>
          <a:p>
            <a:r>
              <a:t>FOR THE TEAM:</a:t>
            </a:r>
          </a:p>
          <a:p>
            <a:r>
              <a:t>TIME: about ½ minute. The whole talk is about 20 minutes, give or take, including a few questions.</a:t>
            </a:r>
          </a:p>
          <a:p>
            <a:r>
              <a:t>SAY: who you are and the one-sentence promise. Do not explain the agenda.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AGENT:</a:t>
            </a:r>
          </a:p>
          <a:p>
            <a:r>
              <a:t>- Put here: a claim-style title, the problem statement in the panel (When [role] needs [outcome], today it takes [time] because [cause]), three numbers (hours per cycle, cycles per year, roles and hand-offs), one 'why it matters' line, and the data source line.</a:t>
            </a:r>
          </a:p>
          <a:p>
            <a:r>
              <a:t>- Draw from: capture log §4 Problem and ideas; §3 Before workflow (hours); §10 Impact estimates; §0 (data used).</a:t>
            </a:r>
          </a:p>
          <a:p>
            <a:r>
              <a:t>- Word limit: about 25 words.</a:t>
            </a:r>
          </a:p>
          <a:p>
            <a:r>
              <a:t>- Visual: statement panel + three big-number tiles (keep the layout).</a:t>
            </a:r>
          </a:p>
          <a:p>
            <a:r>
              <a:t>- Also: label numbers as team estimates; if practice data were used, keep 'Nordvant Biopharma practice data (fictional)'.</a:t>
            </a:r>
          </a:p>
          <a:p>
            <a:r>
              <a:t>- Never invent numbers, names, quotes or sources. If the capture log does not have it, leave the [bracket] and ask the team.</a:t>
            </a:r>
          </a:p>
          <a:p/>
          <a:p>
            <a:r>
              <a:t>FOR THE TEAM:</a:t>
            </a:r>
          </a:p>
          <a:p>
            <a:r>
              <a:t>TIME: about 1½ minutes.</a:t>
            </a:r>
          </a:p>
          <a:p>
            <a:r>
              <a:t>SAY: make the room feel the pain with one concrete moment (e.g. the night before a leadership meeting).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AGENT:</a:t>
            </a:r>
          </a:p>
          <a:p>
            <a:r>
              <a:t>- Put here: today's workflow: rename the four lanes with real roles, rename the step boxes in time order (2–4 words each), move or delete boxes so each sits in the lane of the person who does it; three pain points in the orange boxes; title with real counts.</a:t>
            </a:r>
          </a:p>
          <a:p>
            <a:r>
              <a:t>- Draw from: capture log §3 Before: today's workflow (steps, roles, hand-offs, hours, pain points).</a:t>
            </a:r>
          </a:p>
          <a:p>
            <a:r>
              <a:t>- Word limit: 2–4 words per box; about 25 words in total besides box labels.</a:t>
            </a:r>
          </a:p>
          <a:p>
            <a:r>
              <a:t>- Visual: swimlane diagram (edit the existing shapes and connectors; no bullets).</a:t>
            </a:r>
          </a:p>
          <a:p>
            <a:r>
              <a:t>- Never invent numbers, names, quotes or sources. If the capture log does not have it, leave the [bracket] and ask the team.</a:t>
            </a:r>
          </a:p>
          <a:p/>
          <a:p>
            <a:r>
              <a:t>FOR THE TEAM:</a:t>
            </a:r>
          </a:p>
          <a:p>
            <a:r>
              <a:t>TIME: about 1½ minutes.</a:t>
            </a:r>
          </a:p>
          <a:p>
            <a:r>
              <a:t>SAY: walk the flow once, slowly; every vertical line is somebody waiting.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AGENT:</a:t>
            </a:r>
          </a:p>
          <a:p>
            <a:r>
              <a:t>- Put here: the redesigned workflow: same lanes idea (you / lead agent / sub-agents / reviewer); rename every box; keep the two orange gate diamonds where G1 and G2 really sit (must match the Human gates slide); fill the before/after strip.</a:t>
            </a:r>
          </a:p>
          <a:p>
            <a:r>
              <a:t>- Draw from: capture log §5 After: redesigned workflow; §6 Swarm structure; §7 Human gates; §9 Timing notes and §10 Impact for the before/after strip.</a:t>
            </a:r>
          </a:p>
          <a:p>
            <a:r>
              <a:t>- Word limit: 2–4 words per box; about 25 words in total besides box labels.</a:t>
            </a:r>
          </a:p>
          <a:p>
            <a:r>
              <a:t>- Visual: swimlane with agents and gate diamonds (edit the shapes; add or delete agent boxes as needed).</a:t>
            </a:r>
          </a:p>
          <a:p>
            <a:r>
              <a:t>- Never invent numbers, names, quotes or sources. If the capture log does not have it, leave the [bracket] and ask the team.</a:t>
            </a:r>
          </a:p>
          <a:p/>
          <a:p>
            <a:r>
              <a:t>FOR THE TEAM:</a:t>
            </a:r>
          </a:p>
          <a:p>
            <a:r>
              <a:t>TIME: about 2 minutes.</a:t>
            </a:r>
          </a:p>
          <a:p>
            <a:r>
              <a:t>SAY: what moved from people to agents and what stayed with people; point at the parallel work and the two gates.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AGENT:</a:t>
            </a:r>
          </a:p>
          <a:p>
            <a:r>
              <a:t>- Put here: for Gate 1 and Gate 2: a short name, where it sits, who decides (a role), what they see, why it must be a human, what happens if rejected. Keep the always-on safety strip as is.</a:t>
            </a:r>
          </a:p>
          <a:p>
            <a:r>
              <a:t>- Draw from: capture log §7 Human gates (and the safety flags line).</a:t>
            </a:r>
          </a:p>
          <a:p>
            <a:r>
              <a:t>- Word limit: about 25 words of new text beyond the field labels.</a:t>
            </a:r>
          </a:p>
          <a:p>
            <a:r>
              <a:t>- Visual: two gate cards with diamonds + the existing illustration (keep the layout).</a:t>
            </a:r>
          </a:p>
          <a:p>
            <a:r>
              <a:t>- Never invent numbers, names, quotes or sources. If the capture log does not have it, leave the [bracket] and ask the team.</a:t>
            </a:r>
          </a:p>
          <a:p/>
          <a:p>
            <a:r>
              <a:t>FOR THE TEAM:</a:t>
            </a:r>
          </a:p>
          <a:p>
            <a:r>
              <a:t>TIME: about 1½ minutes.</a:t>
            </a:r>
          </a:p>
          <a:p>
            <a:r>
              <a:t>SAY: be specific; this is the slide that earns trust with Medical Affairs leaders.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AGENT:</a:t>
            </a:r>
          </a:p>
          <a:p>
            <a:r>
              <a:t>- Put here: the swarm org chart: human owner (orange), lead agent and its lead skill (navy), 3–5 sub-agents each with skill, what it does (6 words) and its hand-off; the independent checker; the G1/G2 lines; the count line at the bottom.</a:t>
            </a:r>
          </a:p>
          <a:p>
            <a:r>
              <a:t>- Draw from: capture log §6 Swarm structure; §7 Human gates.</a:t>
            </a:r>
          </a:p>
          <a:p>
            <a:r>
              <a:t>- Word limit: skill names and 6-word task lines only; about 25 words besides names.</a:t>
            </a:r>
          </a:p>
          <a:p>
            <a:r>
              <a:t>- Visual: org chart (copy or delete a sub-agent column to match the real count; keep the connectors aligned).</a:t>
            </a:r>
          </a:p>
          <a:p>
            <a:r>
              <a:t>- Also: use the real skill names from the Medical-Affairs-Skills library or the team's approved Skill-creator skills.</a:t>
            </a:r>
          </a:p>
          <a:p>
            <a:r>
              <a:t>- Never invent numbers, names, quotes or sources. If the capture log does not have it, leave the [bracket] and ask the team.</a:t>
            </a:r>
          </a:p>
          <a:p/>
          <a:p>
            <a:r>
              <a:t>FOR THE TEAM:</a:t>
            </a:r>
          </a:p>
          <a:p>
            <a:r>
              <a:t>TIME: about 1 minute.</a:t>
            </a:r>
          </a:p>
          <a:p>
            <a:r>
              <a:t>SAY: one sentence per worker.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AGENT:</a:t>
            </a:r>
          </a:p>
          <a:p>
            <a:r>
              <a:t>LIVE DEMO — leave empty.</a:t>
            </a:r>
          </a:p>
          <a:p>
            <a:r>
              <a:t>- Do NOT add any content, screenshot, chart or text to this slide.</a:t>
            </a:r>
          </a:p>
          <a:p>
            <a:r>
              <a:t>- The only field is the small '[Team name] · [Vertical]' line at the bottom right: fill that and nothing else.</a:t>
            </a:r>
          </a:p>
          <a:p>
            <a:r>
              <a:t>- Do not delete or move this slide. Screenshots go on the next slide (Backup) only.</a:t>
            </a:r>
          </a:p>
          <a:p/>
          <a:p>
            <a:r>
              <a:t>FOR THE TEAM:</a:t>
            </a:r>
          </a:p>
          <a:p>
            <a:r>
              <a:t>Switch to the live swarm run here; this slide stays empty on purpose.</a:t>
            </a:r>
          </a:p>
          <a:p>
            <a:r>
              <a:t>TIME: about 4–5 minutes, the centrepiece. Rehearse it twice.</a:t>
            </a:r>
          </a:p>
          <a:p>
            <a:r>
              <a:t>RUN OF SHOW (suggested): 1) show the assignment you gave; 2) the lead agent plans and splits the work; 3) sub-agents work and hand off; 4) the gate: the agent stops and you decide, out loud; 5) the output, and what it replaced.</a:t>
            </a:r>
          </a:p>
          <a:p>
            <a:r>
              <a:t>TIPS: zoom the browser to about 150% so the room can read it; have the conversation open in a tab before you start; if it is slow, narrate while it runs, and if it fails, go to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AGENT:</a:t>
            </a:r>
          </a:p>
          <a:p>
            <a:r>
              <a:t>- Put here: two screenshots in the dashed frames (1: the assignment and the agent's plan; 2: sub-agent outputs or the final deliverable) and five short run-of-show labels.</a:t>
            </a:r>
          </a:p>
          <a:p>
            <a:r>
              <a:t>- Draw from: capture log §9 Runs, screenshots and timing notes (use the screenshots captioned for the demo); §8 Prompts used.</a:t>
            </a:r>
          </a:p>
          <a:p>
            <a:r>
              <a:t>- Word limit: about 25 words in total.</a:t>
            </a:r>
          </a:p>
          <a:p>
            <a:r>
              <a:t>- Visual: two cropped screenshots + numbered steps (keep the layout).</a:t>
            </a:r>
          </a:p>
          <a:p>
            <a:r>
              <a:t>- Also: if the team gave you no screenshots, leave the frames empty and say so.</a:t>
            </a:r>
          </a:p>
          <a:p>
            <a:r>
              <a:t>- Never invent numbers, names, quotes or sources. If the capture log does not have it, leave the [bracket] and ask the team.</a:t>
            </a:r>
          </a:p>
          <a:p/>
          <a:p>
            <a:r>
              <a:t>FOR THE TEAM:</a:t>
            </a:r>
          </a:p>
          <a:p>
            <a:r>
              <a:t>Backup: use this slide only if the live demo fails; otherwise skip it (or hide it).</a:t>
            </a:r>
          </a:p>
          <a:p>
            <a:r>
              <a:t>TIME: replaces the demo, about 2–3 minutes.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AGENT:</a:t>
            </a:r>
          </a:p>
          <a:p>
            <a:r>
              <a:t>- Put here: the impact numbers: baseline hours per cycle (B), AI-assisted hours per cycle including human review (A), cycles per year (N), loaded hourly rate (R), annual value (V); the two big numbers; the title with the real hours.</a:t>
            </a:r>
          </a:p>
          <a:p>
            <a:r>
              <a:t>- Draw from: capture log §10 Impact estimates; §9 Timing notes for the AI-assisted minutes.</a:t>
            </a:r>
          </a:p>
          <a:p>
            <a:r>
              <a:t>- Word limit: about 25 words.</a:t>
            </a:r>
          </a:p>
          <a:p>
            <a:r>
              <a:t>- Visual: formula tiles + a REAL bar chart: edit the chart data so 'Today' = B and 'AI-assisted' = A (hours per cycle), then remove 'ILLUSTRATIVE, replace' from the chart title.</a:t>
            </a:r>
          </a:p>
          <a:p>
            <a:r>
              <a:t>- Also: annual hours saved = (B − A) × N; annual value = hours saved × R. Show your arithmetic to the team. Keep the 'Team estimates, not measured results' line.</a:t>
            </a:r>
          </a:p>
          <a:p>
            <a:r>
              <a:t>- Never invent numbers, names, quotes or sources. If the capture log does not have it, leave the [bracket] and ask the team.</a:t>
            </a:r>
          </a:p>
          <a:p/>
          <a:p>
            <a:r>
              <a:t>FOR THE TEAM:</a:t>
            </a:r>
          </a:p>
          <a:p>
            <a:r>
              <a:t>TIME: about 1½ minutes.</a:t>
            </a:r>
          </a:p>
          <a:p>
            <a:r>
              <a:t>SAY: these are our estimates, not measured results; mention one benefit that is not hours (speed, coverage, consistency).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AGENT:</a:t>
            </a:r>
          </a:p>
          <a:p>
            <a:r>
              <a:t>- Put here: green (agent proceeds), yellow (proceed and flag) and red (human decides) examples from the real swarm; the top three risks and the guardrail built for each.</a:t>
            </a:r>
          </a:p>
          <a:p>
            <a:r>
              <a:t>- Draw from: capture log §11 Risks and guardrails; §7 (safety flags).</a:t>
            </a:r>
          </a:p>
          <a:p>
            <a:r>
              <a:t>- Word limit: about 25 words.</a:t>
            </a:r>
          </a:p>
          <a:p>
            <a:r>
              <a:t>- Visual: traffic-light lanes + three risk → guardrail pairs (keep the layout).</a:t>
            </a:r>
          </a:p>
          <a:p>
            <a:r>
              <a:t>- Never invent numbers, names, quotes or sources. If the capture log does not have it, leave the [bracket] and ask the team.</a:t>
            </a:r>
          </a:p>
          <a:p/>
          <a:p>
            <a:r>
              <a:t>FOR THE TEAM:</a:t>
            </a:r>
          </a:p>
          <a:p>
            <a:r>
              <a:t>TIME: about 1 minute.</a:t>
            </a:r>
          </a:p>
          <a:p>
            <a:r>
              <a:t>SAY: one breath per lane, then the risk you worried about most.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AGENT:</a:t>
            </a:r>
          </a:p>
          <a:p>
            <a:r>
              <a:t>- Put here: left: the Efficiency idea (task, time no longer needed, who gets the time back); right: the Opportunity idea (the new capability and who benefits).</a:t>
            </a:r>
          </a:p>
          <a:p>
            <a:r>
              <a:t>- Draw from: capture log §4 Problem and ideas (E and O lists, chosen idea); §10 for the % figure.</a:t>
            </a:r>
          </a:p>
          <a:p>
            <a:r>
              <a:t>- Word limit: about 25 words.</a:t>
            </a:r>
          </a:p>
          <a:p>
            <a:r>
              <a:t>- Visual: two panels (keep the layout; one big phrase per panel).</a:t>
            </a:r>
          </a:p>
          <a:p>
            <a:r>
              <a:t>- Never invent numbers, names, quotes or sources. If the capture log does not have it, leave the [bracket] and ask the team.</a:t>
            </a:r>
          </a:p>
          <a:p/>
          <a:p>
            <a:r>
              <a:t>FOR THE TEAM:</a:t>
            </a:r>
          </a:p>
          <a:p>
            <a:r>
              <a:t>TIME: about 1 minute.</a:t>
            </a:r>
          </a:p>
          <a:p>
            <a:r>
              <a:t>SAY: spend most of it on the right-hand side; that is what leadership remembers.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AGENT:</a:t>
            </a:r>
          </a:p>
          <a:p>
            <a:r>
              <a:t>- Put here: one action per horizon (next week / next 90 days / our ask today), each with an owner role and what is needed; the one-sentence decision you want from leadership.</a:t>
            </a:r>
          </a:p>
          <a:p>
            <a:r>
              <a:t>- Draw from: capture log §12 Next steps and our ask.</a:t>
            </a:r>
          </a:p>
          <a:p>
            <a:r>
              <a:t>- Word limit: about 25 words.</a:t>
            </a:r>
          </a:p>
          <a:p>
            <a:r>
              <a:t>- Visual: three-horizon track (keep the layout).</a:t>
            </a:r>
          </a:p>
          <a:p>
            <a:r>
              <a:t>- Never invent numbers, names, quotes or sources. If the capture log does not have it, leave the [bracket] and ask the team.</a:t>
            </a:r>
          </a:p>
          <a:p/>
          <a:p>
            <a:r>
              <a:t>FOR THE TEAM:</a:t>
            </a:r>
          </a:p>
          <a:p>
            <a:r>
              <a:t>TIME: about 1 minute.</a:t>
            </a:r>
          </a:p>
          <a:p>
            <a:r>
              <a:t>SAY: end with the ask.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AGENT:</a:t>
            </a:r>
          </a:p>
          <a:p>
            <a:r>
              <a:t>- Put here: team name, vertical, every member's name. Keep the fictional-data line if practice data were used; otherwise replace it with: 'Our own non-confidential data; outputs are drafts for qualified human review.'</a:t>
            </a:r>
          </a:p>
          <a:p>
            <a:r>
              <a:t>- Draw from: capture log §0 Team and setup.</a:t>
            </a:r>
          </a:p>
          <a:p>
            <a:r>
              <a:t>- Word limit: about 20 words besides names.</a:t>
            </a:r>
          </a:p>
          <a:p>
            <a:r>
              <a:t>- Visual: keep the closing illustration and layout.</a:t>
            </a:r>
          </a:p>
          <a:p>
            <a:r>
              <a:t>- Never invent numbers, names, quotes or sources. If the capture log does not have it, leave the [bracket] and ask the team.</a:t>
            </a:r>
          </a:p>
          <a:p/>
          <a:p>
            <a:r>
              <a:t>FOR THE TEAM:</a:t>
            </a:r>
          </a:p>
          <a:p>
            <a:r>
              <a:t>TIME: a few seconds to thank, then a few minutes of questions; the whole talk is about 20 minutes, give or take.</a:t>
            </a:r>
          </a:p>
          <a:p>
            <a:r>
              <a:t>QUESTIONS: decide now who answers on (1) the human gates, (2) the impact numbers, (3) what a pilot would need.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AGENT AND TEAM: delete this slide before presenting. It is hidden and does not show in Slide Show.</a:t>
            </a:r>
          </a:p>
          <a:p>
            <a:r>
              <a:t>It summarises the house rules and the approximate minutes per slide. Agent instructions: final-presentation-agent-instructions.md in the hackathon pack (https://aiinaction.up.railway.app).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32E40403-8B8F-4EB6-A12C-4B71459B1365}"/>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Subtitle">
            <a:extLst>
              <a:ext uri="{FF2B5EF4-FFF2-40B4-BE49-F238E27FC236}">
                <a16:creationId xmlns:a16="http://schemas.microsoft.com/office/drawing/2014/main" id="{100FD8A1-94DC-4C20-BC72-93D5A7C97D48}"/>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2" name="Section title">
            <a:extLst>
              <a:ext uri="{FF2B5EF4-FFF2-40B4-BE49-F238E27FC236}">
                <a16:creationId xmlns:a16="http://schemas.microsoft.com/office/drawing/2014/main" id="{5FE81D71-A886-42D5-8F8C-D69087ACBF8A}"/>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290ABA4C-D497-4BA7-B12B-EF2467BCC7C4}"/>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Body">
            <a:extLst>
              <a:ext uri="{FF2B5EF4-FFF2-40B4-BE49-F238E27FC236}">
                <a16:creationId xmlns:a16="http://schemas.microsoft.com/office/drawing/2014/main" id="{999E49F3-36E4-4335-BEA1-029C705C42B6}"/>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6B9FA833-A294-4123-99A5-90EB88E1E2B5}"/>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FBCEF442-6C99-4D7E-9993-98D91B4BDD66}"/>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
        <p:nvSpPr>
          <p:cNvPr id="3" name="Right column">
            <a:extLst>
              <a:ext uri="{FF2B5EF4-FFF2-40B4-BE49-F238E27FC236}">
                <a16:creationId xmlns:a16="http://schemas.microsoft.com/office/drawing/2014/main" id="{AA2A83FB-AC33-48B1-A6E6-724522C7D72E}"/>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0A42188F-75A6-42B6-95DE-9DD096709E53}"/>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6B7F00D4-A140-4A39-B564-31724724A770}"/>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chart" Target="../charts/char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ro-title.jp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612648" y="914400"/>
            <a:ext cx="5120640" cy="365760"/>
          </a:xfrm>
          <a:prstGeom prst="rect">
            <a:avLst/>
          </a:prstGeom>
          <a:noFill/>
        </p:spPr>
        <p:txBody>
          <a:bodyPr wrap="square" lIns="36576" rIns="36576" tIns="18288" bIns="18288" anchor="t">
            <a:spAutoFit/>
          </a:bodyPr>
          <a:lstStyle/>
          <a:p>
            <a:pPr algn="l"/>
            <a:r>
              <a:rPr sz="1300" b="1" i="0">
                <a:solidFill>
                  <a:srgbClr val="007879"/>
                </a:solidFill>
                <a:latin typeface="Bahnschrift"/>
              </a:rPr>
              <a:t>AI IN ACTION HACKATHON · FINAL PRESENTATION</a:t>
            </a:r>
          </a:p>
        </p:txBody>
      </p:sp>
      <p:sp>
        <p:nvSpPr>
          <p:cNvPr id="4" name="TextBox 3"/>
          <p:cNvSpPr txBox="1"/>
          <p:nvPr/>
        </p:nvSpPr>
        <p:spPr>
          <a:xfrm>
            <a:off x="612648" y="1325880"/>
            <a:ext cx="5120640" cy="1280160"/>
          </a:xfrm>
          <a:prstGeom prst="rect">
            <a:avLst/>
          </a:prstGeom>
          <a:noFill/>
        </p:spPr>
        <p:txBody>
          <a:bodyPr wrap="square" lIns="36576" rIns="36576" tIns="18288" bIns="18288" anchor="ctr">
            <a:spAutoFit/>
          </a:bodyPr>
          <a:lstStyle/>
          <a:p>
            <a:pPr algn="l"/>
            <a:r>
              <a:rPr sz="4400" b="1" i="0">
                <a:solidFill>
                  <a:srgbClr val="002B55"/>
                </a:solidFill>
                <a:latin typeface="Bahnschrift"/>
              </a:rPr>
              <a:t>[Team name]</a:t>
            </a:r>
          </a:p>
        </p:txBody>
      </p:sp>
      <p:sp>
        <p:nvSpPr>
          <p:cNvPr id="5" name="TextBox 4"/>
          <p:cNvSpPr txBox="1"/>
          <p:nvPr/>
        </p:nvSpPr>
        <p:spPr>
          <a:xfrm>
            <a:off x="612648" y="2651760"/>
            <a:ext cx="4572000" cy="457200"/>
          </a:xfrm>
          <a:prstGeom prst="rect">
            <a:avLst/>
          </a:prstGeom>
          <a:noFill/>
        </p:spPr>
        <p:txBody>
          <a:bodyPr wrap="square" lIns="36576" rIns="36576" tIns="18288" bIns="18288" anchor="t">
            <a:spAutoFit/>
          </a:bodyPr>
          <a:lstStyle/>
          <a:p>
            <a:pPr algn="l"/>
            <a:r>
              <a:rPr sz="2000" b="1" i="0">
                <a:solidFill>
                  <a:srgbClr val="007879"/>
                </a:solidFill>
                <a:latin typeface="Bahnschrift"/>
              </a:rPr>
              <a:t>[Vertical: e.g. 02 · Insights Engine]</a:t>
            </a:r>
          </a:p>
        </p:txBody>
      </p:sp>
      <p:sp>
        <p:nvSpPr>
          <p:cNvPr id="6" name="TextBox 5"/>
          <p:cNvSpPr txBox="1"/>
          <p:nvPr/>
        </p:nvSpPr>
        <p:spPr>
          <a:xfrm>
            <a:off x="612648" y="3200400"/>
            <a:ext cx="4480560" cy="914400"/>
          </a:xfrm>
          <a:prstGeom prst="rect">
            <a:avLst/>
          </a:prstGeom>
          <a:noFill/>
        </p:spPr>
        <p:txBody>
          <a:bodyPr wrap="square" lIns="36576" rIns="36576" tIns="18288" bIns="18288" anchor="t">
            <a:spAutoFit/>
          </a:bodyPr>
          <a:lstStyle/>
          <a:p>
            <a:pPr algn="l"/>
            <a:r>
              <a:rPr sz="1800" b="0" i="0">
                <a:solidFill>
                  <a:srgbClr val="002B55"/>
                </a:solidFill>
                <a:latin typeface="Arial"/>
              </a:rPr>
              <a:t>[One line: what your AI workforce does, for whom]</a:t>
            </a:r>
          </a:p>
        </p:txBody>
      </p:sp>
      <p:sp>
        <p:nvSpPr>
          <p:cNvPr id="7" name="Rectangle 6"/>
          <p:cNvSpPr/>
          <p:nvPr/>
        </p:nvSpPr>
        <p:spPr>
          <a:xfrm>
            <a:off x="612648" y="4343400"/>
            <a:ext cx="73152" cy="914400"/>
          </a:xfrm>
          <a:prstGeom prst="rect">
            <a:avLst/>
          </a:prstGeom>
          <a:solidFill>
            <a:srgbClr val="F477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8" name="TextBox 7"/>
          <p:cNvSpPr txBox="1"/>
          <p:nvPr/>
        </p:nvSpPr>
        <p:spPr>
          <a:xfrm>
            <a:off x="822960" y="4315968"/>
            <a:ext cx="4754880" cy="1005840"/>
          </a:xfrm>
          <a:prstGeom prst="rect">
            <a:avLst/>
          </a:prstGeom>
          <a:noFill/>
        </p:spPr>
        <p:txBody>
          <a:bodyPr wrap="square" lIns="36576" rIns="36576" tIns="18288" bIns="18288" anchor="t">
            <a:spAutoFit/>
          </a:bodyPr>
          <a:lstStyle/>
          <a:p>
            <a:pPr algn="l">
              <a:spcAft>
                <a:spcPts val="400"/>
              </a:spcAft>
            </a:pPr>
            <a:r>
              <a:rPr sz="1500" b="0" i="0">
                <a:solidFill>
                  <a:srgbClr val="28455F"/>
                </a:solidFill>
                <a:latin typeface="Arial"/>
              </a:rPr>
              <a:t>[Presenter 1] · [Presenter 2] · [Presenter 3]</a:t>
            </a:r>
          </a:p>
          <a:p>
            <a:pPr algn="l">
              <a:spcAft>
                <a:spcPts val="400"/>
              </a:spcAft>
            </a:pPr>
            <a:r>
              <a:rPr sz="1500" b="0" i="0">
                <a:solidFill>
                  <a:srgbClr val="28455F"/>
                </a:solidFill>
                <a:latin typeface="Arial"/>
              </a:rPr>
              <a:t>October 14, 2026 · Philadelphia</a:t>
            </a:r>
          </a:p>
        </p:txBody>
      </p:sp>
      <p:sp>
        <p:nvSpPr>
          <p:cNvPr id="9" name="TextBox 8"/>
          <p:cNvSpPr txBox="1"/>
          <p:nvPr/>
        </p:nvSpPr>
        <p:spPr>
          <a:xfrm>
            <a:off x="612648" y="6437376"/>
            <a:ext cx="5715000" cy="219456"/>
          </a:xfrm>
          <a:prstGeom prst="rect">
            <a:avLst/>
          </a:prstGeom>
          <a:noFill/>
        </p:spPr>
        <p:txBody>
          <a:bodyPr wrap="square" lIns="36576" rIns="36576" tIns="18288" bIns="18288" anchor="t">
            <a:spAutoFit/>
          </a:bodyPr>
          <a:lstStyle/>
          <a:p>
            <a:pPr algn="l"/>
            <a:r>
              <a:rPr sz="1050" b="0" i="0">
                <a:solidFill>
                  <a:srgbClr val="28455F"/>
                </a:solidFill>
                <a:latin typeface="Arial"/>
              </a:rPr>
              <a:t>AI IN ACTION / MEDICAL AFFAIRS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EFB"/>
        </a:solidFill>
        <a:effectLst/>
      </p:bgPr>
    </p:bg>
    <p:spTree>
      <p:nvGrpSpPr>
        <p:cNvPr id="1" name=""/>
        <p:cNvGrpSpPr/>
        <p:nvPr/>
      </p:nvGrpSpPr>
      <p:grpSpPr/>
      <p:sp>
        <p:nvSpPr>
          <p:cNvPr id="2" name="TextBox 1"/>
          <p:cNvSpPr txBox="1"/>
          <p:nvPr/>
        </p:nvSpPr>
        <p:spPr>
          <a:xfrm>
            <a:off x="612648" y="365760"/>
            <a:ext cx="10972800" cy="777240"/>
          </a:xfrm>
          <a:prstGeom prst="rect">
            <a:avLst/>
          </a:prstGeom>
          <a:noFill/>
        </p:spPr>
        <p:txBody>
          <a:bodyPr wrap="square" lIns="36576" rIns="36576" tIns="18288" bIns="18288" anchor="ctr">
            <a:spAutoFit/>
          </a:bodyPr>
          <a:lstStyle/>
          <a:p>
            <a:pPr algn="l"/>
            <a:r>
              <a:rPr sz="2800" b="1" i="0">
                <a:solidFill>
                  <a:srgbClr val="002B55"/>
                </a:solidFill>
                <a:latin typeface="Bahnschrift"/>
              </a:rPr>
              <a:t>[The problem in one sentence: who loses what, how often]</a:t>
            </a:r>
          </a:p>
        </p:txBody>
      </p:sp>
      <p:sp>
        <p:nvSpPr>
          <p:cNvPr id="3" name="TextBox 2"/>
          <p:cNvSpPr txBox="1"/>
          <p:nvPr/>
        </p:nvSpPr>
        <p:spPr>
          <a:xfrm>
            <a:off x="612648" y="6437376"/>
            <a:ext cx="5715000" cy="219456"/>
          </a:xfrm>
          <a:prstGeom prst="rect">
            <a:avLst/>
          </a:prstGeom>
          <a:noFill/>
        </p:spPr>
        <p:txBody>
          <a:bodyPr wrap="square" lIns="36576" rIns="36576" tIns="18288" bIns="18288" anchor="t">
            <a:spAutoFit/>
          </a:bodyPr>
          <a:lstStyle/>
          <a:p>
            <a:pPr algn="l"/>
            <a:r>
              <a:rPr sz="1050" b="0" i="0">
                <a:solidFill>
                  <a:srgbClr val="28455F"/>
                </a:solidFill>
                <a:latin typeface="Arial"/>
              </a:rPr>
              <a:t>AI IN ACTION / MEDICAL AFFAIRS</a:t>
            </a:r>
          </a:p>
        </p:txBody>
      </p:sp>
      <p:sp>
        <p:nvSpPr>
          <p:cNvPr id="4" name="TextBox 3"/>
          <p:cNvSpPr txBox="1"/>
          <p:nvPr/>
        </p:nvSpPr>
        <p:spPr>
          <a:xfrm>
            <a:off x="11064240" y="6400800"/>
            <a:ext cx="548640" cy="256032"/>
          </a:xfrm>
          <a:prstGeom prst="rect">
            <a:avLst/>
          </a:prstGeom>
          <a:noFill/>
        </p:spPr>
        <p:txBody>
          <a:bodyPr wrap="square" lIns="36576" rIns="36576" tIns="18288" bIns="18288" anchor="t">
            <a:spAutoFit/>
          </a:bodyPr>
          <a:lstStyle/>
          <a:p>
            <a:pPr algn="r"/>
            <a:r>
              <a:rPr sz="1275" b="1" i="0">
                <a:solidFill>
                  <a:srgbClr val="28455F"/>
                </a:solidFill>
                <a:latin typeface="Bahnschrift"/>
              </a:rPr>
              <a:t>02</a:t>
            </a:r>
          </a:p>
        </p:txBody>
      </p:sp>
      <p:sp>
        <p:nvSpPr>
          <p:cNvPr id="5" name="Rounded Rectangle 4"/>
          <p:cNvSpPr/>
          <p:nvPr/>
        </p:nvSpPr>
        <p:spPr>
          <a:xfrm>
            <a:off x="612648" y="1463040"/>
            <a:ext cx="6675120" cy="3200400"/>
          </a:xfrm>
          <a:prstGeom prst="roundRect">
            <a:avLst>
              <a:gd name="adj" fmla="val 6000"/>
            </a:avLst>
          </a:prstGeom>
          <a:solidFill>
            <a:srgbClr val="E3F1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6" name="Rectangle 5"/>
          <p:cNvSpPr/>
          <p:nvPr/>
        </p:nvSpPr>
        <p:spPr>
          <a:xfrm>
            <a:off x="612648" y="1463040"/>
            <a:ext cx="109728" cy="3200400"/>
          </a:xfrm>
          <a:prstGeom prst="rect">
            <a:avLst/>
          </a:prstGeom>
          <a:solidFill>
            <a:srgbClr val="F477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7" name="TextBox 6"/>
          <p:cNvSpPr txBox="1"/>
          <p:nvPr/>
        </p:nvSpPr>
        <p:spPr>
          <a:xfrm>
            <a:off x="960120" y="1691640"/>
            <a:ext cx="6126480" cy="365760"/>
          </a:xfrm>
          <a:prstGeom prst="rect">
            <a:avLst/>
          </a:prstGeom>
          <a:noFill/>
        </p:spPr>
        <p:txBody>
          <a:bodyPr wrap="square" lIns="36576" rIns="36576" tIns="18288" bIns="18288" anchor="t">
            <a:spAutoFit/>
          </a:bodyPr>
          <a:lstStyle/>
          <a:p>
            <a:pPr algn="l"/>
            <a:r>
              <a:rPr sz="1300" b="1" i="0">
                <a:solidFill>
                  <a:srgbClr val="007879"/>
                </a:solidFill>
                <a:latin typeface="Bahnschrift"/>
              </a:rPr>
              <a:t>PROBLEM STATEMENT</a:t>
            </a:r>
          </a:p>
        </p:txBody>
      </p:sp>
      <p:sp>
        <p:nvSpPr>
          <p:cNvPr id="8" name="TextBox 7"/>
          <p:cNvSpPr txBox="1"/>
          <p:nvPr/>
        </p:nvSpPr>
        <p:spPr>
          <a:xfrm>
            <a:off x="960120" y="2103120"/>
            <a:ext cx="6126480" cy="2377440"/>
          </a:xfrm>
          <a:prstGeom prst="rect">
            <a:avLst/>
          </a:prstGeom>
          <a:noFill/>
        </p:spPr>
        <p:txBody>
          <a:bodyPr wrap="square" lIns="36576" rIns="36576" tIns="18288" bIns="18288" anchor="t">
            <a:spAutoFit/>
          </a:bodyPr>
          <a:lstStyle/>
          <a:p>
            <a:pPr algn="l">
              <a:spcAft>
                <a:spcPts val="600"/>
              </a:spcAft>
            </a:pPr>
            <a:r>
              <a:rPr sz="2600" b="1" i="0">
                <a:solidFill>
                  <a:srgbClr val="002B55"/>
                </a:solidFill>
                <a:latin typeface="Bahnschrift"/>
              </a:rPr>
              <a:t>When [role] needs [outcome],</a:t>
            </a:r>
          </a:p>
          <a:p>
            <a:pPr algn="l">
              <a:spcAft>
                <a:spcPts val="600"/>
              </a:spcAft>
            </a:pPr>
            <a:r>
              <a:rPr sz="2600" b="1" i="0">
                <a:solidFill>
                  <a:srgbClr val="002B55"/>
                </a:solidFill>
                <a:latin typeface="Bahnschrift"/>
              </a:rPr>
              <a:t>today it takes [time]</a:t>
            </a:r>
          </a:p>
          <a:p>
            <a:pPr algn="l">
              <a:spcAft>
                <a:spcPts val="600"/>
              </a:spcAft>
            </a:pPr>
            <a:r>
              <a:rPr sz="2600" b="1" i="0">
                <a:solidFill>
                  <a:srgbClr val="002B55"/>
                </a:solidFill>
                <a:latin typeface="Bahnschrift"/>
              </a:rPr>
              <a:t>because [root cause].</a:t>
            </a:r>
          </a:p>
        </p:txBody>
      </p:sp>
      <p:sp>
        <p:nvSpPr>
          <p:cNvPr id="9" name="Rounded Rectangle 8"/>
          <p:cNvSpPr/>
          <p:nvPr/>
        </p:nvSpPr>
        <p:spPr>
          <a:xfrm>
            <a:off x="7635240" y="1463040"/>
            <a:ext cx="3950208" cy="960120"/>
          </a:xfrm>
          <a:prstGeom prst="roundRect">
            <a:avLst>
              <a:gd name="adj" fmla="val 8000"/>
            </a:avLst>
          </a:prstGeom>
          <a:solidFill>
            <a:srgbClr val="FFFFFF"/>
          </a:solidFill>
          <a:ln w="15875">
            <a:solidFill>
              <a:srgbClr val="D5DE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0" name="TextBox 9"/>
          <p:cNvSpPr txBox="1"/>
          <p:nvPr/>
        </p:nvSpPr>
        <p:spPr>
          <a:xfrm>
            <a:off x="7772400" y="1536192"/>
            <a:ext cx="1737360" cy="822960"/>
          </a:xfrm>
          <a:prstGeom prst="rect">
            <a:avLst/>
          </a:prstGeom>
          <a:noFill/>
        </p:spPr>
        <p:txBody>
          <a:bodyPr wrap="square" lIns="36576" rIns="36576" tIns="18288" bIns="18288" anchor="ctr">
            <a:spAutoFit/>
          </a:bodyPr>
          <a:lstStyle/>
          <a:p>
            <a:pPr algn="l"/>
            <a:r>
              <a:rPr sz="3400" b="1" i="0">
                <a:solidFill>
                  <a:srgbClr val="F47735"/>
                </a:solidFill>
                <a:latin typeface="Bahnschrift"/>
              </a:rPr>
              <a:t>[X] h</a:t>
            </a:r>
          </a:p>
        </p:txBody>
      </p:sp>
      <p:sp>
        <p:nvSpPr>
          <p:cNvPr id="11" name="TextBox 10"/>
          <p:cNvSpPr txBox="1"/>
          <p:nvPr/>
        </p:nvSpPr>
        <p:spPr>
          <a:xfrm>
            <a:off x="9509760" y="1554480"/>
            <a:ext cx="2011680" cy="777240"/>
          </a:xfrm>
          <a:prstGeom prst="rect">
            <a:avLst/>
          </a:prstGeom>
          <a:noFill/>
        </p:spPr>
        <p:txBody>
          <a:bodyPr wrap="square" lIns="36576" rIns="36576" tIns="18288" bIns="18288" anchor="ctr">
            <a:spAutoFit/>
          </a:bodyPr>
          <a:lstStyle/>
          <a:p>
            <a:pPr algn="l"/>
            <a:r>
              <a:rPr sz="1500" b="0" i="0">
                <a:solidFill>
                  <a:srgbClr val="002B55"/>
                </a:solidFill>
                <a:latin typeface="Arial"/>
              </a:rPr>
              <a:t>per cycle today</a:t>
            </a:r>
          </a:p>
        </p:txBody>
      </p:sp>
      <p:sp>
        <p:nvSpPr>
          <p:cNvPr id="12" name="Rounded Rectangle 11"/>
          <p:cNvSpPr/>
          <p:nvPr/>
        </p:nvSpPr>
        <p:spPr>
          <a:xfrm>
            <a:off x="7635240" y="2560320"/>
            <a:ext cx="3950208" cy="960120"/>
          </a:xfrm>
          <a:prstGeom prst="roundRect">
            <a:avLst>
              <a:gd name="adj" fmla="val 8000"/>
            </a:avLst>
          </a:prstGeom>
          <a:solidFill>
            <a:srgbClr val="FFFFFF"/>
          </a:solidFill>
          <a:ln w="15875">
            <a:solidFill>
              <a:srgbClr val="D5DE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3" name="TextBox 12"/>
          <p:cNvSpPr txBox="1"/>
          <p:nvPr/>
        </p:nvSpPr>
        <p:spPr>
          <a:xfrm>
            <a:off x="7772400" y="2633472"/>
            <a:ext cx="1737360" cy="822960"/>
          </a:xfrm>
          <a:prstGeom prst="rect">
            <a:avLst/>
          </a:prstGeom>
          <a:noFill/>
        </p:spPr>
        <p:txBody>
          <a:bodyPr wrap="square" lIns="36576" rIns="36576" tIns="18288" bIns="18288" anchor="ctr">
            <a:spAutoFit/>
          </a:bodyPr>
          <a:lstStyle/>
          <a:p>
            <a:pPr algn="l"/>
            <a:r>
              <a:rPr sz="3400" b="1" i="0">
                <a:solidFill>
                  <a:srgbClr val="007879"/>
                </a:solidFill>
                <a:latin typeface="Bahnschrift"/>
              </a:rPr>
              <a:t>[N]</a:t>
            </a:r>
          </a:p>
        </p:txBody>
      </p:sp>
      <p:sp>
        <p:nvSpPr>
          <p:cNvPr id="14" name="TextBox 13"/>
          <p:cNvSpPr txBox="1"/>
          <p:nvPr/>
        </p:nvSpPr>
        <p:spPr>
          <a:xfrm>
            <a:off x="9509760" y="2651760"/>
            <a:ext cx="2011680" cy="777240"/>
          </a:xfrm>
          <a:prstGeom prst="rect">
            <a:avLst/>
          </a:prstGeom>
          <a:noFill/>
        </p:spPr>
        <p:txBody>
          <a:bodyPr wrap="square" lIns="36576" rIns="36576" tIns="18288" bIns="18288" anchor="ctr">
            <a:spAutoFit/>
          </a:bodyPr>
          <a:lstStyle/>
          <a:p>
            <a:pPr algn="l"/>
            <a:r>
              <a:rPr sz="1500" b="0" i="0">
                <a:solidFill>
                  <a:srgbClr val="002B55"/>
                </a:solidFill>
                <a:latin typeface="Arial"/>
              </a:rPr>
              <a:t>cycles per year</a:t>
            </a:r>
          </a:p>
        </p:txBody>
      </p:sp>
      <p:sp>
        <p:nvSpPr>
          <p:cNvPr id="15" name="Rounded Rectangle 14"/>
          <p:cNvSpPr/>
          <p:nvPr/>
        </p:nvSpPr>
        <p:spPr>
          <a:xfrm>
            <a:off x="7635240" y="3657600"/>
            <a:ext cx="3950208" cy="960120"/>
          </a:xfrm>
          <a:prstGeom prst="roundRect">
            <a:avLst>
              <a:gd name="adj" fmla="val 8000"/>
            </a:avLst>
          </a:prstGeom>
          <a:solidFill>
            <a:srgbClr val="FFFFFF"/>
          </a:solidFill>
          <a:ln w="15875">
            <a:solidFill>
              <a:srgbClr val="D5DE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6" name="TextBox 15"/>
          <p:cNvSpPr txBox="1"/>
          <p:nvPr/>
        </p:nvSpPr>
        <p:spPr>
          <a:xfrm>
            <a:off x="7772400" y="3730752"/>
            <a:ext cx="1737360" cy="822960"/>
          </a:xfrm>
          <a:prstGeom prst="rect">
            <a:avLst/>
          </a:prstGeom>
          <a:noFill/>
        </p:spPr>
        <p:txBody>
          <a:bodyPr wrap="square" lIns="36576" rIns="36576" tIns="18288" bIns="18288" anchor="ctr">
            <a:spAutoFit/>
          </a:bodyPr>
          <a:lstStyle/>
          <a:p>
            <a:pPr algn="l"/>
            <a:r>
              <a:rPr sz="3400" b="1" i="0">
                <a:solidFill>
                  <a:srgbClr val="007879"/>
                </a:solidFill>
                <a:latin typeface="Bahnschrift"/>
              </a:rPr>
              <a:t>[N]</a:t>
            </a:r>
          </a:p>
        </p:txBody>
      </p:sp>
      <p:sp>
        <p:nvSpPr>
          <p:cNvPr id="17" name="TextBox 16"/>
          <p:cNvSpPr txBox="1"/>
          <p:nvPr/>
        </p:nvSpPr>
        <p:spPr>
          <a:xfrm>
            <a:off x="9509760" y="3749039"/>
            <a:ext cx="2011680" cy="777240"/>
          </a:xfrm>
          <a:prstGeom prst="rect">
            <a:avLst/>
          </a:prstGeom>
          <a:noFill/>
        </p:spPr>
        <p:txBody>
          <a:bodyPr wrap="square" lIns="36576" rIns="36576" tIns="18288" bIns="18288" anchor="ctr">
            <a:spAutoFit/>
          </a:bodyPr>
          <a:lstStyle/>
          <a:p>
            <a:pPr algn="l"/>
            <a:r>
              <a:rPr sz="1500" b="0" i="0">
                <a:solidFill>
                  <a:srgbClr val="002B55"/>
                </a:solidFill>
                <a:latin typeface="Arial"/>
              </a:rPr>
              <a:t>roles and hand-offs</a:t>
            </a:r>
          </a:p>
        </p:txBody>
      </p:sp>
      <p:cxnSp>
        <p:nvCxnSpPr>
          <p:cNvPr id="18" name="Connector 17"/>
          <p:cNvCxnSpPr/>
          <p:nvPr/>
        </p:nvCxnSpPr>
        <p:spPr>
          <a:xfrm>
            <a:off x="612648" y="5074920"/>
            <a:ext cx="10972800" cy="0"/>
          </a:xfrm>
          <a:prstGeom prst="line">
            <a:avLst/>
          </a:prstGeom>
          <a:ln w="15875">
            <a:solidFill>
              <a:srgbClr val="D5DEE6"/>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12648" y="5212080"/>
            <a:ext cx="10972800" cy="457200"/>
          </a:xfrm>
          <a:prstGeom prst="rect">
            <a:avLst/>
          </a:prstGeom>
          <a:noFill/>
        </p:spPr>
        <p:txBody>
          <a:bodyPr wrap="square" lIns="36576" rIns="36576" tIns="18288" bIns="18288" anchor="t">
            <a:spAutoFit/>
          </a:bodyPr>
          <a:lstStyle/>
          <a:p>
            <a:pPr algn="l"/>
            <a:r>
              <a:rPr sz="1700" b="1" i="0">
                <a:solidFill>
                  <a:srgbClr val="007879"/>
                </a:solidFill>
                <a:latin typeface="Arial"/>
              </a:rPr>
              <a:t>Why it matters: </a:t>
            </a:r>
            <a:r>
              <a:rPr sz="1700" b="0" i="0">
                <a:solidFill>
                  <a:srgbClr val="002B55"/>
                </a:solidFill>
                <a:latin typeface="Arial"/>
              </a:rPr>
              <a:t>[the decision, patient or HCP impact that suffers today]</a:t>
            </a:r>
          </a:p>
        </p:txBody>
      </p:sp>
      <p:sp>
        <p:nvSpPr>
          <p:cNvPr id="20" name="TextBox 19"/>
          <p:cNvSpPr txBox="1"/>
          <p:nvPr/>
        </p:nvSpPr>
        <p:spPr>
          <a:xfrm>
            <a:off x="612648" y="5715000"/>
            <a:ext cx="10972800" cy="365760"/>
          </a:xfrm>
          <a:prstGeom prst="rect">
            <a:avLst/>
          </a:prstGeom>
          <a:noFill/>
        </p:spPr>
        <p:txBody>
          <a:bodyPr wrap="square" lIns="36576" rIns="36576" tIns="18288" bIns="18288" anchor="t">
            <a:spAutoFit/>
          </a:bodyPr>
          <a:lstStyle/>
          <a:p>
            <a:pPr algn="l"/>
            <a:r>
              <a:rPr sz="1200" b="0" i="1">
                <a:solidFill>
                  <a:srgbClr val="8A9BAA"/>
                </a:solidFill>
                <a:latin typeface="Arial"/>
              </a:rPr>
              <a:t>[Data used: Nordvant Biopharma practice data (fictional) / our own non-confidential data]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EFB"/>
        </a:solidFill>
        <a:effectLst/>
      </p:bgPr>
    </p:bg>
    <p:spTree>
      <p:nvGrpSpPr>
        <p:cNvPr id="1" name=""/>
        <p:cNvGrpSpPr/>
        <p:nvPr/>
      </p:nvGrpSpPr>
      <p:grpSpPr/>
      <p:sp>
        <p:nvSpPr>
          <p:cNvPr id="2" name="TextBox 1"/>
          <p:cNvSpPr txBox="1"/>
          <p:nvPr/>
        </p:nvSpPr>
        <p:spPr>
          <a:xfrm>
            <a:off x="612648" y="365760"/>
            <a:ext cx="10972800" cy="777240"/>
          </a:xfrm>
          <a:prstGeom prst="rect">
            <a:avLst/>
          </a:prstGeom>
          <a:noFill/>
        </p:spPr>
        <p:txBody>
          <a:bodyPr wrap="square" lIns="36576" rIns="36576" tIns="18288" bIns="18288" anchor="ctr">
            <a:spAutoFit/>
          </a:bodyPr>
          <a:lstStyle/>
          <a:p>
            <a:pPr algn="l"/>
            <a:r>
              <a:rPr sz="3000" b="1" i="0">
                <a:solidFill>
                  <a:srgbClr val="002B55"/>
                </a:solidFill>
                <a:latin typeface="Bahnschrift"/>
              </a:rPr>
              <a:t>Today: [N] steps, [N] hand-offs, [X] hours per cycle</a:t>
            </a:r>
          </a:p>
        </p:txBody>
      </p:sp>
      <p:sp>
        <p:nvSpPr>
          <p:cNvPr id="3" name="TextBox 2"/>
          <p:cNvSpPr txBox="1"/>
          <p:nvPr/>
        </p:nvSpPr>
        <p:spPr>
          <a:xfrm>
            <a:off x="612648" y="6437376"/>
            <a:ext cx="5715000" cy="219456"/>
          </a:xfrm>
          <a:prstGeom prst="rect">
            <a:avLst/>
          </a:prstGeom>
          <a:noFill/>
        </p:spPr>
        <p:txBody>
          <a:bodyPr wrap="square" lIns="36576" rIns="36576" tIns="18288" bIns="18288" anchor="t">
            <a:spAutoFit/>
          </a:bodyPr>
          <a:lstStyle/>
          <a:p>
            <a:pPr algn="l"/>
            <a:r>
              <a:rPr sz="1050" b="0" i="0">
                <a:solidFill>
                  <a:srgbClr val="28455F"/>
                </a:solidFill>
                <a:latin typeface="Arial"/>
              </a:rPr>
              <a:t>AI IN ACTION / MEDICAL AFFAIRS</a:t>
            </a:r>
          </a:p>
        </p:txBody>
      </p:sp>
      <p:sp>
        <p:nvSpPr>
          <p:cNvPr id="4" name="TextBox 3"/>
          <p:cNvSpPr txBox="1"/>
          <p:nvPr/>
        </p:nvSpPr>
        <p:spPr>
          <a:xfrm>
            <a:off x="11064240" y="6400800"/>
            <a:ext cx="548640" cy="256032"/>
          </a:xfrm>
          <a:prstGeom prst="rect">
            <a:avLst/>
          </a:prstGeom>
          <a:noFill/>
        </p:spPr>
        <p:txBody>
          <a:bodyPr wrap="square" lIns="36576" rIns="36576" tIns="18288" bIns="18288" anchor="t">
            <a:spAutoFit/>
          </a:bodyPr>
          <a:lstStyle/>
          <a:p>
            <a:pPr algn="r"/>
            <a:r>
              <a:rPr sz="1275" b="1" i="0">
                <a:solidFill>
                  <a:srgbClr val="28455F"/>
                </a:solidFill>
                <a:latin typeface="Bahnschrift"/>
              </a:rPr>
              <a:t>03</a:t>
            </a:r>
          </a:p>
        </p:txBody>
      </p:sp>
      <p:sp>
        <p:nvSpPr>
          <p:cNvPr id="5" name="TextBox 4"/>
          <p:cNvSpPr txBox="1"/>
          <p:nvPr/>
        </p:nvSpPr>
        <p:spPr>
          <a:xfrm>
            <a:off x="2148840" y="1261872"/>
            <a:ext cx="2286000" cy="274320"/>
          </a:xfrm>
          <a:prstGeom prst="rect">
            <a:avLst/>
          </a:prstGeom>
          <a:noFill/>
        </p:spPr>
        <p:txBody>
          <a:bodyPr wrap="square" lIns="36576" rIns="36576" tIns="18288" bIns="18288" anchor="t">
            <a:spAutoFit/>
          </a:bodyPr>
          <a:lstStyle/>
          <a:p>
            <a:pPr algn="l"/>
            <a:r>
              <a:rPr sz="1100" b="0" i="0">
                <a:solidFill>
                  <a:srgbClr val="8A9BAA"/>
                </a:solidFill>
                <a:latin typeface="Arial"/>
              </a:rPr>
              <a:t>[Day 0]</a:t>
            </a:r>
          </a:p>
        </p:txBody>
      </p:sp>
      <p:sp>
        <p:nvSpPr>
          <p:cNvPr id="6" name="TextBox 5"/>
          <p:cNvSpPr txBox="1"/>
          <p:nvPr/>
        </p:nvSpPr>
        <p:spPr>
          <a:xfrm>
            <a:off x="4572000" y="1216152"/>
            <a:ext cx="4206240" cy="320040"/>
          </a:xfrm>
          <a:prstGeom prst="rect">
            <a:avLst/>
          </a:prstGeom>
          <a:noFill/>
        </p:spPr>
        <p:txBody>
          <a:bodyPr wrap="square" lIns="36576" rIns="36576" tIns="18288" bIns="18288" anchor="t">
            <a:spAutoFit/>
          </a:bodyPr>
          <a:lstStyle/>
          <a:p>
            <a:pPr algn="ctr"/>
            <a:r>
              <a:rPr sz="1100" b="1" i="0">
                <a:solidFill>
                  <a:srgbClr val="B4501F"/>
                </a:solidFill>
                <a:latin typeface="Arial"/>
              </a:rPr>
              <a:t>[Where the weeks go (illustrative)]</a:t>
            </a:r>
          </a:p>
        </p:txBody>
      </p:sp>
      <p:sp>
        <p:nvSpPr>
          <p:cNvPr id="7" name="TextBox 6"/>
          <p:cNvSpPr txBox="1"/>
          <p:nvPr/>
        </p:nvSpPr>
        <p:spPr>
          <a:xfrm>
            <a:off x="8869680" y="1261872"/>
            <a:ext cx="2715768" cy="274320"/>
          </a:xfrm>
          <a:prstGeom prst="rect">
            <a:avLst/>
          </a:prstGeom>
          <a:noFill/>
        </p:spPr>
        <p:txBody>
          <a:bodyPr wrap="square" lIns="36576" rIns="36576" tIns="18288" bIns="18288" anchor="t">
            <a:spAutoFit/>
          </a:bodyPr>
          <a:lstStyle/>
          <a:p>
            <a:pPr algn="r"/>
            <a:r>
              <a:rPr sz="1100" b="0" i="0">
                <a:solidFill>
                  <a:srgbClr val="8A9BAA"/>
                </a:solidFill>
                <a:latin typeface="Arial"/>
              </a:rPr>
              <a:t>[Day N]  →</a:t>
            </a:r>
          </a:p>
        </p:txBody>
      </p:sp>
      <p:sp>
        <p:nvSpPr>
          <p:cNvPr id="8" name="Rectangle 7"/>
          <p:cNvSpPr/>
          <p:nvPr/>
        </p:nvSpPr>
        <p:spPr>
          <a:xfrm>
            <a:off x="612648" y="1600200"/>
            <a:ext cx="10972800" cy="86868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9" name="Rectangle 8"/>
          <p:cNvSpPr/>
          <p:nvPr/>
        </p:nvSpPr>
        <p:spPr>
          <a:xfrm>
            <a:off x="612648" y="1600200"/>
            <a:ext cx="1417320" cy="868680"/>
          </a:xfrm>
          <a:prstGeom prst="rect">
            <a:avLst/>
          </a:prstGeom>
          <a:solidFill>
            <a:srgbClr val="002B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Bahnschrift"/>
              </a:rPr>
              <a:t>[Role 1]</a:t>
            </a:r>
          </a:p>
        </p:txBody>
      </p:sp>
      <p:sp>
        <p:nvSpPr>
          <p:cNvPr id="10" name="Rectangle 9"/>
          <p:cNvSpPr/>
          <p:nvPr/>
        </p:nvSpPr>
        <p:spPr>
          <a:xfrm>
            <a:off x="612648" y="2560320"/>
            <a:ext cx="10972800" cy="868680"/>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1" name="Rectangle 10"/>
          <p:cNvSpPr/>
          <p:nvPr/>
        </p:nvSpPr>
        <p:spPr>
          <a:xfrm>
            <a:off x="612648" y="2560320"/>
            <a:ext cx="1417320" cy="868680"/>
          </a:xfrm>
          <a:prstGeom prst="rect">
            <a:avLst/>
          </a:prstGeom>
          <a:solidFill>
            <a:srgbClr val="1D5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Bahnschrift"/>
              </a:rPr>
              <a:t>[Role 2]</a:t>
            </a:r>
          </a:p>
        </p:txBody>
      </p:sp>
      <p:sp>
        <p:nvSpPr>
          <p:cNvPr id="12" name="Rectangle 11"/>
          <p:cNvSpPr/>
          <p:nvPr/>
        </p:nvSpPr>
        <p:spPr>
          <a:xfrm>
            <a:off x="612648" y="3520440"/>
            <a:ext cx="10972800" cy="86868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3" name="Rectangle 12"/>
          <p:cNvSpPr/>
          <p:nvPr/>
        </p:nvSpPr>
        <p:spPr>
          <a:xfrm>
            <a:off x="612648" y="3520440"/>
            <a:ext cx="1417320" cy="868680"/>
          </a:xfrm>
          <a:prstGeom prst="rect">
            <a:avLst/>
          </a:prstGeom>
          <a:solidFill>
            <a:srgbClr val="0078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Bahnschrift"/>
              </a:rPr>
              <a:t>[Role 3 / agency]</a:t>
            </a:r>
          </a:p>
        </p:txBody>
      </p:sp>
      <p:sp>
        <p:nvSpPr>
          <p:cNvPr id="14" name="Rectangle 13"/>
          <p:cNvSpPr/>
          <p:nvPr/>
        </p:nvSpPr>
        <p:spPr>
          <a:xfrm>
            <a:off x="612648" y="4480560"/>
            <a:ext cx="10972800" cy="868680"/>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5" name="Rectangle 14"/>
          <p:cNvSpPr/>
          <p:nvPr/>
        </p:nvSpPr>
        <p:spPr>
          <a:xfrm>
            <a:off x="612648" y="4480560"/>
            <a:ext cx="1417320" cy="868680"/>
          </a:xfrm>
          <a:prstGeom prst="rect">
            <a:avLst/>
          </a:prstGeom>
          <a:solidFill>
            <a:srgbClr val="2845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Bahnschrift"/>
              </a:rPr>
              <a:t>[Reviewer / approver]</a:t>
            </a:r>
          </a:p>
        </p:txBody>
      </p:sp>
      <p:sp>
        <p:nvSpPr>
          <p:cNvPr id="16" name="Rounded Rectangle 15"/>
          <p:cNvSpPr/>
          <p:nvPr/>
        </p:nvSpPr>
        <p:spPr>
          <a:xfrm>
            <a:off x="2194560" y="1751076"/>
            <a:ext cx="1097280" cy="566928"/>
          </a:xfrm>
          <a:prstGeom prst="roundRect">
            <a:avLst>
              <a:gd name="adj" fmla="val 10000"/>
            </a:avLst>
          </a:prstGeom>
          <a:solidFill>
            <a:srgbClr val="FFFFFF"/>
          </a:solidFill>
          <a:ln w="15875">
            <a:solidFill>
              <a:srgbClr val="002B5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55"/>
                </a:solidFill>
                <a:latin typeface="Arial"/>
              </a:rPr>
              <a:t>[Step 1]</a:t>
            </a:r>
          </a:p>
        </p:txBody>
      </p:sp>
      <p:sp>
        <p:nvSpPr>
          <p:cNvPr id="17" name="Rounded Rectangle 16"/>
          <p:cNvSpPr/>
          <p:nvPr/>
        </p:nvSpPr>
        <p:spPr>
          <a:xfrm>
            <a:off x="3520439" y="2711196"/>
            <a:ext cx="1097280" cy="566928"/>
          </a:xfrm>
          <a:prstGeom prst="roundRect">
            <a:avLst>
              <a:gd name="adj" fmla="val 10000"/>
            </a:avLst>
          </a:prstGeom>
          <a:solidFill>
            <a:srgbClr val="FFFFFF"/>
          </a:solidFill>
          <a:ln w="15875">
            <a:solidFill>
              <a:srgbClr val="002B5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55"/>
                </a:solidFill>
                <a:latin typeface="Arial"/>
              </a:rPr>
              <a:t>[Step 2]</a:t>
            </a:r>
          </a:p>
        </p:txBody>
      </p:sp>
      <p:cxnSp>
        <p:nvCxnSpPr>
          <p:cNvPr id="18" name="Connector 17"/>
          <p:cNvCxnSpPr/>
          <p:nvPr/>
        </p:nvCxnSpPr>
        <p:spPr>
          <a:xfrm>
            <a:off x="3291839" y="2034540"/>
            <a:ext cx="228600" cy="960120"/>
          </a:xfrm>
          <a:prstGeom prst="bentConnector3">
            <a:avLst/>
          </a:prstGeom>
          <a:ln w="15875">
            <a:solidFill>
              <a:srgbClr val="8A9B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846320" y="1751076"/>
            <a:ext cx="1097280" cy="566928"/>
          </a:xfrm>
          <a:prstGeom prst="roundRect">
            <a:avLst>
              <a:gd name="adj" fmla="val 10000"/>
            </a:avLst>
          </a:prstGeom>
          <a:solidFill>
            <a:srgbClr val="FFFFFF"/>
          </a:solidFill>
          <a:ln w="15875">
            <a:solidFill>
              <a:srgbClr val="002B5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55"/>
                </a:solidFill>
                <a:latin typeface="Arial"/>
              </a:rPr>
              <a:t>[Step 3]</a:t>
            </a:r>
          </a:p>
        </p:txBody>
      </p:sp>
      <p:cxnSp>
        <p:nvCxnSpPr>
          <p:cNvPr id="20" name="Connector 19"/>
          <p:cNvCxnSpPr/>
          <p:nvPr/>
        </p:nvCxnSpPr>
        <p:spPr>
          <a:xfrm flipV="1">
            <a:off x="4617720" y="2034540"/>
            <a:ext cx="228600" cy="960120"/>
          </a:xfrm>
          <a:prstGeom prst="bentConnector3">
            <a:avLst/>
          </a:prstGeom>
          <a:ln w="15875">
            <a:solidFill>
              <a:srgbClr val="8A9B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172200" y="3671315"/>
            <a:ext cx="1097280" cy="566928"/>
          </a:xfrm>
          <a:prstGeom prst="roundRect">
            <a:avLst>
              <a:gd name="adj" fmla="val 10000"/>
            </a:avLst>
          </a:prstGeom>
          <a:solidFill>
            <a:srgbClr val="FFFFFF"/>
          </a:solidFill>
          <a:ln w="15875">
            <a:solidFill>
              <a:srgbClr val="002B5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55"/>
                </a:solidFill>
                <a:latin typeface="Arial"/>
              </a:rPr>
              <a:t>[Step 4]</a:t>
            </a:r>
          </a:p>
        </p:txBody>
      </p:sp>
      <p:cxnSp>
        <p:nvCxnSpPr>
          <p:cNvPr id="22" name="Connector 21"/>
          <p:cNvCxnSpPr/>
          <p:nvPr/>
        </p:nvCxnSpPr>
        <p:spPr>
          <a:xfrm>
            <a:off x="5943600" y="2034540"/>
            <a:ext cx="228600" cy="1920239"/>
          </a:xfrm>
          <a:prstGeom prst="bentConnector3">
            <a:avLst/>
          </a:prstGeom>
          <a:ln w="15875">
            <a:solidFill>
              <a:srgbClr val="8A9B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7498079" y="2711196"/>
            <a:ext cx="1097280" cy="566928"/>
          </a:xfrm>
          <a:prstGeom prst="roundRect">
            <a:avLst>
              <a:gd name="adj" fmla="val 10000"/>
            </a:avLst>
          </a:prstGeom>
          <a:solidFill>
            <a:srgbClr val="FFFFFF"/>
          </a:solidFill>
          <a:ln w="15875">
            <a:solidFill>
              <a:srgbClr val="002B5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55"/>
                </a:solidFill>
                <a:latin typeface="Arial"/>
              </a:rPr>
              <a:t>[Step 5]</a:t>
            </a:r>
          </a:p>
        </p:txBody>
      </p:sp>
      <p:cxnSp>
        <p:nvCxnSpPr>
          <p:cNvPr id="24" name="Connector 23"/>
          <p:cNvCxnSpPr/>
          <p:nvPr/>
        </p:nvCxnSpPr>
        <p:spPr>
          <a:xfrm flipV="1">
            <a:off x="7269480" y="2994660"/>
            <a:ext cx="228599" cy="960119"/>
          </a:xfrm>
          <a:prstGeom prst="bentConnector3">
            <a:avLst/>
          </a:prstGeom>
          <a:ln w="15875">
            <a:solidFill>
              <a:srgbClr val="8A9B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823960" y="4631436"/>
            <a:ext cx="1097280" cy="566928"/>
          </a:xfrm>
          <a:prstGeom prst="roundRect">
            <a:avLst>
              <a:gd name="adj" fmla="val 10000"/>
            </a:avLst>
          </a:prstGeom>
          <a:solidFill>
            <a:srgbClr val="FFFFFF"/>
          </a:solidFill>
          <a:ln w="15875">
            <a:solidFill>
              <a:srgbClr val="002B5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55"/>
                </a:solidFill>
                <a:latin typeface="Arial"/>
              </a:rPr>
              <a:t>[Step 6]</a:t>
            </a:r>
          </a:p>
        </p:txBody>
      </p:sp>
      <p:cxnSp>
        <p:nvCxnSpPr>
          <p:cNvPr id="26" name="Connector 25"/>
          <p:cNvCxnSpPr/>
          <p:nvPr/>
        </p:nvCxnSpPr>
        <p:spPr>
          <a:xfrm>
            <a:off x="8595359" y="2994660"/>
            <a:ext cx="228601" cy="1920240"/>
          </a:xfrm>
          <a:prstGeom prst="bentConnector3">
            <a:avLst/>
          </a:prstGeom>
          <a:ln w="15875">
            <a:solidFill>
              <a:srgbClr val="8A9B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10149840" y="4631436"/>
            <a:ext cx="1097280" cy="566928"/>
          </a:xfrm>
          <a:prstGeom prst="roundRect">
            <a:avLst>
              <a:gd name="adj" fmla="val 10000"/>
            </a:avLst>
          </a:prstGeom>
          <a:solidFill>
            <a:srgbClr val="FFFFFF"/>
          </a:solidFill>
          <a:ln w="15875">
            <a:solidFill>
              <a:srgbClr val="002B5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55"/>
                </a:solidFill>
                <a:latin typeface="Arial"/>
              </a:rPr>
              <a:t>[Step 7]</a:t>
            </a:r>
          </a:p>
        </p:txBody>
      </p:sp>
      <p:cxnSp>
        <p:nvCxnSpPr>
          <p:cNvPr id="28" name="Connector 27"/>
          <p:cNvCxnSpPr/>
          <p:nvPr/>
        </p:nvCxnSpPr>
        <p:spPr>
          <a:xfrm>
            <a:off x="9921240" y="4914900"/>
            <a:ext cx="228600" cy="0"/>
          </a:xfrm>
          <a:prstGeom prst="line">
            <a:avLst/>
          </a:prstGeom>
          <a:ln w="15875">
            <a:solidFill>
              <a:srgbClr val="8A9B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612648" y="5486400"/>
            <a:ext cx="3520440" cy="658368"/>
          </a:xfrm>
          <a:prstGeom prst="roundRect">
            <a:avLst>
              <a:gd name="adj" fmla="val 10000"/>
            </a:avLst>
          </a:prstGeom>
          <a:solidFill>
            <a:srgbClr val="FDEB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solidFill>
                  <a:srgbClr val="B4501F"/>
                </a:solidFill>
                <a:latin typeface="Arial"/>
              </a:rPr>
              <a:t>[Pain 1: where time is lost]</a:t>
            </a:r>
          </a:p>
        </p:txBody>
      </p:sp>
      <p:sp>
        <p:nvSpPr>
          <p:cNvPr id="30" name="Rounded Rectangle 29"/>
          <p:cNvSpPr/>
          <p:nvPr/>
        </p:nvSpPr>
        <p:spPr>
          <a:xfrm>
            <a:off x="4334256" y="5486400"/>
            <a:ext cx="3520440" cy="658368"/>
          </a:xfrm>
          <a:prstGeom prst="roundRect">
            <a:avLst>
              <a:gd name="adj" fmla="val 10000"/>
            </a:avLst>
          </a:prstGeom>
          <a:solidFill>
            <a:srgbClr val="FDEB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solidFill>
                  <a:srgbClr val="B4501F"/>
                </a:solidFill>
                <a:latin typeface="Arial"/>
              </a:rPr>
              <a:t>[Pain 2: where errors creep in]</a:t>
            </a:r>
          </a:p>
        </p:txBody>
      </p:sp>
      <p:sp>
        <p:nvSpPr>
          <p:cNvPr id="31" name="Rounded Rectangle 30"/>
          <p:cNvSpPr/>
          <p:nvPr/>
        </p:nvSpPr>
        <p:spPr>
          <a:xfrm>
            <a:off x="8055864" y="5486400"/>
            <a:ext cx="3520440" cy="658368"/>
          </a:xfrm>
          <a:prstGeom prst="roundRect">
            <a:avLst>
              <a:gd name="adj" fmla="val 10000"/>
            </a:avLst>
          </a:prstGeom>
          <a:solidFill>
            <a:srgbClr val="FDEB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solidFill>
                  <a:srgbClr val="B4501F"/>
                </a:solidFill>
                <a:latin typeface="Arial"/>
              </a:rPr>
              <a:t>[Pain 3: where people wait]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EFB"/>
        </a:solidFill>
        <a:effectLst/>
      </p:bgPr>
    </p:bg>
    <p:spTree>
      <p:nvGrpSpPr>
        <p:cNvPr id="1" name=""/>
        <p:cNvGrpSpPr/>
        <p:nvPr/>
      </p:nvGrpSpPr>
      <p:grpSpPr/>
      <p:sp>
        <p:nvSpPr>
          <p:cNvPr id="2" name="TextBox 1"/>
          <p:cNvSpPr txBox="1"/>
          <p:nvPr/>
        </p:nvSpPr>
        <p:spPr>
          <a:xfrm>
            <a:off x="612648" y="365760"/>
            <a:ext cx="10972800" cy="777240"/>
          </a:xfrm>
          <a:prstGeom prst="rect">
            <a:avLst/>
          </a:prstGeom>
          <a:noFill/>
        </p:spPr>
        <p:txBody>
          <a:bodyPr wrap="square" lIns="36576" rIns="36576" tIns="18288" bIns="18288" anchor="ctr">
            <a:spAutoFit/>
          </a:bodyPr>
          <a:lstStyle/>
          <a:p>
            <a:pPr algn="l"/>
            <a:r>
              <a:rPr sz="3000" b="1" i="0">
                <a:solidFill>
                  <a:srgbClr val="002B55"/>
                </a:solidFill>
                <a:latin typeface="Bahnschrift"/>
              </a:rPr>
              <a:t>Redesigned: agents assemble, humans decide</a:t>
            </a:r>
          </a:p>
        </p:txBody>
      </p:sp>
      <p:sp>
        <p:nvSpPr>
          <p:cNvPr id="3" name="TextBox 2"/>
          <p:cNvSpPr txBox="1"/>
          <p:nvPr/>
        </p:nvSpPr>
        <p:spPr>
          <a:xfrm>
            <a:off x="612648" y="6437376"/>
            <a:ext cx="5715000" cy="219456"/>
          </a:xfrm>
          <a:prstGeom prst="rect">
            <a:avLst/>
          </a:prstGeom>
          <a:noFill/>
        </p:spPr>
        <p:txBody>
          <a:bodyPr wrap="square" lIns="36576" rIns="36576" tIns="18288" bIns="18288" anchor="t">
            <a:spAutoFit/>
          </a:bodyPr>
          <a:lstStyle/>
          <a:p>
            <a:pPr algn="l"/>
            <a:r>
              <a:rPr sz="1050" b="0" i="0">
                <a:solidFill>
                  <a:srgbClr val="28455F"/>
                </a:solidFill>
                <a:latin typeface="Arial"/>
              </a:rPr>
              <a:t>AI IN ACTION / MEDICAL AFFAIRS</a:t>
            </a:r>
          </a:p>
        </p:txBody>
      </p:sp>
      <p:sp>
        <p:nvSpPr>
          <p:cNvPr id="4" name="TextBox 3"/>
          <p:cNvSpPr txBox="1"/>
          <p:nvPr/>
        </p:nvSpPr>
        <p:spPr>
          <a:xfrm>
            <a:off x="11064240" y="6400800"/>
            <a:ext cx="548640" cy="256032"/>
          </a:xfrm>
          <a:prstGeom prst="rect">
            <a:avLst/>
          </a:prstGeom>
          <a:noFill/>
        </p:spPr>
        <p:txBody>
          <a:bodyPr wrap="square" lIns="36576" rIns="36576" tIns="18288" bIns="18288" anchor="t">
            <a:spAutoFit/>
          </a:bodyPr>
          <a:lstStyle/>
          <a:p>
            <a:pPr algn="r"/>
            <a:r>
              <a:rPr sz="1275" b="1" i="0">
                <a:solidFill>
                  <a:srgbClr val="28455F"/>
                </a:solidFill>
                <a:latin typeface="Bahnschrift"/>
              </a:rPr>
              <a:t>04</a:t>
            </a:r>
          </a:p>
        </p:txBody>
      </p:sp>
      <p:sp>
        <p:nvSpPr>
          <p:cNvPr id="5" name="Rectangle 4"/>
          <p:cNvSpPr/>
          <p:nvPr/>
        </p:nvSpPr>
        <p:spPr>
          <a:xfrm>
            <a:off x="612648" y="1325880"/>
            <a:ext cx="10972800" cy="896112"/>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6" name="Rectangle 5"/>
          <p:cNvSpPr/>
          <p:nvPr/>
        </p:nvSpPr>
        <p:spPr>
          <a:xfrm>
            <a:off x="612648" y="1325880"/>
            <a:ext cx="1417320" cy="896112"/>
          </a:xfrm>
          <a:prstGeom prst="rect">
            <a:avLst/>
          </a:prstGeom>
          <a:solidFill>
            <a:srgbClr val="F477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Bahnschrift"/>
              </a:rPr>
              <a:t>You · owner</a:t>
            </a:r>
          </a:p>
        </p:txBody>
      </p:sp>
      <p:sp>
        <p:nvSpPr>
          <p:cNvPr id="7" name="Rectangle 6"/>
          <p:cNvSpPr/>
          <p:nvPr/>
        </p:nvSpPr>
        <p:spPr>
          <a:xfrm>
            <a:off x="612648" y="2313432"/>
            <a:ext cx="10972800" cy="896112"/>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8" name="Rectangle 7"/>
          <p:cNvSpPr/>
          <p:nvPr/>
        </p:nvSpPr>
        <p:spPr>
          <a:xfrm>
            <a:off x="612648" y="2313432"/>
            <a:ext cx="1417320" cy="896112"/>
          </a:xfrm>
          <a:prstGeom prst="rect">
            <a:avLst/>
          </a:prstGeom>
          <a:solidFill>
            <a:srgbClr val="002B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Bahnschrift"/>
              </a:rPr>
              <a:t>Lead agent</a:t>
            </a:r>
          </a:p>
        </p:txBody>
      </p:sp>
      <p:sp>
        <p:nvSpPr>
          <p:cNvPr id="9" name="Rectangle 8"/>
          <p:cNvSpPr/>
          <p:nvPr/>
        </p:nvSpPr>
        <p:spPr>
          <a:xfrm>
            <a:off x="612648" y="3300984"/>
            <a:ext cx="10972800" cy="896112"/>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0" name="Rectangle 9"/>
          <p:cNvSpPr/>
          <p:nvPr/>
        </p:nvSpPr>
        <p:spPr>
          <a:xfrm>
            <a:off x="612648" y="3300984"/>
            <a:ext cx="1417320" cy="896112"/>
          </a:xfrm>
          <a:prstGeom prst="rect">
            <a:avLst/>
          </a:prstGeom>
          <a:solidFill>
            <a:srgbClr val="0078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Bahnschrift"/>
              </a:rPr>
              <a:t>Sub-agents</a:t>
            </a:r>
          </a:p>
        </p:txBody>
      </p:sp>
      <p:sp>
        <p:nvSpPr>
          <p:cNvPr id="11" name="Rectangle 10"/>
          <p:cNvSpPr/>
          <p:nvPr/>
        </p:nvSpPr>
        <p:spPr>
          <a:xfrm>
            <a:off x="612648" y="4288536"/>
            <a:ext cx="10972800" cy="896112"/>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2" name="Rectangle 11"/>
          <p:cNvSpPr/>
          <p:nvPr/>
        </p:nvSpPr>
        <p:spPr>
          <a:xfrm>
            <a:off x="612648" y="4288536"/>
            <a:ext cx="1417320" cy="896112"/>
          </a:xfrm>
          <a:prstGeom prst="rect">
            <a:avLst/>
          </a:prstGeom>
          <a:solidFill>
            <a:srgbClr val="2845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Bahnschrift"/>
              </a:rPr>
              <a:t>Reviewer</a:t>
            </a:r>
          </a:p>
        </p:txBody>
      </p:sp>
      <p:sp>
        <p:nvSpPr>
          <p:cNvPr id="13" name="Rounded Rectangle 12"/>
          <p:cNvSpPr/>
          <p:nvPr/>
        </p:nvSpPr>
        <p:spPr>
          <a:xfrm>
            <a:off x="2194560" y="1499616"/>
            <a:ext cx="1143000" cy="548640"/>
          </a:xfrm>
          <a:prstGeom prst="roundRect">
            <a:avLst>
              <a:gd name="adj" fmla="val 12000"/>
            </a:avLst>
          </a:prstGeom>
          <a:solidFill>
            <a:srgbClr val="FFFFFF"/>
          </a:solidFill>
          <a:ln w="15875">
            <a:solidFill>
              <a:srgbClr val="F477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55"/>
                </a:solidFill>
                <a:latin typeface="Arial"/>
              </a:rPr>
              <a:t>[Set the goal]</a:t>
            </a:r>
          </a:p>
        </p:txBody>
      </p:sp>
      <p:sp>
        <p:nvSpPr>
          <p:cNvPr id="14" name="Rounded Rectangle 13"/>
          <p:cNvSpPr/>
          <p:nvPr/>
        </p:nvSpPr>
        <p:spPr>
          <a:xfrm>
            <a:off x="3611880" y="2487168"/>
            <a:ext cx="1188720" cy="548640"/>
          </a:xfrm>
          <a:prstGeom prst="roundRect">
            <a:avLst>
              <a:gd name="adj" fmla="val 12000"/>
            </a:avLst>
          </a:prstGeom>
          <a:solidFill>
            <a:srgbClr val="002B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Arial"/>
              </a:rPr>
              <a:t>[Plan + split]</a:t>
            </a:r>
          </a:p>
        </p:txBody>
      </p:sp>
      <p:cxnSp>
        <p:nvCxnSpPr>
          <p:cNvPr id="15" name="Connector 14"/>
          <p:cNvCxnSpPr/>
          <p:nvPr/>
        </p:nvCxnSpPr>
        <p:spPr>
          <a:xfrm>
            <a:off x="3337560" y="1773936"/>
            <a:ext cx="274320" cy="987552"/>
          </a:xfrm>
          <a:prstGeom prst="bentConnector3">
            <a:avLst/>
          </a:prstGeom>
          <a:ln w="15875">
            <a:solidFill>
              <a:srgbClr val="8A9B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120640" y="3474720"/>
            <a:ext cx="822960" cy="548640"/>
          </a:xfrm>
          <a:prstGeom prst="roundRect">
            <a:avLst>
              <a:gd name="adj" fmla="val 10000"/>
            </a:avLst>
          </a:prstGeom>
          <a:solidFill>
            <a:srgbClr val="0078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Arial"/>
              </a:rPr>
              <a:t>[Agent A]</a:t>
            </a:r>
          </a:p>
        </p:txBody>
      </p:sp>
      <p:sp>
        <p:nvSpPr>
          <p:cNvPr id="17" name="Rounded Rectangle 16"/>
          <p:cNvSpPr/>
          <p:nvPr/>
        </p:nvSpPr>
        <p:spPr>
          <a:xfrm>
            <a:off x="6035040" y="3474720"/>
            <a:ext cx="822960" cy="548640"/>
          </a:xfrm>
          <a:prstGeom prst="roundRect">
            <a:avLst>
              <a:gd name="adj" fmla="val 10000"/>
            </a:avLst>
          </a:prstGeom>
          <a:solidFill>
            <a:srgbClr val="0078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Arial"/>
              </a:rPr>
              <a:t>[Agent B]</a:t>
            </a:r>
          </a:p>
        </p:txBody>
      </p:sp>
      <p:sp>
        <p:nvSpPr>
          <p:cNvPr id="18" name="Rounded Rectangle 17"/>
          <p:cNvSpPr/>
          <p:nvPr/>
        </p:nvSpPr>
        <p:spPr>
          <a:xfrm>
            <a:off x="6949440" y="3474720"/>
            <a:ext cx="822960" cy="548640"/>
          </a:xfrm>
          <a:prstGeom prst="roundRect">
            <a:avLst>
              <a:gd name="adj" fmla="val 10000"/>
            </a:avLst>
          </a:prstGeom>
          <a:solidFill>
            <a:srgbClr val="0078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Arial"/>
              </a:rPr>
              <a:t>[Agent C]</a:t>
            </a:r>
          </a:p>
        </p:txBody>
      </p:sp>
      <p:cxnSp>
        <p:nvCxnSpPr>
          <p:cNvPr id="19" name="Connector 18"/>
          <p:cNvCxnSpPr/>
          <p:nvPr/>
        </p:nvCxnSpPr>
        <p:spPr>
          <a:xfrm>
            <a:off x="4800600" y="2761488"/>
            <a:ext cx="320040" cy="987552"/>
          </a:xfrm>
          <a:prstGeom prst="bentConnector3">
            <a:avLst/>
          </a:prstGeom>
          <a:ln w="15875">
            <a:solidFill>
              <a:srgbClr val="8A9B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Diamond 19"/>
          <p:cNvSpPr/>
          <p:nvPr/>
        </p:nvSpPr>
        <p:spPr>
          <a:xfrm>
            <a:off x="8001000" y="1444752"/>
            <a:ext cx="658368" cy="658368"/>
          </a:xfrm>
          <a:prstGeom prst="diamond">
            <a:avLst/>
          </a:prstGeom>
          <a:solidFill>
            <a:srgbClr val="F477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r>
              <a:rPr sz="1200" b="1" i="0">
                <a:solidFill>
                  <a:srgbClr val="FFFFFF"/>
                </a:solidFill>
                <a:latin typeface="Bahnschrift"/>
              </a:rPr>
              <a:t>G1</a:t>
            </a:r>
          </a:p>
        </p:txBody>
      </p:sp>
      <p:sp>
        <p:nvSpPr>
          <p:cNvPr id="21" name="TextBox 20"/>
          <p:cNvSpPr txBox="1"/>
          <p:nvPr/>
        </p:nvSpPr>
        <p:spPr>
          <a:xfrm>
            <a:off x="8686800" y="1444752"/>
            <a:ext cx="1463040" cy="658368"/>
          </a:xfrm>
          <a:prstGeom prst="rect">
            <a:avLst/>
          </a:prstGeom>
          <a:noFill/>
        </p:spPr>
        <p:txBody>
          <a:bodyPr wrap="square" lIns="36576" rIns="36576" tIns="18288" bIns="18288" anchor="ctr">
            <a:spAutoFit/>
          </a:bodyPr>
          <a:lstStyle/>
          <a:p>
            <a:pPr algn="l"/>
            <a:r>
              <a:rPr sz="1100" b="1" i="0">
                <a:solidFill>
                  <a:srgbClr val="B4501F"/>
                </a:solidFill>
                <a:latin typeface="Arial"/>
              </a:rPr>
              <a:t>[Gate 1 decision]</a:t>
            </a:r>
          </a:p>
        </p:txBody>
      </p:sp>
      <p:cxnSp>
        <p:nvCxnSpPr>
          <p:cNvPr id="22" name="Connector 21"/>
          <p:cNvCxnSpPr/>
          <p:nvPr/>
        </p:nvCxnSpPr>
        <p:spPr>
          <a:xfrm flipV="1">
            <a:off x="7772400" y="1773936"/>
            <a:ext cx="228600" cy="1975104"/>
          </a:xfrm>
          <a:prstGeom prst="bentConnector3">
            <a:avLst/>
          </a:prstGeom>
          <a:ln w="15875">
            <a:solidFill>
              <a:srgbClr val="F4773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8229600" y="2487168"/>
            <a:ext cx="1234440" cy="548640"/>
          </a:xfrm>
          <a:prstGeom prst="roundRect">
            <a:avLst>
              <a:gd name="adj" fmla="val 12000"/>
            </a:avLst>
          </a:prstGeom>
          <a:solidFill>
            <a:srgbClr val="002B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Arial"/>
              </a:rPr>
              <a:t>[Assemble draft]</a:t>
            </a:r>
          </a:p>
        </p:txBody>
      </p:sp>
      <p:cxnSp>
        <p:nvCxnSpPr>
          <p:cNvPr id="24" name="Connector 23"/>
          <p:cNvCxnSpPr/>
          <p:nvPr/>
        </p:nvCxnSpPr>
        <p:spPr>
          <a:xfrm>
            <a:off x="8330183" y="2103120"/>
            <a:ext cx="0" cy="384048"/>
          </a:xfrm>
          <a:prstGeom prst="line">
            <a:avLst/>
          </a:prstGeom>
          <a:ln w="15875">
            <a:solidFill>
              <a:srgbClr val="8A9B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Diamond 24"/>
          <p:cNvSpPr/>
          <p:nvPr/>
        </p:nvSpPr>
        <p:spPr>
          <a:xfrm>
            <a:off x="9829800" y="4407408"/>
            <a:ext cx="658368" cy="658368"/>
          </a:xfrm>
          <a:prstGeom prst="diamond">
            <a:avLst/>
          </a:prstGeom>
          <a:solidFill>
            <a:srgbClr val="F477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r>
              <a:rPr sz="1200" b="1" i="0">
                <a:solidFill>
                  <a:srgbClr val="FFFFFF"/>
                </a:solidFill>
                <a:latin typeface="Bahnschrift"/>
              </a:rPr>
              <a:t>G2</a:t>
            </a:r>
          </a:p>
        </p:txBody>
      </p:sp>
      <p:sp>
        <p:nvSpPr>
          <p:cNvPr id="26" name="TextBox 25"/>
          <p:cNvSpPr txBox="1"/>
          <p:nvPr/>
        </p:nvSpPr>
        <p:spPr>
          <a:xfrm>
            <a:off x="7955279" y="4407408"/>
            <a:ext cx="1600200" cy="658368"/>
          </a:xfrm>
          <a:prstGeom prst="rect">
            <a:avLst/>
          </a:prstGeom>
          <a:noFill/>
        </p:spPr>
        <p:txBody>
          <a:bodyPr wrap="square" lIns="36576" rIns="36576" tIns="18288" bIns="18288" anchor="ctr">
            <a:spAutoFit/>
          </a:bodyPr>
          <a:lstStyle/>
          <a:p>
            <a:pPr algn="r"/>
            <a:r>
              <a:rPr sz="1100" b="1" i="0">
                <a:solidFill>
                  <a:srgbClr val="B4501F"/>
                </a:solidFill>
                <a:latin typeface="Arial"/>
              </a:rPr>
              <a:t>[Gate 2 sign-off]</a:t>
            </a:r>
          </a:p>
        </p:txBody>
      </p:sp>
      <p:cxnSp>
        <p:nvCxnSpPr>
          <p:cNvPr id="27" name="Connector 26"/>
          <p:cNvCxnSpPr/>
          <p:nvPr/>
        </p:nvCxnSpPr>
        <p:spPr>
          <a:xfrm>
            <a:off x="9464040" y="2761488"/>
            <a:ext cx="365760" cy="1975104"/>
          </a:xfrm>
          <a:prstGeom prst="bentConnector3">
            <a:avLst/>
          </a:prstGeom>
          <a:ln w="15875">
            <a:solidFill>
              <a:srgbClr val="F4773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10378440" y="1499616"/>
            <a:ext cx="1143000" cy="548640"/>
          </a:xfrm>
          <a:prstGeom prst="roundRect">
            <a:avLst>
              <a:gd name="adj" fmla="val 12000"/>
            </a:avLst>
          </a:prstGeom>
          <a:solidFill>
            <a:srgbClr val="F477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Arial"/>
              </a:rPr>
              <a:t>[Output]</a:t>
            </a:r>
          </a:p>
        </p:txBody>
      </p:sp>
      <p:cxnSp>
        <p:nvCxnSpPr>
          <p:cNvPr id="29" name="Connector 28"/>
          <p:cNvCxnSpPr/>
          <p:nvPr/>
        </p:nvCxnSpPr>
        <p:spPr>
          <a:xfrm flipV="1">
            <a:off x="10158984" y="2048255"/>
            <a:ext cx="448056" cy="2359153"/>
          </a:xfrm>
          <a:prstGeom prst="bentConnector3">
            <a:avLst/>
          </a:prstGeom>
          <a:ln w="15875">
            <a:solidFill>
              <a:srgbClr val="8A9B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612648" y="5349240"/>
            <a:ext cx="5349240" cy="777240"/>
          </a:xfrm>
          <a:prstGeom prst="roundRect">
            <a:avLst>
              <a:gd name="adj" fmla="val 10000"/>
            </a:avLst>
          </a:prstGeom>
          <a:solidFill>
            <a:srgbClr val="FFFFFF"/>
          </a:solidFill>
          <a:ln w="15875">
            <a:solidFill>
              <a:srgbClr val="D5DE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700" b="1" i="0">
                <a:solidFill>
                  <a:srgbClr val="8A9BAA"/>
                </a:solidFill>
                <a:latin typeface="Bahnschrift"/>
              </a:rPr>
              <a:t>BEFORE  </a:t>
            </a:r>
            <a:r>
              <a:rPr sz="1700" b="1" i="0">
                <a:solidFill>
                  <a:srgbClr val="002B55"/>
                </a:solidFill>
                <a:latin typeface="Arial"/>
              </a:rPr>
              <a:t>[X] h · [N] hand-offs · [N] days</a:t>
            </a:r>
          </a:p>
        </p:txBody>
      </p:sp>
      <p:cxnSp>
        <p:nvCxnSpPr>
          <p:cNvPr id="31" name="Connector 30"/>
          <p:cNvCxnSpPr/>
          <p:nvPr/>
        </p:nvCxnSpPr>
        <p:spPr>
          <a:xfrm>
            <a:off x="6035040" y="5733288"/>
            <a:ext cx="137160" cy="0"/>
          </a:xfrm>
          <a:prstGeom prst="line">
            <a:avLst/>
          </a:prstGeom>
          <a:ln w="31750">
            <a:solidFill>
              <a:srgbClr val="F4773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6236208" y="5349240"/>
            <a:ext cx="5349240" cy="777240"/>
          </a:xfrm>
          <a:prstGeom prst="roundRect">
            <a:avLst>
              <a:gd name="adj" fmla="val 10000"/>
            </a:avLst>
          </a:prstGeom>
          <a:solidFill>
            <a:srgbClr val="E3F1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700" b="1" i="0">
                <a:solidFill>
                  <a:srgbClr val="007879"/>
                </a:solidFill>
                <a:latin typeface="Bahnschrift"/>
              </a:rPr>
              <a:t>AFTER  </a:t>
            </a:r>
            <a:r>
              <a:rPr sz="1700" b="1" i="0">
                <a:solidFill>
                  <a:srgbClr val="002B55"/>
                </a:solidFill>
                <a:latin typeface="Arial"/>
              </a:rPr>
              <a:t>[Y] h · [N] hand-offs · [N] hours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EFB"/>
        </a:solidFill>
        <a:effectLst/>
      </p:bgPr>
    </p:bg>
    <p:spTree>
      <p:nvGrpSpPr>
        <p:cNvPr id="1" name=""/>
        <p:cNvGrpSpPr/>
        <p:nvPr/>
      </p:nvGrpSpPr>
      <p:grpSpPr/>
      <p:sp>
        <p:nvSpPr>
          <p:cNvPr id="2" name="TextBox 1"/>
          <p:cNvSpPr txBox="1"/>
          <p:nvPr/>
        </p:nvSpPr>
        <p:spPr>
          <a:xfrm>
            <a:off x="612648" y="365760"/>
            <a:ext cx="10972800" cy="777240"/>
          </a:xfrm>
          <a:prstGeom prst="rect">
            <a:avLst/>
          </a:prstGeom>
          <a:noFill/>
        </p:spPr>
        <p:txBody>
          <a:bodyPr wrap="square" lIns="36576" rIns="36576" tIns="18288" bIns="18288" anchor="ctr">
            <a:spAutoFit/>
          </a:bodyPr>
          <a:lstStyle/>
          <a:p>
            <a:pPr algn="l"/>
            <a:r>
              <a:rPr sz="3000" b="1" i="0">
                <a:solidFill>
                  <a:srgbClr val="002B55"/>
                </a:solidFill>
                <a:latin typeface="Bahnschrift"/>
              </a:rPr>
              <a:t>Humans decide at two gates, by design</a:t>
            </a:r>
          </a:p>
        </p:txBody>
      </p:sp>
      <p:sp>
        <p:nvSpPr>
          <p:cNvPr id="3" name="TextBox 2"/>
          <p:cNvSpPr txBox="1"/>
          <p:nvPr/>
        </p:nvSpPr>
        <p:spPr>
          <a:xfrm>
            <a:off x="612648" y="6437376"/>
            <a:ext cx="5715000" cy="219456"/>
          </a:xfrm>
          <a:prstGeom prst="rect">
            <a:avLst/>
          </a:prstGeom>
          <a:noFill/>
        </p:spPr>
        <p:txBody>
          <a:bodyPr wrap="square" lIns="36576" rIns="36576" tIns="18288" bIns="18288" anchor="t">
            <a:spAutoFit/>
          </a:bodyPr>
          <a:lstStyle/>
          <a:p>
            <a:pPr algn="l"/>
            <a:r>
              <a:rPr sz="1050" b="0" i="0">
                <a:solidFill>
                  <a:srgbClr val="28455F"/>
                </a:solidFill>
                <a:latin typeface="Arial"/>
              </a:rPr>
              <a:t>AI IN ACTION / MEDICAL AFFAIRS</a:t>
            </a:r>
          </a:p>
        </p:txBody>
      </p:sp>
      <p:sp>
        <p:nvSpPr>
          <p:cNvPr id="4" name="TextBox 3"/>
          <p:cNvSpPr txBox="1"/>
          <p:nvPr/>
        </p:nvSpPr>
        <p:spPr>
          <a:xfrm>
            <a:off x="11064240" y="6400800"/>
            <a:ext cx="548640" cy="256032"/>
          </a:xfrm>
          <a:prstGeom prst="rect">
            <a:avLst/>
          </a:prstGeom>
          <a:noFill/>
        </p:spPr>
        <p:txBody>
          <a:bodyPr wrap="square" lIns="36576" rIns="36576" tIns="18288" bIns="18288" anchor="t">
            <a:spAutoFit/>
          </a:bodyPr>
          <a:lstStyle/>
          <a:p>
            <a:pPr algn="r"/>
            <a:r>
              <a:rPr sz="1275" b="1" i="0">
                <a:solidFill>
                  <a:srgbClr val="28455F"/>
                </a:solidFill>
                <a:latin typeface="Bahnschrift"/>
              </a:rPr>
              <a:t>05</a:t>
            </a:r>
          </a:p>
        </p:txBody>
      </p:sp>
      <p:pic>
        <p:nvPicPr>
          <p:cNvPr id="5" name="Picture 4" descr="human-judge.jpg"/>
          <p:cNvPicPr>
            <a:picLocks noChangeAspect="1"/>
          </p:cNvPicPr>
          <p:nvPr/>
        </p:nvPicPr>
        <p:blipFill>
          <a:blip r:embed="rId3"/>
          <a:stretch>
            <a:fillRect/>
          </a:stretch>
        </p:blipFill>
        <p:spPr>
          <a:xfrm>
            <a:off x="7635240" y="1325880"/>
            <a:ext cx="3950208" cy="2221992"/>
          </a:xfrm>
          <a:prstGeom prst="rect">
            <a:avLst/>
          </a:prstGeom>
        </p:spPr>
      </p:pic>
      <p:sp>
        <p:nvSpPr>
          <p:cNvPr id="6" name="Rounded Rectangle 5"/>
          <p:cNvSpPr/>
          <p:nvPr/>
        </p:nvSpPr>
        <p:spPr>
          <a:xfrm>
            <a:off x="612648" y="1325880"/>
            <a:ext cx="3383280" cy="3977639"/>
          </a:xfrm>
          <a:prstGeom prst="roundRect">
            <a:avLst>
              <a:gd name="adj" fmla="val 5000"/>
            </a:avLst>
          </a:prstGeom>
          <a:solidFill>
            <a:srgbClr val="FFFFFF"/>
          </a:solidFill>
          <a:ln w="15875">
            <a:solidFill>
              <a:srgbClr val="D5DE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7" name="Diamond 6"/>
          <p:cNvSpPr/>
          <p:nvPr/>
        </p:nvSpPr>
        <p:spPr>
          <a:xfrm>
            <a:off x="795528" y="1481328"/>
            <a:ext cx="685800" cy="685800"/>
          </a:xfrm>
          <a:prstGeom prst="diamond">
            <a:avLst/>
          </a:prstGeom>
          <a:solidFill>
            <a:srgbClr val="F477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r>
              <a:rPr sz="1400" b="1" i="0">
                <a:solidFill>
                  <a:srgbClr val="FFFFFF"/>
                </a:solidFill>
                <a:latin typeface="Bahnschrift"/>
              </a:rPr>
              <a:t>G1</a:t>
            </a:r>
          </a:p>
        </p:txBody>
      </p:sp>
      <p:sp>
        <p:nvSpPr>
          <p:cNvPr id="8" name="TextBox 7"/>
          <p:cNvSpPr txBox="1"/>
          <p:nvPr/>
        </p:nvSpPr>
        <p:spPr>
          <a:xfrm>
            <a:off x="1572768" y="1481328"/>
            <a:ext cx="2331720" cy="685800"/>
          </a:xfrm>
          <a:prstGeom prst="rect">
            <a:avLst/>
          </a:prstGeom>
          <a:noFill/>
        </p:spPr>
        <p:txBody>
          <a:bodyPr wrap="square" lIns="36576" rIns="36576" tIns="18288" bIns="18288" anchor="ctr">
            <a:spAutoFit/>
          </a:bodyPr>
          <a:lstStyle/>
          <a:p>
            <a:pPr algn="l"/>
            <a:r>
              <a:rPr sz="1700" b="1" i="0">
                <a:solidFill>
                  <a:srgbClr val="002B55"/>
                </a:solidFill>
                <a:latin typeface="Bahnschrift"/>
              </a:rPr>
              <a:t>[Gate 1 name]</a:t>
            </a:r>
          </a:p>
        </p:txBody>
      </p:sp>
      <p:sp>
        <p:nvSpPr>
          <p:cNvPr id="9" name="TextBox 8"/>
          <p:cNvSpPr txBox="1"/>
          <p:nvPr/>
        </p:nvSpPr>
        <p:spPr>
          <a:xfrm>
            <a:off x="841248" y="2377440"/>
            <a:ext cx="3017520" cy="548640"/>
          </a:xfrm>
          <a:prstGeom prst="rect">
            <a:avLst/>
          </a:prstGeom>
          <a:noFill/>
        </p:spPr>
        <p:txBody>
          <a:bodyPr wrap="square" lIns="36576" rIns="36576" tIns="18288" bIns="18288" anchor="t">
            <a:spAutoFit/>
          </a:bodyPr>
          <a:lstStyle/>
          <a:p>
            <a:pPr algn="l"/>
            <a:r>
              <a:rPr sz="1400" b="1" i="0">
                <a:solidFill>
                  <a:srgbClr val="007879"/>
                </a:solidFill>
                <a:latin typeface="Arial"/>
              </a:rPr>
              <a:t>Where  </a:t>
            </a:r>
            <a:r>
              <a:rPr sz="1400" b="0" i="0">
                <a:solidFill>
                  <a:srgbClr val="002B55"/>
                </a:solidFill>
                <a:latin typeface="Arial"/>
              </a:rPr>
              <a:t>[after which step]</a:t>
            </a:r>
          </a:p>
        </p:txBody>
      </p:sp>
      <p:sp>
        <p:nvSpPr>
          <p:cNvPr id="10" name="TextBox 9"/>
          <p:cNvSpPr txBox="1"/>
          <p:nvPr/>
        </p:nvSpPr>
        <p:spPr>
          <a:xfrm>
            <a:off x="841248" y="2953512"/>
            <a:ext cx="3017520" cy="548640"/>
          </a:xfrm>
          <a:prstGeom prst="rect">
            <a:avLst/>
          </a:prstGeom>
          <a:noFill/>
        </p:spPr>
        <p:txBody>
          <a:bodyPr wrap="square" lIns="36576" rIns="36576" tIns="18288" bIns="18288" anchor="t">
            <a:spAutoFit/>
          </a:bodyPr>
          <a:lstStyle/>
          <a:p>
            <a:pPr algn="l"/>
            <a:r>
              <a:rPr sz="1400" b="1" i="0">
                <a:solidFill>
                  <a:srgbClr val="007879"/>
                </a:solidFill>
                <a:latin typeface="Arial"/>
              </a:rPr>
              <a:t>Who decides  </a:t>
            </a:r>
            <a:r>
              <a:rPr sz="1400" b="0" i="0">
                <a:solidFill>
                  <a:srgbClr val="002B55"/>
                </a:solidFill>
                <a:latin typeface="Arial"/>
              </a:rPr>
              <a:t>[role]</a:t>
            </a:r>
          </a:p>
        </p:txBody>
      </p:sp>
      <p:sp>
        <p:nvSpPr>
          <p:cNvPr id="11" name="TextBox 10"/>
          <p:cNvSpPr txBox="1"/>
          <p:nvPr/>
        </p:nvSpPr>
        <p:spPr>
          <a:xfrm>
            <a:off x="841248" y="3529584"/>
            <a:ext cx="3017520" cy="548640"/>
          </a:xfrm>
          <a:prstGeom prst="rect">
            <a:avLst/>
          </a:prstGeom>
          <a:noFill/>
        </p:spPr>
        <p:txBody>
          <a:bodyPr wrap="square" lIns="36576" rIns="36576" tIns="18288" bIns="18288" anchor="t">
            <a:spAutoFit/>
          </a:bodyPr>
          <a:lstStyle/>
          <a:p>
            <a:pPr algn="l"/>
            <a:r>
              <a:rPr sz="1400" b="1" i="0">
                <a:solidFill>
                  <a:srgbClr val="007879"/>
                </a:solidFill>
                <a:latin typeface="Arial"/>
              </a:rPr>
              <a:t>Sees  </a:t>
            </a:r>
            <a:r>
              <a:rPr sz="1400" b="0" i="0">
                <a:solidFill>
                  <a:srgbClr val="002B55"/>
                </a:solidFill>
                <a:latin typeface="Arial"/>
              </a:rPr>
              <a:t>[evidence pack]</a:t>
            </a:r>
          </a:p>
        </p:txBody>
      </p:sp>
      <p:sp>
        <p:nvSpPr>
          <p:cNvPr id="12" name="TextBox 11"/>
          <p:cNvSpPr txBox="1"/>
          <p:nvPr/>
        </p:nvSpPr>
        <p:spPr>
          <a:xfrm>
            <a:off x="841248" y="4105656"/>
            <a:ext cx="3017520" cy="548640"/>
          </a:xfrm>
          <a:prstGeom prst="rect">
            <a:avLst/>
          </a:prstGeom>
          <a:noFill/>
        </p:spPr>
        <p:txBody>
          <a:bodyPr wrap="square" lIns="36576" rIns="36576" tIns="18288" bIns="18288" anchor="t">
            <a:spAutoFit/>
          </a:bodyPr>
          <a:lstStyle/>
          <a:p>
            <a:pPr algn="l"/>
            <a:r>
              <a:rPr sz="1400" b="1" i="0">
                <a:solidFill>
                  <a:srgbClr val="007879"/>
                </a:solidFill>
                <a:latin typeface="Arial"/>
              </a:rPr>
              <a:t>Why a human  </a:t>
            </a:r>
            <a:r>
              <a:rPr sz="1400" b="0" i="0">
                <a:solidFill>
                  <a:srgbClr val="002B55"/>
                </a:solidFill>
                <a:latin typeface="Arial"/>
              </a:rPr>
              <a:t>[reason]</a:t>
            </a:r>
          </a:p>
        </p:txBody>
      </p:sp>
      <p:sp>
        <p:nvSpPr>
          <p:cNvPr id="13" name="TextBox 12"/>
          <p:cNvSpPr txBox="1"/>
          <p:nvPr/>
        </p:nvSpPr>
        <p:spPr>
          <a:xfrm>
            <a:off x="841248" y="4681728"/>
            <a:ext cx="3017520" cy="548640"/>
          </a:xfrm>
          <a:prstGeom prst="rect">
            <a:avLst/>
          </a:prstGeom>
          <a:noFill/>
        </p:spPr>
        <p:txBody>
          <a:bodyPr wrap="square" lIns="36576" rIns="36576" tIns="18288" bIns="18288" anchor="t">
            <a:spAutoFit/>
          </a:bodyPr>
          <a:lstStyle/>
          <a:p>
            <a:pPr algn="l"/>
            <a:r>
              <a:rPr sz="1400" b="1" i="0">
                <a:solidFill>
                  <a:srgbClr val="007879"/>
                </a:solidFill>
                <a:latin typeface="Arial"/>
              </a:rPr>
              <a:t>If rejected  </a:t>
            </a:r>
            <a:r>
              <a:rPr sz="1400" b="0" i="0">
                <a:solidFill>
                  <a:srgbClr val="002B55"/>
                </a:solidFill>
                <a:latin typeface="Arial"/>
              </a:rPr>
              <a:t>[what happens]</a:t>
            </a:r>
          </a:p>
        </p:txBody>
      </p:sp>
      <p:sp>
        <p:nvSpPr>
          <p:cNvPr id="14" name="Rounded Rectangle 13"/>
          <p:cNvSpPr/>
          <p:nvPr/>
        </p:nvSpPr>
        <p:spPr>
          <a:xfrm>
            <a:off x="4178808" y="1325880"/>
            <a:ext cx="3383280" cy="3977639"/>
          </a:xfrm>
          <a:prstGeom prst="roundRect">
            <a:avLst>
              <a:gd name="adj" fmla="val 5000"/>
            </a:avLst>
          </a:prstGeom>
          <a:solidFill>
            <a:srgbClr val="FFFFFF"/>
          </a:solidFill>
          <a:ln w="15875">
            <a:solidFill>
              <a:srgbClr val="D5DE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5" name="Diamond 14"/>
          <p:cNvSpPr/>
          <p:nvPr/>
        </p:nvSpPr>
        <p:spPr>
          <a:xfrm>
            <a:off x="4361688" y="1481328"/>
            <a:ext cx="685800" cy="685800"/>
          </a:xfrm>
          <a:prstGeom prst="diamond">
            <a:avLst/>
          </a:prstGeom>
          <a:solidFill>
            <a:srgbClr val="F477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r>
              <a:rPr sz="1400" b="1" i="0">
                <a:solidFill>
                  <a:srgbClr val="FFFFFF"/>
                </a:solidFill>
                <a:latin typeface="Bahnschrift"/>
              </a:rPr>
              <a:t>G2</a:t>
            </a:r>
          </a:p>
        </p:txBody>
      </p:sp>
      <p:sp>
        <p:nvSpPr>
          <p:cNvPr id="16" name="TextBox 15"/>
          <p:cNvSpPr txBox="1"/>
          <p:nvPr/>
        </p:nvSpPr>
        <p:spPr>
          <a:xfrm>
            <a:off x="5138928" y="1481328"/>
            <a:ext cx="2331720" cy="685800"/>
          </a:xfrm>
          <a:prstGeom prst="rect">
            <a:avLst/>
          </a:prstGeom>
          <a:noFill/>
        </p:spPr>
        <p:txBody>
          <a:bodyPr wrap="square" lIns="36576" rIns="36576" tIns="18288" bIns="18288" anchor="ctr">
            <a:spAutoFit/>
          </a:bodyPr>
          <a:lstStyle/>
          <a:p>
            <a:pPr algn="l"/>
            <a:r>
              <a:rPr sz="1700" b="1" i="0">
                <a:solidFill>
                  <a:srgbClr val="002B55"/>
                </a:solidFill>
                <a:latin typeface="Bahnschrift"/>
              </a:rPr>
              <a:t>[Gate 2 name]</a:t>
            </a:r>
          </a:p>
        </p:txBody>
      </p:sp>
      <p:sp>
        <p:nvSpPr>
          <p:cNvPr id="17" name="TextBox 16"/>
          <p:cNvSpPr txBox="1"/>
          <p:nvPr/>
        </p:nvSpPr>
        <p:spPr>
          <a:xfrm>
            <a:off x="4407408" y="2377440"/>
            <a:ext cx="3017520" cy="548640"/>
          </a:xfrm>
          <a:prstGeom prst="rect">
            <a:avLst/>
          </a:prstGeom>
          <a:noFill/>
        </p:spPr>
        <p:txBody>
          <a:bodyPr wrap="square" lIns="36576" rIns="36576" tIns="18288" bIns="18288" anchor="t">
            <a:spAutoFit/>
          </a:bodyPr>
          <a:lstStyle/>
          <a:p>
            <a:pPr algn="l"/>
            <a:r>
              <a:rPr sz="1400" b="1" i="0">
                <a:solidFill>
                  <a:srgbClr val="007879"/>
                </a:solidFill>
                <a:latin typeface="Arial"/>
              </a:rPr>
              <a:t>Where  </a:t>
            </a:r>
            <a:r>
              <a:rPr sz="1400" b="0" i="0">
                <a:solidFill>
                  <a:srgbClr val="002B55"/>
                </a:solidFill>
                <a:latin typeface="Arial"/>
              </a:rPr>
              <a:t>[after which step]</a:t>
            </a:r>
          </a:p>
        </p:txBody>
      </p:sp>
      <p:sp>
        <p:nvSpPr>
          <p:cNvPr id="18" name="TextBox 17"/>
          <p:cNvSpPr txBox="1"/>
          <p:nvPr/>
        </p:nvSpPr>
        <p:spPr>
          <a:xfrm>
            <a:off x="4407408" y="2953512"/>
            <a:ext cx="3017520" cy="548640"/>
          </a:xfrm>
          <a:prstGeom prst="rect">
            <a:avLst/>
          </a:prstGeom>
          <a:noFill/>
        </p:spPr>
        <p:txBody>
          <a:bodyPr wrap="square" lIns="36576" rIns="36576" tIns="18288" bIns="18288" anchor="t">
            <a:spAutoFit/>
          </a:bodyPr>
          <a:lstStyle/>
          <a:p>
            <a:pPr algn="l"/>
            <a:r>
              <a:rPr sz="1400" b="1" i="0">
                <a:solidFill>
                  <a:srgbClr val="007879"/>
                </a:solidFill>
                <a:latin typeface="Arial"/>
              </a:rPr>
              <a:t>Who decides  </a:t>
            </a:r>
            <a:r>
              <a:rPr sz="1400" b="0" i="0">
                <a:solidFill>
                  <a:srgbClr val="002B55"/>
                </a:solidFill>
                <a:latin typeface="Arial"/>
              </a:rPr>
              <a:t>[role]</a:t>
            </a:r>
          </a:p>
        </p:txBody>
      </p:sp>
      <p:sp>
        <p:nvSpPr>
          <p:cNvPr id="19" name="TextBox 18"/>
          <p:cNvSpPr txBox="1"/>
          <p:nvPr/>
        </p:nvSpPr>
        <p:spPr>
          <a:xfrm>
            <a:off x="4407408" y="3529584"/>
            <a:ext cx="3017520" cy="548640"/>
          </a:xfrm>
          <a:prstGeom prst="rect">
            <a:avLst/>
          </a:prstGeom>
          <a:noFill/>
        </p:spPr>
        <p:txBody>
          <a:bodyPr wrap="square" lIns="36576" rIns="36576" tIns="18288" bIns="18288" anchor="t">
            <a:spAutoFit/>
          </a:bodyPr>
          <a:lstStyle/>
          <a:p>
            <a:pPr algn="l"/>
            <a:r>
              <a:rPr sz="1400" b="1" i="0">
                <a:solidFill>
                  <a:srgbClr val="007879"/>
                </a:solidFill>
                <a:latin typeface="Arial"/>
              </a:rPr>
              <a:t>Sees  </a:t>
            </a:r>
            <a:r>
              <a:rPr sz="1400" b="0" i="0">
                <a:solidFill>
                  <a:srgbClr val="002B55"/>
                </a:solidFill>
                <a:latin typeface="Arial"/>
              </a:rPr>
              <a:t>[evidence pack]</a:t>
            </a:r>
          </a:p>
        </p:txBody>
      </p:sp>
      <p:sp>
        <p:nvSpPr>
          <p:cNvPr id="20" name="TextBox 19"/>
          <p:cNvSpPr txBox="1"/>
          <p:nvPr/>
        </p:nvSpPr>
        <p:spPr>
          <a:xfrm>
            <a:off x="4407408" y="4105656"/>
            <a:ext cx="3017520" cy="548640"/>
          </a:xfrm>
          <a:prstGeom prst="rect">
            <a:avLst/>
          </a:prstGeom>
          <a:noFill/>
        </p:spPr>
        <p:txBody>
          <a:bodyPr wrap="square" lIns="36576" rIns="36576" tIns="18288" bIns="18288" anchor="t">
            <a:spAutoFit/>
          </a:bodyPr>
          <a:lstStyle/>
          <a:p>
            <a:pPr algn="l"/>
            <a:r>
              <a:rPr sz="1400" b="1" i="0">
                <a:solidFill>
                  <a:srgbClr val="007879"/>
                </a:solidFill>
                <a:latin typeface="Arial"/>
              </a:rPr>
              <a:t>Why a human  </a:t>
            </a:r>
            <a:r>
              <a:rPr sz="1400" b="0" i="0">
                <a:solidFill>
                  <a:srgbClr val="002B55"/>
                </a:solidFill>
                <a:latin typeface="Arial"/>
              </a:rPr>
              <a:t>[reason]</a:t>
            </a:r>
          </a:p>
        </p:txBody>
      </p:sp>
      <p:sp>
        <p:nvSpPr>
          <p:cNvPr id="21" name="TextBox 20"/>
          <p:cNvSpPr txBox="1"/>
          <p:nvPr/>
        </p:nvSpPr>
        <p:spPr>
          <a:xfrm>
            <a:off x="4407408" y="4681728"/>
            <a:ext cx="3017520" cy="548640"/>
          </a:xfrm>
          <a:prstGeom prst="rect">
            <a:avLst/>
          </a:prstGeom>
          <a:noFill/>
        </p:spPr>
        <p:txBody>
          <a:bodyPr wrap="square" lIns="36576" rIns="36576" tIns="18288" bIns="18288" anchor="t">
            <a:spAutoFit/>
          </a:bodyPr>
          <a:lstStyle/>
          <a:p>
            <a:pPr algn="l"/>
            <a:r>
              <a:rPr sz="1400" b="1" i="0">
                <a:solidFill>
                  <a:srgbClr val="007879"/>
                </a:solidFill>
                <a:latin typeface="Arial"/>
              </a:rPr>
              <a:t>If rejected  </a:t>
            </a:r>
            <a:r>
              <a:rPr sz="1400" b="0" i="0">
                <a:solidFill>
                  <a:srgbClr val="002B55"/>
                </a:solidFill>
                <a:latin typeface="Arial"/>
              </a:rPr>
              <a:t>[what happens]</a:t>
            </a:r>
          </a:p>
        </p:txBody>
      </p:sp>
      <p:sp>
        <p:nvSpPr>
          <p:cNvPr id="22" name="Rounded Rectangle 21"/>
          <p:cNvSpPr/>
          <p:nvPr/>
        </p:nvSpPr>
        <p:spPr>
          <a:xfrm>
            <a:off x="7635240" y="3703320"/>
            <a:ext cx="3950208" cy="1600200"/>
          </a:xfrm>
          <a:prstGeom prst="roundRect">
            <a:avLst>
              <a:gd name="adj" fmla="val 6000"/>
            </a:avLst>
          </a:prstGeom>
          <a:solidFill>
            <a:srgbClr val="E3F1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900" b="1" i="0">
                <a:solidFill>
                  <a:srgbClr val="007879"/>
                </a:solidFill>
                <a:latin typeface="Bahnschrift"/>
              </a:rPr>
              <a:t>Agents prepare. </a:t>
            </a:r>
            <a:r>
              <a:rPr sz="1900" b="1" i="0">
                <a:solidFill>
                  <a:srgbClr val="002B55"/>
                </a:solidFill>
                <a:latin typeface="Bahnschrift"/>
              </a:rPr>
              <a:t>Humans approve, sign and send.</a:t>
            </a:r>
          </a:p>
        </p:txBody>
      </p:sp>
      <p:sp>
        <p:nvSpPr>
          <p:cNvPr id="23" name="Rounded Rectangle 22"/>
          <p:cNvSpPr/>
          <p:nvPr/>
        </p:nvSpPr>
        <p:spPr>
          <a:xfrm>
            <a:off x="612648" y="5532120"/>
            <a:ext cx="10972800" cy="640080"/>
          </a:xfrm>
          <a:prstGeom prst="roundRect">
            <a:avLst>
              <a:gd name="adj" fmla="val 10000"/>
            </a:avLst>
          </a:prstGeom>
          <a:solidFill>
            <a:srgbClr val="FDEB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500" b="1" i="0">
                <a:solidFill>
                  <a:srgbClr val="B4501F"/>
                </a:solidFill>
                <a:latin typeface="Arial"/>
              </a:rPr>
              <a:t>Always-on stop: </a:t>
            </a:r>
            <a:r>
              <a:rPr sz="1500" b="0" i="0">
                <a:solidFill>
                  <a:srgbClr val="B4501F"/>
                </a:solidFill>
                <a:latin typeface="Arial"/>
              </a:rPr>
              <a:t>any possible adverse event, product complaint or off-label signal goes to a human first.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EFB"/>
        </a:solidFill>
        <a:effectLst/>
      </p:bgPr>
    </p:bg>
    <p:spTree>
      <p:nvGrpSpPr>
        <p:cNvPr id="1" name=""/>
        <p:cNvGrpSpPr/>
        <p:nvPr/>
      </p:nvGrpSpPr>
      <p:grpSpPr/>
      <p:sp>
        <p:nvSpPr>
          <p:cNvPr id="2" name="TextBox 1"/>
          <p:cNvSpPr txBox="1"/>
          <p:nvPr/>
        </p:nvSpPr>
        <p:spPr>
          <a:xfrm>
            <a:off x="612648" y="365760"/>
            <a:ext cx="10972800" cy="777240"/>
          </a:xfrm>
          <a:prstGeom prst="rect">
            <a:avLst/>
          </a:prstGeom>
          <a:noFill/>
        </p:spPr>
        <p:txBody>
          <a:bodyPr wrap="square" lIns="36576" rIns="36576" tIns="18288" bIns="18288" anchor="ctr">
            <a:spAutoFit/>
          </a:bodyPr>
          <a:lstStyle/>
          <a:p>
            <a:pPr algn="l"/>
            <a:r>
              <a:rPr sz="3000" b="1" i="0">
                <a:solidFill>
                  <a:srgbClr val="002B55"/>
                </a:solidFill>
                <a:latin typeface="Bahnschrift"/>
              </a:rPr>
              <a:t>Our swarm: [N] digital workers, one human judge</a:t>
            </a:r>
          </a:p>
        </p:txBody>
      </p:sp>
      <p:sp>
        <p:nvSpPr>
          <p:cNvPr id="3" name="TextBox 2"/>
          <p:cNvSpPr txBox="1"/>
          <p:nvPr/>
        </p:nvSpPr>
        <p:spPr>
          <a:xfrm>
            <a:off x="612648" y="6437376"/>
            <a:ext cx="5715000" cy="219456"/>
          </a:xfrm>
          <a:prstGeom prst="rect">
            <a:avLst/>
          </a:prstGeom>
          <a:noFill/>
        </p:spPr>
        <p:txBody>
          <a:bodyPr wrap="square" lIns="36576" rIns="36576" tIns="18288" bIns="18288" anchor="t">
            <a:spAutoFit/>
          </a:bodyPr>
          <a:lstStyle/>
          <a:p>
            <a:pPr algn="l"/>
            <a:r>
              <a:rPr sz="1050" b="0" i="0">
                <a:solidFill>
                  <a:srgbClr val="28455F"/>
                </a:solidFill>
                <a:latin typeface="Arial"/>
              </a:rPr>
              <a:t>AI IN ACTION / MEDICAL AFFAIRS</a:t>
            </a:r>
          </a:p>
        </p:txBody>
      </p:sp>
      <p:sp>
        <p:nvSpPr>
          <p:cNvPr id="4" name="TextBox 3"/>
          <p:cNvSpPr txBox="1"/>
          <p:nvPr/>
        </p:nvSpPr>
        <p:spPr>
          <a:xfrm>
            <a:off x="11064240" y="6400800"/>
            <a:ext cx="548640" cy="256032"/>
          </a:xfrm>
          <a:prstGeom prst="rect">
            <a:avLst/>
          </a:prstGeom>
          <a:noFill/>
        </p:spPr>
        <p:txBody>
          <a:bodyPr wrap="square" lIns="36576" rIns="36576" tIns="18288" bIns="18288" anchor="t">
            <a:spAutoFit/>
          </a:bodyPr>
          <a:lstStyle/>
          <a:p>
            <a:pPr algn="r"/>
            <a:r>
              <a:rPr sz="1275" b="1" i="0">
                <a:solidFill>
                  <a:srgbClr val="28455F"/>
                </a:solidFill>
                <a:latin typeface="Bahnschrift"/>
              </a:rPr>
              <a:t>06</a:t>
            </a:r>
          </a:p>
        </p:txBody>
      </p:sp>
      <p:sp>
        <p:nvSpPr>
          <p:cNvPr id="5" name="Rounded Rectangle 4"/>
          <p:cNvSpPr/>
          <p:nvPr/>
        </p:nvSpPr>
        <p:spPr>
          <a:xfrm>
            <a:off x="4087368" y="1188720"/>
            <a:ext cx="4023360" cy="548640"/>
          </a:xfrm>
          <a:prstGeom prst="roundRect">
            <a:avLst>
              <a:gd name="adj" fmla="val 12000"/>
            </a:avLst>
          </a:prstGeom>
          <a:solidFill>
            <a:srgbClr val="F477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solidFill>
                  <a:srgbClr val="FFFFFF"/>
                </a:solidFill>
                <a:latin typeface="Bahnschrift"/>
              </a:rPr>
              <a:t>[Human owner · role] · final judge</a:t>
            </a:r>
          </a:p>
        </p:txBody>
      </p:sp>
      <p:sp>
        <p:nvSpPr>
          <p:cNvPr id="6" name="Rounded Rectangle 5"/>
          <p:cNvSpPr/>
          <p:nvPr/>
        </p:nvSpPr>
        <p:spPr>
          <a:xfrm>
            <a:off x="4087368" y="1965960"/>
            <a:ext cx="4023360" cy="566928"/>
          </a:xfrm>
          <a:prstGeom prst="roundRect">
            <a:avLst>
              <a:gd name="adj" fmla="val 12000"/>
            </a:avLst>
          </a:prstGeom>
          <a:solidFill>
            <a:srgbClr val="002B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solidFill>
                  <a:srgbClr val="FFFFFF"/>
                </a:solidFill>
                <a:latin typeface="Bahnschrift"/>
              </a:rPr>
              <a:t>[Lead agent] · coordinator</a:t>
            </a:r>
          </a:p>
          <a:p>
            <a:pPr algn="ctr"/>
            <a:r>
              <a:rPr sz="1100" b="0" i="0">
                <a:solidFill>
                  <a:srgbClr val="FFFFFF"/>
                </a:solidFill>
                <a:latin typeface="Arial"/>
              </a:rPr>
              <a:t>skill: [lead-skill-name]</a:t>
            </a:r>
          </a:p>
        </p:txBody>
      </p:sp>
      <p:cxnSp>
        <p:nvCxnSpPr>
          <p:cNvPr id="7" name="Connector 6"/>
          <p:cNvCxnSpPr/>
          <p:nvPr/>
        </p:nvCxnSpPr>
        <p:spPr>
          <a:xfrm>
            <a:off x="6099048" y="1737360"/>
            <a:ext cx="0" cy="228600"/>
          </a:xfrm>
          <a:prstGeom prst="line">
            <a:avLst/>
          </a:prstGeom>
          <a:ln w="15875">
            <a:solidFill>
              <a:srgbClr val="2845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8915400" y="1188720"/>
            <a:ext cx="2670048" cy="685800"/>
          </a:xfrm>
          <a:prstGeom prst="roundRect">
            <a:avLst>
              <a:gd name="adj" fmla="val 12000"/>
            </a:avLst>
          </a:prstGeom>
          <a:noFill/>
          <a:ln w="15875">
            <a:solidFill>
              <a:srgbClr val="F4773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solidFill>
                  <a:srgbClr val="F47735"/>
                </a:solidFill>
                <a:latin typeface="Bahnschrift"/>
              </a:rPr>
              <a:t>[Independent checker]</a:t>
            </a:r>
          </a:p>
          <a:p>
            <a:pPr algn="ctr"/>
            <a:r>
              <a:rPr sz="1050" b="0" i="0">
                <a:solidFill>
                  <a:srgbClr val="28455F"/>
                </a:solidFill>
                <a:latin typeface="Arial"/>
              </a:rPr>
              <a:t>deliverable-quality-review · reports to the human</a:t>
            </a:r>
          </a:p>
        </p:txBody>
      </p:sp>
      <p:cxnSp>
        <p:nvCxnSpPr>
          <p:cNvPr id="9" name="Connector 8"/>
          <p:cNvCxnSpPr/>
          <p:nvPr/>
        </p:nvCxnSpPr>
        <p:spPr>
          <a:xfrm flipH="1">
            <a:off x="8110727" y="1463040"/>
            <a:ext cx="804673" cy="0"/>
          </a:xfrm>
          <a:prstGeom prst="line">
            <a:avLst/>
          </a:prstGeom>
          <a:ln w="15875">
            <a:solidFill>
              <a:srgbClr val="F4773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0" name="Diamond 9"/>
          <p:cNvSpPr/>
          <p:nvPr/>
        </p:nvSpPr>
        <p:spPr>
          <a:xfrm>
            <a:off x="612648" y="1143000"/>
            <a:ext cx="502920" cy="502920"/>
          </a:xfrm>
          <a:prstGeom prst="diamond">
            <a:avLst/>
          </a:prstGeom>
          <a:solidFill>
            <a:srgbClr val="F477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r>
              <a:rPr sz="1100" b="1" i="0">
                <a:solidFill>
                  <a:srgbClr val="FFFFFF"/>
                </a:solidFill>
                <a:latin typeface="Bahnschrift"/>
              </a:rPr>
              <a:t>G1</a:t>
            </a:r>
          </a:p>
        </p:txBody>
      </p:sp>
      <p:sp>
        <p:nvSpPr>
          <p:cNvPr id="11" name="TextBox 10"/>
          <p:cNvSpPr txBox="1"/>
          <p:nvPr/>
        </p:nvSpPr>
        <p:spPr>
          <a:xfrm>
            <a:off x="1188720" y="1161288"/>
            <a:ext cx="2834640" cy="457200"/>
          </a:xfrm>
          <a:prstGeom prst="rect">
            <a:avLst/>
          </a:prstGeom>
          <a:noFill/>
        </p:spPr>
        <p:txBody>
          <a:bodyPr wrap="square" lIns="36576" rIns="36576" tIns="18288" bIns="18288" anchor="t">
            <a:spAutoFit/>
          </a:bodyPr>
          <a:lstStyle/>
          <a:p>
            <a:pPr algn="l"/>
            <a:r>
              <a:rPr sz="1200" b="0" i="0">
                <a:solidFill>
                  <a:srgbClr val="002B55"/>
                </a:solidFill>
                <a:latin typeface="Arial"/>
              </a:rPr>
              <a:t>Gate 1 · [what the human approves]</a:t>
            </a:r>
          </a:p>
        </p:txBody>
      </p:sp>
      <p:sp>
        <p:nvSpPr>
          <p:cNvPr id="12" name="Diamond 11"/>
          <p:cNvSpPr/>
          <p:nvPr/>
        </p:nvSpPr>
        <p:spPr>
          <a:xfrm>
            <a:off x="612648" y="1737360"/>
            <a:ext cx="502920" cy="502920"/>
          </a:xfrm>
          <a:prstGeom prst="diamond">
            <a:avLst/>
          </a:prstGeom>
          <a:solidFill>
            <a:srgbClr val="F477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r>
              <a:rPr sz="1100" b="1" i="0">
                <a:solidFill>
                  <a:srgbClr val="FFFFFF"/>
                </a:solidFill>
                <a:latin typeface="Bahnschrift"/>
              </a:rPr>
              <a:t>G2</a:t>
            </a:r>
          </a:p>
        </p:txBody>
      </p:sp>
      <p:sp>
        <p:nvSpPr>
          <p:cNvPr id="13" name="TextBox 12"/>
          <p:cNvSpPr txBox="1"/>
          <p:nvPr/>
        </p:nvSpPr>
        <p:spPr>
          <a:xfrm>
            <a:off x="1188720" y="1755648"/>
            <a:ext cx="2834640" cy="457200"/>
          </a:xfrm>
          <a:prstGeom prst="rect">
            <a:avLst/>
          </a:prstGeom>
          <a:noFill/>
        </p:spPr>
        <p:txBody>
          <a:bodyPr wrap="square" lIns="36576" rIns="36576" tIns="18288" bIns="18288" anchor="t">
            <a:spAutoFit/>
          </a:bodyPr>
          <a:lstStyle/>
          <a:p>
            <a:pPr algn="l"/>
            <a:r>
              <a:rPr sz="1200" b="0" i="0">
                <a:solidFill>
                  <a:srgbClr val="002B55"/>
                </a:solidFill>
                <a:latin typeface="Arial"/>
              </a:rPr>
              <a:t>Gate 2 · [what the human signs off]</a:t>
            </a:r>
          </a:p>
        </p:txBody>
      </p:sp>
      <p:cxnSp>
        <p:nvCxnSpPr>
          <p:cNvPr id="14" name="Connector 13"/>
          <p:cNvCxnSpPr/>
          <p:nvPr/>
        </p:nvCxnSpPr>
        <p:spPr>
          <a:xfrm>
            <a:off x="6099048" y="2532888"/>
            <a:ext cx="0" cy="192024"/>
          </a:xfrm>
          <a:prstGeom prst="line">
            <a:avLst/>
          </a:prstGeom>
          <a:ln w="15875">
            <a:solidFill>
              <a:srgbClr val="28455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915668" y="2724912"/>
            <a:ext cx="8366760" cy="0"/>
          </a:xfrm>
          <a:prstGeom prst="line">
            <a:avLst/>
          </a:prstGeom>
          <a:ln w="15875">
            <a:solidFill>
              <a:srgbClr val="28455F"/>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12648" y="2926080"/>
            <a:ext cx="2606040" cy="566928"/>
          </a:xfrm>
          <a:prstGeom prst="roundRect">
            <a:avLst>
              <a:gd name="adj" fmla="val 12000"/>
            </a:avLst>
          </a:prstGeom>
          <a:solidFill>
            <a:srgbClr val="002B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solidFill>
                  <a:srgbClr val="FFFFFF"/>
                </a:solidFill>
                <a:latin typeface="Bahnschrift"/>
              </a:rPr>
              <a:t>[Sub-agent 1]</a:t>
            </a:r>
          </a:p>
        </p:txBody>
      </p:sp>
      <p:cxnSp>
        <p:nvCxnSpPr>
          <p:cNvPr id="17" name="Connector 16"/>
          <p:cNvCxnSpPr/>
          <p:nvPr/>
        </p:nvCxnSpPr>
        <p:spPr>
          <a:xfrm>
            <a:off x="1915668" y="2724912"/>
            <a:ext cx="0" cy="201168"/>
          </a:xfrm>
          <a:prstGeom prst="line">
            <a:avLst/>
          </a:prstGeom>
          <a:ln w="15875">
            <a:solidFill>
              <a:srgbClr val="2845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12648" y="3611880"/>
            <a:ext cx="2606040" cy="457200"/>
          </a:xfrm>
          <a:prstGeom prst="roundRect">
            <a:avLst>
              <a:gd name="adj" fmla="val 12000"/>
            </a:avLst>
          </a:prstGeom>
          <a:solidFill>
            <a:srgbClr val="E8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55"/>
                </a:solidFill>
                <a:latin typeface="Arial"/>
              </a:rPr>
              <a:t>Skill: </a:t>
            </a:r>
            <a:r>
              <a:rPr sz="1200" b="0" i="0">
                <a:solidFill>
                  <a:srgbClr val="002B55"/>
                </a:solidFill>
                <a:latin typeface="Arial"/>
              </a:rPr>
              <a:t>[skill-name]</a:t>
            </a:r>
          </a:p>
        </p:txBody>
      </p:sp>
      <p:sp>
        <p:nvSpPr>
          <p:cNvPr id="19" name="Rounded Rectangle 18"/>
          <p:cNvSpPr/>
          <p:nvPr/>
        </p:nvSpPr>
        <p:spPr>
          <a:xfrm>
            <a:off x="612648" y="4160520"/>
            <a:ext cx="2606040" cy="685800"/>
          </a:xfrm>
          <a:prstGeom prst="roundRect">
            <a:avLst>
              <a:gd name="adj" fmla="val 12000"/>
            </a:avLst>
          </a:prstGeom>
          <a:solidFill>
            <a:srgbClr val="E8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55"/>
                </a:solidFill>
                <a:latin typeface="Arial"/>
              </a:rPr>
              <a:t>Does: </a:t>
            </a:r>
            <a:r>
              <a:rPr sz="1200" b="0" i="0">
                <a:solidFill>
                  <a:srgbClr val="002B55"/>
                </a:solidFill>
                <a:latin typeface="Arial"/>
              </a:rPr>
              <a:t>[one task in 6 words]</a:t>
            </a:r>
          </a:p>
        </p:txBody>
      </p:sp>
      <p:sp>
        <p:nvSpPr>
          <p:cNvPr id="20" name="Rounded Rectangle 19"/>
          <p:cNvSpPr/>
          <p:nvPr/>
        </p:nvSpPr>
        <p:spPr>
          <a:xfrm>
            <a:off x="612648" y="4937760"/>
            <a:ext cx="2606040" cy="457200"/>
          </a:xfrm>
          <a:prstGeom prst="roundRect">
            <a:avLst>
              <a:gd name="adj" fmla="val 12000"/>
            </a:avLst>
          </a:prstGeom>
          <a:solidFill>
            <a:srgbClr val="FFFFFF"/>
          </a:solidFill>
          <a:ln w="15875">
            <a:solidFill>
              <a:srgbClr val="F477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47735"/>
                </a:solidFill>
                <a:latin typeface="Arial"/>
              </a:rPr>
              <a:t>Hands off → </a:t>
            </a:r>
            <a:r>
              <a:rPr sz="1200" b="0" i="0">
                <a:solidFill>
                  <a:srgbClr val="002B55"/>
                </a:solidFill>
                <a:latin typeface="Arial"/>
              </a:rPr>
              <a:t>[output]</a:t>
            </a:r>
          </a:p>
        </p:txBody>
      </p:sp>
      <p:sp>
        <p:nvSpPr>
          <p:cNvPr id="21" name="Rounded Rectangle 20"/>
          <p:cNvSpPr/>
          <p:nvPr/>
        </p:nvSpPr>
        <p:spPr>
          <a:xfrm>
            <a:off x="3401568" y="2926080"/>
            <a:ext cx="2606040" cy="566928"/>
          </a:xfrm>
          <a:prstGeom prst="roundRect">
            <a:avLst>
              <a:gd name="adj" fmla="val 12000"/>
            </a:avLst>
          </a:prstGeom>
          <a:solidFill>
            <a:srgbClr val="1D5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solidFill>
                  <a:srgbClr val="FFFFFF"/>
                </a:solidFill>
                <a:latin typeface="Bahnschrift"/>
              </a:rPr>
              <a:t>[Sub-agent 2]</a:t>
            </a:r>
          </a:p>
        </p:txBody>
      </p:sp>
      <p:cxnSp>
        <p:nvCxnSpPr>
          <p:cNvPr id="22" name="Connector 21"/>
          <p:cNvCxnSpPr/>
          <p:nvPr/>
        </p:nvCxnSpPr>
        <p:spPr>
          <a:xfrm>
            <a:off x="4704588" y="2724912"/>
            <a:ext cx="0" cy="201168"/>
          </a:xfrm>
          <a:prstGeom prst="line">
            <a:avLst/>
          </a:prstGeom>
          <a:ln w="15875">
            <a:solidFill>
              <a:srgbClr val="2845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3401568" y="3611880"/>
            <a:ext cx="2606040" cy="457200"/>
          </a:xfrm>
          <a:prstGeom prst="roundRect">
            <a:avLst>
              <a:gd name="adj" fmla="val 12000"/>
            </a:avLst>
          </a:prstGeom>
          <a:solidFill>
            <a:srgbClr val="E3F1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55"/>
                </a:solidFill>
                <a:latin typeface="Arial"/>
              </a:rPr>
              <a:t>Skill: </a:t>
            </a:r>
            <a:r>
              <a:rPr sz="1200" b="0" i="0">
                <a:solidFill>
                  <a:srgbClr val="002B55"/>
                </a:solidFill>
                <a:latin typeface="Arial"/>
              </a:rPr>
              <a:t>[skill-name]</a:t>
            </a:r>
          </a:p>
        </p:txBody>
      </p:sp>
      <p:sp>
        <p:nvSpPr>
          <p:cNvPr id="24" name="Rounded Rectangle 23"/>
          <p:cNvSpPr/>
          <p:nvPr/>
        </p:nvSpPr>
        <p:spPr>
          <a:xfrm>
            <a:off x="3401568" y="4160520"/>
            <a:ext cx="2606040" cy="685800"/>
          </a:xfrm>
          <a:prstGeom prst="roundRect">
            <a:avLst>
              <a:gd name="adj" fmla="val 12000"/>
            </a:avLst>
          </a:prstGeom>
          <a:solidFill>
            <a:srgbClr val="E3F1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55"/>
                </a:solidFill>
                <a:latin typeface="Arial"/>
              </a:rPr>
              <a:t>Does: </a:t>
            </a:r>
            <a:r>
              <a:rPr sz="1200" b="0" i="0">
                <a:solidFill>
                  <a:srgbClr val="002B55"/>
                </a:solidFill>
                <a:latin typeface="Arial"/>
              </a:rPr>
              <a:t>[one task in 6 words]</a:t>
            </a:r>
          </a:p>
        </p:txBody>
      </p:sp>
      <p:sp>
        <p:nvSpPr>
          <p:cNvPr id="25" name="Rounded Rectangle 24"/>
          <p:cNvSpPr/>
          <p:nvPr/>
        </p:nvSpPr>
        <p:spPr>
          <a:xfrm>
            <a:off x="3401568" y="4937760"/>
            <a:ext cx="2606040" cy="457200"/>
          </a:xfrm>
          <a:prstGeom prst="roundRect">
            <a:avLst>
              <a:gd name="adj" fmla="val 12000"/>
            </a:avLst>
          </a:prstGeom>
          <a:solidFill>
            <a:srgbClr val="FFFFFF"/>
          </a:solidFill>
          <a:ln w="15875">
            <a:solidFill>
              <a:srgbClr val="F477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47735"/>
                </a:solidFill>
                <a:latin typeface="Arial"/>
              </a:rPr>
              <a:t>Hands off → </a:t>
            </a:r>
            <a:r>
              <a:rPr sz="1200" b="0" i="0">
                <a:solidFill>
                  <a:srgbClr val="002B55"/>
                </a:solidFill>
                <a:latin typeface="Arial"/>
              </a:rPr>
              <a:t>[output]</a:t>
            </a:r>
          </a:p>
        </p:txBody>
      </p:sp>
      <p:sp>
        <p:nvSpPr>
          <p:cNvPr id="26" name="Rounded Rectangle 25"/>
          <p:cNvSpPr/>
          <p:nvPr/>
        </p:nvSpPr>
        <p:spPr>
          <a:xfrm>
            <a:off x="6190488" y="2926080"/>
            <a:ext cx="2606040" cy="566928"/>
          </a:xfrm>
          <a:prstGeom prst="roundRect">
            <a:avLst>
              <a:gd name="adj" fmla="val 12000"/>
            </a:avLst>
          </a:prstGeom>
          <a:solidFill>
            <a:srgbClr val="0078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solidFill>
                  <a:srgbClr val="FFFFFF"/>
                </a:solidFill>
                <a:latin typeface="Bahnschrift"/>
              </a:rPr>
              <a:t>[Sub-agent 3]</a:t>
            </a:r>
          </a:p>
        </p:txBody>
      </p:sp>
      <p:cxnSp>
        <p:nvCxnSpPr>
          <p:cNvPr id="27" name="Connector 26"/>
          <p:cNvCxnSpPr/>
          <p:nvPr/>
        </p:nvCxnSpPr>
        <p:spPr>
          <a:xfrm>
            <a:off x="7493508" y="2724912"/>
            <a:ext cx="0" cy="201168"/>
          </a:xfrm>
          <a:prstGeom prst="line">
            <a:avLst/>
          </a:prstGeom>
          <a:ln w="15875">
            <a:solidFill>
              <a:srgbClr val="2845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190488" y="3611880"/>
            <a:ext cx="2606040" cy="457200"/>
          </a:xfrm>
          <a:prstGeom prst="roundRect">
            <a:avLst>
              <a:gd name="adj" fmla="val 12000"/>
            </a:avLst>
          </a:prstGeom>
          <a:solidFill>
            <a:srgbClr val="E8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55"/>
                </a:solidFill>
                <a:latin typeface="Arial"/>
              </a:rPr>
              <a:t>Skill: </a:t>
            </a:r>
            <a:r>
              <a:rPr sz="1200" b="0" i="0">
                <a:solidFill>
                  <a:srgbClr val="002B55"/>
                </a:solidFill>
                <a:latin typeface="Arial"/>
              </a:rPr>
              <a:t>[skill-name]</a:t>
            </a:r>
          </a:p>
        </p:txBody>
      </p:sp>
      <p:sp>
        <p:nvSpPr>
          <p:cNvPr id="29" name="Rounded Rectangle 28"/>
          <p:cNvSpPr/>
          <p:nvPr/>
        </p:nvSpPr>
        <p:spPr>
          <a:xfrm>
            <a:off x="6190488" y="4160520"/>
            <a:ext cx="2606040" cy="685800"/>
          </a:xfrm>
          <a:prstGeom prst="roundRect">
            <a:avLst>
              <a:gd name="adj" fmla="val 12000"/>
            </a:avLst>
          </a:prstGeom>
          <a:solidFill>
            <a:srgbClr val="E8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55"/>
                </a:solidFill>
                <a:latin typeface="Arial"/>
              </a:rPr>
              <a:t>Does: </a:t>
            </a:r>
            <a:r>
              <a:rPr sz="1200" b="0" i="0">
                <a:solidFill>
                  <a:srgbClr val="002B55"/>
                </a:solidFill>
                <a:latin typeface="Arial"/>
              </a:rPr>
              <a:t>[one task in 6 words]</a:t>
            </a:r>
          </a:p>
        </p:txBody>
      </p:sp>
      <p:sp>
        <p:nvSpPr>
          <p:cNvPr id="30" name="Rounded Rectangle 29"/>
          <p:cNvSpPr/>
          <p:nvPr/>
        </p:nvSpPr>
        <p:spPr>
          <a:xfrm>
            <a:off x="6190488" y="4937760"/>
            <a:ext cx="2606040" cy="457200"/>
          </a:xfrm>
          <a:prstGeom prst="roundRect">
            <a:avLst>
              <a:gd name="adj" fmla="val 12000"/>
            </a:avLst>
          </a:prstGeom>
          <a:solidFill>
            <a:srgbClr val="FFFFFF"/>
          </a:solidFill>
          <a:ln w="15875">
            <a:solidFill>
              <a:srgbClr val="F477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47735"/>
                </a:solidFill>
                <a:latin typeface="Arial"/>
              </a:rPr>
              <a:t>Hands off → </a:t>
            </a:r>
            <a:r>
              <a:rPr sz="1200" b="0" i="0">
                <a:solidFill>
                  <a:srgbClr val="002B55"/>
                </a:solidFill>
                <a:latin typeface="Arial"/>
              </a:rPr>
              <a:t>[output]</a:t>
            </a:r>
          </a:p>
        </p:txBody>
      </p:sp>
      <p:sp>
        <p:nvSpPr>
          <p:cNvPr id="31" name="Rounded Rectangle 30"/>
          <p:cNvSpPr/>
          <p:nvPr/>
        </p:nvSpPr>
        <p:spPr>
          <a:xfrm>
            <a:off x="8979408" y="2926080"/>
            <a:ext cx="2606040" cy="566928"/>
          </a:xfrm>
          <a:prstGeom prst="roundRect">
            <a:avLst>
              <a:gd name="adj" fmla="val 12000"/>
            </a:avLst>
          </a:prstGeom>
          <a:solidFill>
            <a:srgbClr val="3A8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solidFill>
                  <a:srgbClr val="FFFFFF"/>
                </a:solidFill>
                <a:latin typeface="Bahnschrift"/>
              </a:rPr>
              <a:t>[Sub-agent 4]</a:t>
            </a:r>
          </a:p>
        </p:txBody>
      </p:sp>
      <p:cxnSp>
        <p:nvCxnSpPr>
          <p:cNvPr id="32" name="Connector 31"/>
          <p:cNvCxnSpPr/>
          <p:nvPr/>
        </p:nvCxnSpPr>
        <p:spPr>
          <a:xfrm>
            <a:off x="10282428" y="2724912"/>
            <a:ext cx="0" cy="201168"/>
          </a:xfrm>
          <a:prstGeom prst="line">
            <a:avLst/>
          </a:prstGeom>
          <a:ln w="15875">
            <a:solidFill>
              <a:srgbClr val="2845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8979408" y="3611880"/>
            <a:ext cx="2606040" cy="457200"/>
          </a:xfrm>
          <a:prstGeom prst="roundRect">
            <a:avLst>
              <a:gd name="adj" fmla="val 12000"/>
            </a:avLst>
          </a:prstGeom>
          <a:solidFill>
            <a:srgbClr val="E3F1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55"/>
                </a:solidFill>
                <a:latin typeface="Arial"/>
              </a:rPr>
              <a:t>Skill: </a:t>
            </a:r>
            <a:r>
              <a:rPr sz="1200" b="0" i="0">
                <a:solidFill>
                  <a:srgbClr val="002B55"/>
                </a:solidFill>
                <a:latin typeface="Arial"/>
              </a:rPr>
              <a:t>[skill-name]</a:t>
            </a:r>
          </a:p>
        </p:txBody>
      </p:sp>
      <p:sp>
        <p:nvSpPr>
          <p:cNvPr id="34" name="Rounded Rectangle 33"/>
          <p:cNvSpPr/>
          <p:nvPr/>
        </p:nvSpPr>
        <p:spPr>
          <a:xfrm>
            <a:off x="8979408" y="4160520"/>
            <a:ext cx="2606040" cy="685800"/>
          </a:xfrm>
          <a:prstGeom prst="roundRect">
            <a:avLst>
              <a:gd name="adj" fmla="val 12000"/>
            </a:avLst>
          </a:prstGeom>
          <a:solidFill>
            <a:srgbClr val="E3F1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55"/>
                </a:solidFill>
                <a:latin typeface="Arial"/>
              </a:rPr>
              <a:t>Does: </a:t>
            </a:r>
            <a:r>
              <a:rPr sz="1200" b="0" i="0">
                <a:solidFill>
                  <a:srgbClr val="002B55"/>
                </a:solidFill>
                <a:latin typeface="Arial"/>
              </a:rPr>
              <a:t>[one task in 6 words]</a:t>
            </a:r>
          </a:p>
        </p:txBody>
      </p:sp>
      <p:sp>
        <p:nvSpPr>
          <p:cNvPr id="35" name="Rounded Rectangle 34"/>
          <p:cNvSpPr/>
          <p:nvPr/>
        </p:nvSpPr>
        <p:spPr>
          <a:xfrm>
            <a:off x="8979408" y="4937760"/>
            <a:ext cx="2606040" cy="457200"/>
          </a:xfrm>
          <a:prstGeom prst="roundRect">
            <a:avLst>
              <a:gd name="adj" fmla="val 12000"/>
            </a:avLst>
          </a:prstGeom>
          <a:solidFill>
            <a:srgbClr val="FFFFFF"/>
          </a:solidFill>
          <a:ln w="15875">
            <a:solidFill>
              <a:srgbClr val="F477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47735"/>
                </a:solidFill>
                <a:latin typeface="Arial"/>
              </a:rPr>
              <a:t>Hands off → </a:t>
            </a:r>
            <a:r>
              <a:rPr sz="1200" b="0" i="0">
                <a:solidFill>
                  <a:srgbClr val="002B55"/>
                </a:solidFill>
                <a:latin typeface="Arial"/>
              </a:rPr>
              <a:t>[output]</a:t>
            </a:r>
          </a:p>
        </p:txBody>
      </p:sp>
      <p:sp>
        <p:nvSpPr>
          <p:cNvPr id="36" name="TextBox 35"/>
          <p:cNvSpPr txBox="1"/>
          <p:nvPr/>
        </p:nvSpPr>
        <p:spPr>
          <a:xfrm>
            <a:off x="612648" y="5623560"/>
            <a:ext cx="10972800" cy="411480"/>
          </a:xfrm>
          <a:prstGeom prst="rect">
            <a:avLst/>
          </a:prstGeom>
          <a:noFill/>
        </p:spPr>
        <p:txBody>
          <a:bodyPr wrap="square" lIns="36576" rIns="36576" tIns="18288" bIns="18288" anchor="t">
            <a:spAutoFit/>
          </a:bodyPr>
          <a:lstStyle/>
          <a:p>
            <a:pPr algn="ctr"/>
            <a:r>
              <a:rPr sz="1500" b="1" i="0">
                <a:solidFill>
                  <a:srgbClr val="007879"/>
                </a:solidFill>
                <a:latin typeface="Bahnschrift"/>
              </a:rPr>
              <a:t>[N] sub-agents · [N] skills · [N] hand-offs · 2 human gates · </a:t>
            </a:r>
            <a:r>
              <a:rPr sz="1500" b="1" i="0">
                <a:solidFill>
                  <a:srgbClr val="F47735"/>
                </a:solidFill>
                <a:latin typeface="Bahnschrift"/>
              </a:rPr>
              <a:t>a human is the final judge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name="LIVE DEMO — leave empty">
    <p:bg>
      <p:bgPr>
        <a:solidFill>
          <a:srgbClr val="FFFEFB"/>
        </a:solidFill>
        <a:effectLst/>
      </p:bgPr>
    </p:bg>
    <p:spTree>
      <p:nvGrpSpPr>
        <p:cNvPr id="1" name=""/>
        <p:cNvGrpSpPr/>
        <p:nvPr/>
      </p:nvGrpSpPr>
      <p:grpSpPr/>
      <p:sp>
        <p:nvSpPr>
          <p:cNvPr id="2" name="TextBox 1"/>
          <p:cNvSpPr txBox="1"/>
          <p:nvPr/>
        </p:nvSpPr>
        <p:spPr>
          <a:xfrm>
            <a:off x="612648" y="6437376"/>
            <a:ext cx="5715000" cy="219456"/>
          </a:xfrm>
          <a:prstGeom prst="rect">
            <a:avLst/>
          </a:prstGeom>
          <a:noFill/>
        </p:spPr>
        <p:txBody>
          <a:bodyPr wrap="square" lIns="36576" rIns="36576" tIns="18288" bIns="18288" anchor="t">
            <a:spAutoFit/>
          </a:bodyPr>
          <a:lstStyle/>
          <a:p>
            <a:pPr algn="l"/>
            <a:r>
              <a:rPr sz="1050" b="0" i="0">
                <a:solidFill>
                  <a:srgbClr val="28455F"/>
                </a:solidFill>
                <a:latin typeface="Arial"/>
              </a:rPr>
              <a:t>AI IN ACTION / MEDICAL AFFAIRS</a:t>
            </a:r>
          </a:p>
        </p:txBody>
      </p:sp>
      <p:sp>
        <p:nvSpPr>
          <p:cNvPr id="3" name="TextBox 2"/>
          <p:cNvSpPr txBox="1"/>
          <p:nvPr/>
        </p:nvSpPr>
        <p:spPr>
          <a:xfrm>
            <a:off x="11064240" y="6400800"/>
            <a:ext cx="548640" cy="256032"/>
          </a:xfrm>
          <a:prstGeom prst="rect">
            <a:avLst/>
          </a:prstGeom>
          <a:noFill/>
        </p:spPr>
        <p:txBody>
          <a:bodyPr wrap="square" lIns="36576" rIns="36576" tIns="18288" bIns="18288" anchor="t">
            <a:spAutoFit/>
          </a:bodyPr>
          <a:lstStyle/>
          <a:p>
            <a:pPr algn="r"/>
            <a:r>
              <a:rPr sz="1275" b="1" i="0">
                <a:solidFill>
                  <a:srgbClr val="28455F"/>
                </a:solidFill>
                <a:latin typeface="Bahnschrift"/>
              </a:rPr>
              <a:t>07</a:t>
            </a:r>
          </a:p>
        </p:txBody>
      </p:sp>
      <p:sp>
        <p:nvSpPr>
          <p:cNvPr id="4" name="LIVE DEMO — leave empty" descr="LIVE DEMO — leave empty. Empty stage for the live swarm run. Agents: do not add content here."/>
          <p:cNvSpPr/>
          <p:nvPr/>
        </p:nvSpPr>
        <p:spPr>
          <a:xfrm>
            <a:off x="612648" y="502920"/>
            <a:ext cx="10972800" cy="5715000"/>
          </a:xfrm>
          <a:prstGeom prst="roundRect">
            <a:avLst>
              <a:gd name="adj" fmla="val 3000"/>
            </a:avLst>
          </a:prstGeom>
          <a:solidFill>
            <a:srgbClr val="FFFFFF"/>
          </a:solidFill>
          <a:ln w="19050">
            <a:solidFill>
              <a:srgbClr val="B9D9D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5" name="Oval 4" descr="LIVE DEMO — leave empty"/>
          <p:cNvSpPr/>
          <p:nvPr/>
        </p:nvSpPr>
        <p:spPr>
          <a:xfrm>
            <a:off x="960120" y="896112"/>
            <a:ext cx="146304" cy="146304"/>
          </a:xfrm>
          <a:prstGeom prst="ellipse">
            <a:avLst/>
          </a:prstGeom>
          <a:solidFill>
            <a:srgbClr val="F477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p>
        </p:txBody>
      </p:sp>
      <p:sp>
        <p:nvSpPr>
          <p:cNvPr id="6" name="LIVE DEMO label" descr="LIVE DEMO — leave empty"/>
          <p:cNvSpPr txBox="1"/>
          <p:nvPr/>
        </p:nvSpPr>
        <p:spPr>
          <a:xfrm>
            <a:off x="1188720" y="786384"/>
            <a:ext cx="2743200" cy="365760"/>
          </a:xfrm>
          <a:prstGeom prst="rect">
            <a:avLst/>
          </a:prstGeom>
          <a:noFill/>
        </p:spPr>
        <p:txBody>
          <a:bodyPr wrap="square" lIns="36576" rIns="36576" tIns="18288" bIns="18288" anchor="ctr">
            <a:spAutoFit/>
          </a:bodyPr>
          <a:lstStyle/>
          <a:p>
            <a:pPr algn="l"/>
            <a:r>
              <a:rPr sz="1300" b="1" i="0">
                <a:solidFill>
                  <a:srgbClr val="007879"/>
                </a:solidFill>
                <a:latin typeface="Bahnschrift"/>
              </a:rPr>
              <a:t>LIVE DEMO</a:t>
            </a:r>
          </a:p>
        </p:txBody>
      </p:sp>
      <p:sp>
        <p:nvSpPr>
          <p:cNvPr id="7" name="Team and vertical (only field on this slide)"/>
          <p:cNvSpPr txBox="1"/>
          <p:nvPr/>
        </p:nvSpPr>
        <p:spPr>
          <a:xfrm>
            <a:off x="6949440" y="5760720"/>
            <a:ext cx="4434840" cy="320040"/>
          </a:xfrm>
          <a:prstGeom prst="rect">
            <a:avLst/>
          </a:prstGeom>
          <a:noFill/>
        </p:spPr>
        <p:txBody>
          <a:bodyPr wrap="square" lIns="36576" rIns="36576" tIns="18288" bIns="18288" anchor="ctr">
            <a:spAutoFit/>
          </a:bodyPr>
          <a:lstStyle/>
          <a:p>
            <a:pPr algn="r"/>
            <a:r>
              <a:rPr sz="1100" b="0" i="0">
                <a:solidFill>
                  <a:srgbClr val="8A9BAA"/>
                </a:solidFill>
                <a:latin typeface="Arial"/>
              </a:rPr>
              <a:t>[Team name] · [Vertical]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EFB"/>
        </a:solidFill>
        <a:effectLst/>
      </p:bgPr>
    </p:bg>
    <p:spTree>
      <p:nvGrpSpPr>
        <p:cNvPr id="1" name=""/>
        <p:cNvGrpSpPr/>
        <p:nvPr/>
      </p:nvGrpSpPr>
      <p:grpSpPr/>
      <p:sp>
        <p:nvSpPr>
          <p:cNvPr id="2" name="TextBox 1"/>
          <p:cNvSpPr txBox="1"/>
          <p:nvPr/>
        </p:nvSpPr>
        <p:spPr>
          <a:xfrm>
            <a:off x="612648" y="365760"/>
            <a:ext cx="10972800" cy="777240"/>
          </a:xfrm>
          <a:prstGeom prst="rect">
            <a:avLst/>
          </a:prstGeom>
          <a:noFill/>
        </p:spPr>
        <p:txBody>
          <a:bodyPr wrap="square" lIns="36576" rIns="36576" tIns="18288" bIns="18288" anchor="ctr">
            <a:spAutoFit/>
          </a:bodyPr>
          <a:lstStyle/>
          <a:p>
            <a:pPr algn="l"/>
            <a:r>
              <a:rPr sz="3000" b="1" i="0">
                <a:solidFill>
                  <a:srgbClr val="002B55"/>
                </a:solidFill>
                <a:latin typeface="Bahnschrift"/>
              </a:rPr>
              <a:t>Backup: if the demo fails</a:t>
            </a:r>
          </a:p>
        </p:txBody>
      </p:sp>
      <p:sp>
        <p:nvSpPr>
          <p:cNvPr id="3" name="TextBox 2"/>
          <p:cNvSpPr txBox="1"/>
          <p:nvPr/>
        </p:nvSpPr>
        <p:spPr>
          <a:xfrm>
            <a:off x="612648" y="6437376"/>
            <a:ext cx="5715000" cy="219456"/>
          </a:xfrm>
          <a:prstGeom prst="rect">
            <a:avLst/>
          </a:prstGeom>
          <a:noFill/>
        </p:spPr>
        <p:txBody>
          <a:bodyPr wrap="square" lIns="36576" rIns="36576" tIns="18288" bIns="18288" anchor="t">
            <a:spAutoFit/>
          </a:bodyPr>
          <a:lstStyle/>
          <a:p>
            <a:pPr algn="l"/>
            <a:r>
              <a:rPr sz="1050" b="0" i="0">
                <a:solidFill>
                  <a:srgbClr val="28455F"/>
                </a:solidFill>
                <a:latin typeface="Arial"/>
              </a:rPr>
              <a:t>AI IN ACTION / MEDICAL AFFAIRS</a:t>
            </a:r>
          </a:p>
        </p:txBody>
      </p:sp>
      <p:sp>
        <p:nvSpPr>
          <p:cNvPr id="4" name="TextBox 3"/>
          <p:cNvSpPr txBox="1"/>
          <p:nvPr/>
        </p:nvSpPr>
        <p:spPr>
          <a:xfrm>
            <a:off x="11064240" y="6400800"/>
            <a:ext cx="548640" cy="256032"/>
          </a:xfrm>
          <a:prstGeom prst="rect">
            <a:avLst/>
          </a:prstGeom>
          <a:noFill/>
        </p:spPr>
        <p:txBody>
          <a:bodyPr wrap="square" lIns="36576" rIns="36576" tIns="18288" bIns="18288" anchor="t">
            <a:spAutoFit/>
          </a:bodyPr>
          <a:lstStyle/>
          <a:p>
            <a:pPr algn="r"/>
            <a:r>
              <a:rPr sz="1275" b="1" i="0">
                <a:solidFill>
                  <a:srgbClr val="28455F"/>
                </a:solidFill>
                <a:latin typeface="Bahnschrift"/>
              </a:rPr>
              <a:t>08</a:t>
            </a:r>
          </a:p>
        </p:txBody>
      </p:sp>
      <p:sp>
        <p:nvSpPr>
          <p:cNvPr id="5" name="Rounded Rectangle 4"/>
          <p:cNvSpPr/>
          <p:nvPr/>
        </p:nvSpPr>
        <p:spPr>
          <a:xfrm>
            <a:off x="612648" y="1325880"/>
            <a:ext cx="3383280" cy="4069080"/>
          </a:xfrm>
          <a:prstGeom prst="roundRect">
            <a:avLst>
              <a:gd name="adj" fmla="val 4000"/>
            </a:avLst>
          </a:prstGeom>
          <a:solidFill>
            <a:srgbClr val="FFFFFF"/>
          </a:solidFill>
          <a:ln w="15875">
            <a:solidFill>
              <a:srgbClr val="8A9BA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0" i="0">
                <a:solidFill>
                  <a:srgbClr val="8A9BAA"/>
                </a:solidFill>
                <a:latin typeface="Arial"/>
              </a:rPr>
              <a:t>[Screenshot 1: the assignment + the agent's plan]</a:t>
            </a:r>
          </a:p>
        </p:txBody>
      </p:sp>
      <p:sp>
        <p:nvSpPr>
          <p:cNvPr id="6" name="Rounded Rectangle 5"/>
          <p:cNvSpPr/>
          <p:nvPr/>
        </p:nvSpPr>
        <p:spPr>
          <a:xfrm>
            <a:off x="4178808" y="1325880"/>
            <a:ext cx="3383280" cy="4069080"/>
          </a:xfrm>
          <a:prstGeom prst="roundRect">
            <a:avLst>
              <a:gd name="adj" fmla="val 4000"/>
            </a:avLst>
          </a:prstGeom>
          <a:solidFill>
            <a:srgbClr val="FFFFFF"/>
          </a:solidFill>
          <a:ln w="15875">
            <a:solidFill>
              <a:srgbClr val="8A9BA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0" i="0">
                <a:solidFill>
                  <a:srgbClr val="8A9BAA"/>
                </a:solidFill>
                <a:latin typeface="Arial"/>
              </a:rPr>
              <a:t>[Screenshot 2: sub-agent outputs / final deliverable]</a:t>
            </a:r>
          </a:p>
        </p:txBody>
      </p:sp>
      <p:sp>
        <p:nvSpPr>
          <p:cNvPr id="7" name="TextBox 6"/>
          <p:cNvSpPr txBox="1"/>
          <p:nvPr/>
        </p:nvSpPr>
        <p:spPr>
          <a:xfrm>
            <a:off x="7863840" y="1280160"/>
            <a:ext cx="3657600" cy="365760"/>
          </a:xfrm>
          <a:prstGeom prst="rect">
            <a:avLst/>
          </a:prstGeom>
          <a:noFill/>
        </p:spPr>
        <p:txBody>
          <a:bodyPr wrap="square" lIns="36576" rIns="36576" tIns="18288" bIns="18288" anchor="t">
            <a:spAutoFit/>
          </a:bodyPr>
          <a:lstStyle/>
          <a:p>
            <a:pPr algn="l"/>
            <a:r>
              <a:rPr sz="1300" b="1" i="0">
                <a:solidFill>
                  <a:srgbClr val="007879"/>
                </a:solidFill>
                <a:latin typeface="Bahnschrift"/>
              </a:rPr>
              <a:t>WHAT THE RUN SHOWS</a:t>
            </a:r>
          </a:p>
        </p:txBody>
      </p:sp>
      <p:sp>
        <p:nvSpPr>
          <p:cNvPr id="8" name="Oval 7"/>
          <p:cNvSpPr/>
          <p:nvPr/>
        </p:nvSpPr>
        <p:spPr>
          <a:xfrm>
            <a:off x="7863840" y="1737360"/>
            <a:ext cx="566928" cy="566928"/>
          </a:xfrm>
          <a:prstGeom prst="ellipse">
            <a:avLst/>
          </a:prstGeom>
          <a:solidFill>
            <a:srgbClr val="0078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r>
              <a:rPr sz="1600" b="1" i="0">
                <a:solidFill>
                  <a:srgbClr val="FFFFFF"/>
                </a:solidFill>
                <a:latin typeface="Bahnschrift"/>
              </a:rPr>
              <a:t>1</a:t>
            </a:r>
          </a:p>
        </p:txBody>
      </p:sp>
      <p:sp>
        <p:nvSpPr>
          <p:cNvPr id="9" name="TextBox 8"/>
          <p:cNvSpPr txBox="1"/>
          <p:nvPr/>
        </p:nvSpPr>
        <p:spPr>
          <a:xfrm>
            <a:off x="8549640" y="1792224"/>
            <a:ext cx="3063240" cy="457200"/>
          </a:xfrm>
          <a:prstGeom prst="rect">
            <a:avLst/>
          </a:prstGeom>
          <a:noFill/>
        </p:spPr>
        <p:txBody>
          <a:bodyPr wrap="square" lIns="36576" rIns="36576" tIns="18288" bIns="18288" anchor="ctr">
            <a:spAutoFit/>
          </a:bodyPr>
          <a:lstStyle/>
          <a:p>
            <a:pPr algn="l"/>
            <a:r>
              <a:rPr sz="1300" b="1" i="0">
                <a:solidFill>
                  <a:srgbClr val="002B55"/>
                </a:solidFill>
                <a:latin typeface="Arial"/>
              </a:rPr>
              <a:t>[The assignment we gave]</a:t>
            </a:r>
          </a:p>
        </p:txBody>
      </p:sp>
      <p:sp>
        <p:nvSpPr>
          <p:cNvPr id="10" name="Oval 9"/>
          <p:cNvSpPr/>
          <p:nvPr/>
        </p:nvSpPr>
        <p:spPr>
          <a:xfrm>
            <a:off x="7863840" y="2487168"/>
            <a:ext cx="566928" cy="566928"/>
          </a:xfrm>
          <a:prstGeom prst="ellipse">
            <a:avLst/>
          </a:prstGeom>
          <a:solidFill>
            <a:srgbClr val="0078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r>
              <a:rPr sz="1600" b="1" i="0">
                <a:solidFill>
                  <a:srgbClr val="FFFFFF"/>
                </a:solidFill>
                <a:latin typeface="Bahnschrift"/>
              </a:rPr>
              <a:t>2</a:t>
            </a:r>
          </a:p>
        </p:txBody>
      </p:sp>
      <p:sp>
        <p:nvSpPr>
          <p:cNvPr id="11" name="TextBox 10"/>
          <p:cNvSpPr txBox="1"/>
          <p:nvPr/>
        </p:nvSpPr>
        <p:spPr>
          <a:xfrm>
            <a:off x="8549640" y="2542032"/>
            <a:ext cx="3063240" cy="457200"/>
          </a:xfrm>
          <a:prstGeom prst="rect">
            <a:avLst/>
          </a:prstGeom>
          <a:noFill/>
        </p:spPr>
        <p:txBody>
          <a:bodyPr wrap="square" lIns="36576" rIns="36576" tIns="18288" bIns="18288" anchor="ctr">
            <a:spAutoFit/>
          </a:bodyPr>
          <a:lstStyle/>
          <a:p>
            <a:pPr algn="l"/>
            <a:r>
              <a:rPr sz="1300" b="1" i="0">
                <a:solidFill>
                  <a:srgbClr val="002B55"/>
                </a:solidFill>
                <a:latin typeface="Arial"/>
              </a:rPr>
              <a:t>[Lead agent plans and splits]</a:t>
            </a:r>
          </a:p>
        </p:txBody>
      </p:sp>
      <p:sp>
        <p:nvSpPr>
          <p:cNvPr id="12" name="Oval 11"/>
          <p:cNvSpPr/>
          <p:nvPr/>
        </p:nvSpPr>
        <p:spPr>
          <a:xfrm>
            <a:off x="7863840" y="3236976"/>
            <a:ext cx="566928" cy="566928"/>
          </a:xfrm>
          <a:prstGeom prst="ellipse">
            <a:avLst/>
          </a:prstGeom>
          <a:solidFill>
            <a:srgbClr val="0078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r>
              <a:rPr sz="1600" b="1" i="0">
                <a:solidFill>
                  <a:srgbClr val="FFFFFF"/>
                </a:solidFill>
                <a:latin typeface="Bahnschrift"/>
              </a:rPr>
              <a:t>3</a:t>
            </a:r>
          </a:p>
        </p:txBody>
      </p:sp>
      <p:sp>
        <p:nvSpPr>
          <p:cNvPr id="13" name="TextBox 12"/>
          <p:cNvSpPr txBox="1"/>
          <p:nvPr/>
        </p:nvSpPr>
        <p:spPr>
          <a:xfrm>
            <a:off x="8549640" y="3291840"/>
            <a:ext cx="3063240" cy="457200"/>
          </a:xfrm>
          <a:prstGeom prst="rect">
            <a:avLst/>
          </a:prstGeom>
          <a:noFill/>
        </p:spPr>
        <p:txBody>
          <a:bodyPr wrap="square" lIns="36576" rIns="36576" tIns="18288" bIns="18288" anchor="ctr">
            <a:spAutoFit/>
          </a:bodyPr>
          <a:lstStyle/>
          <a:p>
            <a:pPr algn="l"/>
            <a:r>
              <a:rPr sz="1300" b="1" i="0">
                <a:solidFill>
                  <a:srgbClr val="002B55"/>
                </a:solidFill>
                <a:latin typeface="Arial"/>
              </a:rPr>
              <a:t>[Sub-agents work and hand off]</a:t>
            </a:r>
          </a:p>
        </p:txBody>
      </p:sp>
      <p:sp>
        <p:nvSpPr>
          <p:cNvPr id="14" name="Oval 13"/>
          <p:cNvSpPr/>
          <p:nvPr/>
        </p:nvSpPr>
        <p:spPr>
          <a:xfrm>
            <a:off x="7863840" y="3986783"/>
            <a:ext cx="566928" cy="566928"/>
          </a:xfrm>
          <a:prstGeom prst="ellipse">
            <a:avLst/>
          </a:prstGeom>
          <a:solidFill>
            <a:srgbClr val="F477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r>
              <a:rPr sz="1600" b="1" i="0">
                <a:solidFill>
                  <a:srgbClr val="FFFFFF"/>
                </a:solidFill>
                <a:latin typeface="Bahnschrift"/>
              </a:rPr>
              <a:t>4</a:t>
            </a:r>
          </a:p>
        </p:txBody>
      </p:sp>
      <p:sp>
        <p:nvSpPr>
          <p:cNvPr id="15" name="TextBox 14"/>
          <p:cNvSpPr txBox="1"/>
          <p:nvPr/>
        </p:nvSpPr>
        <p:spPr>
          <a:xfrm>
            <a:off x="8549640" y="4041647"/>
            <a:ext cx="3063240" cy="457200"/>
          </a:xfrm>
          <a:prstGeom prst="rect">
            <a:avLst/>
          </a:prstGeom>
          <a:noFill/>
        </p:spPr>
        <p:txBody>
          <a:bodyPr wrap="square" lIns="36576" rIns="36576" tIns="18288" bIns="18288" anchor="ctr">
            <a:spAutoFit/>
          </a:bodyPr>
          <a:lstStyle/>
          <a:p>
            <a:pPr algn="l"/>
            <a:r>
              <a:rPr sz="1300" b="1" i="0">
                <a:solidFill>
                  <a:srgbClr val="002B55"/>
                </a:solidFill>
                <a:latin typeface="Arial"/>
              </a:rPr>
              <a:t>[Gate: the agent stops; we decide]</a:t>
            </a:r>
          </a:p>
        </p:txBody>
      </p:sp>
      <p:sp>
        <p:nvSpPr>
          <p:cNvPr id="16" name="Oval 15"/>
          <p:cNvSpPr/>
          <p:nvPr/>
        </p:nvSpPr>
        <p:spPr>
          <a:xfrm>
            <a:off x="7863840" y="4736592"/>
            <a:ext cx="566928" cy="566928"/>
          </a:xfrm>
          <a:prstGeom prst="ellipse">
            <a:avLst/>
          </a:prstGeom>
          <a:solidFill>
            <a:srgbClr val="0078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r>
              <a:rPr sz="1600" b="1" i="0">
                <a:solidFill>
                  <a:srgbClr val="FFFFFF"/>
                </a:solidFill>
                <a:latin typeface="Bahnschrift"/>
              </a:rPr>
              <a:t>5</a:t>
            </a:r>
          </a:p>
        </p:txBody>
      </p:sp>
      <p:sp>
        <p:nvSpPr>
          <p:cNvPr id="17" name="TextBox 16"/>
          <p:cNvSpPr txBox="1"/>
          <p:nvPr/>
        </p:nvSpPr>
        <p:spPr>
          <a:xfrm>
            <a:off x="8549640" y="4791455"/>
            <a:ext cx="3063240" cy="457200"/>
          </a:xfrm>
          <a:prstGeom prst="rect">
            <a:avLst/>
          </a:prstGeom>
          <a:noFill/>
        </p:spPr>
        <p:txBody>
          <a:bodyPr wrap="square" lIns="36576" rIns="36576" tIns="18288" bIns="18288" anchor="ctr">
            <a:spAutoFit/>
          </a:bodyPr>
          <a:lstStyle/>
          <a:p>
            <a:pPr algn="l"/>
            <a:r>
              <a:rPr sz="1300" b="1" i="0">
                <a:solidFill>
                  <a:srgbClr val="002B55"/>
                </a:solidFill>
                <a:latin typeface="Arial"/>
              </a:rPr>
              <a:t>[The output, and what it replaced]</a:t>
            </a:r>
          </a:p>
        </p:txBody>
      </p:sp>
      <p:sp>
        <p:nvSpPr>
          <p:cNvPr id="18" name="Rounded Rectangle 17"/>
          <p:cNvSpPr/>
          <p:nvPr/>
        </p:nvSpPr>
        <p:spPr>
          <a:xfrm>
            <a:off x="612648" y="5577840"/>
            <a:ext cx="10972800" cy="566928"/>
          </a:xfrm>
          <a:prstGeom prst="roundRect">
            <a:avLst>
              <a:gd name="adj" fmla="val 10000"/>
            </a:avLst>
          </a:prstGeom>
          <a:solidFill>
            <a:srgbClr val="E3F1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solidFill>
                  <a:srgbClr val="007879"/>
                </a:solidFill>
                <a:latin typeface="Arial"/>
              </a:rPr>
              <a:t>Use only if the live run fails. </a:t>
            </a:r>
            <a:r>
              <a:rPr sz="1400" b="0" i="0">
                <a:solidFill>
                  <a:srgbClr val="002B55"/>
                </a:solidFill>
                <a:latin typeface="Arial"/>
              </a:rPr>
              <a:t>Otherwise skip this slide.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EFB"/>
        </a:solidFill>
        <a:effectLst/>
      </p:bgPr>
    </p:bg>
    <p:spTree>
      <p:nvGrpSpPr>
        <p:cNvPr id="1" name=""/>
        <p:cNvGrpSpPr/>
        <p:nvPr/>
      </p:nvGrpSpPr>
      <p:grpSpPr/>
      <p:sp>
        <p:nvSpPr>
          <p:cNvPr id="2" name="TextBox 1"/>
          <p:cNvSpPr txBox="1"/>
          <p:nvPr/>
        </p:nvSpPr>
        <p:spPr>
          <a:xfrm>
            <a:off x="612648" y="365760"/>
            <a:ext cx="10972800" cy="777240"/>
          </a:xfrm>
          <a:prstGeom prst="rect">
            <a:avLst/>
          </a:prstGeom>
          <a:noFill/>
        </p:spPr>
        <p:txBody>
          <a:bodyPr wrap="square" lIns="36576" rIns="36576" tIns="18288" bIns="18288" anchor="ctr">
            <a:spAutoFit/>
          </a:bodyPr>
          <a:lstStyle/>
          <a:p>
            <a:pPr algn="l"/>
            <a:r>
              <a:rPr sz="3000" b="1" i="0">
                <a:solidFill>
                  <a:srgbClr val="002B55"/>
                </a:solidFill>
                <a:latin typeface="Bahnschrift"/>
              </a:rPr>
              <a:t>Impact: [X] hours back per year (team estimate)</a:t>
            </a:r>
          </a:p>
        </p:txBody>
      </p:sp>
      <p:sp>
        <p:nvSpPr>
          <p:cNvPr id="3" name="TextBox 2"/>
          <p:cNvSpPr txBox="1"/>
          <p:nvPr/>
        </p:nvSpPr>
        <p:spPr>
          <a:xfrm>
            <a:off x="612648" y="6437376"/>
            <a:ext cx="5715000" cy="219456"/>
          </a:xfrm>
          <a:prstGeom prst="rect">
            <a:avLst/>
          </a:prstGeom>
          <a:noFill/>
        </p:spPr>
        <p:txBody>
          <a:bodyPr wrap="square" lIns="36576" rIns="36576" tIns="18288" bIns="18288" anchor="t">
            <a:spAutoFit/>
          </a:bodyPr>
          <a:lstStyle/>
          <a:p>
            <a:pPr algn="l"/>
            <a:r>
              <a:rPr sz="1050" b="0" i="0">
                <a:solidFill>
                  <a:srgbClr val="28455F"/>
                </a:solidFill>
                <a:latin typeface="Arial"/>
              </a:rPr>
              <a:t>AI IN ACTION / MEDICAL AFFAIRS</a:t>
            </a:r>
          </a:p>
        </p:txBody>
      </p:sp>
      <p:sp>
        <p:nvSpPr>
          <p:cNvPr id="4" name="TextBox 3"/>
          <p:cNvSpPr txBox="1"/>
          <p:nvPr/>
        </p:nvSpPr>
        <p:spPr>
          <a:xfrm>
            <a:off x="11064240" y="6400800"/>
            <a:ext cx="548640" cy="256032"/>
          </a:xfrm>
          <a:prstGeom prst="rect">
            <a:avLst/>
          </a:prstGeom>
          <a:noFill/>
        </p:spPr>
        <p:txBody>
          <a:bodyPr wrap="square" lIns="36576" rIns="36576" tIns="18288" bIns="18288" anchor="t">
            <a:spAutoFit/>
          </a:bodyPr>
          <a:lstStyle/>
          <a:p>
            <a:pPr algn="r"/>
            <a:r>
              <a:rPr sz="1275" b="1" i="0">
                <a:solidFill>
                  <a:srgbClr val="28455F"/>
                </a:solidFill>
                <a:latin typeface="Bahnschrift"/>
              </a:rPr>
              <a:t>09</a:t>
            </a:r>
          </a:p>
        </p:txBody>
      </p:sp>
      <p:sp>
        <p:nvSpPr>
          <p:cNvPr id="5" name="TextBox 4"/>
          <p:cNvSpPr txBox="1"/>
          <p:nvPr/>
        </p:nvSpPr>
        <p:spPr>
          <a:xfrm>
            <a:off x="612648" y="1325880"/>
            <a:ext cx="228600" cy="868680"/>
          </a:xfrm>
          <a:prstGeom prst="rect">
            <a:avLst/>
          </a:prstGeom>
          <a:noFill/>
        </p:spPr>
        <p:txBody>
          <a:bodyPr wrap="square" lIns="36576" rIns="36576" tIns="18288" bIns="18288" anchor="ctr">
            <a:spAutoFit/>
          </a:bodyPr>
          <a:lstStyle/>
          <a:p>
            <a:pPr algn="ctr"/>
            <a:r>
              <a:rPr sz="3400" b="0" i="0">
                <a:solidFill>
                  <a:srgbClr val="28455F"/>
                </a:solidFill>
                <a:latin typeface="Arial"/>
              </a:rPr>
              <a:t>(</a:t>
            </a:r>
          </a:p>
        </p:txBody>
      </p:sp>
      <p:sp>
        <p:nvSpPr>
          <p:cNvPr id="6" name="Rounded Rectangle 5"/>
          <p:cNvSpPr/>
          <p:nvPr/>
        </p:nvSpPr>
        <p:spPr>
          <a:xfrm>
            <a:off x="841248" y="1371600"/>
            <a:ext cx="1737360" cy="868680"/>
          </a:xfrm>
          <a:prstGeom prst="roundRect">
            <a:avLst>
              <a:gd name="adj" fmla="val 8000"/>
            </a:avLst>
          </a:prstGeom>
          <a:solidFill>
            <a:srgbClr val="FFFFFF"/>
          </a:solidFill>
          <a:ln w="15875">
            <a:solidFill>
              <a:srgbClr val="D5DE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7" name="TextBox 6"/>
          <p:cNvSpPr txBox="1"/>
          <p:nvPr/>
        </p:nvSpPr>
        <p:spPr>
          <a:xfrm>
            <a:off x="841248" y="1389888"/>
            <a:ext cx="1737360" cy="475488"/>
          </a:xfrm>
          <a:prstGeom prst="rect">
            <a:avLst/>
          </a:prstGeom>
          <a:noFill/>
        </p:spPr>
        <p:txBody>
          <a:bodyPr wrap="square" lIns="36576" rIns="36576" tIns="18288" bIns="18288" anchor="ctr">
            <a:spAutoFit/>
          </a:bodyPr>
          <a:lstStyle/>
          <a:p>
            <a:pPr algn="ctr"/>
            <a:r>
              <a:rPr sz="2400" b="1" i="0">
                <a:solidFill>
                  <a:srgbClr val="002B55"/>
                </a:solidFill>
                <a:latin typeface="Bahnschrift"/>
              </a:rPr>
              <a:t>[B] h</a:t>
            </a:r>
          </a:p>
        </p:txBody>
      </p:sp>
      <p:sp>
        <p:nvSpPr>
          <p:cNvPr id="8" name="TextBox 7"/>
          <p:cNvSpPr txBox="1"/>
          <p:nvPr/>
        </p:nvSpPr>
        <p:spPr>
          <a:xfrm>
            <a:off x="841248" y="1883664"/>
            <a:ext cx="1737360" cy="329184"/>
          </a:xfrm>
          <a:prstGeom prst="rect">
            <a:avLst/>
          </a:prstGeom>
          <a:noFill/>
        </p:spPr>
        <p:txBody>
          <a:bodyPr wrap="square" lIns="36576" rIns="36576" tIns="18288" bIns="18288" anchor="t">
            <a:spAutoFit/>
          </a:bodyPr>
          <a:lstStyle/>
          <a:p>
            <a:pPr algn="ctr"/>
            <a:r>
              <a:rPr sz="1100" b="0" i="0">
                <a:solidFill>
                  <a:srgbClr val="28455F"/>
                </a:solidFill>
                <a:latin typeface="Arial"/>
              </a:rPr>
              <a:t>baseline per cycle</a:t>
            </a:r>
          </a:p>
        </p:txBody>
      </p:sp>
      <p:sp>
        <p:nvSpPr>
          <p:cNvPr id="9" name="TextBox 8"/>
          <p:cNvSpPr txBox="1"/>
          <p:nvPr/>
        </p:nvSpPr>
        <p:spPr>
          <a:xfrm>
            <a:off x="2578608" y="1371600"/>
            <a:ext cx="365760" cy="868680"/>
          </a:xfrm>
          <a:prstGeom prst="rect">
            <a:avLst/>
          </a:prstGeom>
          <a:noFill/>
        </p:spPr>
        <p:txBody>
          <a:bodyPr wrap="square" lIns="36576" rIns="36576" tIns="18288" bIns="18288" anchor="ctr">
            <a:spAutoFit/>
          </a:bodyPr>
          <a:lstStyle/>
          <a:p>
            <a:pPr algn="ctr"/>
            <a:r>
              <a:rPr sz="3000" b="1" i="0">
                <a:solidFill>
                  <a:srgbClr val="28455F"/>
                </a:solidFill>
                <a:latin typeface="Bahnschrift"/>
              </a:rPr>
              <a:t>−</a:t>
            </a:r>
          </a:p>
        </p:txBody>
      </p:sp>
      <p:sp>
        <p:nvSpPr>
          <p:cNvPr id="10" name="Rounded Rectangle 9"/>
          <p:cNvSpPr/>
          <p:nvPr/>
        </p:nvSpPr>
        <p:spPr>
          <a:xfrm>
            <a:off x="2944368" y="1371600"/>
            <a:ext cx="1737360" cy="868680"/>
          </a:xfrm>
          <a:prstGeom prst="roundRect">
            <a:avLst>
              <a:gd name="adj" fmla="val 8000"/>
            </a:avLst>
          </a:prstGeom>
          <a:solidFill>
            <a:srgbClr val="FFFFFF"/>
          </a:solidFill>
          <a:ln w="15875">
            <a:solidFill>
              <a:srgbClr val="D5DE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1" name="TextBox 10"/>
          <p:cNvSpPr txBox="1"/>
          <p:nvPr/>
        </p:nvSpPr>
        <p:spPr>
          <a:xfrm>
            <a:off x="2944368" y="1389888"/>
            <a:ext cx="1737360" cy="475488"/>
          </a:xfrm>
          <a:prstGeom prst="rect">
            <a:avLst/>
          </a:prstGeom>
          <a:noFill/>
        </p:spPr>
        <p:txBody>
          <a:bodyPr wrap="square" lIns="36576" rIns="36576" tIns="18288" bIns="18288" anchor="ctr">
            <a:spAutoFit/>
          </a:bodyPr>
          <a:lstStyle/>
          <a:p>
            <a:pPr algn="ctr"/>
            <a:r>
              <a:rPr sz="2400" b="1" i="0">
                <a:solidFill>
                  <a:srgbClr val="002B55"/>
                </a:solidFill>
                <a:latin typeface="Bahnschrift"/>
              </a:rPr>
              <a:t>[A] h</a:t>
            </a:r>
          </a:p>
        </p:txBody>
      </p:sp>
      <p:sp>
        <p:nvSpPr>
          <p:cNvPr id="12" name="TextBox 11"/>
          <p:cNvSpPr txBox="1"/>
          <p:nvPr/>
        </p:nvSpPr>
        <p:spPr>
          <a:xfrm>
            <a:off x="2944368" y="1883664"/>
            <a:ext cx="1737360" cy="329184"/>
          </a:xfrm>
          <a:prstGeom prst="rect">
            <a:avLst/>
          </a:prstGeom>
          <a:noFill/>
        </p:spPr>
        <p:txBody>
          <a:bodyPr wrap="square" lIns="36576" rIns="36576" tIns="18288" bIns="18288" anchor="t">
            <a:spAutoFit/>
          </a:bodyPr>
          <a:lstStyle/>
          <a:p>
            <a:pPr algn="ctr"/>
            <a:r>
              <a:rPr sz="1100" b="0" i="0">
                <a:solidFill>
                  <a:srgbClr val="28455F"/>
                </a:solidFill>
                <a:latin typeface="Arial"/>
              </a:rPr>
              <a:t>AI-assisted incl. review</a:t>
            </a:r>
          </a:p>
        </p:txBody>
      </p:sp>
      <p:sp>
        <p:nvSpPr>
          <p:cNvPr id="13" name="TextBox 12"/>
          <p:cNvSpPr txBox="1"/>
          <p:nvPr/>
        </p:nvSpPr>
        <p:spPr>
          <a:xfrm>
            <a:off x="4681727" y="1325880"/>
            <a:ext cx="228600" cy="868680"/>
          </a:xfrm>
          <a:prstGeom prst="rect">
            <a:avLst/>
          </a:prstGeom>
          <a:noFill/>
        </p:spPr>
        <p:txBody>
          <a:bodyPr wrap="square" lIns="36576" rIns="36576" tIns="18288" bIns="18288" anchor="ctr">
            <a:spAutoFit/>
          </a:bodyPr>
          <a:lstStyle/>
          <a:p>
            <a:pPr algn="ctr"/>
            <a:r>
              <a:rPr sz="3400" b="0" i="0">
                <a:solidFill>
                  <a:srgbClr val="28455F"/>
                </a:solidFill>
                <a:latin typeface="Arial"/>
              </a:rPr>
              <a:t>)</a:t>
            </a:r>
          </a:p>
        </p:txBody>
      </p:sp>
      <p:sp>
        <p:nvSpPr>
          <p:cNvPr id="14" name="TextBox 13"/>
          <p:cNvSpPr txBox="1"/>
          <p:nvPr/>
        </p:nvSpPr>
        <p:spPr>
          <a:xfrm>
            <a:off x="4910327" y="1371600"/>
            <a:ext cx="365760" cy="868680"/>
          </a:xfrm>
          <a:prstGeom prst="rect">
            <a:avLst/>
          </a:prstGeom>
          <a:noFill/>
        </p:spPr>
        <p:txBody>
          <a:bodyPr wrap="square" lIns="36576" rIns="36576" tIns="18288" bIns="18288" anchor="ctr">
            <a:spAutoFit/>
          </a:bodyPr>
          <a:lstStyle/>
          <a:p>
            <a:pPr algn="ctr"/>
            <a:r>
              <a:rPr sz="3000" b="1" i="0">
                <a:solidFill>
                  <a:srgbClr val="28455F"/>
                </a:solidFill>
                <a:latin typeface="Bahnschrift"/>
              </a:rPr>
              <a:t>×</a:t>
            </a:r>
          </a:p>
        </p:txBody>
      </p:sp>
      <p:sp>
        <p:nvSpPr>
          <p:cNvPr id="15" name="Rounded Rectangle 14"/>
          <p:cNvSpPr/>
          <p:nvPr/>
        </p:nvSpPr>
        <p:spPr>
          <a:xfrm>
            <a:off x="5276088" y="1371600"/>
            <a:ext cx="1737360" cy="868680"/>
          </a:xfrm>
          <a:prstGeom prst="roundRect">
            <a:avLst>
              <a:gd name="adj" fmla="val 8000"/>
            </a:avLst>
          </a:prstGeom>
          <a:solidFill>
            <a:srgbClr val="FFFFFF"/>
          </a:solidFill>
          <a:ln w="15875">
            <a:solidFill>
              <a:srgbClr val="D5DE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6" name="TextBox 15"/>
          <p:cNvSpPr txBox="1"/>
          <p:nvPr/>
        </p:nvSpPr>
        <p:spPr>
          <a:xfrm>
            <a:off x="5276088" y="1389888"/>
            <a:ext cx="1737360" cy="475488"/>
          </a:xfrm>
          <a:prstGeom prst="rect">
            <a:avLst/>
          </a:prstGeom>
          <a:noFill/>
        </p:spPr>
        <p:txBody>
          <a:bodyPr wrap="square" lIns="36576" rIns="36576" tIns="18288" bIns="18288" anchor="ctr">
            <a:spAutoFit/>
          </a:bodyPr>
          <a:lstStyle/>
          <a:p>
            <a:pPr algn="ctr"/>
            <a:r>
              <a:rPr sz="2400" b="1" i="0">
                <a:solidFill>
                  <a:srgbClr val="002B55"/>
                </a:solidFill>
                <a:latin typeface="Bahnschrift"/>
              </a:rPr>
              <a:t>[N]</a:t>
            </a:r>
          </a:p>
        </p:txBody>
      </p:sp>
      <p:sp>
        <p:nvSpPr>
          <p:cNvPr id="17" name="TextBox 16"/>
          <p:cNvSpPr txBox="1"/>
          <p:nvPr/>
        </p:nvSpPr>
        <p:spPr>
          <a:xfrm>
            <a:off x="5276088" y="1883664"/>
            <a:ext cx="1737360" cy="329184"/>
          </a:xfrm>
          <a:prstGeom prst="rect">
            <a:avLst/>
          </a:prstGeom>
          <a:noFill/>
        </p:spPr>
        <p:txBody>
          <a:bodyPr wrap="square" lIns="36576" rIns="36576" tIns="18288" bIns="18288" anchor="t">
            <a:spAutoFit/>
          </a:bodyPr>
          <a:lstStyle/>
          <a:p>
            <a:pPr algn="ctr"/>
            <a:r>
              <a:rPr sz="1100" b="0" i="0">
                <a:solidFill>
                  <a:srgbClr val="28455F"/>
                </a:solidFill>
                <a:latin typeface="Arial"/>
              </a:rPr>
              <a:t>cycles / year</a:t>
            </a:r>
          </a:p>
        </p:txBody>
      </p:sp>
      <p:sp>
        <p:nvSpPr>
          <p:cNvPr id="18" name="TextBox 17"/>
          <p:cNvSpPr txBox="1"/>
          <p:nvPr/>
        </p:nvSpPr>
        <p:spPr>
          <a:xfrm>
            <a:off x="7013448" y="1371600"/>
            <a:ext cx="365760" cy="868680"/>
          </a:xfrm>
          <a:prstGeom prst="rect">
            <a:avLst/>
          </a:prstGeom>
          <a:noFill/>
        </p:spPr>
        <p:txBody>
          <a:bodyPr wrap="square" lIns="36576" rIns="36576" tIns="18288" bIns="18288" anchor="ctr">
            <a:spAutoFit/>
          </a:bodyPr>
          <a:lstStyle/>
          <a:p>
            <a:pPr algn="ctr"/>
            <a:r>
              <a:rPr sz="3000" b="1" i="0">
                <a:solidFill>
                  <a:srgbClr val="28455F"/>
                </a:solidFill>
                <a:latin typeface="Bahnschrift"/>
              </a:rPr>
              <a:t>×</a:t>
            </a:r>
          </a:p>
        </p:txBody>
      </p:sp>
      <p:sp>
        <p:nvSpPr>
          <p:cNvPr id="19" name="Rounded Rectangle 18"/>
          <p:cNvSpPr/>
          <p:nvPr/>
        </p:nvSpPr>
        <p:spPr>
          <a:xfrm>
            <a:off x="7379208" y="1371600"/>
            <a:ext cx="1737360" cy="868680"/>
          </a:xfrm>
          <a:prstGeom prst="roundRect">
            <a:avLst>
              <a:gd name="adj" fmla="val 8000"/>
            </a:avLst>
          </a:prstGeom>
          <a:solidFill>
            <a:srgbClr val="FFFFFF"/>
          </a:solidFill>
          <a:ln w="15875">
            <a:solidFill>
              <a:srgbClr val="D5DE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0" name="TextBox 19"/>
          <p:cNvSpPr txBox="1"/>
          <p:nvPr/>
        </p:nvSpPr>
        <p:spPr>
          <a:xfrm>
            <a:off x="7379208" y="1389888"/>
            <a:ext cx="1737360" cy="475488"/>
          </a:xfrm>
          <a:prstGeom prst="rect">
            <a:avLst/>
          </a:prstGeom>
          <a:noFill/>
        </p:spPr>
        <p:txBody>
          <a:bodyPr wrap="square" lIns="36576" rIns="36576" tIns="18288" bIns="18288" anchor="ctr">
            <a:spAutoFit/>
          </a:bodyPr>
          <a:lstStyle/>
          <a:p>
            <a:pPr algn="ctr"/>
            <a:r>
              <a:rPr sz="2400" b="1" i="0">
                <a:solidFill>
                  <a:srgbClr val="002B55"/>
                </a:solidFill>
                <a:latin typeface="Bahnschrift"/>
              </a:rPr>
              <a:t>$[R]</a:t>
            </a:r>
          </a:p>
        </p:txBody>
      </p:sp>
      <p:sp>
        <p:nvSpPr>
          <p:cNvPr id="21" name="TextBox 20"/>
          <p:cNvSpPr txBox="1"/>
          <p:nvPr/>
        </p:nvSpPr>
        <p:spPr>
          <a:xfrm>
            <a:off x="7379208" y="1883664"/>
            <a:ext cx="1737360" cy="329184"/>
          </a:xfrm>
          <a:prstGeom prst="rect">
            <a:avLst/>
          </a:prstGeom>
          <a:noFill/>
        </p:spPr>
        <p:txBody>
          <a:bodyPr wrap="square" lIns="36576" rIns="36576" tIns="18288" bIns="18288" anchor="t">
            <a:spAutoFit/>
          </a:bodyPr>
          <a:lstStyle/>
          <a:p>
            <a:pPr algn="ctr"/>
            <a:r>
              <a:rPr sz="1100" b="0" i="0">
                <a:solidFill>
                  <a:srgbClr val="28455F"/>
                </a:solidFill>
                <a:latin typeface="Arial"/>
              </a:rPr>
              <a:t>loaded rate / hour</a:t>
            </a:r>
          </a:p>
        </p:txBody>
      </p:sp>
      <p:sp>
        <p:nvSpPr>
          <p:cNvPr id="22" name="TextBox 21"/>
          <p:cNvSpPr txBox="1"/>
          <p:nvPr/>
        </p:nvSpPr>
        <p:spPr>
          <a:xfrm>
            <a:off x="9116568" y="1371600"/>
            <a:ext cx="365760" cy="868680"/>
          </a:xfrm>
          <a:prstGeom prst="rect">
            <a:avLst/>
          </a:prstGeom>
          <a:noFill/>
        </p:spPr>
        <p:txBody>
          <a:bodyPr wrap="square" lIns="36576" rIns="36576" tIns="18288" bIns="18288" anchor="ctr">
            <a:spAutoFit/>
          </a:bodyPr>
          <a:lstStyle/>
          <a:p>
            <a:pPr algn="ctr"/>
            <a:r>
              <a:rPr sz="3000" b="1" i="0">
                <a:solidFill>
                  <a:srgbClr val="28455F"/>
                </a:solidFill>
                <a:latin typeface="Bahnschrift"/>
              </a:rPr>
              <a:t>=</a:t>
            </a:r>
          </a:p>
        </p:txBody>
      </p:sp>
      <p:sp>
        <p:nvSpPr>
          <p:cNvPr id="23" name="Rounded Rectangle 22"/>
          <p:cNvSpPr/>
          <p:nvPr/>
        </p:nvSpPr>
        <p:spPr>
          <a:xfrm>
            <a:off x="9482328" y="1371600"/>
            <a:ext cx="2011680" cy="868680"/>
          </a:xfrm>
          <a:prstGeom prst="roundRect">
            <a:avLst>
              <a:gd name="adj" fmla="val 8000"/>
            </a:avLst>
          </a:prstGeom>
          <a:solidFill>
            <a:srgbClr val="FDEBE1"/>
          </a:solidFill>
          <a:ln w="15875">
            <a:solidFill>
              <a:srgbClr val="D5DE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4" name="TextBox 23"/>
          <p:cNvSpPr txBox="1"/>
          <p:nvPr/>
        </p:nvSpPr>
        <p:spPr>
          <a:xfrm>
            <a:off x="9482328" y="1389888"/>
            <a:ext cx="2011680" cy="475488"/>
          </a:xfrm>
          <a:prstGeom prst="rect">
            <a:avLst/>
          </a:prstGeom>
          <a:noFill/>
        </p:spPr>
        <p:txBody>
          <a:bodyPr wrap="square" lIns="36576" rIns="36576" tIns="18288" bIns="18288" anchor="ctr">
            <a:spAutoFit/>
          </a:bodyPr>
          <a:lstStyle/>
          <a:p>
            <a:pPr algn="ctr"/>
            <a:r>
              <a:rPr sz="2400" b="1" i="0">
                <a:solidFill>
                  <a:srgbClr val="F47735"/>
                </a:solidFill>
                <a:latin typeface="Bahnschrift"/>
              </a:rPr>
              <a:t>$[V]</a:t>
            </a:r>
          </a:p>
        </p:txBody>
      </p:sp>
      <p:sp>
        <p:nvSpPr>
          <p:cNvPr id="25" name="TextBox 24"/>
          <p:cNvSpPr txBox="1"/>
          <p:nvPr/>
        </p:nvSpPr>
        <p:spPr>
          <a:xfrm>
            <a:off x="9482328" y="1883664"/>
            <a:ext cx="2011680" cy="329184"/>
          </a:xfrm>
          <a:prstGeom prst="rect">
            <a:avLst/>
          </a:prstGeom>
          <a:noFill/>
        </p:spPr>
        <p:txBody>
          <a:bodyPr wrap="square" lIns="36576" rIns="36576" tIns="18288" bIns="18288" anchor="t">
            <a:spAutoFit/>
          </a:bodyPr>
          <a:lstStyle/>
          <a:p>
            <a:pPr algn="ctr"/>
            <a:r>
              <a:rPr sz="1100" b="0" i="0">
                <a:solidFill>
                  <a:srgbClr val="28455F"/>
                </a:solidFill>
                <a:latin typeface="Arial"/>
              </a:rPr>
              <a:t>annual value</a:t>
            </a:r>
          </a:p>
        </p:txBody>
      </p:sp>
      <p:graphicFrame>
        <p:nvGraphicFramePr>
          <p:cNvPr id="26" name="Chart 25"/>
          <p:cNvGraphicFramePr>
            <a:graphicFrameLocks noGrp="1"/>
          </p:cNvGraphicFramePr>
          <p:nvPr/>
        </p:nvGraphicFramePr>
        <p:xfrm>
          <a:off x="612648" y="2514600"/>
          <a:ext cx="6035040" cy="3429000"/>
        </p:xfrm>
        <a:graphic>
          <a:graphicData uri="http://schemas.openxmlformats.org/drawingml/2006/chart">
            <c:chart xmlns:c="http://schemas.openxmlformats.org/drawingml/2006/chart" r:id="rId3"/>
          </a:graphicData>
        </a:graphic>
      </p:graphicFrame>
      <p:sp>
        <p:nvSpPr>
          <p:cNvPr id="27" name="TextBox 26"/>
          <p:cNvSpPr txBox="1"/>
          <p:nvPr/>
        </p:nvSpPr>
        <p:spPr>
          <a:xfrm>
            <a:off x="7040880" y="2606040"/>
            <a:ext cx="4544568" cy="914400"/>
          </a:xfrm>
          <a:prstGeom prst="rect">
            <a:avLst/>
          </a:prstGeom>
          <a:noFill/>
        </p:spPr>
        <p:txBody>
          <a:bodyPr wrap="square" lIns="36576" rIns="36576" tIns="18288" bIns="18288" anchor="ctr">
            <a:spAutoFit/>
          </a:bodyPr>
          <a:lstStyle/>
          <a:p>
            <a:pPr algn="l"/>
            <a:r>
              <a:rPr sz="5400" b="1" i="0">
                <a:solidFill>
                  <a:srgbClr val="007879"/>
                </a:solidFill>
                <a:latin typeface="Bahnschrift"/>
              </a:rPr>
              <a:t>[X] h</a:t>
            </a:r>
          </a:p>
        </p:txBody>
      </p:sp>
      <p:sp>
        <p:nvSpPr>
          <p:cNvPr id="28" name="TextBox 27"/>
          <p:cNvSpPr txBox="1"/>
          <p:nvPr/>
        </p:nvSpPr>
        <p:spPr>
          <a:xfrm>
            <a:off x="7040880" y="3520440"/>
            <a:ext cx="4544568" cy="411480"/>
          </a:xfrm>
          <a:prstGeom prst="rect">
            <a:avLst/>
          </a:prstGeom>
          <a:noFill/>
        </p:spPr>
        <p:txBody>
          <a:bodyPr wrap="square" lIns="36576" rIns="36576" tIns="18288" bIns="18288" anchor="t">
            <a:spAutoFit/>
          </a:bodyPr>
          <a:lstStyle/>
          <a:p>
            <a:pPr algn="l"/>
            <a:r>
              <a:rPr sz="1600" b="0" i="0">
                <a:solidFill>
                  <a:srgbClr val="002B55"/>
                </a:solidFill>
                <a:latin typeface="Arial"/>
              </a:rPr>
              <a:t>saved per year</a:t>
            </a:r>
          </a:p>
        </p:txBody>
      </p:sp>
      <p:sp>
        <p:nvSpPr>
          <p:cNvPr id="29" name="TextBox 28"/>
          <p:cNvSpPr txBox="1"/>
          <p:nvPr/>
        </p:nvSpPr>
        <p:spPr>
          <a:xfrm>
            <a:off x="7040880" y="4206240"/>
            <a:ext cx="4544568" cy="914400"/>
          </a:xfrm>
          <a:prstGeom prst="rect">
            <a:avLst/>
          </a:prstGeom>
          <a:noFill/>
        </p:spPr>
        <p:txBody>
          <a:bodyPr wrap="square" lIns="36576" rIns="36576" tIns="18288" bIns="18288" anchor="ctr">
            <a:spAutoFit/>
          </a:bodyPr>
          <a:lstStyle/>
          <a:p>
            <a:pPr algn="l"/>
            <a:r>
              <a:rPr sz="5400" b="1" i="0">
                <a:solidFill>
                  <a:srgbClr val="F47735"/>
                </a:solidFill>
                <a:latin typeface="Bahnschrift"/>
              </a:rPr>
              <a:t>$[Y]</a:t>
            </a:r>
          </a:p>
        </p:txBody>
      </p:sp>
      <p:sp>
        <p:nvSpPr>
          <p:cNvPr id="30" name="TextBox 29"/>
          <p:cNvSpPr txBox="1"/>
          <p:nvPr/>
        </p:nvSpPr>
        <p:spPr>
          <a:xfrm>
            <a:off x="7040880" y="5120640"/>
            <a:ext cx="4544568" cy="411480"/>
          </a:xfrm>
          <a:prstGeom prst="rect">
            <a:avLst/>
          </a:prstGeom>
          <a:noFill/>
        </p:spPr>
        <p:txBody>
          <a:bodyPr wrap="square" lIns="36576" rIns="36576" tIns="18288" bIns="18288" anchor="t">
            <a:spAutoFit/>
          </a:bodyPr>
          <a:lstStyle/>
          <a:p>
            <a:pPr algn="l"/>
            <a:r>
              <a:rPr sz="1600" b="0" i="0">
                <a:solidFill>
                  <a:srgbClr val="002B55"/>
                </a:solidFill>
                <a:latin typeface="Arial"/>
              </a:rPr>
              <a:t>value per year</a:t>
            </a:r>
          </a:p>
        </p:txBody>
      </p:sp>
      <p:sp>
        <p:nvSpPr>
          <p:cNvPr id="31" name="TextBox 30"/>
          <p:cNvSpPr txBox="1"/>
          <p:nvPr/>
        </p:nvSpPr>
        <p:spPr>
          <a:xfrm>
            <a:off x="7040880" y="5715000"/>
            <a:ext cx="4544568" cy="457200"/>
          </a:xfrm>
          <a:prstGeom prst="rect">
            <a:avLst/>
          </a:prstGeom>
          <a:noFill/>
        </p:spPr>
        <p:txBody>
          <a:bodyPr wrap="square" lIns="36576" rIns="36576" tIns="18288" bIns="18288" anchor="t">
            <a:spAutoFit/>
          </a:bodyPr>
          <a:lstStyle/>
          <a:p>
            <a:pPr algn="l"/>
            <a:r>
              <a:rPr sz="1100" b="0" i="1">
                <a:solidFill>
                  <a:srgbClr val="8A9BAA"/>
                </a:solidFill>
                <a:latin typeface="Arial"/>
              </a:rPr>
              <a:t>Team estimates, not measured results. Practice data are fictional.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EFB"/>
        </a:solidFill>
        <a:effectLst/>
      </p:bgPr>
    </p:bg>
    <p:spTree>
      <p:nvGrpSpPr>
        <p:cNvPr id="1" name=""/>
        <p:cNvGrpSpPr/>
        <p:nvPr/>
      </p:nvGrpSpPr>
      <p:grpSpPr/>
      <p:sp>
        <p:nvSpPr>
          <p:cNvPr id="2" name="TextBox 1"/>
          <p:cNvSpPr txBox="1"/>
          <p:nvPr/>
        </p:nvSpPr>
        <p:spPr>
          <a:xfrm>
            <a:off x="612648" y="365760"/>
            <a:ext cx="10972800" cy="777240"/>
          </a:xfrm>
          <a:prstGeom prst="rect">
            <a:avLst/>
          </a:prstGeom>
          <a:noFill/>
        </p:spPr>
        <p:txBody>
          <a:bodyPr wrap="square" lIns="36576" rIns="36576" tIns="18288" bIns="18288" anchor="ctr">
            <a:spAutoFit/>
          </a:bodyPr>
          <a:lstStyle/>
          <a:p>
            <a:pPr algn="l"/>
            <a:r>
              <a:rPr sz="3000" b="1" i="0">
                <a:solidFill>
                  <a:srgbClr val="002B55"/>
                </a:solidFill>
                <a:latin typeface="Bahnschrift"/>
              </a:rPr>
              <a:t>Risks we designed out</a:t>
            </a:r>
          </a:p>
        </p:txBody>
      </p:sp>
      <p:sp>
        <p:nvSpPr>
          <p:cNvPr id="3" name="TextBox 2"/>
          <p:cNvSpPr txBox="1"/>
          <p:nvPr/>
        </p:nvSpPr>
        <p:spPr>
          <a:xfrm>
            <a:off x="612648" y="6437376"/>
            <a:ext cx="5715000" cy="219456"/>
          </a:xfrm>
          <a:prstGeom prst="rect">
            <a:avLst/>
          </a:prstGeom>
          <a:noFill/>
        </p:spPr>
        <p:txBody>
          <a:bodyPr wrap="square" lIns="36576" rIns="36576" tIns="18288" bIns="18288" anchor="t">
            <a:spAutoFit/>
          </a:bodyPr>
          <a:lstStyle/>
          <a:p>
            <a:pPr algn="l"/>
            <a:r>
              <a:rPr sz="1050" b="0" i="0">
                <a:solidFill>
                  <a:srgbClr val="28455F"/>
                </a:solidFill>
                <a:latin typeface="Arial"/>
              </a:rPr>
              <a:t>AI IN ACTION / MEDICAL AFFAIRS</a:t>
            </a:r>
          </a:p>
        </p:txBody>
      </p:sp>
      <p:sp>
        <p:nvSpPr>
          <p:cNvPr id="4" name="TextBox 3"/>
          <p:cNvSpPr txBox="1"/>
          <p:nvPr/>
        </p:nvSpPr>
        <p:spPr>
          <a:xfrm>
            <a:off x="11064240" y="6400800"/>
            <a:ext cx="548640" cy="256032"/>
          </a:xfrm>
          <a:prstGeom prst="rect">
            <a:avLst/>
          </a:prstGeom>
          <a:noFill/>
        </p:spPr>
        <p:txBody>
          <a:bodyPr wrap="square" lIns="36576" rIns="36576" tIns="18288" bIns="18288" anchor="t">
            <a:spAutoFit/>
          </a:bodyPr>
          <a:lstStyle/>
          <a:p>
            <a:pPr algn="r"/>
            <a:r>
              <a:rPr sz="1275" b="1" i="0">
                <a:solidFill>
                  <a:srgbClr val="28455F"/>
                </a:solidFill>
                <a:latin typeface="Bahnschrift"/>
              </a:rPr>
              <a:t>10</a:t>
            </a:r>
          </a:p>
        </p:txBody>
      </p:sp>
      <p:sp>
        <p:nvSpPr>
          <p:cNvPr id="5" name="Rounded Rectangle 4"/>
          <p:cNvSpPr/>
          <p:nvPr/>
        </p:nvSpPr>
        <p:spPr>
          <a:xfrm>
            <a:off x="612648" y="1325880"/>
            <a:ext cx="10972800" cy="822960"/>
          </a:xfrm>
          <a:prstGeom prst="roundRect">
            <a:avLst>
              <a:gd name="adj" fmla="val 12000"/>
            </a:avLst>
          </a:prstGeom>
          <a:solidFill>
            <a:srgbClr val="FFFFFF"/>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6" name="Rounded Rectangle 5"/>
          <p:cNvSpPr/>
          <p:nvPr/>
        </p:nvSpPr>
        <p:spPr>
          <a:xfrm>
            <a:off x="612648" y="1325880"/>
            <a:ext cx="2377440" cy="822960"/>
          </a:xfrm>
          <a:prstGeom prst="roundRect">
            <a:avLst>
              <a:gd name="adj" fmla="val 12000"/>
            </a:avLst>
          </a:prstGeom>
          <a:solidFill>
            <a:srgbClr val="2E9D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700" b="1" i="0">
                <a:solidFill>
                  <a:srgbClr val="FFFFFF"/>
                </a:solidFill>
                <a:latin typeface="Bahnschrift"/>
              </a:rPr>
              <a:t>GREEN</a:t>
            </a:r>
          </a:p>
          <a:p>
            <a:pPr algn="ctr"/>
            <a:r>
              <a:rPr sz="1200" b="0" i="0">
                <a:solidFill>
                  <a:srgbClr val="FFFFFF"/>
                </a:solidFill>
                <a:latin typeface="Arial"/>
              </a:rPr>
              <a:t>Agent proceeds</a:t>
            </a:r>
          </a:p>
        </p:txBody>
      </p:sp>
      <p:sp>
        <p:nvSpPr>
          <p:cNvPr id="7" name="TextBox 6"/>
          <p:cNvSpPr txBox="1"/>
          <p:nvPr/>
        </p:nvSpPr>
        <p:spPr>
          <a:xfrm>
            <a:off x="3200400" y="1325880"/>
            <a:ext cx="6400800" cy="822960"/>
          </a:xfrm>
          <a:prstGeom prst="rect">
            <a:avLst/>
          </a:prstGeom>
          <a:noFill/>
        </p:spPr>
        <p:txBody>
          <a:bodyPr wrap="square" lIns="36576" rIns="36576" tIns="18288" bIns="18288" anchor="ctr">
            <a:spAutoFit/>
          </a:bodyPr>
          <a:lstStyle/>
          <a:p>
            <a:pPr algn="l"/>
            <a:r>
              <a:rPr sz="1500" b="0" i="0">
                <a:solidFill>
                  <a:srgbClr val="002B55"/>
                </a:solidFill>
                <a:latin typeface="Arial"/>
              </a:rPr>
              <a:t>[e.g. read files, build tables, draft]</a:t>
            </a:r>
          </a:p>
        </p:txBody>
      </p:sp>
      <p:sp>
        <p:nvSpPr>
          <p:cNvPr id="8" name="TextBox 7"/>
          <p:cNvSpPr txBox="1"/>
          <p:nvPr/>
        </p:nvSpPr>
        <p:spPr>
          <a:xfrm>
            <a:off x="9601200" y="1325880"/>
            <a:ext cx="1874519" cy="822960"/>
          </a:xfrm>
          <a:prstGeom prst="rect">
            <a:avLst/>
          </a:prstGeom>
          <a:noFill/>
        </p:spPr>
        <p:txBody>
          <a:bodyPr wrap="square" lIns="36576" rIns="36576" tIns="18288" bIns="18288" anchor="ctr">
            <a:spAutoFit/>
          </a:bodyPr>
          <a:lstStyle/>
          <a:p>
            <a:pPr algn="r"/>
            <a:r>
              <a:rPr sz="1400" b="1" i="0">
                <a:solidFill>
                  <a:srgbClr val="2E9D6B"/>
                </a:solidFill>
                <a:latin typeface="Bahnschrift"/>
              </a:rPr>
              <a:t>Agent</a:t>
            </a:r>
          </a:p>
        </p:txBody>
      </p:sp>
      <p:sp>
        <p:nvSpPr>
          <p:cNvPr id="9" name="Rounded Rectangle 8"/>
          <p:cNvSpPr/>
          <p:nvPr/>
        </p:nvSpPr>
        <p:spPr>
          <a:xfrm>
            <a:off x="612648" y="2286000"/>
            <a:ext cx="10972800" cy="822960"/>
          </a:xfrm>
          <a:prstGeom prst="roundRect">
            <a:avLst>
              <a:gd name="adj" fmla="val 12000"/>
            </a:avLst>
          </a:prstGeom>
          <a:solidFill>
            <a:srgbClr val="FFFFFF"/>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0" name="Rounded Rectangle 9"/>
          <p:cNvSpPr/>
          <p:nvPr/>
        </p:nvSpPr>
        <p:spPr>
          <a:xfrm>
            <a:off x="612648" y="2286000"/>
            <a:ext cx="2377440" cy="822960"/>
          </a:xfrm>
          <a:prstGeom prst="roundRect">
            <a:avLst>
              <a:gd name="adj" fmla="val 12000"/>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700" b="1" i="0">
                <a:solidFill>
                  <a:srgbClr val="FFFFFF"/>
                </a:solidFill>
                <a:latin typeface="Bahnschrift"/>
              </a:rPr>
              <a:t>YELLOW</a:t>
            </a:r>
          </a:p>
          <a:p>
            <a:pPr algn="ctr"/>
            <a:r>
              <a:rPr sz="1200" b="0" i="0">
                <a:solidFill>
                  <a:srgbClr val="FFFFFF"/>
                </a:solidFill>
                <a:latin typeface="Arial"/>
              </a:rPr>
              <a:t>Proceed and flag</a:t>
            </a:r>
          </a:p>
        </p:txBody>
      </p:sp>
      <p:sp>
        <p:nvSpPr>
          <p:cNvPr id="11" name="TextBox 10"/>
          <p:cNvSpPr txBox="1"/>
          <p:nvPr/>
        </p:nvSpPr>
        <p:spPr>
          <a:xfrm>
            <a:off x="3200400" y="2286000"/>
            <a:ext cx="6400800" cy="822960"/>
          </a:xfrm>
          <a:prstGeom prst="rect">
            <a:avLst/>
          </a:prstGeom>
          <a:noFill/>
        </p:spPr>
        <p:txBody>
          <a:bodyPr wrap="square" lIns="36576" rIns="36576" tIns="18288" bIns="18288" anchor="ctr">
            <a:spAutoFit/>
          </a:bodyPr>
          <a:lstStyle/>
          <a:p>
            <a:pPr algn="l"/>
            <a:r>
              <a:rPr sz="1500" b="0" i="0">
                <a:solidFill>
                  <a:srgbClr val="002B55"/>
                </a:solidFill>
                <a:latin typeface="Arial"/>
              </a:rPr>
              <a:t>[e.g. conflicting or missing sources]</a:t>
            </a:r>
          </a:p>
        </p:txBody>
      </p:sp>
      <p:sp>
        <p:nvSpPr>
          <p:cNvPr id="12" name="TextBox 11"/>
          <p:cNvSpPr txBox="1"/>
          <p:nvPr/>
        </p:nvSpPr>
        <p:spPr>
          <a:xfrm>
            <a:off x="9601200" y="2286000"/>
            <a:ext cx="1874519" cy="822960"/>
          </a:xfrm>
          <a:prstGeom prst="rect">
            <a:avLst/>
          </a:prstGeom>
          <a:noFill/>
        </p:spPr>
        <p:txBody>
          <a:bodyPr wrap="square" lIns="36576" rIns="36576" tIns="18288" bIns="18288" anchor="ctr">
            <a:spAutoFit/>
          </a:bodyPr>
          <a:lstStyle/>
          <a:p>
            <a:pPr algn="r"/>
            <a:r>
              <a:rPr sz="1400" b="1" i="0">
                <a:solidFill>
                  <a:srgbClr val="B7791F"/>
                </a:solidFill>
                <a:latin typeface="Bahnschrift"/>
              </a:rPr>
              <a:t>Agent + flag</a:t>
            </a:r>
          </a:p>
        </p:txBody>
      </p:sp>
      <p:sp>
        <p:nvSpPr>
          <p:cNvPr id="13" name="Rounded Rectangle 12"/>
          <p:cNvSpPr/>
          <p:nvPr/>
        </p:nvSpPr>
        <p:spPr>
          <a:xfrm>
            <a:off x="612648" y="3246120"/>
            <a:ext cx="10972800" cy="822960"/>
          </a:xfrm>
          <a:prstGeom prst="roundRect">
            <a:avLst>
              <a:gd name="adj" fmla="val 12000"/>
            </a:avLst>
          </a:prstGeom>
          <a:solidFill>
            <a:srgbClr val="FFFFFF"/>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4" name="Rounded Rectangle 13"/>
          <p:cNvSpPr/>
          <p:nvPr/>
        </p:nvSpPr>
        <p:spPr>
          <a:xfrm>
            <a:off x="612648" y="3246120"/>
            <a:ext cx="2377440" cy="822960"/>
          </a:xfrm>
          <a:prstGeom prst="roundRect">
            <a:avLst>
              <a:gd name="adj" fmla="val 12000"/>
            </a:avLst>
          </a:prstGeom>
          <a:solidFill>
            <a:srgbClr val="D64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700" b="1" i="0">
                <a:solidFill>
                  <a:srgbClr val="FFFFFF"/>
                </a:solidFill>
                <a:latin typeface="Bahnschrift"/>
              </a:rPr>
              <a:t>RED</a:t>
            </a:r>
          </a:p>
          <a:p>
            <a:pPr algn="ctr"/>
            <a:r>
              <a:rPr sz="1200" b="0" i="0">
                <a:solidFill>
                  <a:srgbClr val="FFFFFF"/>
                </a:solidFill>
                <a:latin typeface="Arial"/>
              </a:rPr>
              <a:t>Human decides</a:t>
            </a:r>
          </a:p>
        </p:txBody>
      </p:sp>
      <p:sp>
        <p:nvSpPr>
          <p:cNvPr id="15" name="TextBox 14"/>
          <p:cNvSpPr txBox="1"/>
          <p:nvPr/>
        </p:nvSpPr>
        <p:spPr>
          <a:xfrm>
            <a:off x="3200400" y="3246120"/>
            <a:ext cx="6400800" cy="822960"/>
          </a:xfrm>
          <a:prstGeom prst="rect">
            <a:avLst/>
          </a:prstGeom>
          <a:noFill/>
        </p:spPr>
        <p:txBody>
          <a:bodyPr wrap="square" lIns="36576" rIns="36576" tIns="18288" bIns="18288" anchor="ctr">
            <a:spAutoFit/>
          </a:bodyPr>
          <a:lstStyle/>
          <a:p>
            <a:pPr algn="l"/>
            <a:r>
              <a:rPr sz="1500" b="0" i="0">
                <a:solidFill>
                  <a:srgbClr val="002B55"/>
                </a:solidFill>
                <a:latin typeface="Arial"/>
              </a:rPr>
              <a:t>[e.g. anything external, safety, approvals]</a:t>
            </a:r>
          </a:p>
        </p:txBody>
      </p:sp>
      <p:sp>
        <p:nvSpPr>
          <p:cNvPr id="16" name="TextBox 15"/>
          <p:cNvSpPr txBox="1"/>
          <p:nvPr/>
        </p:nvSpPr>
        <p:spPr>
          <a:xfrm>
            <a:off x="9601200" y="3246120"/>
            <a:ext cx="1874519" cy="822960"/>
          </a:xfrm>
          <a:prstGeom prst="rect">
            <a:avLst/>
          </a:prstGeom>
          <a:noFill/>
        </p:spPr>
        <p:txBody>
          <a:bodyPr wrap="square" lIns="36576" rIns="36576" tIns="18288" bIns="18288" anchor="ctr">
            <a:spAutoFit/>
          </a:bodyPr>
          <a:lstStyle/>
          <a:p>
            <a:pPr algn="r"/>
            <a:r>
              <a:rPr sz="1400" b="1" i="0">
                <a:solidFill>
                  <a:srgbClr val="D64545"/>
                </a:solidFill>
                <a:latin typeface="Bahnschrift"/>
              </a:rPr>
              <a:t>You decide</a:t>
            </a:r>
          </a:p>
        </p:txBody>
      </p:sp>
      <p:sp>
        <p:nvSpPr>
          <p:cNvPr id="17" name="Rounded Rectangle 16"/>
          <p:cNvSpPr/>
          <p:nvPr/>
        </p:nvSpPr>
        <p:spPr>
          <a:xfrm>
            <a:off x="612648" y="4343400"/>
            <a:ext cx="3520440" cy="685800"/>
          </a:xfrm>
          <a:prstGeom prst="roundRect">
            <a:avLst>
              <a:gd name="adj" fmla="val 10000"/>
            </a:avLst>
          </a:prstGeom>
          <a:solidFill>
            <a:srgbClr val="FDEB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solidFill>
                  <a:srgbClr val="B4501F"/>
                </a:solidFill>
                <a:latin typeface="Arial"/>
              </a:rPr>
              <a:t>[Risk 1]</a:t>
            </a:r>
          </a:p>
        </p:txBody>
      </p:sp>
      <p:cxnSp>
        <p:nvCxnSpPr>
          <p:cNvPr id="18" name="Connector 17"/>
          <p:cNvCxnSpPr/>
          <p:nvPr/>
        </p:nvCxnSpPr>
        <p:spPr>
          <a:xfrm>
            <a:off x="2368296" y="5029200"/>
            <a:ext cx="0" cy="228600"/>
          </a:xfrm>
          <a:prstGeom prst="line">
            <a:avLst/>
          </a:prstGeom>
          <a:ln w="15875">
            <a:solidFill>
              <a:srgbClr val="8A9B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12648" y="5257800"/>
            <a:ext cx="3520440" cy="868680"/>
          </a:xfrm>
          <a:prstGeom prst="roundRect">
            <a:avLst>
              <a:gd name="adj" fmla="val 10000"/>
            </a:avLst>
          </a:prstGeom>
          <a:solidFill>
            <a:srgbClr val="E3F1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solidFill>
                  <a:srgbClr val="007879"/>
                </a:solidFill>
                <a:latin typeface="Arial"/>
              </a:rPr>
              <a:t>[Guardrail we built]</a:t>
            </a:r>
          </a:p>
        </p:txBody>
      </p:sp>
      <p:sp>
        <p:nvSpPr>
          <p:cNvPr id="20" name="Rounded Rectangle 19"/>
          <p:cNvSpPr/>
          <p:nvPr/>
        </p:nvSpPr>
        <p:spPr>
          <a:xfrm>
            <a:off x="4334256" y="4343400"/>
            <a:ext cx="3520440" cy="685800"/>
          </a:xfrm>
          <a:prstGeom prst="roundRect">
            <a:avLst>
              <a:gd name="adj" fmla="val 10000"/>
            </a:avLst>
          </a:prstGeom>
          <a:solidFill>
            <a:srgbClr val="FDEB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solidFill>
                  <a:srgbClr val="B4501F"/>
                </a:solidFill>
                <a:latin typeface="Arial"/>
              </a:rPr>
              <a:t>[Risk 2]</a:t>
            </a:r>
          </a:p>
        </p:txBody>
      </p:sp>
      <p:cxnSp>
        <p:nvCxnSpPr>
          <p:cNvPr id="21" name="Connector 20"/>
          <p:cNvCxnSpPr/>
          <p:nvPr/>
        </p:nvCxnSpPr>
        <p:spPr>
          <a:xfrm>
            <a:off x="6089904" y="5029200"/>
            <a:ext cx="0" cy="228600"/>
          </a:xfrm>
          <a:prstGeom prst="line">
            <a:avLst/>
          </a:prstGeom>
          <a:ln w="15875">
            <a:solidFill>
              <a:srgbClr val="8A9B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334256" y="5257800"/>
            <a:ext cx="3520440" cy="868680"/>
          </a:xfrm>
          <a:prstGeom prst="roundRect">
            <a:avLst>
              <a:gd name="adj" fmla="val 10000"/>
            </a:avLst>
          </a:prstGeom>
          <a:solidFill>
            <a:srgbClr val="E3F1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solidFill>
                  <a:srgbClr val="007879"/>
                </a:solidFill>
                <a:latin typeface="Arial"/>
              </a:rPr>
              <a:t>[Guardrail we built]</a:t>
            </a:r>
          </a:p>
        </p:txBody>
      </p:sp>
      <p:sp>
        <p:nvSpPr>
          <p:cNvPr id="23" name="Rounded Rectangle 22"/>
          <p:cNvSpPr/>
          <p:nvPr/>
        </p:nvSpPr>
        <p:spPr>
          <a:xfrm>
            <a:off x="8055864" y="4343400"/>
            <a:ext cx="3520440" cy="685800"/>
          </a:xfrm>
          <a:prstGeom prst="roundRect">
            <a:avLst>
              <a:gd name="adj" fmla="val 10000"/>
            </a:avLst>
          </a:prstGeom>
          <a:solidFill>
            <a:srgbClr val="FDEB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solidFill>
                  <a:srgbClr val="B4501F"/>
                </a:solidFill>
                <a:latin typeface="Arial"/>
              </a:rPr>
              <a:t>[Risk 3]</a:t>
            </a:r>
          </a:p>
        </p:txBody>
      </p:sp>
      <p:cxnSp>
        <p:nvCxnSpPr>
          <p:cNvPr id="24" name="Connector 23"/>
          <p:cNvCxnSpPr/>
          <p:nvPr/>
        </p:nvCxnSpPr>
        <p:spPr>
          <a:xfrm>
            <a:off x="9811512" y="5029200"/>
            <a:ext cx="0" cy="228600"/>
          </a:xfrm>
          <a:prstGeom prst="line">
            <a:avLst/>
          </a:prstGeom>
          <a:ln w="15875">
            <a:solidFill>
              <a:srgbClr val="8A9B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055864" y="5257800"/>
            <a:ext cx="3520440" cy="868680"/>
          </a:xfrm>
          <a:prstGeom prst="roundRect">
            <a:avLst>
              <a:gd name="adj" fmla="val 10000"/>
            </a:avLst>
          </a:prstGeom>
          <a:solidFill>
            <a:srgbClr val="E3F1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solidFill>
                  <a:srgbClr val="007879"/>
                </a:solidFill>
                <a:latin typeface="Arial"/>
              </a:rPr>
              <a:t>[Guardrail we built]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EFB"/>
        </a:solidFill>
        <a:effectLst/>
      </p:bgPr>
    </p:bg>
    <p:spTree>
      <p:nvGrpSpPr>
        <p:cNvPr id="1" name=""/>
        <p:cNvGrpSpPr/>
        <p:nvPr/>
      </p:nvGrpSpPr>
      <p:grpSpPr/>
      <p:sp>
        <p:nvSpPr>
          <p:cNvPr id="2" name="TextBox 1"/>
          <p:cNvSpPr txBox="1"/>
          <p:nvPr/>
        </p:nvSpPr>
        <p:spPr>
          <a:xfrm>
            <a:off x="612648" y="365760"/>
            <a:ext cx="10972800" cy="777240"/>
          </a:xfrm>
          <a:prstGeom prst="rect">
            <a:avLst/>
          </a:prstGeom>
          <a:noFill/>
        </p:spPr>
        <p:txBody>
          <a:bodyPr wrap="square" lIns="36576" rIns="36576" tIns="18288" bIns="18288" anchor="ctr">
            <a:spAutoFit/>
          </a:bodyPr>
          <a:lstStyle/>
          <a:p>
            <a:pPr algn="l"/>
            <a:r>
              <a:rPr sz="3000" b="1" i="0">
                <a:solidFill>
                  <a:srgbClr val="002B55"/>
                </a:solidFill>
                <a:latin typeface="Bahnschrift"/>
              </a:rPr>
              <a:t>Faster is good. New is better.</a:t>
            </a:r>
          </a:p>
        </p:txBody>
      </p:sp>
      <p:sp>
        <p:nvSpPr>
          <p:cNvPr id="3" name="TextBox 2"/>
          <p:cNvSpPr txBox="1"/>
          <p:nvPr/>
        </p:nvSpPr>
        <p:spPr>
          <a:xfrm>
            <a:off x="612648" y="6437376"/>
            <a:ext cx="5715000" cy="219456"/>
          </a:xfrm>
          <a:prstGeom prst="rect">
            <a:avLst/>
          </a:prstGeom>
          <a:noFill/>
        </p:spPr>
        <p:txBody>
          <a:bodyPr wrap="square" lIns="36576" rIns="36576" tIns="18288" bIns="18288" anchor="t">
            <a:spAutoFit/>
          </a:bodyPr>
          <a:lstStyle/>
          <a:p>
            <a:pPr algn="l"/>
            <a:r>
              <a:rPr sz="1050" b="0" i="0">
                <a:solidFill>
                  <a:srgbClr val="28455F"/>
                </a:solidFill>
                <a:latin typeface="Arial"/>
              </a:rPr>
              <a:t>AI IN ACTION / MEDICAL AFFAIRS</a:t>
            </a:r>
          </a:p>
        </p:txBody>
      </p:sp>
      <p:sp>
        <p:nvSpPr>
          <p:cNvPr id="4" name="TextBox 3"/>
          <p:cNvSpPr txBox="1"/>
          <p:nvPr/>
        </p:nvSpPr>
        <p:spPr>
          <a:xfrm>
            <a:off x="11064240" y="6400800"/>
            <a:ext cx="548640" cy="256032"/>
          </a:xfrm>
          <a:prstGeom prst="rect">
            <a:avLst/>
          </a:prstGeom>
          <a:noFill/>
        </p:spPr>
        <p:txBody>
          <a:bodyPr wrap="square" lIns="36576" rIns="36576" tIns="18288" bIns="18288" anchor="t">
            <a:spAutoFit/>
          </a:bodyPr>
          <a:lstStyle/>
          <a:p>
            <a:pPr algn="r"/>
            <a:r>
              <a:rPr sz="1275" b="1" i="0">
                <a:solidFill>
                  <a:srgbClr val="28455F"/>
                </a:solidFill>
                <a:latin typeface="Bahnschrift"/>
              </a:rPr>
              <a:t>11</a:t>
            </a:r>
          </a:p>
        </p:txBody>
      </p:sp>
      <p:sp>
        <p:nvSpPr>
          <p:cNvPr id="5" name="Rounded Rectangle 4"/>
          <p:cNvSpPr/>
          <p:nvPr/>
        </p:nvSpPr>
        <p:spPr>
          <a:xfrm>
            <a:off x="612648" y="1371600"/>
            <a:ext cx="5257800" cy="4434840"/>
          </a:xfrm>
          <a:prstGeom prst="roundRect">
            <a:avLst>
              <a:gd name="adj" fmla="val 5000"/>
            </a:avLst>
          </a:prstGeom>
          <a:solidFill>
            <a:srgbClr val="E3F1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6" name="Rectangle 5"/>
          <p:cNvSpPr/>
          <p:nvPr/>
        </p:nvSpPr>
        <p:spPr>
          <a:xfrm>
            <a:off x="612648" y="1371600"/>
            <a:ext cx="5257800" cy="109728"/>
          </a:xfrm>
          <a:prstGeom prst="rect">
            <a:avLst/>
          </a:prstGeom>
          <a:solidFill>
            <a:srgbClr val="0078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7" name="TextBox 6"/>
          <p:cNvSpPr txBox="1"/>
          <p:nvPr/>
        </p:nvSpPr>
        <p:spPr>
          <a:xfrm>
            <a:off x="932688" y="1645920"/>
            <a:ext cx="4663440" cy="365760"/>
          </a:xfrm>
          <a:prstGeom prst="rect">
            <a:avLst/>
          </a:prstGeom>
          <a:noFill/>
        </p:spPr>
        <p:txBody>
          <a:bodyPr wrap="square" lIns="36576" rIns="36576" tIns="18288" bIns="18288" anchor="t">
            <a:spAutoFit/>
          </a:bodyPr>
          <a:lstStyle/>
          <a:p>
            <a:pPr algn="l"/>
            <a:r>
              <a:rPr sz="1400" b="1" i="0">
                <a:solidFill>
                  <a:srgbClr val="007879"/>
                </a:solidFill>
                <a:latin typeface="Bahnschrift"/>
              </a:rPr>
              <a:t>EFFICIENCY AI</a:t>
            </a:r>
          </a:p>
        </p:txBody>
      </p:sp>
      <p:sp>
        <p:nvSpPr>
          <p:cNvPr id="8" name="TextBox 7"/>
          <p:cNvSpPr txBox="1"/>
          <p:nvPr/>
        </p:nvSpPr>
        <p:spPr>
          <a:xfrm>
            <a:off x="932688" y="2011680"/>
            <a:ext cx="4663440" cy="548640"/>
          </a:xfrm>
          <a:prstGeom prst="rect">
            <a:avLst/>
          </a:prstGeom>
          <a:noFill/>
        </p:spPr>
        <p:txBody>
          <a:bodyPr wrap="square" lIns="36576" rIns="36576" tIns="18288" bIns="18288" anchor="t">
            <a:spAutoFit/>
          </a:bodyPr>
          <a:lstStyle/>
          <a:p>
            <a:pPr algn="l"/>
            <a:r>
              <a:rPr sz="2400" b="1" i="0">
                <a:solidFill>
                  <a:srgbClr val="002B55"/>
                </a:solidFill>
                <a:latin typeface="Bahnschrift"/>
              </a:rPr>
              <a:t>Do today's work faster</a:t>
            </a:r>
          </a:p>
        </p:txBody>
      </p:sp>
      <p:sp>
        <p:nvSpPr>
          <p:cNvPr id="9" name="TextBox 8"/>
          <p:cNvSpPr txBox="1"/>
          <p:nvPr/>
        </p:nvSpPr>
        <p:spPr>
          <a:xfrm>
            <a:off x="932688" y="2788920"/>
            <a:ext cx="4663440" cy="1005840"/>
          </a:xfrm>
          <a:prstGeom prst="rect">
            <a:avLst/>
          </a:prstGeom>
          <a:noFill/>
        </p:spPr>
        <p:txBody>
          <a:bodyPr wrap="square" lIns="36576" rIns="36576" tIns="18288" bIns="18288" anchor="ctr">
            <a:spAutoFit/>
          </a:bodyPr>
          <a:lstStyle/>
          <a:p>
            <a:pPr algn="l"/>
            <a:r>
              <a:rPr sz="4000" b="1" i="0">
                <a:solidFill>
                  <a:srgbClr val="007879"/>
                </a:solidFill>
                <a:latin typeface="Bahnschrift"/>
              </a:rPr>
              <a:t>[X]% less time</a:t>
            </a:r>
          </a:p>
        </p:txBody>
      </p:sp>
      <p:cxnSp>
        <p:nvCxnSpPr>
          <p:cNvPr id="10" name="Connector 9"/>
          <p:cNvCxnSpPr/>
          <p:nvPr/>
        </p:nvCxnSpPr>
        <p:spPr>
          <a:xfrm>
            <a:off x="932688" y="3977639"/>
            <a:ext cx="4617720" cy="0"/>
          </a:xfrm>
          <a:prstGeom prst="line">
            <a:avLst/>
          </a:prstGeom>
          <a:ln w="25400">
            <a:solidFill>
              <a:srgbClr val="FFFFFF"/>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932688" y="4114800"/>
            <a:ext cx="4663440" cy="731520"/>
          </a:xfrm>
          <a:prstGeom prst="rect">
            <a:avLst/>
          </a:prstGeom>
          <a:noFill/>
        </p:spPr>
        <p:txBody>
          <a:bodyPr wrap="square" lIns="36576" rIns="36576" tIns="18288" bIns="18288" anchor="t">
            <a:spAutoFit/>
          </a:bodyPr>
          <a:lstStyle/>
          <a:p>
            <a:pPr algn="l"/>
            <a:r>
              <a:rPr sz="1700" b="1" i="0">
                <a:solidFill>
                  <a:srgbClr val="002B55"/>
                </a:solidFill>
                <a:latin typeface="Arial"/>
              </a:rPr>
              <a:t>[Task] takes [Y] h, not [Z] h</a:t>
            </a:r>
          </a:p>
        </p:txBody>
      </p:sp>
      <p:sp>
        <p:nvSpPr>
          <p:cNvPr id="12" name="TextBox 11"/>
          <p:cNvSpPr txBox="1"/>
          <p:nvPr/>
        </p:nvSpPr>
        <p:spPr>
          <a:xfrm>
            <a:off x="932688" y="4892040"/>
            <a:ext cx="4663440" cy="731520"/>
          </a:xfrm>
          <a:prstGeom prst="rect">
            <a:avLst/>
          </a:prstGeom>
          <a:noFill/>
        </p:spPr>
        <p:txBody>
          <a:bodyPr wrap="square" lIns="36576" rIns="36576" tIns="18288" bIns="18288" anchor="t">
            <a:spAutoFit/>
          </a:bodyPr>
          <a:lstStyle/>
          <a:p>
            <a:pPr algn="l"/>
            <a:r>
              <a:rPr sz="1500" b="0" i="0">
                <a:solidFill>
                  <a:srgbClr val="28455F"/>
                </a:solidFill>
                <a:latin typeface="Arial"/>
              </a:rPr>
              <a:t>[Who gets the time back]</a:t>
            </a:r>
          </a:p>
        </p:txBody>
      </p:sp>
      <p:sp>
        <p:nvSpPr>
          <p:cNvPr id="13" name="Rounded Rectangle 12"/>
          <p:cNvSpPr/>
          <p:nvPr/>
        </p:nvSpPr>
        <p:spPr>
          <a:xfrm>
            <a:off x="6327648" y="1371600"/>
            <a:ext cx="5257800" cy="4434840"/>
          </a:xfrm>
          <a:prstGeom prst="roundRect">
            <a:avLst>
              <a:gd name="adj" fmla="val 5000"/>
            </a:avLst>
          </a:prstGeom>
          <a:solidFill>
            <a:srgbClr val="FDEB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4" name="Rectangle 13"/>
          <p:cNvSpPr/>
          <p:nvPr/>
        </p:nvSpPr>
        <p:spPr>
          <a:xfrm>
            <a:off x="6327648" y="1371600"/>
            <a:ext cx="5257800" cy="109728"/>
          </a:xfrm>
          <a:prstGeom prst="rect">
            <a:avLst/>
          </a:prstGeom>
          <a:solidFill>
            <a:srgbClr val="F477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5" name="TextBox 14"/>
          <p:cNvSpPr txBox="1"/>
          <p:nvPr/>
        </p:nvSpPr>
        <p:spPr>
          <a:xfrm>
            <a:off x="6647688" y="1645920"/>
            <a:ext cx="4663440" cy="365760"/>
          </a:xfrm>
          <a:prstGeom prst="rect">
            <a:avLst/>
          </a:prstGeom>
          <a:noFill/>
        </p:spPr>
        <p:txBody>
          <a:bodyPr wrap="square" lIns="36576" rIns="36576" tIns="18288" bIns="18288" anchor="t">
            <a:spAutoFit/>
          </a:bodyPr>
          <a:lstStyle/>
          <a:p>
            <a:pPr algn="l"/>
            <a:r>
              <a:rPr sz="1400" b="1" i="0">
                <a:solidFill>
                  <a:srgbClr val="F47735"/>
                </a:solidFill>
                <a:latin typeface="Bahnschrift"/>
              </a:rPr>
              <a:t>OPPORTUNITY AI</a:t>
            </a:r>
          </a:p>
        </p:txBody>
      </p:sp>
      <p:sp>
        <p:nvSpPr>
          <p:cNvPr id="16" name="TextBox 15"/>
          <p:cNvSpPr txBox="1"/>
          <p:nvPr/>
        </p:nvSpPr>
        <p:spPr>
          <a:xfrm>
            <a:off x="6647688" y="2011680"/>
            <a:ext cx="4663440" cy="548640"/>
          </a:xfrm>
          <a:prstGeom prst="rect">
            <a:avLst/>
          </a:prstGeom>
          <a:noFill/>
        </p:spPr>
        <p:txBody>
          <a:bodyPr wrap="square" lIns="36576" rIns="36576" tIns="18288" bIns="18288" anchor="t">
            <a:spAutoFit/>
          </a:bodyPr>
          <a:lstStyle/>
          <a:p>
            <a:pPr algn="l"/>
            <a:r>
              <a:rPr sz="2400" b="1" i="0">
                <a:solidFill>
                  <a:srgbClr val="002B55"/>
                </a:solidFill>
                <a:latin typeface="Bahnschrift"/>
              </a:rPr>
              <a:t>Do what was not possible</a:t>
            </a:r>
          </a:p>
        </p:txBody>
      </p:sp>
      <p:sp>
        <p:nvSpPr>
          <p:cNvPr id="17" name="TextBox 16"/>
          <p:cNvSpPr txBox="1"/>
          <p:nvPr/>
        </p:nvSpPr>
        <p:spPr>
          <a:xfrm>
            <a:off x="6647688" y="2788920"/>
            <a:ext cx="4663440" cy="1005840"/>
          </a:xfrm>
          <a:prstGeom prst="rect">
            <a:avLst/>
          </a:prstGeom>
          <a:noFill/>
        </p:spPr>
        <p:txBody>
          <a:bodyPr wrap="square" lIns="36576" rIns="36576" tIns="18288" bIns="18288" anchor="ctr">
            <a:spAutoFit/>
          </a:bodyPr>
          <a:lstStyle/>
          <a:p>
            <a:pPr algn="l"/>
            <a:r>
              <a:rPr sz="4000" b="1" i="0">
                <a:solidFill>
                  <a:srgbClr val="F47735"/>
                </a:solidFill>
                <a:latin typeface="Bahnschrift"/>
              </a:rPr>
              <a:t>[New capability]</a:t>
            </a:r>
          </a:p>
        </p:txBody>
      </p:sp>
      <p:cxnSp>
        <p:nvCxnSpPr>
          <p:cNvPr id="18" name="Connector 17"/>
          <p:cNvCxnSpPr/>
          <p:nvPr/>
        </p:nvCxnSpPr>
        <p:spPr>
          <a:xfrm>
            <a:off x="6647688" y="3977639"/>
            <a:ext cx="4617720" cy="0"/>
          </a:xfrm>
          <a:prstGeom prst="line">
            <a:avLst/>
          </a:prstGeom>
          <a:ln w="25400">
            <a:solidFill>
              <a:srgbClr val="FFFFFF"/>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647688" y="4114800"/>
            <a:ext cx="4663440" cy="731520"/>
          </a:xfrm>
          <a:prstGeom prst="rect">
            <a:avLst/>
          </a:prstGeom>
          <a:noFill/>
        </p:spPr>
        <p:txBody>
          <a:bodyPr wrap="square" lIns="36576" rIns="36576" tIns="18288" bIns="18288" anchor="t">
            <a:spAutoFit/>
          </a:bodyPr>
          <a:lstStyle/>
          <a:p>
            <a:pPr algn="l"/>
            <a:r>
              <a:rPr sz="1700" b="1" i="0">
                <a:solidFill>
                  <a:srgbClr val="002B55"/>
                </a:solidFill>
                <a:latin typeface="Arial"/>
              </a:rPr>
              <a:t>[e.g. every session, every HCP, every week]</a:t>
            </a:r>
          </a:p>
        </p:txBody>
      </p:sp>
      <p:sp>
        <p:nvSpPr>
          <p:cNvPr id="20" name="TextBox 19"/>
          <p:cNvSpPr txBox="1"/>
          <p:nvPr/>
        </p:nvSpPr>
        <p:spPr>
          <a:xfrm>
            <a:off x="6647688" y="4892040"/>
            <a:ext cx="4663440" cy="731520"/>
          </a:xfrm>
          <a:prstGeom prst="rect">
            <a:avLst/>
          </a:prstGeom>
          <a:noFill/>
        </p:spPr>
        <p:txBody>
          <a:bodyPr wrap="square" lIns="36576" rIns="36576" tIns="18288" bIns="18288" anchor="t">
            <a:spAutoFit/>
          </a:bodyPr>
          <a:lstStyle/>
          <a:p>
            <a:pPr algn="l"/>
            <a:r>
              <a:rPr sz="1500" b="0" i="0">
                <a:solidFill>
                  <a:srgbClr val="28455F"/>
                </a:solidFill>
                <a:latin typeface="Arial"/>
              </a:rPr>
              <a:t>[Who benefits, and how]</a:t>
            </a:r>
          </a:p>
        </p:txBody>
      </p:sp>
      <p:sp>
        <p:nvSpPr>
          <p:cNvPr id="21" name="Oval 20"/>
          <p:cNvSpPr/>
          <p:nvPr/>
        </p:nvSpPr>
        <p:spPr>
          <a:xfrm>
            <a:off x="5733288" y="3017520"/>
            <a:ext cx="548640" cy="548640"/>
          </a:xfrm>
          <a:prstGeom prst="ellipse">
            <a:avLst/>
          </a:prstGeom>
          <a:solidFill>
            <a:srgbClr val="002B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r>
              <a:rPr sz="2000" b="1" i="0">
                <a:solidFill>
                  <a:srgbClr val="FFFFFF"/>
                </a:solidFill>
                <a:latin typeface="Arial"/>
              </a:rPr>
              <a: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EFB"/>
        </a:solidFill>
        <a:effectLst/>
      </p:bgPr>
    </p:bg>
    <p:spTree>
      <p:nvGrpSpPr>
        <p:cNvPr id="1" name=""/>
        <p:cNvGrpSpPr/>
        <p:nvPr/>
      </p:nvGrpSpPr>
      <p:grpSpPr/>
      <p:sp>
        <p:nvSpPr>
          <p:cNvPr id="2" name="TextBox 1"/>
          <p:cNvSpPr txBox="1"/>
          <p:nvPr/>
        </p:nvSpPr>
        <p:spPr>
          <a:xfrm>
            <a:off x="612648" y="365760"/>
            <a:ext cx="10972800" cy="777240"/>
          </a:xfrm>
          <a:prstGeom prst="rect">
            <a:avLst/>
          </a:prstGeom>
          <a:noFill/>
        </p:spPr>
        <p:txBody>
          <a:bodyPr wrap="square" lIns="36576" rIns="36576" tIns="18288" bIns="18288" anchor="ctr">
            <a:spAutoFit/>
          </a:bodyPr>
          <a:lstStyle/>
          <a:p>
            <a:pPr algn="l"/>
            <a:r>
              <a:rPr sz="3000" b="1" i="0">
                <a:solidFill>
                  <a:srgbClr val="002B55"/>
                </a:solidFill>
                <a:latin typeface="Bahnschrift"/>
              </a:rPr>
              <a:t>From hackathon to pilot</a:t>
            </a:r>
          </a:p>
        </p:txBody>
      </p:sp>
      <p:sp>
        <p:nvSpPr>
          <p:cNvPr id="3" name="TextBox 2"/>
          <p:cNvSpPr txBox="1"/>
          <p:nvPr/>
        </p:nvSpPr>
        <p:spPr>
          <a:xfrm>
            <a:off x="612648" y="6437376"/>
            <a:ext cx="5715000" cy="219456"/>
          </a:xfrm>
          <a:prstGeom prst="rect">
            <a:avLst/>
          </a:prstGeom>
          <a:noFill/>
        </p:spPr>
        <p:txBody>
          <a:bodyPr wrap="square" lIns="36576" rIns="36576" tIns="18288" bIns="18288" anchor="t">
            <a:spAutoFit/>
          </a:bodyPr>
          <a:lstStyle/>
          <a:p>
            <a:pPr algn="l"/>
            <a:r>
              <a:rPr sz="1050" b="0" i="0">
                <a:solidFill>
                  <a:srgbClr val="28455F"/>
                </a:solidFill>
                <a:latin typeface="Arial"/>
              </a:rPr>
              <a:t>AI IN ACTION / MEDICAL AFFAIRS</a:t>
            </a:r>
          </a:p>
        </p:txBody>
      </p:sp>
      <p:sp>
        <p:nvSpPr>
          <p:cNvPr id="4" name="TextBox 3"/>
          <p:cNvSpPr txBox="1"/>
          <p:nvPr/>
        </p:nvSpPr>
        <p:spPr>
          <a:xfrm>
            <a:off x="11064240" y="6400800"/>
            <a:ext cx="548640" cy="256032"/>
          </a:xfrm>
          <a:prstGeom prst="rect">
            <a:avLst/>
          </a:prstGeom>
          <a:noFill/>
        </p:spPr>
        <p:txBody>
          <a:bodyPr wrap="square" lIns="36576" rIns="36576" tIns="18288" bIns="18288" anchor="t">
            <a:spAutoFit/>
          </a:bodyPr>
          <a:lstStyle/>
          <a:p>
            <a:pPr algn="r"/>
            <a:r>
              <a:rPr sz="1275" b="1" i="0">
                <a:solidFill>
                  <a:srgbClr val="28455F"/>
                </a:solidFill>
                <a:latin typeface="Bahnschrift"/>
              </a:rPr>
              <a:t>12</a:t>
            </a:r>
          </a:p>
        </p:txBody>
      </p:sp>
      <p:cxnSp>
        <p:nvCxnSpPr>
          <p:cNvPr id="5" name="Connector 4"/>
          <p:cNvCxnSpPr/>
          <p:nvPr/>
        </p:nvCxnSpPr>
        <p:spPr>
          <a:xfrm>
            <a:off x="1463040" y="1965960"/>
            <a:ext cx="9326880" cy="0"/>
          </a:xfrm>
          <a:prstGeom prst="line">
            <a:avLst/>
          </a:prstGeom>
          <a:ln w="38100">
            <a:solidFill>
              <a:srgbClr val="007879"/>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Oval 5"/>
          <p:cNvSpPr/>
          <p:nvPr/>
        </p:nvSpPr>
        <p:spPr>
          <a:xfrm>
            <a:off x="2029968" y="1645920"/>
            <a:ext cx="640080" cy="640080"/>
          </a:xfrm>
          <a:prstGeom prst="ellipse">
            <a:avLst/>
          </a:prstGeom>
          <a:solidFill>
            <a:srgbClr val="0078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r>
              <a:rPr sz="1800" b="1" i="0">
                <a:solidFill>
                  <a:srgbClr val="FFFFFF"/>
                </a:solidFill>
                <a:latin typeface="Bahnschrift"/>
              </a:rPr>
              <a:t>1</a:t>
            </a:r>
          </a:p>
        </p:txBody>
      </p:sp>
      <p:sp>
        <p:nvSpPr>
          <p:cNvPr id="7" name="TextBox 6"/>
          <p:cNvSpPr txBox="1"/>
          <p:nvPr/>
        </p:nvSpPr>
        <p:spPr>
          <a:xfrm>
            <a:off x="612648" y="2468880"/>
            <a:ext cx="3520440" cy="457200"/>
          </a:xfrm>
          <a:prstGeom prst="rect">
            <a:avLst/>
          </a:prstGeom>
          <a:noFill/>
        </p:spPr>
        <p:txBody>
          <a:bodyPr wrap="square" lIns="36576" rIns="36576" tIns="18288" bIns="18288" anchor="t">
            <a:spAutoFit/>
          </a:bodyPr>
          <a:lstStyle/>
          <a:p>
            <a:pPr algn="ctr"/>
            <a:r>
              <a:rPr sz="2000" b="1" i="0">
                <a:solidFill>
                  <a:srgbClr val="007879"/>
                </a:solidFill>
                <a:latin typeface="Bahnschrift"/>
              </a:rPr>
              <a:t>Next week</a:t>
            </a:r>
          </a:p>
        </p:txBody>
      </p:sp>
      <p:sp>
        <p:nvSpPr>
          <p:cNvPr id="8" name="Rounded Rectangle 7"/>
          <p:cNvSpPr/>
          <p:nvPr/>
        </p:nvSpPr>
        <p:spPr>
          <a:xfrm>
            <a:off x="612648" y="3017520"/>
            <a:ext cx="3520440" cy="2514600"/>
          </a:xfrm>
          <a:prstGeom prst="roundRect">
            <a:avLst>
              <a:gd name="adj" fmla="val 6000"/>
            </a:avLst>
          </a:prstGeom>
          <a:solidFill>
            <a:srgbClr val="FFFFFF"/>
          </a:solidFill>
          <a:ln w="15875">
            <a:solidFill>
              <a:srgbClr val="D5DE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9" name="TextBox 8"/>
          <p:cNvSpPr txBox="1"/>
          <p:nvPr/>
        </p:nvSpPr>
        <p:spPr>
          <a:xfrm>
            <a:off x="841248" y="3200400"/>
            <a:ext cx="3108960" cy="1005840"/>
          </a:xfrm>
          <a:prstGeom prst="rect">
            <a:avLst/>
          </a:prstGeom>
          <a:noFill/>
        </p:spPr>
        <p:txBody>
          <a:bodyPr wrap="square" lIns="36576" rIns="36576" tIns="18288" bIns="18288" anchor="t">
            <a:spAutoFit/>
          </a:bodyPr>
          <a:lstStyle/>
          <a:p>
            <a:pPr algn="l"/>
            <a:r>
              <a:rPr sz="1800" b="1" i="0">
                <a:solidFill>
                  <a:srgbClr val="002B55"/>
                </a:solidFill>
                <a:latin typeface="Arial"/>
              </a:rPr>
              <a:t>[Action]</a:t>
            </a:r>
          </a:p>
        </p:txBody>
      </p:sp>
      <p:sp>
        <p:nvSpPr>
          <p:cNvPr id="10" name="TextBox 9"/>
          <p:cNvSpPr txBox="1"/>
          <p:nvPr/>
        </p:nvSpPr>
        <p:spPr>
          <a:xfrm>
            <a:off x="841248" y="4251960"/>
            <a:ext cx="3108960" cy="457200"/>
          </a:xfrm>
          <a:prstGeom prst="rect">
            <a:avLst/>
          </a:prstGeom>
          <a:noFill/>
        </p:spPr>
        <p:txBody>
          <a:bodyPr wrap="square" lIns="36576" rIns="36576" tIns="18288" bIns="18288" anchor="t">
            <a:spAutoFit/>
          </a:bodyPr>
          <a:lstStyle/>
          <a:p>
            <a:pPr algn="l"/>
            <a:r>
              <a:rPr sz="1400" b="1" i="0">
                <a:solidFill>
                  <a:srgbClr val="007879"/>
                </a:solidFill>
                <a:latin typeface="Arial"/>
              </a:rPr>
              <a:t>Owner: </a:t>
            </a:r>
            <a:r>
              <a:rPr sz="1400" b="0" i="0">
                <a:solidFill>
                  <a:srgbClr val="002B55"/>
                </a:solidFill>
                <a:latin typeface="Arial"/>
              </a:rPr>
              <a:t>[role]</a:t>
            </a:r>
          </a:p>
        </p:txBody>
      </p:sp>
      <p:sp>
        <p:nvSpPr>
          <p:cNvPr id="11" name="TextBox 10"/>
          <p:cNvSpPr txBox="1"/>
          <p:nvPr/>
        </p:nvSpPr>
        <p:spPr>
          <a:xfrm>
            <a:off x="841248" y="4709160"/>
            <a:ext cx="3108960" cy="731520"/>
          </a:xfrm>
          <a:prstGeom prst="rect">
            <a:avLst/>
          </a:prstGeom>
          <a:noFill/>
        </p:spPr>
        <p:txBody>
          <a:bodyPr wrap="square" lIns="36576" rIns="36576" tIns="18288" bIns="18288" anchor="t">
            <a:spAutoFit/>
          </a:bodyPr>
          <a:lstStyle/>
          <a:p>
            <a:pPr algn="l"/>
            <a:r>
              <a:rPr sz="1400" b="1" i="0">
                <a:solidFill>
                  <a:srgbClr val="007879"/>
                </a:solidFill>
                <a:latin typeface="Arial"/>
              </a:rPr>
              <a:t>Needs: </a:t>
            </a:r>
            <a:r>
              <a:rPr sz="1400" b="0" i="0">
                <a:solidFill>
                  <a:srgbClr val="002B55"/>
                </a:solidFill>
                <a:latin typeface="Arial"/>
              </a:rPr>
              <a:t>[data, access, sponsor]</a:t>
            </a:r>
          </a:p>
        </p:txBody>
      </p:sp>
      <p:sp>
        <p:nvSpPr>
          <p:cNvPr id="12" name="Oval 11"/>
          <p:cNvSpPr/>
          <p:nvPr/>
        </p:nvSpPr>
        <p:spPr>
          <a:xfrm>
            <a:off x="5751576" y="1645920"/>
            <a:ext cx="640080" cy="640080"/>
          </a:xfrm>
          <a:prstGeom prst="ellipse">
            <a:avLst/>
          </a:prstGeom>
          <a:solidFill>
            <a:srgbClr val="1D5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r>
              <a:rPr sz="1800" b="1" i="0">
                <a:solidFill>
                  <a:srgbClr val="FFFFFF"/>
                </a:solidFill>
                <a:latin typeface="Bahnschrift"/>
              </a:rPr>
              <a:t>2</a:t>
            </a:r>
          </a:p>
        </p:txBody>
      </p:sp>
      <p:sp>
        <p:nvSpPr>
          <p:cNvPr id="13" name="TextBox 12"/>
          <p:cNvSpPr txBox="1"/>
          <p:nvPr/>
        </p:nvSpPr>
        <p:spPr>
          <a:xfrm>
            <a:off x="4334256" y="2468880"/>
            <a:ext cx="3520440" cy="457200"/>
          </a:xfrm>
          <a:prstGeom prst="rect">
            <a:avLst/>
          </a:prstGeom>
          <a:noFill/>
        </p:spPr>
        <p:txBody>
          <a:bodyPr wrap="square" lIns="36576" rIns="36576" tIns="18288" bIns="18288" anchor="t">
            <a:spAutoFit/>
          </a:bodyPr>
          <a:lstStyle/>
          <a:p>
            <a:pPr algn="ctr"/>
            <a:r>
              <a:rPr sz="2000" b="1" i="0">
                <a:solidFill>
                  <a:srgbClr val="1D5C8C"/>
                </a:solidFill>
                <a:latin typeface="Bahnschrift"/>
              </a:rPr>
              <a:t>Next 90 days</a:t>
            </a:r>
          </a:p>
        </p:txBody>
      </p:sp>
      <p:sp>
        <p:nvSpPr>
          <p:cNvPr id="14" name="Rounded Rectangle 13"/>
          <p:cNvSpPr/>
          <p:nvPr/>
        </p:nvSpPr>
        <p:spPr>
          <a:xfrm>
            <a:off x="4334256" y="3017520"/>
            <a:ext cx="3520440" cy="2514600"/>
          </a:xfrm>
          <a:prstGeom prst="roundRect">
            <a:avLst>
              <a:gd name="adj" fmla="val 6000"/>
            </a:avLst>
          </a:prstGeom>
          <a:solidFill>
            <a:srgbClr val="FFFFFF"/>
          </a:solidFill>
          <a:ln w="15875">
            <a:solidFill>
              <a:srgbClr val="D5DE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5" name="TextBox 14"/>
          <p:cNvSpPr txBox="1"/>
          <p:nvPr/>
        </p:nvSpPr>
        <p:spPr>
          <a:xfrm>
            <a:off x="4562856" y="3200400"/>
            <a:ext cx="3108960" cy="1005840"/>
          </a:xfrm>
          <a:prstGeom prst="rect">
            <a:avLst/>
          </a:prstGeom>
          <a:noFill/>
        </p:spPr>
        <p:txBody>
          <a:bodyPr wrap="square" lIns="36576" rIns="36576" tIns="18288" bIns="18288" anchor="t">
            <a:spAutoFit/>
          </a:bodyPr>
          <a:lstStyle/>
          <a:p>
            <a:pPr algn="l"/>
            <a:r>
              <a:rPr sz="1800" b="1" i="0">
                <a:solidFill>
                  <a:srgbClr val="002B55"/>
                </a:solidFill>
                <a:latin typeface="Arial"/>
              </a:rPr>
              <a:t>[Action]</a:t>
            </a:r>
          </a:p>
        </p:txBody>
      </p:sp>
      <p:sp>
        <p:nvSpPr>
          <p:cNvPr id="16" name="TextBox 15"/>
          <p:cNvSpPr txBox="1"/>
          <p:nvPr/>
        </p:nvSpPr>
        <p:spPr>
          <a:xfrm>
            <a:off x="4562856" y="4251960"/>
            <a:ext cx="3108960" cy="457200"/>
          </a:xfrm>
          <a:prstGeom prst="rect">
            <a:avLst/>
          </a:prstGeom>
          <a:noFill/>
        </p:spPr>
        <p:txBody>
          <a:bodyPr wrap="square" lIns="36576" rIns="36576" tIns="18288" bIns="18288" anchor="t">
            <a:spAutoFit/>
          </a:bodyPr>
          <a:lstStyle/>
          <a:p>
            <a:pPr algn="l"/>
            <a:r>
              <a:rPr sz="1400" b="1" i="0">
                <a:solidFill>
                  <a:srgbClr val="007879"/>
                </a:solidFill>
                <a:latin typeface="Arial"/>
              </a:rPr>
              <a:t>Owner: </a:t>
            </a:r>
            <a:r>
              <a:rPr sz="1400" b="0" i="0">
                <a:solidFill>
                  <a:srgbClr val="002B55"/>
                </a:solidFill>
                <a:latin typeface="Arial"/>
              </a:rPr>
              <a:t>[role]</a:t>
            </a:r>
          </a:p>
        </p:txBody>
      </p:sp>
      <p:sp>
        <p:nvSpPr>
          <p:cNvPr id="17" name="TextBox 16"/>
          <p:cNvSpPr txBox="1"/>
          <p:nvPr/>
        </p:nvSpPr>
        <p:spPr>
          <a:xfrm>
            <a:off x="4562856" y="4709160"/>
            <a:ext cx="3108960" cy="731520"/>
          </a:xfrm>
          <a:prstGeom prst="rect">
            <a:avLst/>
          </a:prstGeom>
          <a:noFill/>
        </p:spPr>
        <p:txBody>
          <a:bodyPr wrap="square" lIns="36576" rIns="36576" tIns="18288" bIns="18288" anchor="t">
            <a:spAutoFit/>
          </a:bodyPr>
          <a:lstStyle/>
          <a:p>
            <a:pPr algn="l"/>
            <a:r>
              <a:rPr sz="1400" b="1" i="0">
                <a:solidFill>
                  <a:srgbClr val="007879"/>
                </a:solidFill>
                <a:latin typeface="Arial"/>
              </a:rPr>
              <a:t>Needs: </a:t>
            </a:r>
            <a:r>
              <a:rPr sz="1400" b="0" i="0">
                <a:solidFill>
                  <a:srgbClr val="002B55"/>
                </a:solidFill>
                <a:latin typeface="Arial"/>
              </a:rPr>
              <a:t>[data, access, sponsor]</a:t>
            </a:r>
          </a:p>
        </p:txBody>
      </p:sp>
      <p:sp>
        <p:nvSpPr>
          <p:cNvPr id="18" name="Oval 17"/>
          <p:cNvSpPr/>
          <p:nvPr/>
        </p:nvSpPr>
        <p:spPr>
          <a:xfrm>
            <a:off x="9473184" y="1645920"/>
            <a:ext cx="640080" cy="640080"/>
          </a:xfrm>
          <a:prstGeom prst="ellipse">
            <a:avLst/>
          </a:prstGeom>
          <a:solidFill>
            <a:srgbClr val="F477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r>
              <a:rPr sz="1800" b="1" i="0">
                <a:solidFill>
                  <a:srgbClr val="FFFFFF"/>
                </a:solidFill>
                <a:latin typeface="Bahnschrift"/>
              </a:rPr>
              <a:t>3</a:t>
            </a:r>
          </a:p>
        </p:txBody>
      </p:sp>
      <p:sp>
        <p:nvSpPr>
          <p:cNvPr id="19" name="TextBox 18"/>
          <p:cNvSpPr txBox="1"/>
          <p:nvPr/>
        </p:nvSpPr>
        <p:spPr>
          <a:xfrm>
            <a:off x="8055864" y="2468880"/>
            <a:ext cx="3520440" cy="457200"/>
          </a:xfrm>
          <a:prstGeom prst="rect">
            <a:avLst/>
          </a:prstGeom>
          <a:noFill/>
        </p:spPr>
        <p:txBody>
          <a:bodyPr wrap="square" lIns="36576" rIns="36576" tIns="18288" bIns="18288" anchor="t">
            <a:spAutoFit/>
          </a:bodyPr>
          <a:lstStyle/>
          <a:p>
            <a:pPr algn="ctr"/>
            <a:r>
              <a:rPr sz="2000" b="1" i="0">
                <a:solidFill>
                  <a:srgbClr val="F47735"/>
                </a:solidFill>
                <a:latin typeface="Bahnschrift"/>
              </a:rPr>
              <a:t>Our ask today</a:t>
            </a:r>
          </a:p>
        </p:txBody>
      </p:sp>
      <p:sp>
        <p:nvSpPr>
          <p:cNvPr id="20" name="Rounded Rectangle 19"/>
          <p:cNvSpPr/>
          <p:nvPr/>
        </p:nvSpPr>
        <p:spPr>
          <a:xfrm>
            <a:off x="8055864" y="3017520"/>
            <a:ext cx="3520440" cy="2514600"/>
          </a:xfrm>
          <a:prstGeom prst="roundRect">
            <a:avLst>
              <a:gd name="adj" fmla="val 6000"/>
            </a:avLst>
          </a:prstGeom>
          <a:solidFill>
            <a:srgbClr val="FFFFFF"/>
          </a:solidFill>
          <a:ln w="15875">
            <a:solidFill>
              <a:srgbClr val="D5DE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1" name="TextBox 20"/>
          <p:cNvSpPr txBox="1"/>
          <p:nvPr/>
        </p:nvSpPr>
        <p:spPr>
          <a:xfrm>
            <a:off x="8284464" y="3200400"/>
            <a:ext cx="3108960" cy="1005840"/>
          </a:xfrm>
          <a:prstGeom prst="rect">
            <a:avLst/>
          </a:prstGeom>
          <a:noFill/>
        </p:spPr>
        <p:txBody>
          <a:bodyPr wrap="square" lIns="36576" rIns="36576" tIns="18288" bIns="18288" anchor="t">
            <a:spAutoFit/>
          </a:bodyPr>
          <a:lstStyle/>
          <a:p>
            <a:pPr algn="l"/>
            <a:r>
              <a:rPr sz="1800" b="1" i="0">
                <a:solidFill>
                  <a:srgbClr val="002B55"/>
                </a:solidFill>
                <a:latin typeface="Arial"/>
              </a:rPr>
              <a:t>[Action]</a:t>
            </a:r>
          </a:p>
        </p:txBody>
      </p:sp>
      <p:sp>
        <p:nvSpPr>
          <p:cNvPr id="22" name="TextBox 21"/>
          <p:cNvSpPr txBox="1"/>
          <p:nvPr/>
        </p:nvSpPr>
        <p:spPr>
          <a:xfrm>
            <a:off x="8284464" y="4251960"/>
            <a:ext cx="3108960" cy="457200"/>
          </a:xfrm>
          <a:prstGeom prst="rect">
            <a:avLst/>
          </a:prstGeom>
          <a:noFill/>
        </p:spPr>
        <p:txBody>
          <a:bodyPr wrap="square" lIns="36576" rIns="36576" tIns="18288" bIns="18288" anchor="t">
            <a:spAutoFit/>
          </a:bodyPr>
          <a:lstStyle/>
          <a:p>
            <a:pPr algn="l"/>
            <a:r>
              <a:rPr sz="1400" b="1" i="0">
                <a:solidFill>
                  <a:srgbClr val="007879"/>
                </a:solidFill>
                <a:latin typeface="Arial"/>
              </a:rPr>
              <a:t>Owner: </a:t>
            </a:r>
            <a:r>
              <a:rPr sz="1400" b="0" i="0">
                <a:solidFill>
                  <a:srgbClr val="002B55"/>
                </a:solidFill>
                <a:latin typeface="Arial"/>
              </a:rPr>
              <a:t>[role]</a:t>
            </a:r>
          </a:p>
        </p:txBody>
      </p:sp>
      <p:sp>
        <p:nvSpPr>
          <p:cNvPr id="23" name="TextBox 22"/>
          <p:cNvSpPr txBox="1"/>
          <p:nvPr/>
        </p:nvSpPr>
        <p:spPr>
          <a:xfrm>
            <a:off x="8284464" y="4709160"/>
            <a:ext cx="3108960" cy="731520"/>
          </a:xfrm>
          <a:prstGeom prst="rect">
            <a:avLst/>
          </a:prstGeom>
          <a:noFill/>
        </p:spPr>
        <p:txBody>
          <a:bodyPr wrap="square" lIns="36576" rIns="36576" tIns="18288" bIns="18288" anchor="t">
            <a:spAutoFit/>
          </a:bodyPr>
          <a:lstStyle/>
          <a:p>
            <a:pPr algn="l"/>
            <a:r>
              <a:rPr sz="1400" b="1" i="0">
                <a:solidFill>
                  <a:srgbClr val="007879"/>
                </a:solidFill>
                <a:latin typeface="Arial"/>
              </a:rPr>
              <a:t>Needs: </a:t>
            </a:r>
            <a:r>
              <a:rPr sz="1400" b="0" i="0">
                <a:solidFill>
                  <a:srgbClr val="002B55"/>
                </a:solidFill>
                <a:latin typeface="Arial"/>
              </a:rPr>
              <a:t>[data, access, sponsor]</a:t>
            </a:r>
          </a:p>
        </p:txBody>
      </p:sp>
      <p:sp>
        <p:nvSpPr>
          <p:cNvPr id="24" name="TextBox 23"/>
          <p:cNvSpPr txBox="1"/>
          <p:nvPr/>
        </p:nvSpPr>
        <p:spPr>
          <a:xfrm>
            <a:off x="612648" y="5760720"/>
            <a:ext cx="10972800" cy="411480"/>
          </a:xfrm>
          <a:prstGeom prst="rect">
            <a:avLst/>
          </a:prstGeom>
          <a:noFill/>
        </p:spPr>
        <p:txBody>
          <a:bodyPr wrap="square" lIns="36576" rIns="36576" tIns="18288" bIns="18288" anchor="t">
            <a:spAutoFit/>
          </a:bodyPr>
          <a:lstStyle/>
          <a:p>
            <a:pPr algn="ctr"/>
            <a:r>
              <a:rPr sz="1600" b="1" i="0">
                <a:solidFill>
                  <a:srgbClr val="F47735"/>
                </a:solidFill>
                <a:latin typeface="Bahnschrift"/>
              </a:rPr>
              <a:t>[One sentence: the decision we want from leadership]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losing-question.jp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7726679" y="1828800"/>
            <a:ext cx="3886200" cy="1005840"/>
          </a:xfrm>
          <a:prstGeom prst="rect">
            <a:avLst/>
          </a:prstGeom>
          <a:noFill/>
        </p:spPr>
        <p:txBody>
          <a:bodyPr wrap="square" lIns="36576" rIns="36576" tIns="18288" bIns="18288" anchor="t">
            <a:spAutoFit/>
          </a:bodyPr>
          <a:lstStyle/>
          <a:p>
            <a:pPr algn="l"/>
            <a:r>
              <a:rPr sz="4800" b="1" i="0">
                <a:solidFill>
                  <a:srgbClr val="002B55"/>
                </a:solidFill>
                <a:latin typeface="Bahnschrift"/>
              </a:rPr>
              <a:t>Thank you</a:t>
            </a:r>
          </a:p>
        </p:txBody>
      </p:sp>
      <p:sp>
        <p:nvSpPr>
          <p:cNvPr id="4" name="TextBox 3"/>
          <p:cNvSpPr txBox="1"/>
          <p:nvPr/>
        </p:nvSpPr>
        <p:spPr>
          <a:xfrm>
            <a:off x="7726679" y="2834640"/>
            <a:ext cx="3886200" cy="548640"/>
          </a:xfrm>
          <a:prstGeom prst="rect">
            <a:avLst/>
          </a:prstGeom>
          <a:noFill/>
        </p:spPr>
        <p:txBody>
          <a:bodyPr wrap="square" lIns="36576" rIns="36576" tIns="18288" bIns="18288" anchor="t">
            <a:spAutoFit/>
          </a:bodyPr>
          <a:lstStyle/>
          <a:p>
            <a:pPr algn="l"/>
            <a:r>
              <a:rPr sz="2600" b="1" i="0">
                <a:solidFill>
                  <a:srgbClr val="007879"/>
                </a:solidFill>
                <a:latin typeface="Bahnschrift"/>
              </a:rPr>
              <a:t>Questions?</a:t>
            </a:r>
          </a:p>
        </p:txBody>
      </p:sp>
      <p:sp>
        <p:nvSpPr>
          <p:cNvPr id="5" name="TextBox 4"/>
          <p:cNvSpPr txBox="1"/>
          <p:nvPr/>
        </p:nvSpPr>
        <p:spPr>
          <a:xfrm>
            <a:off x="7726679" y="3520440"/>
            <a:ext cx="3886200" cy="1097280"/>
          </a:xfrm>
          <a:prstGeom prst="rect">
            <a:avLst/>
          </a:prstGeom>
          <a:noFill/>
        </p:spPr>
        <p:txBody>
          <a:bodyPr wrap="square" lIns="36576" rIns="36576" tIns="18288" bIns="18288" anchor="t">
            <a:spAutoFit/>
          </a:bodyPr>
          <a:lstStyle/>
          <a:p>
            <a:pPr algn="l">
              <a:spcAft>
                <a:spcPts val="400"/>
              </a:spcAft>
            </a:pPr>
            <a:r>
              <a:rPr sz="1500" b="0" i="0">
                <a:solidFill>
                  <a:srgbClr val="002B55"/>
                </a:solidFill>
                <a:latin typeface="Arial"/>
              </a:rPr>
              <a:t>[Team name] · [Vertical]</a:t>
            </a:r>
          </a:p>
          <a:p>
            <a:pPr algn="l">
              <a:spcAft>
                <a:spcPts val="400"/>
              </a:spcAft>
            </a:pPr>
            <a:r>
              <a:rPr sz="1500" b="0" i="0">
                <a:solidFill>
                  <a:srgbClr val="002B55"/>
                </a:solidFill>
                <a:latin typeface="Arial"/>
              </a:rPr>
              <a:t>[Member 1] · [Member 2] · [Member 3] · [Member 4]</a:t>
            </a:r>
          </a:p>
        </p:txBody>
      </p:sp>
      <p:sp>
        <p:nvSpPr>
          <p:cNvPr id="6" name="Rounded Rectangle 5"/>
          <p:cNvSpPr/>
          <p:nvPr/>
        </p:nvSpPr>
        <p:spPr>
          <a:xfrm>
            <a:off x="7726679" y="4800600"/>
            <a:ext cx="3858768" cy="1097280"/>
          </a:xfrm>
          <a:prstGeom prst="roundRect">
            <a:avLst>
              <a:gd name="adj" fmla="val 8000"/>
            </a:avLst>
          </a:prstGeom>
          <a:solidFill>
            <a:srgbClr val="FFFFFF"/>
          </a:solidFill>
          <a:ln w="15875">
            <a:solidFill>
              <a:srgbClr val="D5DE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150" b="0" i="0">
                <a:solidFill>
                  <a:srgbClr val="28455F"/>
                </a:solidFill>
                <a:latin typeface="Arial"/>
              </a:rPr>
              <a:t>Practice data: Nordvant Biopharma, NORVANTIB, DERMALYX and ADIPOSYN are fictional. Outputs are drafts for qualified human review.</a:t>
            </a:r>
          </a:p>
        </p:txBody>
      </p:sp>
      <p:sp>
        <p:nvSpPr>
          <p:cNvPr id="7" name="TextBox 6"/>
          <p:cNvSpPr txBox="1"/>
          <p:nvPr/>
        </p:nvSpPr>
        <p:spPr>
          <a:xfrm>
            <a:off x="612648" y="6437376"/>
            <a:ext cx="5715000" cy="219456"/>
          </a:xfrm>
          <a:prstGeom prst="rect">
            <a:avLst/>
          </a:prstGeom>
          <a:noFill/>
        </p:spPr>
        <p:txBody>
          <a:bodyPr wrap="square" lIns="36576" rIns="36576" tIns="18288" bIns="18288" anchor="t">
            <a:spAutoFit/>
          </a:bodyPr>
          <a:lstStyle/>
          <a:p>
            <a:pPr algn="l"/>
            <a:r>
              <a:rPr sz="1050" b="0" i="0">
                <a:solidFill>
                  <a:srgbClr val="28455F"/>
                </a:solidFill>
                <a:latin typeface="Arial"/>
              </a:rPr>
              <a:t>AI IN ACTION / MEDICAL AFFAIRS</a:t>
            </a:r>
          </a:p>
        </p:txBody>
      </p:sp>
      <p:sp>
        <p:nvSpPr>
          <p:cNvPr id="8" name="TextBox 7"/>
          <p:cNvSpPr txBox="1"/>
          <p:nvPr/>
        </p:nvSpPr>
        <p:spPr>
          <a:xfrm>
            <a:off x="11064240" y="6400800"/>
            <a:ext cx="548640" cy="256032"/>
          </a:xfrm>
          <a:prstGeom prst="rect">
            <a:avLst/>
          </a:prstGeom>
          <a:noFill/>
        </p:spPr>
        <p:txBody>
          <a:bodyPr wrap="square" lIns="36576" rIns="36576" tIns="18288" bIns="18288" anchor="t">
            <a:spAutoFit/>
          </a:bodyPr>
          <a:lstStyle/>
          <a:p>
            <a:pPr algn="r"/>
            <a:r>
              <a:rPr sz="1275" b="1" i="0">
                <a:solidFill>
                  <a:srgbClr val="28455F"/>
                </a:solidFill>
                <a:latin typeface="Bahnschrift"/>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0">
  <p:cSld>
    <p:bg>
      <p:bgPr>
        <a:solidFill>
          <a:srgbClr val="FFFEFB"/>
        </a:solidFill>
        <a:effectLst/>
      </p:bgPr>
    </p:bg>
    <p:spTree>
      <p:nvGrpSpPr>
        <p:cNvPr id="1" name=""/>
        <p:cNvGrpSpPr/>
        <p:nvPr/>
      </p:nvGrpSpPr>
      <p:grpSpPr/>
      <p:sp>
        <p:nvSpPr>
          <p:cNvPr id="2" name="TextBox 1"/>
          <p:cNvSpPr txBox="1"/>
          <p:nvPr/>
        </p:nvSpPr>
        <p:spPr>
          <a:xfrm>
            <a:off x="612648" y="365760"/>
            <a:ext cx="10972800" cy="777240"/>
          </a:xfrm>
          <a:prstGeom prst="rect">
            <a:avLst/>
          </a:prstGeom>
          <a:noFill/>
        </p:spPr>
        <p:txBody>
          <a:bodyPr wrap="square" lIns="36576" rIns="36576" tIns="18288" bIns="18288" anchor="ctr">
            <a:spAutoFit/>
          </a:bodyPr>
          <a:lstStyle/>
          <a:p>
            <a:pPr algn="l"/>
            <a:r>
              <a:rPr sz="2600" b="1" i="0">
                <a:solidFill>
                  <a:srgbClr val="002B55"/>
                </a:solidFill>
                <a:latin typeface="Bahnschrift"/>
              </a:rPr>
              <a:t>For the agent and team: delete before presenting</a:t>
            </a:r>
          </a:p>
        </p:txBody>
      </p:sp>
      <p:sp>
        <p:nvSpPr>
          <p:cNvPr id="3" name="TextBox 2"/>
          <p:cNvSpPr txBox="1"/>
          <p:nvPr/>
        </p:nvSpPr>
        <p:spPr>
          <a:xfrm>
            <a:off x="612648" y="6437376"/>
            <a:ext cx="5715000" cy="219456"/>
          </a:xfrm>
          <a:prstGeom prst="rect">
            <a:avLst/>
          </a:prstGeom>
          <a:noFill/>
        </p:spPr>
        <p:txBody>
          <a:bodyPr wrap="square" lIns="36576" rIns="36576" tIns="18288" bIns="18288" anchor="t">
            <a:spAutoFit/>
          </a:bodyPr>
          <a:lstStyle/>
          <a:p>
            <a:pPr algn="l"/>
            <a:r>
              <a:rPr sz="1050" b="0" i="0">
                <a:solidFill>
                  <a:srgbClr val="28455F"/>
                </a:solidFill>
                <a:latin typeface="Arial"/>
              </a:rPr>
              <a:t>AI IN ACTION / MEDICAL AFFAIRS</a:t>
            </a:r>
          </a:p>
        </p:txBody>
      </p:sp>
      <p:sp>
        <p:nvSpPr>
          <p:cNvPr id="4" name="TextBox 3"/>
          <p:cNvSpPr txBox="1"/>
          <p:nvPr/>
        </p:nvSpPr>
        <p:spPr>
          <a:xfrm>
            <a:off x="11064240" y="6400800"/>
            <a:ext cx="548640" cy="256032"/>
          </a:xfrm>
          <a:prstGeom prst="rect">
            <a:avLst/>
          </a:prstGeom>
          <a:noFill/>
        </p:spPr>
        <p:txBody>
          <a:bodyPr wrap="square" lIns="36576" rIns="36576" tIns="18288" bIns="18288" anchor="t">
            <a:spAutoFit/>
          </a:bodyPr>
          <a:lstStyle/>
          <a:p>
            <a:pPr algn="r"/>
            <a:r>
              <a:rPr sz="1275" b="1" i="0">
                <a:solidFill>
                  <a:srgbClr val="28455F"/>
                </a:solidFill>
                <a:latin typeface="Bahnschrift"/>
              </a:rPr>
              <a:t>14</a:t>
            </a:r>
          </a:p>
        </p:txBody>
      </p:sp>
      <p:graphicFrame>
        <p:nvGraphicFramePr>
          <p:cNvPr id="5" name="Table 4"/>
          <p:cNvGraphicFramePr>
            <a:graphicFrameLocks noGrp="1"/>
          </p:cNvGraphicFramePr>
          <p:nvPr/>
        </p:nvGraphicFramePr>
        <p:xfrm>
          <a:off x="612648" y="1280160"/>
          <a:ext cx="5120640" cy="4846320"/>
        </p:xfrm>
        <a:graphic>
          <a:graphicData uri="http://schemas.openxmlformats.org/drawingml/2006/table">
            <a:tbl>
              <a:tblPr firstRow="1" bandRow="1">
                <a:tableStyleId>{5C22544A-7EE6-4342-B048-85BDC9FD1C3A}</a:tableStyleId>
              </a:tblPr>
              <a:tblGrid>
                <a:gridCol w="3566160"/>
                <a:gridCol w="1554480"/>
              </a:tblGrid>
              <a:tr h="346165">
                <a:tc>
                  <a:txBody>
                    <a:bodyPr/>
                    <a:lstStyle/>
                    <a:p>
                      <a:r>
                        <a:rPr sz="1150" b="1">
                          <a:solidFill>
                            <a:srgbClr val="FFFFFF"/>
                          </a:solidFill>
                          <a:latin typeface="Arial"/>
                        </a:rPr>
                        <a:t>Slide</a:t>
                      </a:r>
                    </a:p>
                  </a:txBody>
                  <a:tcPr marT="27432" marB="27432">
                    <a:solidFill>
                      <a:srgbClr val="007879"/>
                    </a:solidFill>
                  </a:tcPr>
                </a:tc>
                <a:tc>
                  <a:txBody>
                    <a:bodyPr/>
                    <a:lstStyle/>
                    <a:p>
                      <a:r>
                        <a:rPr sz="1150" b="1">
                          <a:solidFill>
                            <a:srgbClr val="FFFFFF"/>
                          </a:solidFill>
                          <a:latin typeface="Arial"/>
                        </a:rPr>
                        <a:t>Minutes (about)</a:t>
                      </a:r>
                    </a:p>
                  </a:txBody>
                  <a:tcPr marT="27432" marB="27432">
                    <a:solidFill>
                      <a:srgbClr val="007879"/>
                    </a:solidFill>
                  </a:tcPr>
                </a:tc>
              </a:tr>
              <a:tr h="346165">
                <a:tc>
                  <a:txBody>
                    <a:bodyPr/>
                    <a:lstStyle/>
                    <a:p>
                      <a:r>
                        <a:rPr sz="1150" b="0">
                          <a:solidFill>
                            <a:srgbClr val="002B55"/>
                          </a:solidFill>
                          <a:latin typeface="Arial"/>
                        </a:rPr>
                        <a:t>1 Title</a:t>
                      </a:r>
                    </a:p>
                  </a:txBody>
                  <a:tcPr marT="27432" marB="27432">
                    <a:solidFill>
                      <a:srgbClr val="FFFFFF"/>
                    </a:solidFill>
                  </a:tcPr>
                </a:tc>
                <a:tc>
                  <a:txBody>
                    <a:bodyPr/>
                    <a:lstStyle/>
                    <a:p>
                      <a:r>
                        <a:rPr sz="1150" b="0">
                          <a:solidFill>
                            <a:srgbClr val="002B55"/>
                          </a:solidFill>
                          <a:latin typeface="Arial"/>
                        </a:rPr>
                        <a:t>~½</a:t>
                      </a:r>
                    </a:p>
                  </a:txBody>
                  <a:tcPr marT="27432" marB="27432">
                    <a:solidFill>
                      <a:srgbClr val="FFFFFF"/>
                    </a:solidFill>
                  </a:tcPr>
                </a:tc>
              </a:tr>
              <a:tr h="346165">
                <a:tc>
                  <a:txBody>
                    <a:bodyPr/>
                    <a:lstStyle/>
                    <a:p>
                      <a:r>
                        <a:rPr sz="1150" b="0">
                          <a:solidFill>
                            <a:srgbClr val="002B55"/>
                          </a:solidFill>
                          <a:latin typeface="Arial"/>
                        </a:rPr>
                        <a:t>2 Problem</a:t>
                      </a:r>
                    </a:p>
                  </a:txBody>
                  <a:tcPr marT="27432" marB="27432">
                    <a:solidFill>
                      <a:srgbClr val="F1F3F5"/>
                    </a:solidFill>
                  </a:tcPr>
                </a:tc>
                <a:tc>
                  <a:txBody>
                    <a:bodyPr/>
                    <a:lstStyle/>
                    <a:p>
                      <a:r>
                        <a:rPr sz="1150" b="0">
                          <a:solidFill>
                            <a:srgbClr val="002B55"/>
                          </a:solidFill>
                          <a:latin typeface="Arial"/>
                        </a:rPr>
                        <a:t>~1½</a:t>
                      </a:r>
                    </a:p>
                  </a:txBody>
                  <a:tcPr marT="27432" marB="27432">
                    <a:solidFill>
                      <a:srgbClr val="F1F3F5"/>
                    </a:solidFill>
                  </a:tcPr>
                </a:tc>
              </a:tr>
              <a:tr h="346165">
                <a:tc>
                  <a:txBody>
                    <a:bodyPr/>
                    <a:lstStyle/>
                    <a:p>
                      <a:r>
                        <a:rPr sz="1150" b="0">
                          <a:solidFill>
                            <a:srgbClr val="002B55"/>
                          </a:solidFill>
                          <a:latin typeface="Arial"/>
                        </a:rPr>
                        <a:t>3 Today's workflow</a:t>
                      </a:r>
                    </a:p>
                  </a:txBody>
                  <a:tcPr marT="27432" marB="27432">
                    <a:solidFill>
                      <a:srgbClr val="FFFFFF"/>
                    </a:solidFill>
                  </a:tcPr>
                </a:tc>
                <a:tc>
                  <a:txBody>
                    <a:bodyPr/>
                    <a:lstStyle/>
                    <a:p>
                      <a:r>
                        <a:rPr sz="1150" b="0">
                          <a:solidFill>
                            <a:srgbClr val="002B55"/>
                          </a:solidFill>
                          <a:latin typeface="Arial"/>
                        </a:rPr>
                        <a:t>~1½</a:t>
                      </a:r>
                    </a:p>
                  </a:txBody>
                  <a:tcPr marT="27432" marB="27432">
                    <a:solidFill>
                      <a:srgbClr val="FFFFFF"/>
                    </a:solidFill>
                  </a:tcPr>
                </a:tc>
              </a:tr>
              <a:tr h="346165">
                <a:tc>
                  <a:txBody>
                    <a:bodyPr/>
                    <a:lstStyle/>
                    <a:p>
                      <a:r>
                        <a:rPr sz="1150" b="0">
                          <a:solidFill>
                            <a:srgbClr val="002B55"/>
                          </a:solidFill>
                          <a:latin typeface="Arial"/>
                        </a:rPr>
                        <a:t>4 Redesigned workflow</a:t>
                      </a:r>
                    </a:p>
                  </a:txBody>
                  <a:tcPr marT="27432" marB="27432">
                    <a:solidFill>
                      <a:srgbClr val="F1F3F5"/>
                    </a:solidFill>
                  </a:tcPr>
                </a:tc>
                <a:tc>
                  <a:txBody>
                    <a:bodyPr/>
                    <a:lstStyle/>
                    <a:p>
                      <a:r>
                        <a:rPr sz="1150" b="0">
                          <a:solidFill>
                            <a:srgbClr val="002B55"/>
                          </a:solidFill>
                          <a:latin typeface="Arial"/>
                        </a:rPr>
                        <a:t>~2</a:t>
                      </a:r>
                    </a:p>
                  </a:txBody>
                  <a:tcPr marT="27432" marB="27432">
                    <a:solidFill>
                      <a:srgbClr val="F1F3F5"/>
                    </a:solidFill>
                  </a:tcPr>
                </a:tc>
              </a:tr>
              <a:tr h="346165">
                <a:tc>
                  <a:txBody>
                    <a:bodyPr/>
                    <a:lstStyle/>
                    <a:p>
                      <a:r>
                        <a:rPr sz="1150" b="0">
                          <a:solidFill>
                            <a:srgbClr val="002B55"/>
                          </a:solidFill>
                          <a:latin typeface="Arial"/>
                        </a:rPr>
                        <a:t>5 Human gates</a:t>
                      </a:r>
                    </a:p>
                  </a:txBody>
                  <a:tcPr marT="27432" marB="27432">
                    <a:solidFill>
                      <a:srgbClr val="FFFFFF"/>
                    </a:solidFill>
                  </a:tcPr>
                </a:tc>
                <a:tc>
                  <a:txBody>
                    <a:bodyPr/>
                    <a:lstStyle/>
                    <a:p>
                      <a:r>
                        <a:rPr sz="1150" b="0">
                          <a:solidFill>
                            <a:srgbClr val="002B55"/>
                          </a:solidFill>
                          <a:latin typeface="Arial"/>
                        </a:rPr>
                        <a:t>~1½</a:t>
                      </a:r>
                    </a:p>
                  </a:txBody>
                  <a:tcPr marT="27432" marB="27432">
                    <a:solidFill>
                      <a:srgbClr val="FFFFFF"/>
                    </a:solidFill>
                  </a:tcPr>
                </a:tc>
              </a:tr>
              <a:tr h="346165">
                <a:tc>
                  <a:txBody>
                    <a:bodyPr/>
                    <a:lstStyle/>
                    <a:p>
                      <a:r>
                        <a:rPr sz="1150" b="0">
                          <a:solidFill>
                            <a:srgbClr val="002B55"/>
                          </a:solidFill>
                          <a:latin typeface="Arial"/>
                        </a:rPr>
                        <a:t>6 Swarm org chart</a:t>
                      </a:r>
                    </a:p>
                  </a:txBody>
                  <a:tcPr marT="27432" marB="27432">
                    <a:solidFill>
                      <a:srgbClr val="F1F3F5"/>
                    </a:solidFill>
                  </a:tcPr>
                </a:tc>
                <a:tc>
                  <a:txBody>
                    <a:bodyPr/>
                    <a:lstStyle/>
                    <a:p>
                      <a:r>
                        <a:rPr sz="1150" b="0">
                          <a:solidFill>
                            <a:srgbClr val="002B55"/>
                          </a:solidFill>
                          <a:latin typeface="Arial"/>
                        </a:rPr>
                        <a:t>~1</a:t>
                      </a:r>
                    </a:p>
                  </a:txBody>
                  <a:tcPr marT="27432" marB="27432">
                    <a:solidFill>
                      <a:srgbClr val="F1F3F5"/>
                    </a:solidFill>
                  </a:tcPr>
                </a:tc>
              </a:tr>
              <a:tr h="346165">
                <a:tc>
                  <a:txBody>
                    <a:bodyPr/>
                    <a:lstStyle/>
                    <a:p>
                      <a:r>
                        <a:rPr sz="1150" b="0">
                          <a:solidFill>
                            <a:srgbClr val="002B55"/>
                          </a:solidFill>
                          <a:latin typeface="Arial"/>
                        </a:rPr>
                        <a:t>7 LIVE DEMO (leave empty)</a:t>
                      </a:r>
                    </a:p>
                  </a:txBody>
                  <a:tcPr marT="27432" marB="27432">
                    <a:solidFill>
                      <a:srgbClr val="FFFFFF"/>
                    </a:solidFill>
                  </a:tcPr>
                </a:tc>
                <a:tc>
                  <a:txBody>
                    <a:bodyPr/>
                    <a:lstStyle/>
                    <a:p>
                      <a:r>
                        <a:rPr sz="1150" b="0">
                          <a:solidFill>
                            <a:srgbClr val="002B55"/>
                          </a:solidFill>
                          <a:latin typeface="Arial"/>
                        </a:rPr>
                        <a:t>~4–5</a:t>
                      </a:r>
                    </a:p>
                  </a:txBody>
                  <a:tcPr marT="27432" marB="27432">
                    <a:solidFill>
                      <a:srgbClr val="FFFFFF"/>
                    </a:solidFill>
                  </a:tcPr>
                </a:tc>
              </a:tr>
              <a:tr h="346165">
                <a:tc>
                  <a:txBody>
                    <a:bodyPr/>
                    <a:lstStyle/>
                    <a:p>
                      <a:r>
                        <a:rPr sz="1150" b="0">
                          <a:solidFill>
                            <a:srgbClr val="002B55"/>
                          </a:solidFill>
                          <a:latin typeface="Arial"/>
                        </a:rPr>
                        <a:t>8 Backup (only if demo fails)</a:t>
                      </a:r>
                    </a:p>
                  </a:txBody>
                  <a:tcPr marT="27432" marB="27432">
                    <a:solidFill>
                      <a:srgbClr val="F1F3F5"/>
                    </a:solidFill>
                  </a:tcPr>
                </a:tc>
                <a:tc>
                  <a:txBody>
                    <a:bodyPr/>
                    <a:lstStyle/>
                    <a:p>
                      <a:r>
                        <a:rPr sz="1150" b="0">
                          <a:solidFill>
                            <a:srgbClr val="002B55"/>
                          </a:solidFill>
                          <a:latin typeface="Arial"/>
                        </a:rPr>
                        <a:t>0</a:t>
                      </a:r>
                    </a:p>
                  </a:txBody>
                  <a:tcPr marT="27432" marB="27432">
                    <a:solidFill>
                      <a:srgbClr val="F1F3F5"/>
                    </a:solidFill>
                  </a:tcPr>
                </a:tc>
              </a:tr>
              <a:tr h="346165">
                <a:tc>
                  <a:txBody>
                    <a:bodyPr/>
                    <a:lstStyle/>
                    <a:p>
                      <a:r>
                        <a:rPr sz="1150" b="0">
                          <a:solidFill>
                            <a:srgbClr val="002B55"/>
                          </a:solidFill>
                          <a:latin typeface="Arial"/>
                        </a:rPr>
                        <a:t>9 Impact</a:t>
                      </a:r>
                    </a:p>
                  </a:txBody>
                  <a:tcPr marT="27432" marB="27432">
                    <a:solidFill>
                      <a:srgbClr val="FFFFFF"/>
                    </a:solidFill>
                  </a:tcPr>
                </a:tc>
                <a:tc>
                  <a:txBody>
                    <a:bodyPr/>
                    <a:lstStyle/>
                    <a:p>
                      <a:r>
                        <a:rPr sz="1150" b="0">
                          <a:solidFill>
                            <a:srgbClr val="002B55"/>
                          </a:solidFill>
                          <a:latin typeface="Arial"/>
                        </a:rPr>
                        <a:t>~1½</a:t>
                      </a:r>
                    </a:p>
                  </a:txBody>
                  <a:tcPr marT="27432" marB="27432">
                    <a:solidFill>
                      <a:srgbClr val="FFFFFF"/>
                    </a:solidFill>
                  </a:tcPr>
                </a:tc>
              </a:tr>
              <a:tr h="346165">
                <a:tc>
                  <a:txBody>
                    <a:bodyPr/>
                    <a:lstStyle/>
                    <a:p>
                      <a:r>
                        <a:rPr sz="1150" b="0">
                          <a:solidFill>
                            <a:srgbClr val="002B55"/>
                          </a:solidFill>
                          <a:latin typeface="Arial"/>
                        </a:rPr>
                        <a:t>10 Risks &amp; guardrails</a:t>
                      </a:r>
                    </a:p>
                  </a:txBody>
                  <a:tcPr marT="27432" marB="27432">
                    <a:solidFill>
                      <a:srgbClr val="F1F3F5"/>
                    </a:solidFill>
                  </a:tcPr>
                </a:tc>
                <a:tc>
                  <a:txBody>
                    <a:bodyPr/>
                    <a:lstStyle/>
                    <a:p>
                      <a:r>
                        <a:rPr sz="1150" b="0">
                          <a:solidFill>
                            <a:srgbClr val="002B55"/>
                          </a:solidFill>
                          <a:latin typeface="Arial"/>
                        </a:rPr>
                        <a:t>~1</a:t>
                      </a:r>
                    </a:p>
                  </a:txBody>
                  <a:tcPr marT="27432" marB="27432">
                    <a:solidFill>
                      <a:srgbClr val="F1F3F5"/>
                    </a:solidFill>
                  </a:tcPr>
                </a:tc>
              </a:tr>
              <a:tr h="346165">
                <a:tc>
                  <a:txBody>
                    <a:bodyPr/>
                    <a:lstStyle/>
                    <a:p>
                      <a:r>
                        <a:rPr sz="1150" b="0">
                          <a:solidFill>
                            <a:srgbClr val="002B55"/>
                          </a:solidFill>
                          <a:latin typeface="Arial"/>
                        </a:rPr>
                        <a:t>11 Efficiency vs Opportunity</a:t>
                      </a:r>
                    </a:p>
                  </a:txBody>
                  <a:tcPr marT="27432" marB="27432">
                    <a:solidFill>
                      <a:srgbClr val="FFFFFF"/>
                    </a:solidFill>
                  </a:tcPr>
                </a:tc>
                <a:tc>
                  <a:txBody>
                    <a:bodyPr/>
                    <a:lstStyle/>
                    <a:p>
                      <a:r>
                        <a:rPr sz="1150" b="0">
                          <a:solidFill>
                            <a:srgbClr val="002B55"/>
                          </a:solidFill>
                          <a:latin typeface="Arial"/>
                        </a:rPr>
                        <a:t>~1</a:t>
                      </a:r>
                    </a:p>
                  </a:txBody>
                  <a:tcPr marT="27432" marB="27432">
                    <a:solidFill>
                      <a:srgbClr val="FFFFFF"/>
                    </a:solidFill>
                  </a:tcPr>
                </a:tc>
              </a:tr>
              <a:tr h="346165">
                <a:tc>
                  <a:txBody>
                    <a:bodyPr/>
                    <a:lstStyle/>
                    <a:p>
                      <a:r>
                        <a:rPr sz="1150" b="0">
                          <a:solidFill>
                            <a:srgbClr val="002B55"/>
                          </a:solidFill>
                          <a:latin typeface="Arial"/>
                        </a:rPr>
                        <a:t>12 Next steps</a:t>
                      </a:r>
                    </a:p>
                  </a:txBody>
                  <a:tcPr marT="27432" marB="27432">
                    <a:solidFill>
                      <a:srgbClr val="F1F3F5"/>
                    </a:solidFill>
                  </a:tcPr>
                </a:tc>
                <a:tc>
                  <a:txBody>
                    <a:bodyPr/>
                    <a:lstStyle/>
                    <a:p>
                      <a:r>
                        <a:rPr sz="1150" b="0">
                          <a:solidFill>
                            <a:srgbClr val="002B55"/>
                          </a:solidFill>
                          <a:latin typeface="Arial"/>
                        </a:rPr>
                        <a:t>~1</a:t>
                      </a:r>
                    </a:p>
                  </a:txBody>
                  <a:tcPr marT="27432" marB="27432">
                    <a:solidFill>
                      <a:srgbClr val="F1F3F5"/>
                    </a:solidFill>
                  </a:tcPr>
                </a:tc>
              </a:tr>
              <a:tr h="346175">
                <a:tc>
                  <a:txBody>
                    <a:bodyPr/>
                    <a:lstStyle/>
                    <a:p>
                      <a:r>
                        <a:rPr sz="1150" b="0">
                          <a:solidFill>
                            <a:srgbClr val="002B55"/>
                          </a:solidFill>
                          <a:latin typeface="Arial"/>
                        </a:rPr>
                        <a:t>13 Thank you + questions</a:t>
                      </a:r>
                    </a:p>
                  </a:txBody>
                  <a:tcPr marT="27432" marB="27432">
                    <a:solidFill>
                      <a:srgbClr val="FFFFFF"/>
                    </a:solidFill>
                  </a:tcPr>
                </a:tc>
                <a:tc>
                  <a:txBody>
                    <a:bodyPr/>
                    <a:lstStyle/>
                    <a:p>
                      <a:r>
                        <a:rPr sz="1150" b="0">
                          <a:solidFill>
                            <a:srgbClr val="002B55"/>
                          </a:solidFill>
                          <a:latin typeface="Arial"/>
                        </a:rPr>
                        <a:t>~2–3</a:t>
                      </a:r>
                    </a:p>
                  </a:txBody>
                  <a:tcPr marT="27432" marB="27432">
                    <a:solidFill>
                      <a:srgbClr val="FFFFFF"/>
                    </a:solidFill>
                  </a:tcPr>
                </a:tc>
              </a:tr>
            </a:tbl>
          </a:graphicData>
        </a:graphic>
      </p:graphicFrame>
      <p:sp>
        <p:nvSpPr>
          <p:cNvPr id="6" name="TextBox 5"/>
          <p:cNvSpPr txBox="1"/>
          <p:nvPr/>
        </p:nvSpPr>
        <p:spPr>
          <a:xfrm>
            <a:off x="6217920" y="1280160"/>
            <a:ext cx="5394960" cy="365760"/>
          </a:xfrm>
          <a:prstGeom prst="rect">
            <a:avLst/>
          </a:prstGeom>
          <a:noFill/>
        </p:spPr>
        <p:txBody>
          <a:bodyPr wrap="square" lIns="36576" rIns="36576" tIns="18288" bIns="18288" anchor="t">
            <a:spAutoFit/>
          </a:bodyPr>
          <a:lstStyle/>
          <a:p>
            <a:pPr algn="l"/>
            <a:r>
              <a:rPr sz="1300" b="1" i="0">
                <a:solidFill>
                  <a:srgbClr val="007879"/>
                </a:solidFill>
                <a:latin typeface="Bahnschrift"/>
              </a:rPr>
              <a:t>HOUSE RULES FOR THE FINAL DECK</a:t>
            </a:r>
          </a:p>
        </p:txBody>
      </p:sp>
      <p:sp>
        <p:nvSpPr>
          <p:cNvPr id="7" name="Oval 6"/>
          <p:cNvSpPr/>
          <p:nvPr/>
        </p:nvSpPr>
        <p:spPr>
          <a:xfrm>
            <a:off x="6217920" y="1810512"/>
            <a:ext cx="329184" cy="329184"/>
          </a:xfrm>
          <a:prstGeom prst="ellipse">
            <a:avLst/>
          </a:prstGeom>
          <a:solidFill>
            <a:srgbClr val="F477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r>
              <a:rPr sz="1100" b="1" i="0">
                <a:solidFill>
                  <a:srgbClr val="FFFFFF"/>
                </a:solidFill>
                <a:latin typeface="Bahnschrift"/>
              </a:rPr>
              <a:t>1</a:t>
            </a:r>
          </a:p>
        </p:txBody>
      </p:sp>
      <p:sp>
        <p:nvSpPr>
          <p:cNvPr id="8" name="TextBox 7"/>
          <p:cNvSpPr txBox="1"/>
          <p:nvPr/>
        </p:nvSpPr>
        <p:spPr>
          <a:xfrm>
            <a:off x="6675120" y="1737360"/>
            <a:ext cx="4937760" cy="548640"/>
          </a:xfrm>
          <a:prstGeom prst="rect">
            <a:avLst/>
          </a:prstGeom>
          <a:noFill/>
        </p:spPr>
        <p:txBody>
          <a:bodyPr wrap="square" lIns="36576" rIns="36576" tIns="18288" bIns="18288" anchor="ctr">
            <a:spAutoFit/>
          </a:bodyPr>
          <a:lstStyle/>
          <a:p>
            <a:pPr algn="l"/>
            <a:r>
              <a:rPr sz="1400" b="0" i="0">
                <a:solidFill>
                  <a:srgbClr val="002B55"/>
                </a:solidFill>
                <a:latin typeface="Arial"/>
              </a:rPr>
              <a:t>Replace every [bracket]. Search the deck for "[" before you present.</a:t>
            </a:r>
          </a:p>
        </p:txBody>
      </p:sp>
      <p:sp>
        <p:nvSpPr>
          <p:cNvPr id="9" name="Oval 8"/>
          <p:cNvSpPr/>
          <p:nvPr/>
        </p:nvSpPr>
        <p:spPr>
          <a:xfrm>
            <a:off x="6217920" y="2432304"/>
            <a:ext cx="329184" cy="329184"/>
          </a:xfrm>
          <a:prstGeom prst="ellipse">
            <a:avLst/>
          </a:prstGeom>
          <a:solidFill>
            <a:srgbClr val="0078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r>
              <a:rPr sz="1100" b="1" i="0">
                <a:solidFill>
                  <a:srgbClr val="FFFFFF"/>
                </a:solidFill>
                <a:latin typeface="Bahnschrift"/>
              </a:rPr>
              <a:t>2</a:t>
            </a:r>
          </a:p>
        </p:txBody>
      </p:sp>
      <p:sp>
        <p:nvSpPr>
          <p:cNvPr id="10" name="TextBox 9"/>
          <p:cNvSpPr txBox="1"/>
          <p:nvPr/>
        </p:nvSpPr>
        <p:spPr>
          <a:xfrm>
            <a:off x="6675120" y="2359152"/>
            <a:ext cx="4937760" cy="548640"/>
          </a:xfrm>
          <a:prstGeom prst="rect">
            <a:avLst/>
          </a:prstGeom>
          <a:noFill/>
        </p:spPr>
        <p:txBody>
          <a:bodyPr wrap="square" lIns="36576" rIns="36576" tIns="18288" bIns="18288" anchor="ctr">
            <a:spAutoFit/>
          </a:bodyPr>
          <a:lstStyle/>
          <a:p>
            <a:pPr algn="l"/>
            <a:r>
              <a:rPr sz="1400" b="0" i="0">
                <a:solidFill>
                  <a:srgbClr val="002B55"/>
                </a:solidFill>
                <a:latin typeface="Arial"/>
              </a:rPr>
              <a:t>Diagrams, not bullets. About 25 words per slide, at most.</a:t>
            </a:r>
          </a:p>
        </p:txBody>
      </p:sp>
      <p:sp>
        <p:nvSpPr>
          <p:cNvPr id="11" name="Oval 10"/>
          <p:cNvSpPr/>
          <p:nvPr/>
        </p:nvSpPr>
        <p:spPr>
          <a:xfrm>
            <a:off x="6217920" y="3054096"/>
            <a:ext cx="329184" cy="329184"/>
          </a:xfrm>
          <a:prstGeom prst="ellipse">
            <a:avLst/>
          </a:prstGeom>
          <a:solidFill>
            <a:srgbClr val="0078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r>
              <a:rPr sz="1100" b="1" i="0">
                <a:solidFill>
                  <a:srgbClr val="FFFFFF"/>
                </a:solidFill>
                <a:latin typeface="Bahnschrift"/>
              </a:rPr>
              <a:t>3</a:t>
            </a:r>
          </a:p>
        </p:txBody>
      </p:sp>
      <p:sp>
        <p:nvSpPr>
          <p:cNvPr id="12" name="TextBox 11"/>
          <p:cNvSpPr txBox="1"/>
          <p:nvPr/>
        </p:nvSpPr>
        <p:spPr>
          <a:xfrm>
            <a:off x="6675120" y="2980944"/>
            <a:ext cx="4937760" cy="548640"/>
          </a:xfrm>
          <a:prstGeom prst="rect">
            <a:avLst/>
          </a:prstGeom>
          <a:noFill/>
        </p:spPr>
        <p:txBody>
          <a:bodyPr wrap="square" lIns="36576" rIns="36576" tIns="18288" bIns="18288" anchor="ctr">
            <a:spAutoFit/>
          </a:bodyPr>
          <a:lstStyle/>
          <a:p>
            <a:pPr algn="l"/>
            <a:r>
              <a:rPr sz="1400" b="0" i="0">
                <a:solidFill>
                  <a:srgbClr val="002B55"/>
                </a:solidFill>
                <a:latin typeface="Arial"/>
              </a:rPr>
              <a:t>Numbers are the team's own estimates. Never invent them.</a:t>
            </a:r>
          </a:p>
        </p:txBody>
      </p:sp>
      <p:sp>
        <p:nvSpPr>
          <p:cNvPr id="13" name="Oval 12"/>
          <p:cNvSpPr/>
          <p:nvPr/>
        </p:nvSpPr>
        <p:spPr>
          <a:xfrm>
            <a:off x="6217920" y="3675887"/>
            <a:ext cx="329184" cy="329184"/>
          </a:xfrm>
          <a:prstGeom prst="ellipse">
            <a:avLst/>
          </a:prstGeom>
          <a:solidFill>
            <a:srgbClr val="0078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r>
              <a:rPr sz="1100" b="1" i="0">
                <a:solidFill>
                  <a:srgbClr val="FFFFFF"/>
                </a:solidFill>
                <a:latin typeface="Bahnschrift"/>
              </a:rPr>
              <a:t>4</a:t>
            </a:r>
          </a:p>
        </p:txBody>
      </p:sp>
      <p:sp>
        <p:nvSpPr>
          <p:cNvPr id="14" name="TextBox 13"/>
          <p:cNvSpPr txBox="1"/>
          <p:nvPr/>
        </p:nvSpPr>
        <p:spPr>
          <a:xfrm>
            <a:off x="6675120" y="3602736"/>
            <a:ext cx="4937760" cy="548640"/>
          </a:xfrm>
          <a:prstGeom prst="rect">
            <a:avLst/>
          </a:prstGeom>
          <a:noFill/>
        </p:spPr>
        <p:txBody>
          <a:bodyPr wrap="square" lIns="36576" rIns="36576" tIns="18288" bIns="18288" anchor="ctr">
            <a:spAutoFit/>
          </a:bodyPr>
          <a:lstStyle/>
          <a:p>
            <a:pPr algn="l"/>
            <a:r>
              <a:rPr sz="1400" b="0" i="0">
                <a:solidFill>
                  <a:srgbClr val="002B55"/>
                </a:solidFill>
                <a:latin typeface="Arial"/>
              </a:rPr>
              <a:t>Mark practice data as fictional (Nordvant Biopharma).</a:t>
            </a:r>
          </a:p>
        </p:txBody>
      </p:sp>
      <p:sp>
        <p:nvSpPr>
          <p:cNvPr id="15" name="Oval 14"/>
          <p:cNvSpPr/>
          <p:nvPr/>
        </p:nvSpPr>
        <p:spPr>
          <a:xfrm>
            <a:off x="6217920" y="4297680"/>
            <a:ext cx="329184" cy="329184"/>
          </a:xfrm>
          <a:prstGeom prst="ellipse">
            <a:avLst/>
          </a:prstGeom>
          <a:solidFill>
            <a:srgbClr val="F477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r>
              <a:rPr sz="1100" b="1" i="0">
                <a:solidFill>
                  <a:srgbClr val="FFFFFF"/>
                </a:solidFill>
                <a:latin typeface="Bahnschrift"/>
              </a:rPr>
              <a:t>5</a:t>
            </a:r>
          </a:p>
        </p:txBody>
      </p:sp>
      <p:sp>
        <p:nvSpPr>
          <p:cNvPr id="16" name="TextBox 15"/>
          <p:cNvSpPr txBox="1"/>
          <p:nvPr/>
        </p:nvSpPr>
        <p:spPr>
          <a:xfrm>
            <a:off x="6675120" y="4224528"/>
            <a:ext cx="4937760" cy="548640"/>
          </a:xfrm>
          <a:prstGeom prst="rect">
            <a:avLst/>
          </a:prstGeom>
          <a:noFill/>
        </p:spPr>
        <p:txBody>
          <a:bodyPr wrap="square" lIns="36576" rIns="36576" tIns="18288" bIns="18288" anchor="ctr">
            <a:spAutoFit/>
          </a:bodyPr>
          <a:lstStyle/>
          <a:p>
            <a:pPr algn="l"/>
            <a:r>
              <a:rPr sz="1400" b="0" i="0">
                <a:solidFill>
                  <a:srgbClr val="002B55"/>
                </a:solidFill>
                <a:latin typeface="Arial"/>
              </a:rPr>
              <a:t>Slide 7 LIVE DEMO stays empty: run the demo there.</a:t>
            </a:r>
          </a:p>
        </p:txBody>
      </p:sp>
      <p:sp>
        <p:nvSpPr>
          <p:cNvPr id="17" name="Oval 16"/>
          <p:cNvSpPr/>
          <p:nvPr/>
        </p:nvSpPr>
        <p:spPr>
          <a:xfrm>
            <a:off x="6217920" y="4919472"/>
            <a:ext cx="329184" cy="329184"/>
          </a:xfrm>
          <a:prstGeom prst="ellipse">
            <a:avLst/>
          </a:prstGeom>
          <a:solidFill>
            <a:srgbClr val="0078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r>
              <a:rPr sz="1100" b="1" i="0">
                <a:solidFill>
                  <a:srgbClr val="FFFFFF"/>
                </a:solidFill>
                <a:latin typeface="Bahnschrift"/>
              </a:rPr>
              <a:t>6</a:t>
            </a:r>
          </a:p>
        </p:txBody>
      </p:sp>
      <p:sp>
        <p:nvSpPr>
          <p:cNvPr id="18" name="TextBox 17"/>
          <p:cNvSpPr txBox="1"/>
          <p:nvPr/>
        </p:nvSpPr>
        <p:spPr>
          <a:xfrm>
            <a:off x="6675120" y="4846320"/>
            <a:ext cx="4937760" cy="548640"/>
          </a:xfrm>
          <a:prstGeom prst="rect">
            <a:avLst/>
          </a:prstGeom>
          <a:noFill/>
        </p:spPr>
        <p:txBody>
          <a:bodyPr wrap="square" lIns="36576" rIns="36576" tIns="18288" bIns="18288" anchor="ctr">
            <a:spAutoFit/>
          </a:bodyPr>
          <a:lstStyle/>
          <a:p>
            <a:pPr algn="l"/>
            <a:r>
              <a:rPr sz="1400" b="0" i="0">
                <a:solidFill>
                  <a:srgbClr val="002B55"/>
                </a:solidFill>
                <a:latin typeface="Arial"/>
              </a:rPr>
              <a:t>No confidential data, no patient data, no real HCP names.</a:t>
            </a:r>
          </a:p>
        </p:txBody>
      </p:sp>
      <p:sp>
        <p:nvSpPr>
          <p:cNvPr id="19" name="Oval 18"/>
          <p:cNvSpPr/>
          <p:nvPr/>
        </p:nvSpPr>
        <p:spPr>
          <a:xfrm>
            <a:off x="6217920" y="5541264"/>
            <a:ext cx="329184" cy="329184"/>
          </a:xfrm>
          <a:prstGeom prst="ellipse">
            <a:avLst/>
          </a:prstGeom>
          <a:solidFill>
            <a:srgbClr val="0078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r>
              <a:rPr sz="1100" b="1" i="0">
                <a:solidFill>
                  <a:srgbClr val="FFFFFF"/>
                </a:solidFill>
                <a:latin typeface="Bahnschrift"/>
              </a:rPr>
              <a:t>7</a:t>
            </a:r>
          </a:p>
        </p:txBody>
      </p:sp>
      <p:sp>
        <p:nvSpPr>
          <p:cNvPr id="20" name="TextBox 19"/>
          <p:cNvSpPr txBox="1"/>
          <p:nvPr/>
        </p:nvSpPr>
        <p:spPr>
          <a:xfrm>
            <a:off x="6675120" y="5468112"/>
            <a:ext cx="4937760" cy="548640"/>
          </a:xfrm>
          <a:prstGeom prst="rect">
            <a:avLst/>
          </a:prstGeom>
          <a:noFill/>
        </p:spPr>
        <p:txBody>
          <a:bodyPr wrap="square" lIns="36576" rIns="36576" tIns="18288" bIns="18288" anchor="ctr">
            <a:spAutoFit/>
          </a:bodyPr>
          <a:lstStyle/>
          <a:p>
            <a:pPr algn="l"/>
            <a:r>
              <a:rPr sz="1400" b="0" i="0">
                <a:solidFill>
                  <a:srgbClr val="002B55"/>
                </a:solidFill>
                <a:latin typeface="Arial"/>
              </a:rPr>
              <a:t>About 20 minutes, give or take. Rehearse once.</a:t>
            </a: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6833</Words>
  <Application>Microsoft Office PowerPoint</Application>
  <DocSecurity>0</DocSecurity>
  <PresentationFormat>Widescreen</PresentationFormat>
  <Paragraphs>666</Paragraphs>
  <Slides>36</Slides>
  <Notes>36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36</vt:i4>
      </vt:variant>
    </vt:vector>
  </HeadingPairs>
  <TitlesOfParts>
    <vt:vector size="40" baseType="lpstr">
      <vt:lpstr>Aptos</vt:lpstr>
      <vt:lpstr>Arial</vt:lpstr>
      <vt:lpstr>Bahnschrift</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in Action Hackathon · Final presentation template</dc:title>
  <dc:creator>AI in Action for Medical Affairs</dc:creator>
  <cp:lastModifiedBy>Vivek Mukhatyar</cp:lastModifiedBy>
  <cp:revision>1</cp:revision>
  <dcterms:created xsi:type="dcterms:W3CDTF">2026-10-08T22:58:18Z</dcterms:created>
  <dcterms:modified xsi:type="dcterms:W3CDTF">2026-10-08T23:18:51Z</dcterms:modified>
  <dc:subject>Team final presentation template (generic, disclosure-free)</dc:subject>
</cp:coreProperties>
</file>