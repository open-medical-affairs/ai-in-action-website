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57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Mukhatyar" userId="0325db0cd26ce985" providerId="LiveId" clId="{C2F076DA-27A8-417D-A05E-C65F5A120C5D}"/>
    <pc:docChg chg="undo custSel modSld">
      <pc:chgData name="Vivek Mukhatyar" userId="0325db0cd26ce985" providerId="LiveId" clId="{C2F076DA-27A8-417D-A05E-C65F5A120C5D}" dt="2026-10-08T23:18:42.388" v="10" actId="20577"/>
      <pc:docMkLst>
        <pc:docMk/>
      </pc:docMkLst>
      <pc:sldChg chg="modSp mod">
        <pc:chgData name="Vivek Mukhatyar" userId="0325db0cd26ce985" providerId="LiveId" clId="{C2F076DA-27A8-417D-A05E-C65F5A120C5D}" dt="2026-10-08T23:10:37.202" v="0" actId="1076"/>
        <pc:sldMkLst>
          <pc:docMk/>
          <pc:sldMk cId="76287762" sldId="258"/>
        </pc:sldMkLst>
        <pc:spChg chg="mod">
          <ac:chgData name="Vivek Mukhatyar" userId="0325db0cd26ce985" providerId="LiveId" clId="{C2F076DA-27A8-417D-A05E-C65F5A120C5D}" dt="2026-10-08T23:10:37.202" v="0" actId="1076"/>
          <ac:spMkLst>
            <pc:docMk/>
            <pc:sldMk cId="76287762" sldId="258"/>
            <ac:spMk id="5" creationId="{D12E1EB6-04B4-462A-B459-CD91A446F245}"/>
          </ac:spMkLst>
        </pc:spChg>
      </pc:sldChg>
      <pc:sldChg chg="modSp mod">
        <pc:chgData name="Vivek Mukhatyar" userId="0325db0cd26ce985" providerId="LiveId" clId="{C2F076DA-27A8-417D-A05E-C65F5A120C5D}" dt="2026-10-08T23:18:42.388" v="10" actId="20577"/>
        <pc:sldMkLst>
          <pc:docMk/>
          <pc:sldMk cId="953831724" sldId="291"/>
        </pc:sldMkLst>
        <pc:spChg chg="mod">
          <ac:chgData name="Vivek Mukhatyar" userId="0325db0cd26ce985" providerId="LiveId" clId="{C2F076DA-27A8-417D-A05E-C65F5A120C5D}" dt="2026-10-08T23:18:42.388" v="10" actId="20577"/>
          <ac:spMkLst>
            <pc:docMk/>
            <pc:sldMk cId="953831724" sldId="291"/>
            <ac:spMk id="10" creationId="{E1242166-6221-4116-8F27-F4471634B602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0403-8B8F-4EB6-A12C-4B71459B1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00FD8A1-94DC-4C20-BC72-93D5A7C97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E81D71-A886-42D5-8F8C-D69087AC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90ABA4C-D497-4BA7-B12B-EF2467BC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99E49F3-36E4-4335-BEA1-029C705C4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B9FA833-A294-4123-99A5-90EB88E1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BCEF442-6C99-4D7E-9993-98D91B4BD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A2A83FB-AC33-48B1-A6E6-724522C7D72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A42188F-75A6-42B6-95DE-9DD096709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7F00D4-A140-4A39-B564-31724724A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Relationship Id="rId3" Type="http://schemas.openxmlformats.org/officeDocument/2006/relationships/hyperlink" Target="https://aiinaction.up.railway.app/hackathon/field-intelligence-engin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hyperlink" Target="https://aiinaction.up.railway.app/hackathon/insights-engin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hyperlink" Target="https://aiinaction.up.railway.app/hackathon/publications-brain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Relationship Id="rId3" Type="http://schemas.openxmlformats.org/officeDocument/2006/relationships/hyperlink" Target="https://aiinaction.up.railway.app/hackathon/congress-monitor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aiinaction.up.railway.app/hackathon/team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hero-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9904" y="6439204"/>
            <a:ext cx="5715000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8455F"/>
                </a:solidFill>
                <a:latin typeface="Arial"/>
              </a:rPr>
              <a:t>AI IN ACTION / MEDICAL AFFAIRS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solidFill>
            <a:srgbClr val="FFFEFB"/>
          </a:solidFill>
          <a:ln w="9525">
            <a:solidFill>
              <a:srgbClr val="28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28455F"/>
                </a:solidFill>
                <a:latin typeface="Bahnschrif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686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879"/>
                </a:solidFill>
                <a:latin typeface="Bahnschrift"/>
              </a:rPr>
              <a:t>HACKATHON · OCTOBER 13–14,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80160"/>
            <a:ext cx="58521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2B55"/>
                </a:solidFill>
                <a:latin typeface="Bahnschrift"/>
              </a:rPr>
              <a:t>Hackathon</a:t>
            </a:r>
          </a:p>
          <a:p>
            <a:pPr algn="l"/>
            <a:r>
              <a:rPr sz="6000" b="1" i="0">
                <a:solidFill>
                  <a:srgbClr val="007879"/>
                </a:solidFill>
                <a:latin typeface="Bahnschrift"/>
              </a:rPr>
              <a:t>Team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47472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28455F"/>
                </a:solidFill>
                <a:latin typeface="Arial"/>
              </a:rPr>
              <a:t>Four teams. Four verticals.</a:t>
            </a:r>
          </a:p>
          <a:p>
            <a:pPr algn="l"/>
            <a:r>
              <a:rPr sz="2000" b="0" i="0">
                <a:solidFill>
                  <a:srgbClr val="28455F"/>
                </a:solidFill>
                <a:latin typeface="Arial"/>
              </a:rPr>
              <a:t>32 hackers, one AI workforce 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4709160"/>
            <a:ext cx="73152" cy="77724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690872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5"/>
                </a:solidFill>
                <a:latin typeface="Arial"/>
              </a:rPr>
              <a:t>AI in Action for Medical Affairs</a:t>
            </a:r>
          </a:p>
          <a:p>
            <a:pPr algn="l"/>
            <a:r>
              <a:rPr sz="1400" b="0" i="0">
                <a:solidFill>
                  <a:srgbClr val="28455F"/>
                </a:solidFill>
                <a:latin typeface="Arial"/>
              </a:rPr>
              <a:t>Convene Philadelphia · Two Commerce Square</a:t>
            </a:r>
          </a:p>
          <a:p>
            <a:pPr algn="l"/>
            <a:r>
              <a:rPr sz="1400" b="0" i="0">
                <a:solidFill>
                  <a:srgbClr val="28455F"/>
                </a:solidFill>
                <a:latin typeface="Arial"/>
              </a:rPr>
              <a:t>Host: Vivek Mukhatyar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6439204"/>
            <a:ext cx="5715000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8455F"/>
                </a:solidFill>
                <a:latin typeface="Arial"/>
              </a:rPr>
              <a:t>AI IN ACTION / MEDICAL AFFAIRS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solidFill>
            <a:srgbClr val="FFFEFB"/>
          </a:solidFill>
          <a:ln w="9525">
            <a:solidFill>
              <a:srgbClr val="28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28455F"/>
                </a:solidFill>
                <a:latin typeface="Bahnschrif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657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02B55"/>
                </a:solidFill>
                <a:latin typeface="Bahnschrift"/>
              </a:rPr>
              <a:t>Four teams, four verticals, one map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873752" y="2926080"/>
            <a:ext cx="491032" cy="137160"/>
          </a:xfrm>
          <a:prstGeom prst="line">
            <a:avLst/>
          </a:prstGeom>
          <a:ln w="28575">
            <a:solidFill>
              <a:srgbClr val="F4773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27824" y="2926080"/>
            <a:ext cx="487376" cy="137160"/>
          </a:xfrm>
          <a:prstGeom prst="line">
            <a:avLst/>
          </a:prstGeom>
          <a:ln w="28575">
            <a:solidFill>
              <a:srgbClr val="1F5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873752" y="4160520"/>
            <a:ext cx="491032" cy="1417320"/>
          </a:xfrm>
          <a:prstGeom prst="line">
            <a:avLst/>
          </a:prstGeom>
          <a:ln w="28575">
            <a:solidFill>
              <a:srgbClr val="002B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27824" y="4160520"/>
            <a:ext cx="487376" cy="1417320"/>
          </a:xfrm>
          <a:prstGeom prst="line">
            <a:avLst/>
          </a:prstGeom>
          <a:ln w="28575">
            <a:solidFill>
              <a:srgbClr val="0078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12648" y="1188720"/>
            <a:ext cx="426110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ield-intelligence-engine-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188720"/>
            <a:ext cx="4261104" cy="11887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2377440"/>
            <a:ext cx="4261104" cy="54864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" y="25603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501F"/>
                </a:solidFill>
                <a:latin typeface="Bahnschrift"/>
              </a:rPr>
              <a:t>TEAM 1 · VERTICAL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02B55"/>
                </a:solidFill>
                <a:latin typeface="Bahnschrift"/>
              </a:rPr>
              <a:t>Field Intelligence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6472" y="2670048"/>
            <a:ext cx="896112" cy="768096"/>
          </a:xfrm>
          <a:prstGeom prst="roundRect">
            <a:avLst>
              <a:gd name="adj" fmla="val 18000"/>
            </a:avLst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76472" y="2670048"/>
            <a:ext cx="8961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B4501F"/>
                </a:solidFill>
                <a:latin typeface="Bahnschrift"/>
              </a:rPr>
              <a:t>8</a:t>
            </a:r>
          </a:p>
          <a:p>
            <a:pPr algn="ctr"/>
            <a:r>
              <a:rPr sz="1100" b="0" i="0">
                <a:solidFill>
                  <a:srgbClr val="28455F"/>
                </a:solidFill>
                <a:latin typeface="Arial"/>
              </a:rPr>
              <a:t>members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188720"/>
            <a:ext cx="426110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nsights-engine-str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4261104" cy="1188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15200" y="2377440"/>
            <a:ext cx="4261104" cy="54864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43800" y="25603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C99"/>
                </a:solidFill>
                <a:latin typeface="Bahnschrift"/>
              </a:rPr>
              <a:t>TEAM 2 · VERTICAL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8346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02B55"/>
                </a:solidFill>
                <a:latin typeface="Bahnschrift"/>
              </a:rPr>
              <a:t>Insights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79024" y="2670048"/>
            <a:ext cx="896112" cy="768096"/>
          </a:xfrm>
          <a:prstGeom prst="roundRect">
            <a:avLst>
              <a:gd name="adj" fmla="val 18000"/>
            </a:avLst>
          </a:prstGeom>
          <a:solidFill>
            <a:srgbClr val="E4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479024" y="2670048"/>
            <a:ext cx="8961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F5C99"/>
                </a:solidFill>
                <a:latin typeface="Bahnschrift"/>
              </a:rPr>
              <a:t>8</a:t>
            </a:r>
          </a:p>
          <a:p>
            <a:pPr algn="ctr"/>
            <a:r>
              <a:rPr sz="1100" b="0" i="0">
                <a:solidFill>
                  <a:srgbClr val="28455F"/>
                </a:solidFill>
                <a:latin typeface="Arial"/>
              </a:rPr>
              <a:t>members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3840480"/>
            <a:ext cx="426110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ublications-brain-stri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840480"/>
            <a:ext cx="4261104" cy="11887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12648" y="5029200"/>
            <a:ext cx="4261104" cy="54864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1248" y="5212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5"/>
                </a:solidFill>
                <a:latin typeface="Bahnschrift"/>
              </a:rPr>
              <a:t>TEAM 3 · VERTICAL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4864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02B55"/>
                </a:solidFill>
                <a:latin typeface="Bahnschrift"/>
              </a:rPr>
              <a:t>Publications Brain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76472" y="5321808"/>
            <a:ext cx="896112" cy="768096"/>
          </a:xfrm>
          <a:prstGeom prst="roundRect">
            <a:avLst>
              <a:gd name="adj" fmla="val 1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776472" y="5321808"/>
            <a:ext cx="8961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2B55"/>
                </a:solidFill>
                <a:latin typeface="Bahnschrift"/>
              </a:rPr>
              <a:t>8</a:t>
            </a:r>
          </a:p>
          <a:p>
            <a:pPr algn="ctr"/>
            <a:r>
              <a:rPr sz="1100" b="0" i="0">
                <a:solidFill>
                  <a:srgbClr val="28455F"/>
                </a:solidFill>
                <a:latin typeface="Arial"/>
              </a:rPr>
              <a:t>members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840480"/>
            <a:ext cx="426110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congress-monitor-stri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840480"/>
            <a:ext cx="4261104" cy="118872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7315200" y="5029200"/>
            <a:ext cx="4261104" cy="54864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43800" y="5212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879"/>
                </a:solidFill>
                <a:latin typeface="Bahnschrift"/>
              </a:rPr>
              <a:t>TEAM 4 · VERTICAL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54864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02B55"/>
                </a:solidFill>
                <a:latin typeface="Bahnschrift"/>
              </a:rPr>
              <a:t>Congress Monitor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79024" y="5321808"/>
            <a:ext cx="896112" cy="768096"/>
          </a:xfrm>
          <a:prstGeom prst="roundRect">
            <a:avLst>
              <a:gd name="adj" fmla="val 18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479024" y="5321808"/>
            <a:ext cx="8961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007879"/>
                </a:solidFill>
                <a:latin typeface="Bahnschrift"/>
              </a:rPr>
              <a:t>8</a:t>
            </a:r>
          </a:p>
          <a:p>
            <a:pPr algn="ctr"/>
            <a:r>
              <a:rPr sz="1100" b="0" i="0">
                <a:solidFill>
                  <a:srgbClr val="28455F"/>
                </a:solidFill>
                <a:latin typeface="Arial"/>
              </a:rPr>
              <a:t>members</a:t>
            </a:r>
          </a:p>
        </p:txBody>
      </p:sp>
      <p:sp>
        <p:nvSpPr>
          <p:cNvPr id="38" name="Oval 37"/>
          <p:cNvSpPr/>
          <p:nvPr/>
        </p:nvSpPr>
        <p:spPr>
          <a:xfrm>
            <a:off x="5053888" y="2569464"/>
            <a:ext cx="2084832" cy="20848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network-org-sq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184" y="2651760"/>
            <a:ext cx="1920240" cy="1920240"/>
          </a:xfrm>
          <a:prstGeom prst="ellipse">
            <a:avLst/>
          </a:prstGeom>
          <a:ln>
            <a:noFill/>
          </a:ln>
        </p:spPr>
      </p:pic>
      <p:sp>
        <p:nvSpPr>
          <p:cNvPr id="40" name="Rounded Rectangle 39"/>
          <p:cNvSpPr/>
          <p:nvPr/>
        </p:nvSpPr>
        <p:spPr>
          <a:xfrm>
            <a:off x="5227624" y="45262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227624" y="45262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Bahnschrift"/>
              </a:rPr>
              <a:t>32 hackers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6439204"/>
            <a:ext cx="5715000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8455F"/>
                </a:solidFill>
                <a:latin typeface="Arial"/>
              </a:rPr>
              <a:t>AI IN ACTION / MEDICAL AFFAIRS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solidFill>
            <a:srgbClr val="FFFEFB"/>
          </a:solidFill>
          <a:ln w="9525">
            <a:solidFill>
              <a:srgbClr val="28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28455F"/>
                </a:solidFill>
                <a:latin typeface="Bahnschrif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501F"/>
                </a:solidFill>
                <a:latin typeface="Bahnschrift"/>
              </a:rPr>
              <a:t>TEAM 1 · VERTICAL 04 · 8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76656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02B55"/>
                </a:solidFill>
                <a:latin typeface="Bahnschrift"/>
              </a:rPr>
              <a:t>Field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29844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28455F"/>
                </a:solidFill>
                <a:latin typeface="Arial"/>
              </a:rPr>
              <a:t>Walk into every HCP conversation prepared, and close the loop after.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2368296"/>
            <a:ext cx="1164945" cy="867765"/>
          </a:xfrm>
          <a:prstGeom prst="line">
            <a:avLst/>
          </a:prstGeom>
          <a:ln w="19050">
            <a:solidFill>
              <a:srgbClr val="F4773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70248" y="3300984"/>
            <a:ext cx="753465" cy="261518"/>
          </a:xfrm>
          <a:prstGeom prst="line">
            <a:avLst/>
          </a:prstGeom>
          <a:ln w="19050">
            <a:solidFill>
              <a:srgbClr val="F4773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270248" y="3888943"/>
            <a:ext cx="753465" cy="344729"/>
          </a:xfrm>
          <a:prstGeom prst="line">
            <a:avLst/>
          </a:prstGeom>
          <a:ln w="19050">
            <a:solidFill>
              <a:srgbClr val="F4773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58768" y="4215383"/>
            <a:ext cx="1164945" cy="950976"/>
          </a:xfrm>
          <a:prstGeom prst="line">
            <a:avLst/>
          </a:prstGeom>
          <a:ln w="19050">
            <a:solidFill>
              <a:srgbClr val="F4773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168896" y="2368296"/>
            <a:ext cx="1164031" cy="867765"/>
          </a:xfrm>
          <a:prstGeom prst="line">
            <a:avLst/>
          </a:prstGeom>
          <a:ln w="19050">
            <a:solidFill>
              <a:srgbClr val="F4773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68896" y="3300984"/>
            <a:ext cx="752551" cy="261518"/>
          </a:xfrm>
          <a:prstGeom prst="line">
            <a:avLst/>
          </a:prstGeom>
          <a:ln w="19050">
            <a:solidFill>
              <a:srgbClr val="F4773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168896" y="3888943"/>
            <a:ext cx="752551" cy="344729"/>
          </a:xfrm>
          <a:prstGeom prst="line">
            <a:avLst/>
          </a:prstGeom>
          <a:ln w="19050">
            <a:solidFill>
              <a:srgbClr val="F4773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168896" y="4215383"/>
            <a:ext cx="1164031" cy="950976"/>
          </a:xfrm>
          <a:prstGeom prst="line">
            <a:avLst/>
          </a:prstGeom>
          <a:ln w="19050">
            <a:solidFill>
              <a:srgbClr val="F4773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48148" y="2455164"/>
            <a:ext cx="2496312" cy="2496312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msl-hcp-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44" y="2537460"/>
            <a:ext cx="2331720" cy="2331720"/>
          </a:xfrm>
          <a:prstGeom prst="ellipse">
            <a:avLst/>
          </a:prstGeom>
          <a:ln>
            <a:noFill/>
          </a:ln>
        </p:spPr>
      </p:pic>
      <p:sp>
        <p:nvSpPr>
          <p:cNvPr id="19" name="Rounded Rectangle 18"/>
          <p:cNvSpPr/>
          <p:nvPr/>
        </p:nvSpPr>
        <p:spPr>
          <a:xfrm>
            <a:off x="4770424" y="4914899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70424" y="4914899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ahnschrift"/>
              </a:rPr>
              <a:t>Field Intelligence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2011680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40664" y="2130552"/>
            <a:ext cx="475488" cy="475488"/>
          </a:xfrm>
          <a:prstGeom prst="ellipse">
            <a:avLst/>
          </a:prstGeom>
          <a:solidFill>
            <a:srgbClr val="FDEBE1"/>
          </a:solidFill>
          <a:ln w="15875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21305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4501F"/>
                </a:solidFill>
                <a:latin typeface="Bahnschrift"/>
              </a:rPr>
              <a:t>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2011680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Nandini Sabharwal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2944368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152144" y="3063240"/>
            <a:ext cx="475488" cy="475488"/>
          </a:xfrm>
          <a:prstGeom prst="ellipse">
            <a:avLst/>
          </a:prstGeom>
          <a:solidFill>
            <a:srgbClr val="FDEBE1"/>
          </a:solidFill>
          <a:ln w="15875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52144" y="30632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4501F"/>
                </a:solidFill>
                <a:latin typeface="Bahnschrift"/>
              </a:rPr>
              <a:t>JL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3936" y="2944368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Jason Lebowitz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3877056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152144" y="3995928"/>
            <a:ext cx="475488" cy="475488"/>
          </a:xfrm>
          <a:prstGeom prst="ellipse">
            <a:avLst/>
          </a:prstGeom>
          <a:solidFill>
            <a:srgbClr val="FDEBE1"/>
          </a:solidFill>
          <a:ln w="15875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52144" y="399592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4501F"/>
                </a:solidFill>
                <a:latin typeface="Bahnschrift"/>
              </a:rPr>
              <a:t>TC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3936" y="3877056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Tom Canavela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4809744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0664" y="4928616"/>
            <a:ext cx="475488" cy="475488"/>
          </a:xfrm>
          <a:prstGeom prst="ellipse">
            <a:avLst/>
          </a:prstGeom>
          <a:solidFill>
            <a:srgbClr val="FDEBE1"/>
          </a:solidFill>
          <a:ln w="15875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" y="49286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4501F"/>
                </a:solidFill>
                <a:latin typeface="Bahnschrift"/>
              </a:rPr>
              <a:t>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2456" y="4809744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Allison McMullen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2927" y="2011680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460943" y="2130552"/>
            <a:ext cx="475488" cy="475488"/>
          </a:xfrm>
          <a:prstGeom prst="ellipse">
            <a:avLst/>
          </a:prstGeom>
          <a:solidFill>
            <a:srgbClr val="FDEBE1"/>
          </a:solidFill>
          <a:ln w="15875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60943" y="21305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4501F"/>
                </a:solidFill>
                <a:latin typeface="Bahnschrift"/>
              </a:rPr>
              <a:t>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2735" y="2011680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Andy Yan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21447" y="2944368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049463" y="3063240"/>
            <a:ext cx="475488" cy="475488"/>
          </a:xfrm>
          <a:prstGeom prst="ellipse">
            <a:avLst/>
          </a:prstGeom>
          <a:solidFill>
            <a:srgbClr val="FDEBE1"/>
          </a:solidFill>
          <a:ln w="15875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9463" y="30632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4501F"/>
                </a:solidFill>
                <a:latin typeface="Bahnschrift"/>
              </a:rPr>
              <a:t>PM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1255" y="2944368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Paul Minen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21447" y="3877056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049463" y="3995928"/>
            <a:ext cx="475488" cy="475488"/>
          </a:xfrm>
          <a:prstGeom prst="ellipse">
            <a:avLst/>
          </a:prstGeom>
          <a:solidFill>
            <a:srgbClr val="FDEBE1"/>
          </a:solidFill>
          <a:ln w="15875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9463" y="399592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4501F"/>
                </a:solidFill>
                <a:latin typeface="Bahnschrift"/>
              </a:rPr>
              <a:t>TR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1255" y="3877056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Tony Rebelo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2927" y="4809744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8460943" y="4928616"/>
            <a:ext cx="475488" cy="475488"/>
          </a:xfrm>
          <a:prstGeom prst="ellipse">
            <a:avLst/>
          </a:prstGeom>
          <a:solidFill>
            <a:srgbClr val="FDEBE1"/>
          </a:solidFill>
          <a:ln w="15875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460943" y="49286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B4501F"/>
                </a:solidFill>
                <a:latin typeface="Bahnschrift"/>
              </a:rPr>
              <a:t>MV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82735" y="4809744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Michelle Vichnin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" y="5833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28455F"/>
                </a:solidFill>
                <a:latin typeface="Arial"/>
              </a:rPr>
              <a:t>Guide, missions and prompts → </a:t>
            </a:r>
            <a:r>
              <a:rPr sz="1400" b="1" i="0">
                <a:solidFill>
                  <a:srgbClr val="B4501F"/>
                </a:solidFill>
                <a:latin typeface="Arial"/>
                <a:hlinkClick r:id="rId3"/>
              </a:rPr>
              <a:t>aiinaction.up.railway.app/hackathon/field-intelligence-engine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6439204"/>
            <a:ext cx="5715000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8455F"/>
                </a:solidFill>
                <a:latin typeface="Arial"/>
              </a:rPr>
              <a:t>AI IN ACTION / MEDICAL AFFAIRS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solidFill>
            <a:srgbClr val="FFFEFB"/>
          </a:solidFill>
          <a:ln w="9525">
            <a:solidFill>
              <a:srgbClr val="28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28455F"/>
                </a:solidFill>
                <a:latin typeface="Bahnschrift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5C99"/>
                </a:solidFill>
                <a:latin typeface="Bahnschrift"/>
              </a:rPr>
              <a:t>TEAM 2 · VERTICAL 02 · 8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76656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02B55"/>
                </a:solidFill>
                <a:latin typeface="Bahnschrift"/>
              </a:rPr>
              <a:t>Insights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29844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28455F"/>
                </a:solidFill>
                <a:latin typeface="Arial"/>
              </a:rPr>
              <a:t>Trace every care gap to the HCP knowledge or belief gap behind it, then match education to each HCP segment and stage.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2368296"/>
            <a:ext cx="1164945" cy="867765"/>
          </a:xfrm>
          <a:prstGeom prst="line">
            <a:avLst/>
          </a:prstGeom>
          <a:ln w="19050">
            <a:solidFill>
              <a:srgbClr val="1F5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70248" y="3300984"/>
            <a:ext cx="753465" cy="261518"/>
          </a:xfrm>
          <a:prstGeom prst="line">
            <a:avLst/>
          </a:prstGeom>
          <a:ln w="19050">
            <a:solidFill>
              <a:srgbClr val="1F5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270248" y="3888943"/>
            <a:ext cx="753465" cy="344729"/>
          </a:xfrm>
          <a:prstGeom prst="line">
            <a:avLst/>
          </a:prstGeom>
          <a:ln w="19050">
            <a:solidFill>
              <a:srgbClr val="1F5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58768" y="4215383"/>
            <a:ext cx="1164945" cy="950976"/>
          </a:xfrm>
          <a:prstGeom prst="line">
            <a:avLst/>
          </a:prstGeom>
          <a:ln w="19050">
            <a:solidFill>
              <a:srgbClr val="1F5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168896" y="2368296"/>
            <a:ext cx="1164031" cy="867765"/>
          </a:xfrm>
          <a:prstGeom prst="line">
            <a:avLst/>
          </a:prstGeom>
          <a:ln w="19050">
            <a:solidFill>
              <a:srgbClr val="1F5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68896" y="3300984"/>
            <a:ext cx="752551" cy="261518"/>
          </a:xfrm>
          <a:prstGeom prst="line">
            <a:avLst/>
          </a:prstGeom>
          <a:ln w="19050">
            <a:solidFill>
              <a:srgbClr val="1F5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168896" y="3888943"/>
            <a:ext cx="752551" cy="344729"/>
          </a:xfrm>
          <a:prstGeom prst="line">
            <a:avLst/>
          </a:prstGeom>
          <a:ln w="19050">
            <a:solidFill>
              <a:srgbClr val="1F5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168896" y="4215383"/>
            <a:ext cx="1164031" cy="950976"/>
          </a:xfrm>
          <a:prstGeom prst="line">
            <a:avLst/>
          </a:prstGeom>
          <a:ln w="19050">
            <a:solidFill>
              <a:srgbClr val="1F5C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48148" y="2455164"/>
            <a:ext cx="2496312" cy="2496312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over-02-stages-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44" y="2537460"/>
            <a:ext cx="2331720" cy="2331720"/>
          </a:xfrm>
          <a:prstGeom prst="ellipse">
            <a:avLst/>
          </a:prstGeom>
          <a:ln>
            <a:noFill/>
          </a:ln>
        </p:spPr>
      </p:pic>
      <p:sp>
        <p:nvSpPr>
          <p:cNvPr id="19" name="Rounded Rectangle 18"/>
          <p:cNvSpPr/>
          <p:nvPr/>
        </p:nvSpPr>
        <p:spPr>
          <a:xfrm>
            <a:off x="4770424" y="4914899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70424" y="4914899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ahnschrift"/>
              </a:rPr>
              <a:t>Insights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2011680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40664" y="2130552"/>
            <a:ext cx="475488" cy="475488"/>
          </a:xfrm>
          <a:prstGeom prst="ellipse">
            <a:avLst/>
          </a:prstGeom>
          <a:solidFill>
            <a:srgbClr val="E4EDF7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21305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5C99"/>
                </a:solidFill>
                <a:latin typeface="Bahnschrift"/>
              </a:rPr>
              <a:t>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2011680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Anjali Mishra</a:t>
            </a:r>
          </a:p>
          <a:p>
            <a:pPr algn="l"/>
            <a:r>
              <a:rPr sz="1100" b="1" i="0">
                <a:solidFill>
                  <a:srgbClr val="1F5C99"/>
                </a:solidFill>
                <a:latin typeface="Bahnschrift"/>
              </a:rPr>
              <a:t>Facilitator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2944368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152144" y="3063240"/>
            <a:ext cx="475488" cy="475488"/>
          </a:xfrm>
          <a:prstGeom prst="ellipse">
            <a:avLst/>
          </a:prstGeom>
          <a:solidFill>
            <a:srgbClr val="E4EDF7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52144" y="30632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5C99"/>
                </a:solidFill>
                <a:latin typeface="Bahnschrift"/>
              </a:rPr>
              <a:t>JH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3936" y="2944368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John Hannis</a:t>
            </a:r>
          </a:p>
          <a:p>
            <a:pPr algn="l"/>
            <a:r>
              <a:rPr sz="1100" b="1" i="0">
                <a:solidFill>
                  <a:srgbClr val="1F5C99"/>
                </a:solidFill>
                <a:latin typeface="Bahnschrift"/>
              </a:rPr>
              <a:t>Facilitator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3877056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152144" y="3995928"/>
            <a:ext cx="475488" cy="475488"/>
          </a:xfrm>
          <a:prstGeom prst="ellipse">
            <a:avLst/>
          </a:prstGeom>
          <a:solidFill>
            <a:srgbClr val="E4EDF7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52144" y="399592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5C99"/>
                </a:solidFill>
                <a:latin typeface="Bahnschrift"/>
              </a:rPr>
              <a:t>KK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3936" y="3877056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Kara Koehler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4809744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0664" y="4928616"/>
            <a:ext cx="475488" cy="475488"/>
          </a:xfrm>
          <a:prstGeom prst="ellipse">
            <a:avLst/>
          </a:prstGeom>
          <a:solidFill>
            <a:srgbClr val="E4EDF7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" y="49286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5C99"/>
                </a:solidFill>
                <a:latin typeface="Bahnschrift"/>
              </a:rPr>
              <a:t>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2456" y="4809744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Brianna Cauley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2927" y="2011680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460943" y="2130552"/>
            <a:ext cx="475488" cy="475488"/>
          </a:xfrm>
          <a:prstGeom prst="ellipse">
            <a:avLst/>
          </a:prstGeom>
          <a:solidFill>
            <a:srgbClr val="E4EDF7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60943" y="21305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5C99"/>
                </a:solidFill>
                <a:latin typeface="Bahnschrift"/>
              </a:rPr>
              <a:t>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2735" y="2011680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Chris Herold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21447" y="2944368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049463" y="3063240"/>
            <a:ext cx="475488" cy="475488"/>
          </a:xfrm>
          <a:prstGeom prst="ellipse">
            <a:avLst/>
          </a:prstGeom>
          <a:solidFill>
            <a:srgbClr val="E4EDF7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9463" y="30632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5C99"/>
                </a:solidFill>
                <a:latin typeface="Bahnschrift"/>
              </a:rPr>
              <a:t>MP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1255" y="2944368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Mamta Parikh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21447" y="3877056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049463" y="3995928"/>
            <a:ext cx="475488" cy="475488"/>
          </a:xfrm>
          <a:prstGeom prst="ellipse">
            <a:avLst/>
          </a:prstGeom>
          <a:solidFill>
            <a:srgbClr val="E4EDF7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9463" y="399592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5C99"/>
                </a:solidFill>
                <a:latin typeface="Bahnschrift"/>
              </a:rPr>
              <a:t>LH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1255" y="3877056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Liz Hernandez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2927" y="4809744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8460943" y="4928616"/>
            <a:ext cx="475488" cy="475488"/>
          </a:xfrm>
          <a:prstGeom prst="ellipse">
            <a:avLst/>
          </a:prstGeom>
          <a:solidFill>
            <a:srgbClr val="E4EDF7"/>
          </a:solidFill>
          <a:ln w="1587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460943" y="49286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5C99"/>
                </a:solidFill>
                <a:latin typeface="Bahnschrift"/>
              </a:rPr>
              <a:t>CM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82735" y="4809744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Chris Miller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" y="5833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28455F"/>
                </a:solidFill>
                <a:latin typeface="Arial"/>
              </a:rPr>
              <a:t>Guide, missions and prompts → </a:t>
            </a:r>
            <a:r>
              <a:rPr sz="1400" b="1" i="0">
                <a:solidFill>
                  <a:srgbClr val="1F5C99"/>
                </a:solidFill>
                <a:latin typeface="Arial"/>
                <a:hlinkClick r:id="rId3"/>
              </a:rPr>
              <a:t>aiinaction.up.railway.app/hackathon/insights-engine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6439204"/>
            <a:ext cx="5715000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8455F"/>
                </a:solidFill>
                <a:latin typeface="Arial"/>
              </a:rPr>
              <a:t>AI IN ACTION / MEDICAL AFFAIRS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solidFill>
            <a:srgbClr val="FFFEFB"/>
          </a:solidFill>
          <a:ln w="9525">
            <a:solidFill>
              <a:srgbClr val="28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28455F"/>
                </a:solidFill>
                <a:latin typeface="Bahnschrift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B55"/>
                </a:solidFill>
                <a:latin typeface="Bahnschrift"/>
              </a:rPr>
              <a:t>TEAM 3 · VERTICAL 01 · 8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76656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02B55"/>
                </a:solidFill>
                <a:latin typeface="Bahnschrift"/>
              </a:rPr>
              <a:t>Publications 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29844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28455F"/>
                </a:solidFill>
                <a:latin typeface="Arial"/>
              </a:rPr>
              <a:t>What to publish, what to stop, and keeping every output consistent.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2368296"/>
            <a:ext cx="1164945" cy="867765"/>
          </a:xfrm>
          <a:prstGeom prst="line">
            <a:avLst/>
          </a:prstGeom>
          <a:ln w="19050">
            <a:solidFill>
              <a:srgbClr val="002B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70248" y="3300984"/>
            <a:ext cx="753465" cy="261518"/>
          </a:xfrm>
          <a:prstGeom prst="line">
            <a:avLst/>
          </a:prstGeom>
          <a:ln w="19050">
            <a:solidFill>
              <a:srgbClr val="002B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270248" y="3888943"/>
            <a:ext cx="753465" cy="344729"/>
          </a:xfrm>
          <a:prstGeom prst="line">
            <a:avLst/>
          </a:prstGeom>
          <a:ln w="19050">
            <a:solidFill>
              <a:srgbClr val="002B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58768" y="4215383"/>
            <a:ext cx="1164945" cy="950976"/>
          </a:xfrm>
          <a:prstGeom prst="line">
            <a:avLst/>
          </a:prstGeom>
          <a:ln w="19050">
            <a:solidFill>
              <a:srgbClr val="002B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168896" y="2368296"/>
            <a:ext cx="1164031" cy="867765"/>
          </a:xfrm>
          <a:prstGeom prst="line">
            <a:avLst/>
          </a:prstGeom>
          <a:ln w="19050">
            <a:solidFill>
              <a:srgbClr val="002B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68896" y="3300984"/>
            <a:ext cx="752551" cy="261518"/>
          </a:xfrm>
          <a:prstGeom prst="line">
            <a:avLst/>
          </a:prstGeom>
          <a:ln w="19050">
            <a:solidFill>
              <a:srgbClr val="002B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168896" y="3888943"/>
            <a:ext cx="752551" cy="344729"/>
          </a:xfrm>
          <a:prstGeom prst="line">
            <a:avLst/>
          </a:prstGeom>
          <a:ln w="19050">
            <a:solidFill>
              <a:srgbClr val="002B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168896" y="4215383"/>
            <a:ext cx="1164031" cy="950976"/>
          </a:xfrm>
          <a:prstGeom prst="line">
            <a:avLst/>
          </a:prstGeom>
          <a:ln w="19050">
            <a:solidFill>
              <a:srgbClr val="002B5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48148" y="2455164"/>
            <a:ext cx="2496312" cy="2496312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workforce-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44" y="2537460"/>
            <a:ext cx="2331720" cy="2331720"/>
          </a:xfrm>
          <a:prstGeom prst="ellipse">
            <a:avLst/>
          </a:prstGeom>
          <a:ln>
            <a:noFill/>
          </a:ln>
        </p:spPr>
      </p:pic>
      <p:sp>
        <p:nvSpPr>
          <p:cNvPr id="19" name="Rounded Rectangle 18"/>
          <p:cNvSpPr/>
          <p:nvPr/>
        </p:nvSpPr>
        <p:spPr>
          <a:xfrm>
            <a:off x="4770424" y="4914899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70424" y="4914899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ahnschrift"/>
              </a:rPr>
              <a:t>Publications Brain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2011680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40664" y="2130552"/>
            <a:ext cx="475488" cy="475488"/>
          </a:xfrm>
          <a:prstGeom prst="ellipse">
            <a:avLst/>
          </a:prstGeom>
          <a:solidFill>
            <a:srgbClr val="E8EEF5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21305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2B55"/>
                </a:solidFill>
                <a:latin typeface="Bahnschrift"/>
              </a:rPr>
              <a:t>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2011680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Pooja Smith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2944368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152144" y="3063240"/>
            <a:ext cx="475488" cy="475488"/>
          </a:xfrm>
          <a:prstGeom prst="ellipse">
            <a:avLst/>
          </a:prstGeom>
          <a:solidFill>
            <a:srgbClr val="E8EEF5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52144" y="30632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2B55"/>
                </a:solidFill>
                <a:latin typeface="Bahnschrift"/>
              </a:rPr>
              <a:t>VK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3936" y="2944368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Vijay Krishnan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3877056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152144" y="3995928"/>
            <a:ext cx="475488" cy="475488"/>
          </a:xfrm>
          <a:prstGeom prst="ellipse">
            <a:avLst/>
          </a:prstGeom>
          <a:solidFill>
            <a:srgbClr val="E8EEF5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52144" y="399592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2B55"/>
                </a:solidFill>
                <a:latin typeface="Bahnschrift"/>
              </a:rPr>
              <a:t>RG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3936" y="3877056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Richa Garg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4809744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0664" y="4928616"/>
            <a:ext cx="475488" cy="475488"/>
          </a:xfrm>
          <a:prstGeom prst="ellipse">
            <a:avLst/>
          </a:prstGeom>
          <a:solidFill>
            <a:srgbClr val="E8EEF5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" y="49286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2B55"/>
                </a:solidFill>
                <a:latin typeface="Bahnschrift"/>
              </a:rPr>
              <a:t>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2456" y="4809744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Bennie Coccia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2927" y="2011680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460943" y="2130552"/>
            <a:ext cx="475488" cy="475488"/>
          </a:xfrm>
          <a:prstGeom prst="ellipse">
            <a:avLst/>
          </a:prstGeom>
          <a:solidFill>
            <a:srgbClr val="E8EEF5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60943" y="21305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2B55"/>
                </a:solidFill>
                <a:latin typeface="Bahnschrift"/>
              </a:rPr>
              <a:t>LV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2735" y="2011680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Lucie Vu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21447" y="2944368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049463" y="3063240"/>
            <a:ext cx="475488" cy="475488"/>
          </a:xfrm>
          <a:prstGeom prst="ellipse">
            <a:avLst/>
          </a:prstGeom>
          <a:solidFill>
            <a:srgbClr val="E8EEF5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9463" y="30632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2B55"/>
                </a:solidFill>
                <a:latin typeface="Bahnschrift"/>
              </a:rPr>
              <a:t>CW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1255" y="2944368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Charlene Wong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21447" y="3877056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049463" y="3995928"/>
            <a:ext cx="475488" cy="475488"/>
          </a:xfrm>
          <a:prstGeom prst="ellipse">
            <a:avLst/>
          </a:prstGeom>
          <a:solidFill>
            <a:srgbClr val="E8EEF5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9463" y="399592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2B55"/>
                </a:solidFill>
                <a:latin typeface="Bahnschrift"/>
              </a:rPr>
              <a:t>MK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1255" y="3877056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Megan Kinnett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2927" y="4809744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8460943" y="4928616"/>
            <a:ext cx="475488" cy="475488"/>
          </a:xfrm>
          <a:prstGeom prst="ellipse">
            <a:avLst/>
          </a:prstGeom>
          <a:solidFill>
            <a:srgbClr val="E8EEF5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460943" y="49286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2B55"/>
                </a:solidFill>
                <a:latin typeface="Bahnschrift"/>
              </a:rPr>
              <a:t>JW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82735" y="4809744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Jonathan Weimer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" y="5833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28455F"/>
                </a:solidFill>
                <a:latin typeface="Arial"/>
              </a:rPr>
              <a:t>Guide, missions and prompts → </a:t>
            </a:r>
            <a:r>
              <a:rPr sz="1400" b="1" i="0">
                <a:solidFill>
                  <a:srgbClr val="002B55"/>
                </a:solidFill>
                <a:latin typeface="Arial"/>
                <a:hlinkClick r:id="rId3"/>
              </a:rPr>
              <a:t>aiinaction.up.railway.app/hackathon/publications-brain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6439204"/>
            <a:ext cx="5715000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8455F"/>
                </a:solidFill>
                <a:latin typeface="Arial"/>
              </a:rPr>
              <a:t>AI IN ACTION / MEDICAL AFFAIRS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solidFill>
            <a:srgbClr val="FFFEFB"/>
          </a:solidFill>
          <a:ln w="9525">
            <a:solidFill>
              <a:srgbClr val="28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28455F"/>
                </a:solidFill>
                <a:latin typeface="Bahnschrift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38404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879"/>
                </a:solidFill>
                <a:latin typeface="Bahnschrift"/>
              </a:rPr>
              <a:t>TEAM 4 · VERTICAL 03 · 8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76656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02B55"/>
                </a:solidFill>
                <a:latin typeface="Bahnschrift"/>
              </a:rPr>
              <a:t>Congress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29844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28455F"/>
                </a:solidFill>
                <a:latin typeface="Arial"/>
              </a:rPr>
              <a:t>The congress just ended. What changed, and what do we do about it?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2368296"/>
            <a:ext cx="1164945" cy="867765"/>
          </a:xfrm>
          <a:prstGeom prst="line">
            <a:avLst/>
          </a:prstGeom>
          <a:ln w="19050">
            <a:solidFill>
              <a:srgbClr val="0078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70248" y="3300984"/>
            <a:ext cx="753465" cy="261518"/>
          </a:xfrm>
          <a:prstGeom prst="line">
            <a:avLst/>
          </a:prstGeom>
          <a:ln w="19050">
            <a:solidFill>
              <a:srgbClr val="0078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270248" y="3888943"/>
            <a:ext cx="753465" cy="344729"/>
          </a:xfrm>
          <a:prstGeom prst="line">
            <a:avLst/>
          </a:prstGeom>
          <a:ln w="19050">
            <a:solidFill>
              <a:srgbClr val="0078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58768" y="4215383"/>
            <a:ext cx="1164945" cy="950976"/>
          </a:xfrm>
          <a:prstGeom prst="line">
            <a:avLst/>
          </a:prstGeom>
          <a:ln w="19050">
            <a:solidFill>
              <a:srgbClr val="0078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168896" y="2368296"/>
            <a:ext cx="1164031" cy="867765"/>
          </a:xfrm>
          <a:prstGeom prst="line">
            <a:avLst/>
          </a:prstGeom>
          <a:ln w="19050">
            <a:solidFill>
              <a:srgbClr val="0078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68896" y="3300984"/>
            <a:ext cx="752551" cy="261518"/>
          </a:xfrm>
          <a:prstGeom prst="line">
            <a:avLst/>
          </a:prstGeom>
          <a:ln w="19050">
            <a:solidFill>
              <a:srgbClr val="0078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168896" y="3888943"/>
            <a:ext cx="752551" cy="344729"/>
          </a:xfrm>
          <a:prstGeom prst="line">
            <a:avLst/>
          </a:prstGeom>
          <a:ln w="19050">
            <a:solidFill>
              <a:srgbClr val="0078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168896" y="4215383"/>
            <a:ext cx="1164031" cy="950976"/>
          </a:xfrm>
          <a:prstGeom prst="line">
            <a:avLst/>
          </a:prstGeom>
          <a:ln w="19050">
            <a:solidFill>
              <a:srgbClr val="00787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48148" y="2455164"/>
            <a:ext cx="2496312" cy="2496312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ongress-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44" y="2537460"/>
            <a:ext cx="2331720" cy="2331720"/>
          </a:xfrm>
          <a:prstGeom prst="ellipse">
            <a:avLst/>
          </a:prstGeom>
          <a:ln>
            <a:noFill/>
          </a:ln>
        </p:spPr>
      </p:pic>
      <p:sp>
        <p:nvSpPr>
          <p:cNvPr id="19" name="Rounded Rectangle 18"/>
          <p:cNvSpPr/>
          <p:nvPr/>
        </p:nvSpPr>
        <p:spPr>
          <a:xfrm>
            <a:off x="4770424" y="4914899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70424" y="4914899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ahnschrift"/>
              </a:rPr>
              <a:t>Congress Monitor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2011680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40664" y="2130552"/>
            <a:ext cx="475488" cy="475488"/>
          </a:xfrm>
          <a:prstGeom prst="ellipse">
            <a:avLst/>
          </a:prstGeom>
          <a:solidFill>
            <a:srgbClr val="E3F1F0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21305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7879"/>
                </a:solidFill>
                <a:latin typeface="Bahnschrift"/>
              </a:rPr>
              <a:t>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2011680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Nita Thingalaya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2944368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152144" y="3063240"/>
            <a:ext cx="475488" cy="475488"/>
          </a:xfrm>
          <a:prstGeom prst="ellipse">
            <a:avLst/>
          </a:prstGeom>
          <a:solidFill>
            <a:srgbClr val="E3F1F0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52144" y="30632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7879"/>
                </a:solidFill>
                <a:latin typeface="Bahnschrift"/>
              </a:rPr>
              <a:t>KK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3936" y="2944368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Kristina Kipp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3877056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152144" y="3995928"/>
            <a:ext cx="475488" cy="475488"/>
          </a:xfrm>
          <a:prstGeom prst="ellipse">
            <a:avLst/>
          </a:prstGeom>
          <a:solidFill>
            <a:srgbClr val="E3F1F0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52144" y="399592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7879"/>
                </a:solidFill>
                <a:latin typeface="Bahnschrift"/>
              </a:rPr>
              <a:t>MC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3936" y="3877056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Michelle Cho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4809744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0664" y="4928616"/>
            <a:ext cx="475488" cy="475488"/>
          </a:xfrm>
          <a:prstGeom prst="ellipse">
            <a:avLst/>
          </a:prstGeom>
          <a:solidFill>
            <a:srgbClr val="E3F1F0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" y="49286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7879"/>
                </a:solidFill>
                <a:latin typeface="Bahnschrift"/>
              </a:rPr>
              <a:t>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2456" y="4809744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Yusuke Sasaki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2927" y="2011680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460943" y="2130552"/>
            <a:ext cx="475488" cy="475488"/>
          </a:xfrm>
          <a:prstGeom prst="ellipse">
            <a:avLst/>
          </a:prstGeom>
          <a:solidFill>
            <a:srgbClr val="E3F1F0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60943" y="21305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7879"/>
                </a:solidFill>
                <a:latin typeface="Bahnschrift"/>
              </a:rPr>
              <a:t>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2735" y="2011680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Stefanie Maurer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21447" y="2944368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049463" y="3063240"/>
            <a:ext cx="475488" cy="475488"/>
          </a:xfrm>
          <a:prstGeom prst="ellipse">
            <a:avLst/>
          </a:prstGeom>
          <a:solidFill>
            <a:srgbClr val="E3F1F0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9463" y="30632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7879"/>
                </a:solidFill>
                <a:latin typeface="Bahnschrift"/>
              </a:rPr>
              <a:t>CB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1255" y="2944368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Chelsea Bennheisel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21447" y="3877056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049463" y="3995928"/>
            <a:ext cx="475488" cy="475488"/>
          </a:xfrm>
          <a:prstGeom prst="ellipse">
            <a:avLst/>
          </a:prstGeom>
          <a:solidFill>
            <a:srgbClr val="E3F1F0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9463" y="399592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7879"/>
                </a:solidFill>
                <a:latin typeface="Bahnschrift"/>
              </a:rPr>
              <a:t>JA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1255" y="3877056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Jackie Armani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2927" y="4809744"/>
            <a:ext cx="3246120" cy="7132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8460943" y="4928616"/>
            <a:ext cx="475488" cy="475488"/>
          </a:xfrm>
          <a:prstGeom prst="ellipse">
            <a:avLst/>
          </a:prstGeom>
          <a:solidFill>
            <a:srgbClr val="E3F1F0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460943" y="49286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7879"/>
                </a:solidFill>
                <a:latin typeface="Bahnschrift"/>
              </a:rPr>
              <a:t>SC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82735" y="4809744"/>
            <a:ext cx="24048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02B55"/>
                </a:solidFill>
                <a:latin typeface="Bahnschrift"/>
              </a:rPr>
              <a:t>Susan Connelly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" y="5833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28455F"/>
                </a:solidFill>
                <a:latin typeface="Arial"/>
              </a:rPr>
              <a:t>Guide, missions and prompts → </a:t>
            </a:r>
            <a:r>
              <a:rPr sz="1400" b="1" i="0">
                <a:solidFill>
                  <a:srgbClr val="007879"/>
                </a:solidFill>
                <a:latin typeface="Arial"/>
                <a:hlinkClick r:id="rId3"/>
              </a:rPr>
              <a:t>aiinaction.up.railway.app/hackathon/congress-monitor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build-team-t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9904" y="6439204"/>
            <a:ext cx="5715000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8455F"/>
                </a:solidFill>
                <a:latin typeface="Arial"/>
              </a:rPr>
              <a:t>AI IN ACTION / MEDICAL AFFAIRS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solidFill>
            <a:srgbClr val="FFFEFB"/>
          </a:solidFill>
          <a:ln w="9525">
            <a:solidFill>
              <a:srgbClr val="28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96244" y="6381597"/>
            <a:ext cx="466344" cy="286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5" b="1" i="0">
                <a:solidFill>
                  <a:srgbClr val="28455F"/>
                </a:solidFill>
                <a:latin typeface="Bahnschrift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73152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002B55"/>
                </a:solidFill>
                <a:latin typeface="Bahnschrift"/>
              </a:rPr>
              <a:t>Go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74519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879"/>
                </a:solidFill>
                <a:latin typeface="Bahnschrift"/>
              </a:rPr>
              <a:t>Find your team. Open your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432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8455F"/>
                </a:solidFill>
                <a:latin typeface="Bahnschrift"/>
              </a:rPr>
              <a:t>DAY 2 · PRESENTATION ORDER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145536"/>
            <a:ext cx="329184" cy="329184"/>
          </a:xfrm>
          <a:prstGeom prst="ellipse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31455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2B55"/>
                </a:solidFill>
                <a:latin typeface="Bahnschrift"/>
              </a:rPr>
              <a:t>Publications Brain</a:t>
            </a:r>
            <a:r>
              <a:rPr sz="1500" b="0" i="0">
                <a:solidFill>
                  <a:srgbClr val="28455F"/>
                </a:solidFill>
                <a:latin typeface="Arial"/>
              </a:rPr>
              <a:t>  ·  Team 3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3602736"/>
            <a:ext cx="329184" cy="329184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2648" y="36027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2B55"/>
                </a:solidFill>
                <a:latin typeface="Bahnschrift"/>
              </a:rPr>
              <a:t>Insights Engine</a:t>
            </a:r>
            <a:r>
              <a:rPr sz="1500" b="0" i="0">
                <a:solidFill>
                  <a:srgbClr val="28455F"/>
                </a:solidFill>
                <a:latin typeface="Arial"/>
              </a:rPr>
              <a:t>  ·  Team 2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" y="4059936"/>
            <a:ext cx="329184" cy="329184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648" y="40599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2B55"/>
                </a:solidFill>
                <a:latin typeface="Bahnschrift"/>
              </a:rPr>
              <a:t>Congress Monitor</a:t>
            </a:r>
            <a:r>
              <a:rPr sz="1500" b="0" i="0">
                <a:solidFill>
                  <a:srgbClr val="28455F"/>
                </a:solidFill>
                <a:latin typeface="Arial"/>
              </a:rPr>
              <a:t>  ·  Team 4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" y="4517136"/>
            <a:ext cx="329184" cy="329184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2648" y="45171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2B55"/>
                </a:solidFill>
                <a:latin typeface="Bahnschrift"/>
              </a:rPr>
              <a:t>Field Intelligence Engine</a:t>
            </a:r>
            <a:r>
              <a:rPr sz="1500" b="0" i="0">
                <a:solidFill>
                  <a:srgbClr val="28455F"/>
                </a:solidFill>
                <a:latin typeface="Arial"/>
              </a:rPr>
              <a:t>  ·  Team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5138928"/>
            <a:ext cx="1143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qr-te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84648"/>
            <a:ext cx="1051560" cy="1051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20240" y="53035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2B55"/>
                </a:solidFill>
                <a:latin typeface="Bahnschrift"/>
              </a:rPr>
              <a:t>Team map online</a:t>
            </a:r>
          </a:p>
          <a:p>
            <a:pPr algn="l"/>
            <a:r>
              <a:rPr sz="1300" b="0" i="0">
                <a:solidFill>
                  <a:srgbClr val="007879"/>
                </a:solidFill>
                <a:latin typeface="Arial"/>
                <a:hlinkClick r:id="rId4"/>
              </a:rPr>
              <a:t>aiinaction.up.railway.app/hackathon/teams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6833</Words>
  <Application>Microsoft Office PowerPoint</Application>
  <DocSecurity>0</DocSecurity>
  <PresentationFormat>Widescreen</PresentationFormat>
  <Paragraphs>666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Arial</vt:lpstr>
      <vt:lpstr>Bahnschrift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Action — Hackathon Kickoff</dc:title>
  <dc:creator>Vivek Mukhatyar</dc:creator>
  <cp:lastModifiedBy>Vivek Mukhatyar</cp:lastModifiedBy>
  <cp:revision>1</cp:revision>
  <dcterms:created xsi:type="dcterms:W3CDTF">2026-10-08T22:58:18Z</dcterms:created>
  <dcterms:modified xsi:type="dcterms:W3CDTF">2026-10-08T23:18:51Z</dcterms:modified>
</cp:coreProperties>
</file>