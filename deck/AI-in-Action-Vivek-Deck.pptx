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305" r:id="rId57"/>
    <p:sldId id="271" r:id="rId17"/>
    <p:sldId id="261" r:id="rId7"/>
    <p:sldId id="258" r:id="rId4"/>
    <p:sldId id="259" r:id="rId5"/>
    <p:sldId id="260" r:id="rId6"/>
    <p:sldId id="262" r:id="rId8"/>
    <p:sldId id="268" r:id="rId14"/>
    <p:sldId id="274" r:id="rId20"/>
    <p:sldId id="265" r:id="rId11"/>
    <p:sldId id="257" r:id="rId3"/>
    <p:sldId id="302" r:id="rId54"/>
    <p:sldId id="264" r:id="rId10"/>
    <p:sldId id="272" r:id="rId18"/>
    <p:sldId id="280" r:id="rId26"/>
    <p:sldId id="266" r:id="rId12"/>
    <p:sldId id="269" r:id="rId15"/>
    <p:sldId id="304" r:id="rId56"/>
    <p:sldId id="267" r:id="rId13"/>
    <p:sldId id="276" r:id="rId22"/>
    <p:sldId id="263" r:id="rId9"/>
    <p:sldId id="270" r:id="rId16"/>
    <p:sldId id="303" r:id="rId55"/>
    <p:sldId id="281" r:id="rId27"/>
    <p:sldId id="312" r:id="rId64"/>
    <p:sldId id="282" r:id="rId28"/>
    <p:sldId id="311" r:id="rId63"/>
    <p:sldId id="284" r:id="rId30"/>
    <p:sldId id="273" r:id="rId19"/>
    <p:sldId id="292" r:id="rId44"/>
    <p:sldId id="277" r:id="rId23"/>
    <p:sldId id="287" r:id="rId33"/>
    <p:sldId id="293" r:id="rId45"/>
    <p:sldId id="283" r:id="rId29"/>
    <p:sldId id="294" r:id="rId46"/>
    <p:sldId id="275" r:id="rId21"/>
    <p:sldId id="295" r:id="rId47"/>
    <p:sldId id="309" r:id="rId61"/>
    <p:sldId id="310" r:id="rId62"/>
    <p:sldId id="296" r:id="rId48"/>
    <p:sldId id="297" r:id="rId49"/>
    <p:sldId id="298" r:id="rId50"/>
    <p:sldId id="299" r:id="rId51"/>
    <p:sldId id="285" r:id="rId31"/>
    <p:sldId id="286" r:id="rId32"/>
    <p:sldId id="306" r:id="rId58"/>
    <p:sldId id="307" r:id="rId59"/>
    <p:sldId id="308" r:id="rId60"/>
    <p:sldId id="300" r:id="rId52"/>
    <p:sldId id="290" r:id="rId36"/>
    <p:sldId id="291" r:id="rId37"/>
    <p:sldId id="288" r:id="rId34"/>
    <p:sldId id="278" r:id="rId24"/>
    <p:sldId id="301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83" d="100"/>
          <a:sy n="83" d="100"/>
        </p:scale>
        <p:origin x="572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11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3.xml"/><Relationship Id="rId8" Type="http://schemas.openxmlformats.org/officeDocument/2006/relationships/slide" Target="slides/slide7.xml"/><Relationship Id="rId9" Type="http://schemas.openxmlformats.org/officeDocument/2006/relationships/slide" Target="slides/slide19.xml"/><Relationship Id="rId10" Type="http://schemas.openxmlformats.org/officeDocument/2006/relationships/slide" Target="slides/slide12.xml"/><Relationship Id="rId11" Type="http://schemas.openxmlformats.org/officeDocument/2006/relationships/slide" Target="slides/slide10.xml"/><Relationship Id="rId12" Type="http://schemas.openxmlformats.org/officeDocument/2006/relationships/slide" Target="slides/slide15.xml"/><Relationship Id="rId13" Type="http://schemas.openxmlformats.org/officeDocument/2006/relationships/slide" Target="slides/slide17.xml"/><Relationship Id="rId14" Type="http://schemas.openxmlformats.org/officeDocument/2006/relationships/slide" Target="slides/slide8.xml"/><Relationship Id="rId15" Type="http://schemas.openxmlformats.org/officeDocument/2006/relationships/slide" Target="slides/slide16.xml"/><Relationship Id="rId16" Type="http://schemas.openxmlformats.org/officeDocument/2006/relationships/slide" Target="slides/slide20.xml"/><Relationship Id="rId17" Type="http://schemas.openxmlformats.org/officeDocument/2006/relationships/slide" Target="slides/slide2.xml"/><Relationship Id="rId18" Type="http://schemas.openxmlformats.org/officeDocument/2006/relationships/slide" Target="slides/slide13.xml"/><Relationship Id="rId19" Type="http://schemas.openxmlformats.org/officeDocument/2006/relationships/slide" Target="slides/slide24.xml"/><Relationship Id="rId20" Type="http://schemas.openxmlformats.org/officeDocument/2006/relationships/slide" Target="slides/slide9.xml"/><Relationship Id="rId21" Type="http://schemas.openxmlformats.org/officeDocument/2006/relationships/slide" Target="slides/slide31.xml"/><Relationship Id="rId22" Type="http://schemas.openxmlformats.org/officeDocument/2006/relationships/slide" Target="slides/slide18.xml"/><Relationship Id="rId23" Type="http://schemas.openxmlformats.org/officeDocument/2006/relationships/slide" Target="slides/slide26.xml"/><Relationship Id="rId24" Type="http://schemas.openxmlformats.org/officeDocument/2006/relationships/slide" Target="slides/slide43.xml"/><Relationship Id="rId26" Type="http://schemas.openxmlformats.org/officeDocument/2006/relationships/slide" Target="slides/slide14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9.xml"/><Relationship Id="rId30" Type="http://schemas.openxmlformats.org/officeDocument/2006/relationships/slide" Target="slides/slide23.xml"/><Relationship Id="rId31" Type="http://schemas.openxmlformats.org/officeDocument/2006/relationships/slide" Target="slides/slide37.xml"/><Relationship Id="rId32" Type="http://schemas.openxmlformats.org/officeDocument/2006/relationships/slide" Target="slides/slide38.xml"/><Relationship Id="rId33" Type="http://schemas.openxmlformats.org/officeDocument/2006/relationships/slide" Target="slides/slide27.xml"/><Relationship Id="rId34" Type="http://schemas.openxmlformats.org/officeDocument/2006/relationships/slide" Target="slides/slide42.xml"/><Relationship Id="rId36" Type="http://schemas.openxmlformats.org/officeDocument/2006/relationships/slide" Target="slides/slide40.xml"/><Relationship Id="rId37" Type="http://schemas.openxmlformats.org/officeDocument/2006/relationships/slide" Target="slides/slide41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Relationship Id="rId43" Type="http://schemas.microsoft.com/office/2016/11/relationships/changesInfo" Target="changesInfos/changesInfo1.xml"/><Relationship Id="rId44" Type="http://schemas.openxmlformats.org/officeDocument/2006/relationships/slide" Target="slides/slide25.xml"/><Relationship Id="rId45" Type="http://schemas.openxmlformats.org/officeDocument/2006/relationships/slide" Target="slides/slide28.xml"/><Relationship Id="rId46" Type="http://schemas.openxmlformats.org/officeDocument/2006/relationships/slide" Target="slides/slide30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9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49.xml"/><Relationship Id="rId59" Type="http://schemas.openxmlformats.org/officeDocument/2006/relationships/slide" Target="slides/slide50.xml"/><Relationship Id="rId60" Type="http://schemas.openxmlformats.org/officeDocument/2006/relationships/slide" Target="slides/slide51.xml"/><Relationship Id="rId61" Type="http://schemas.openxmlformats.org/officeDocument/2006/relationships/slide" Target="slides/slide52.xml"/><Relationship Id="rId62" Type="http://schemas.openxmlformats.org/officeDocument/2006/relationships/slide" Target="slides/slide53.xml"/><Relationship Id="rId63" Type="http://schemas.openxmlformats.org/officeDocument/2006/relationships/slide" Target="slides/slide54.xml"/><Relationship Id="rId64" Type="http://schemas.openxmlformats.org/officeDocument/2006/relationships/slide" Target="slides/slide5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vek Mukhatyar" userId="0325db0cd26ce985" providerId="LiveId" clId="{C2F076DA-27A8-417D-A05E-C65F5A120C5D}"/>
    <pc:docChg chg="undo custSel modSld">
      <pc:chgData name="Vivek Mukhatyar" userId="0325db0cd26ce985" providerId="LiveId" clId="{C2F076DA-27A8-417D-A05E-C65F5A120C5D}" dt="2026-10-08T23:18:42.388" v="10" actId="20577"/>
      <pc:docMkLst>
        <pc:docMk/>
      </pc:docMkLst>
      <pc:sldChg chg="modSp mod">
        <pc:chgData name="Vivek Mukhatyar" userId="0325db0cd26ce985" providerId="LiveId" clId="{C2F076DA-27A8-417D-A05E-C65F5A120C5D}" dt="2026-10-08T23:10:37.202" v="0" actId="1076"/>
        <pc:sldMkLst>
          <pc:docMk/>
          <pc:sldMk cId="76287762" sldId="258"/>
        </pc:sldMkLst>
        <pc:spChg chg="mod">
          <ac:chgData name="Vivek Mukhatyar" userId="0325db0cd26ce985" providerId="LiveId" clId="{C2F076DA-27A8-417D-A05E-C65F5A120C5D}" dt="2026-10-08T23:10:37.202" v="0" actId="1076"/>
          <ac:spMkLst>
            <pc:docMk/>
            <pc:sldMk cId="76287762" sldId="258"/>
            <ac:spMk id="5" creationId="{D12E1EB6-04B4-462A-B459-CD91A446F245}"/>
          </ac:spMkLst>
        </pc:spChg>
      </pc:sldChg>
      <pc:sldChg chg="modSp mod">
        <pc:chgData name="Vivek Mukhatyar" userId="0325db0cd26ce985" providerId="LiveId" clId="{C2F076DA-27A8-417D-A05E-C65F5A120C5D}" dt="2026-10-08T23:18:42.388" v="10" actId="20577"/>
        <pc:sldMkLst>
          <pc:docMk/>
          <pc:sldMk cId="953831724" sldId="291"/>
        </pc:sldMkLst>
        <pc:spChg chg="mod">
          <ac:chgData name="Vivek Mukhatyar" userId="0325db0cd26ce985" providerId="LiveId" clId="{C2F076DA-27A8-417D-A05E-C65F5A120C5D}" dt="2026-10-08T23:18:42.388" v="10" actId="20577"/>
          <ac:spMkLst>
            <pc:docMk/>
            <pc:sldMk cId="953831724" sldId="291"/>
            <ac:spMk id="10" creationId="{E1242166-6221-4116-8F27-F4471634B602}"/>
          </ac:spMkLst>
        </pc:spChg>
      </pc:sldChg>
    </pc:docChg>
  </pc:docChgLst>
</pc:chgInfo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0403-8B8F-4EB6-A12C-4B71459B1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00FD8A1-94DC-4C20-BC72-93D5A7C97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E81D71-A886-42D5-8F8C-D69087ACB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90ABA4C-D497-4BA7-B12B-EF2467BCC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99E49F3-36E4-4335-BEA1-029C705C4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B9FA833-A294-4123-99A5-90EB88E1E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BCEF442-6C99-4D7E-9993-98D91B4BDD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AA2A83FB-AC33-48B1-A6E6-724522C7D72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A42188F-75A6-42B6-95DE-9DD096709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B7F00D4-A140-4A39-B564-31724724A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.jpe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3.png"/><Relationship Id="rId5" Type="http://schemas.openxmlformats.org/officeDocument/2006/relationships/image" Target="../media/image7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4.jpe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9.jpe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6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.jpe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1.jpe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49.jpe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6.jpe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3.jpe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5.png"/><Relationship Id="rId4" Type="http://schemas.openxmlformats.org/officeDocument/2006/relationships/image" Target="../media/image40.png"/><Relationship Id="rId5" Type="http://schemas.openxmlformats.org/officeDocument/2006/relationships/image" Target="../media/image45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0.jpe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18.png"/><Relationship Id="rId6" Type="http://schemas.openxmlformats.org/officeDocument/2006/relationships/image" Target="../media/image29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50.jpe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51.png"/><Relationship Id="rId4" Type="http://schemas.openxmlformats.org/officeDocument/2006/relationships/image" Target="../media/image41.png"/><Relationship Id="rId5" Type="http://schemas.openxmlformats.org/officeDocument/2006/relationships/image" Target="../media/image5.png"/><Relationship Id="rId6" Type="http://schemas.openxmlformats.org/officeDocument/2006/relationships/image" Target="../media/image33.png"/><Relationship Id="rId7" Type="http://schemas.openxmlformats.org/officeDocument/2006/relationships/image" Target="../media/image29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53.png"/><Relationship Id="rId4" Type="http://schemas.openxmlformats.org/officeDocument/2006/relationships/image" Target="../media/image31.png"/><Relationship Id="rId5" Type="http://schemas.openxmlformats.org/officeDocument/2006/relationships/image" Target="../media/image42.png"/><Relationship Id="rId6" Type="http://schemas.openxmlformats.org/officeDocument/2006/relationships/image" Target="../media/image33.png"/><Relationship Id="rId7" Type="http://schemas.openxmlformats.org/officeDocument/2006/relationships/image" Target="../media/image54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39.jpe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60.jpe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46.jpe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56.png"/><Relationship Id="rId4" Type="http://schemas.openxmlformats.org/officeDocument/2006/relationships/image" Target="../media/image6.png"/><Relationship Id="rId5" Type="http://schemas.openxmlformats.org/officeDocument/2006/relationships/image" Target="../media/image57.png"/><Relationship Id="rId6" Type="http://schemas.openxmlformats.org/officeDocument/2006/relationships/image" Target="../media/image42.png"/><Relationship Id="rId7" Type="http://schemas.openxmlformats.org/officeDocument/2006/relationships/image" Target="../media/image22.png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100" Type="http://schemas.openxmlformats.org/officeDocument/2006/relationships/image" Target="../media/image62.jpeg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52.jpeg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5.png"/><Relationship Id="rId4" Type="http://schemas.openxmlformats.org/officeDocument/2006/relationships/image" Target="../media/image40.png"/><Relationship Id="rId5" Type="http://schemas.openxmlformats.org/officeDocument/2006/relationships/image" Target="../media/image45.png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64.pn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60" Type="http://schemas.openxmlformats.org/officeDocument/2006/relationships/image" Target="../media/image71.png"/><Relationship Id="rId61" Type="http://schemas.openxmlformats.org/officeDocument/2006/relationships/hyperlink" Target="https://aiinaction.up.railway.app" TargetMode="Externa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51.png"/><Relationship Id="rId4" Type="http://schemas.openxmlformats.org/officeDocument/2006/relationships/image" Target="../media/image41.png"/><Relationship Id="rId5" Type="http://schemas.openxmlformats.org/officeDocument/2006/relationships/image" Target="../media/image5.png"/><Relationship Id="rId6" Type="http://schemas.openxmlformats.org/officeDocument/2006/relationships/image" Target="../media/image33.png"/><Relationship Id="rId7" Type="http://schemas.openxmlformats.org/officeDocument/2006/relationships/image" Target="../media/image29.png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0" Type="http://schemas.openxmlformats.org/officeDocument/2006/relationships/image" Target="../media/image65.png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50" Type="http://schemas.openxmlformats.org/officeDocument/2006/relationships/image" Target="../media/image66.jpeg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53.png"/><Relationship Id="rId4" Type="http://schemas.openxmlformats.org/officeDocument/2006/relationships/image" Target="../media/image31.png"/><Relationship Id="rId5" Type="http://schemas.openxmlformats.org/officeDocument/2006/relationships/image" Target="../media/image42.png"/><Relationship Id="rId6" Type="http://schemas.openxmlformats.org/officeDocument/2006/relationships/image" Target="../media/image33.png"/><Relationship Id="rId7" Type="http://schemas.openxmlformats.org/officeDocument/2006/relationships/image" Target="../media/image54.png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51.png"/><Relationship Id="rId4" Type="http://schemas.openxmlformats.org/officeDocument/2006/relationships/image" Target="../media/image30.png"/><Relationship Id="rId5" Type="http://schemas.openxmlformats.org/officeDocument/2006/relationships/image" Target="../media/image55.png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60" Type="http://schemas.openxmlformats.org/officeDocument/2006/relationships/image" Target="../media/image71.png"/><Relationship Id="rId61" Type="http://schemas.openxmlformats.org/officeDocument/2006/relationships/hyperlink" Target="https://aiinaction.up.railway.app" TargetMode="External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72.jpeg"/></Relationships>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44.gif"/></Relationships>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47.jpeg"/><Relationship Id="rId50" Type="http://schemas.openxmlformats.org/officeDocument/2006/relationships/image" Target="../media/image67.jpeg"/><Relationship Id="rId51" Type="http://schemas.openxmlformats.org/officeDocument/2006/relationships/image" Target="../media/image68.jpeg"/></Relationships>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18.png"/><Relationship Id="rId6" Type="http://schemas.openxmlformats.org/officeDocument/2006/relationships/image" Target="../media/image29.png"/><Relationship Id="rId50" Type="http://schemas.openxmlformats.org/officeDocument/2006/relationships/image" Target="../media/image69.jpeg"/></Relationships>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63.jpeg"/><Relationship Id="rId4" Type="http://schemas.openxmlformats.org/officeDocument/2006/relationships/hyperlink" Target="https://youtu.be/ozS_6vqnJ8w" TargetMode="External"/></Relationships>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70.jpe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5.png"/></Relationships>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5.png"/></Relationships>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73.jpeg"/></Relationships>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image" Target="../media/image75.jpeg"/><Relationship Id="rId6" Type="http://schemas.openxmlformats.org/officeDocument/2006/relationships/image" Target="../media/image7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FD9389E-EB69-47D5-A02B-727227F6BF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6695978-B771-4B13-AA38-501C49D4DFBE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4937760" cy="2257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3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4000" b="1" lang="en-US" dirty="0">
                <a:solidFill>
                  <a:srgbClr val="002B55"/>
                </a:solidFill>
                <a:latin typeface="Bahnschrift"/>
              </a:rPr>
              <a:t>Medical Affairs,</a:t>
            </a:r>
          </a:p>
          <a:p>
            <a:pPr algn="l"/>
            <a:r>
              <a:rPr sz="4000" b="1" lang="en-US" dirty="0">
                <a:solidFill>
                  <a:srgbClr val="007879"/>
                </a:solidFill>
                <a:latin typeface="Bahnschrift"/>
              </a:rPr>
              <a:t>work redesigned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901B43-BBC4-4DAE-9A27-A0BDFAEB57D4}"/>
              </a:ext>
            </a:extLst>
          </p:cNvPr>
          <p:cNvSpPr>
            <a:spLocks noGrp="1"/>
          </p:cNvSpPr>
          <p:nvPr/>
        </p:nvSpPr>
        <p:spPr>
          <a:xfrm>
            <a:off x="609600" y="3703320"/>
            <a:ext cx="4572000" cy="1463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2000" b="0" lang="en-US" dirty="0">
                <a:solidFill>
                  <a:srgbClr val="002B55"/>
                </a:solidFill>
                <a:latin typeface="Arial"/>
              </a:rPr>
              <a:t>AI in Action · October 13–14, 2026</a:t>
            </a:r>
          </a:p>
          <a:p>
            <a:pPr algn="l">
              <a:spcAft>
                <a:spcPts val="1000"/>
              </a:spcAft>
            </a:pPr>
            <a:r>
              <a:rPr sz="2000" b="0" lang="en-US" dirty="0">
                <a:solidFill>
                  <a:srgbClr val="002B55"/>
                </a:solidFill>
                <a:latin typeface="Arial"/>
              </a:rPr>
              <a:t>Convene Philadelphia</a:t>
            </a:r>
          </a:p>
          <a:p>
            <a:pPr algn="l"/>
            <a:r>
              <a:rPr sz="2000" b="1" lang="en-US" dirty="0">
                <a:solidFill>
                  <a:srgbClr val="F47735"/>
                </a:solidFill>
                <a:latin typeface="Bahnschrift"/>
              </a:rPr>
              <a:t>Vivek Mukhatyar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0889B0-1DF5-4C04-9CB6-D45E1EB4C47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CBAF7B-D28F-4AE5-9BA2-15D12C7B796A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6B122A-3E6F-4353-8D67-8033E6BC0F35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69845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1E1502B-6E78-4082-ADF1-74D5798E6E73}"/>
              </a:ext>
            </a:extLst>
          </p:cNvPr>
          <p:cNvSpPr>
            <a:spLocks noGrp="1"/>
          </p:cNvSpPr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Agenda: six acts, then we build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7EEA69-1588-4F22-965F-14C3C8176C3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0CA044-5635-4CEB-BDF6-D8ACFDF23CAF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33E86B-91DB-49FF-9DF9-0894E3FC4F9A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03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2960" y="2514600"/>
            <a:ext cx="10561320" cy="0"/>
          </a:xfrm>
          <a:prstGeom prst="line">
            <a:avLst/>
          </a:prstGeom>
          <a:ln w="63500">
            <a:solidFill>
              <a:srgbClr val="C9D3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11479" y="1280160"/>
            <a:ext cx="1828800" cy="3657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300" b="1">
                <a:solidFill>
                  <a:srgbClr val="007879"/>
                </a:solidFill>
                <a:latin typeface="Bahnschrift"/>
              </a:rPr>
              <a:t>ACT 1</a:t>
            </a:r>
          </a:p>
        </p:txBody>
      </p:sp>
      <p:sp>
        <p:nvSpPr>
          <p:cNvPr id="30" name="Oval 29"/>
          <p:cNvSpPr/>
          <p:nvPr/>
        </p:nvSpPr>
        <p:spPr>
          <a:xfrm>
            <a:off x="822959" y="2011680"/>
            <a:ext cx="1005840" cy="1005840"/>
          </a:xfrm>
          <a:prstGeom prst="ellipse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3000" b="1">
                <a:solidFill>
                  <a:srgbClr val="FFFFFF"/>
                </a:solidFill>
                <a:latin typeface="Bahnschrift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79" y="3246120"/>
            <a:ext cx="1828800" cy="9144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700" b="1">
                <a:solidFill>
                  <a:srgbClr val="002B55"/>
                </a:solidFill>
                <a:latin typeface="Bahnschrift"/>
              </a:rPr>
              <a:t>From answers to 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22576" y="1280160"/>
            <a:ext cx="1828800" cy="3657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300" b="1">
                <a:solidFill>
                  <a:srgbClr val="007879"/>
                </a:solidFill>
                <a:latin typeface="Bahnschrift"/>
              </a:rPr>
              <a:t>ACT 2</a:t>
            </a:r>
          </a:p>
        </p:txBody>
      </p:sp>
      <p:sp>
        <p:nvSpPr>
          <p:cNvPr id="33" name="Oval 32"/>
          <p:cNvSpPr/>
          <p:nvPr/>
        </p:nvSpPr>
        <p:spPr>
          <a:xfrm>
            <a:off x="2734056" y="2011680"/>
            <a:ext cx="1005840" cy="1005840"/>
          </a:xfrm>
          <a:prstGeom prst="ellipse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3000" b="1">
                <a:solidFill>
                  <a:srgbClr val="FFFFFF"/>
                </a:solidFill>
                <a:latin typeface="Bahnschrift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22576" y="3246120"/>
            <a:ext cx="1828800" cy="9144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700" b="1">
                <a:solidFill>
                  <a:srgbClr val="002B55"/>
                </a:solidFill>
                <a:latin typeface="Bahnschrift"/>
              </a:rPr>
              <a:t>The interface is changing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33672" y="1280160"/>
            <a:ext cx="1828800" cy="3657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300" b="1">
                <a:solidFill>
                  <a:srgbClr val="007879"/>
                </a:solidFill>
                <a:latin typeface="Bahnschrift"/>
              </a:rPr>
              <a:t>ACT 3</a:t>
            </a:r>
          </a:p>
        </p:txBody>
      </p:sp>
      <p:sp>
        <p:nvSpPr>
          <p:cNvPr id="36" name="Oval 35"/>
          <p:cNvSpPr/>
          <p:nvPr/>
        </p:nvSpPr>
        <p:spPr>
          <a:xfrm>
            <a:off x="4645152" y="2011680"/>
            <a:ext cx="1005840" cy="1005840"/>
          </a:xfrm>
          <a:prstGeom prst="ellipse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3000" b="1">
                <a:solidFill>
                  <a:srgbClr val="FFFFFF"/>
                </a:solidFill>
                <a:latin typeface="Bahnschrift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33672" y="3246120"/>
            <a:ext cx="1828800" cy="9144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700" b="1">
                <a:solidFill>
                  <a:srgbClr val="002B55"/>
                </a:solidFill>
                <a:latin typeface="Bahnschrift"/>
              </a:rPr>
              <a:t>Context engineering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4768" y="1280160"/>
            <a:ext cx="1828800" cy="3657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300" b="1">
                <a:solidFill>
                  <a:srgbClr val="007879"/>
                </a:solidFill>
                <a:latin typeface="Bahnschrift"/>
              </a:rPr>
              <a:t>ACT 4</a:t>
            </a:r>
          </a:p>
        </p:txBody>
      </p:sp>
      <p:sp>
        <p:nvSpPr>
          <p:cNvPr id="39" name="Oval 38"/>
          <p:cNvSpPr/>
          <p:nvPr/>
        </p:nvSpPr>
        <p:spPr>
          <a:xfrm>
            <a:off x="6556248" y="2011680"/>
            <a:ext cx="1005840" cy="1005840"/>
          </a:xfrm>
          <a:prstGeom prst="ellipse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3000" b="1">
                <a:solidFill>
                  <a:srgbClr val="FFFFFF"/>
                </a:solidFill>
                <a:latin typeface="Bahnschrift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44768" y="3246120"/>
            <a:ext cx="1828800" cy="9144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700" b="1">
                <a:solidFill>
                  <a:srgbClr val="002B55"/>
                </a:solidFill>
                <a:latin typeface="Bahnschrift"/>
              </a:rPr>
              <a:t>From chatbot to agent swarm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55863" y="1280160"/>
            <a:ext cx="1828800" cy="3657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300" b="1">
                <a:solidFill>
                  <a:srgbClr val="F47735"/>
                </a:solidFill>
                <a:latin typeface="Bahnschrift"/>
              </a:rPr>
              <a:t>ACT 5</a:t>
            </a:r>
          </a:p>
        </p:txBody>
      </p:sp>
      <p:sp>
        <p:nvSpPr>
          <p:cNvPr id="42" name="Oval 41"/>
          <p:cNvSpPr/>
          <p:nvPr/>
        </p:nvSpPr>
        <p:spPr>
          <a:xfrm>
            <a:off x="8467343" y="2011680"/>
            <a:ext cx="1005840" cy="1005840"/>
          </a:xfrm>
          <a:prstGeom prst="ellipse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3000" b="1">
                <a:solidFill>
                  <a:srgbClr val="FFFFFF"/>
                </a:solidFill>
                <a:latin typeface="Bahnschrift"/>
              </a:rP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55863" y="3246120"/>
            <a:ext cx="1828800" cy="9144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700" b="1">
                <a:solidFill>
                  <a:srgbClr val="002B55"/>
                </a:solidFill>
                <a:latin typeface="Bahnschrift"/>
              </a:rPr>
              <a:t>My use case: launch planning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59" y="1280160"/>
            <a:ext cx="1828800" cy="3657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300" b="1">
                <a:solidFill>
                  <a:srgbClr val="007879"/>
                </a:solidFill>
                <a:latin typeface="Bahnschrift"/>
              </a:rPr>
              <a:t>ACT 6</a:t>
            </a:r>
          </a:p>
        </p:txBody>
      </p:sp>
      <p:sp>
        <p:nvSpPr>
          <p:cNvPr id="45" name="Oval 44"/>
          <p:cNvSpPr/>
          <p:nvPr/>
        </p:nvSpPr>
        <p:spPr>
          <a:xfrm>
            <a:off x="10378439" y="2011680"/>
            <a:ext cx="1005840" cy="1005840"/>
          </a:xfrm>
          <a:prstGeom prst="ellipse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3000" b="1">
                <a:solidFill>
                  <a:srgbClr val="FFFFFF"/>
                </a:solidFill>
                <a:latin typeface="Bahnschrift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59" y="3246120"/>
            <a:ext cx="1828800" cy="9144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700" b="1" lang="en-US" dirty="0">
                <a:solidFill>
                  <a:srgbClr val="002B55"/>
                </a:solidFill>
                <a:latin typeface="Bahnschrift"/>
              </a:rPr>
              <a:t>Your turn</a:t>
            </a:r>
          </a:p>
          <a:p>
            <a:pPr algn="ctr">
              <a:spcBef>
                <a:spcPts val="200"/>
              </a:spcBef>
            </a:pPr>
            <a:r>
              <a:rPr sz="1300" b="0" lang="en-US" dirty="0">
                <a:solidFill>
                  <a:srgbClr val="28455F"/>
                </a:solidFill>
                <a:latin typeface="Arial"/>
              </a:rPr>
              <a:t>Grok Bot, the library,</a:t>
            </a:r>
          </a:p>
          <a:p>
            <a:pPr algn="ctr"/>
            <a:r>
              <a:rPr sz="1300" b="0" lang="en-US" dirty="0">
                <a:solidFill>
                  <a:srgbClr val="28455F"/>
                </a:solidFill>
                <a:latin typeface="Arial"/>
              </a:rPr>
              <a:t>the build</a:t>
            </a:r>
          </a:p>
        </p:txBody>
      </p:sp>
      <p:sp>
        <p:nvSpPr>
          <p:cNvPr id="100" name="Hands-on label"/>
          <p:cNvSpPr/>
          <p:nvPr/>
        </p:nvSpPr>
        <p:spPr>
          <a:xfrm>
            <a:off x="609905" y="4160520"/>
            <a:ext cx="1097280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b" rtlCol="0"/>
          <a:lstStyle/>
          <a:p>
            <a:pPr algn="l"/>
            <a:r>
              <a:rPr sz="1300" b="1" lang="en-US" dirty="0">
                <a:solidFill>
                  <a:srgbClr val="F47735"/>
                </a:solidFill>
                <a:latin typeface="Bahnschrift"/>
              </a:rPr>
              <a:t>THEN, HANDS-ON</a:t>
            </a:r>
          </a:p>
        </p:txBody>
      </p:sp>
      <p:sp>
        <p:nvSpPr>
          <p:cNvPr id="101" name="Session card 1"/>
          <p:cNvSpPr/>
          <p:nvPr/>
        </p:nvSpPr>
        <p:spPr>
          <a:xfrm>
            <a:off x="609905" y="4617720"/>
            <a:ext cx="3474720" cy="1325880"/>
          </a:xfrm>
          <a:prstGeom prst="roundRect">
            <a:avLst>
              <a:gd name="adj" fmla="val 12000"/>
            </a:avLst>
          </a:prstGeom>
          <a:solidFill>
            <a:srgbClr val="EAF3F3"/>
          </a:solidFill>
          <a:ln w="12700">
            <a:solidFill>
              <a:srgbClr val="C9E0E0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02" name="Session icon bg 1"/>
          <p:cNvSpPr/>
          <p:nvPr/>
        </p:nvSpPr>
        <p:spPr>
          <a:xfrm>
            <a:off x="838505" y="489204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E0E0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pic>
        <p:nvPicPr>
          <p:cNvPr id="103" name="Session ico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65" y="5029200"/>
            <a:ext cx="502920" cy="502920"/>
          </a:xfrm>
          <a:prstGeom prst="rect">
            <a:avLst/>
          </a:prstGeom>
        </p:spPr>
      </p:pic>
      <p:sp>
        <p:nvSpPr>
          <p:cNvPr id="104" name="Session text 1"/>
          <p:cNvSpPr/>
          <p:nvPr/>
        </p:nvSpPr>
        <p:spPr>
          <a:xfrm>
            <a:off x="1798625" y="4754880"/>
            <a:ext cx="2148840" cy="105156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2400" b="1" lang="en-US" dirty="0">
                <a:solidFill>
                  <a:srgbClr val="007879"/>
                </a:solidFill>
                <a:latin typeface="Bahnschrift"/>
              </a:rPr>
              <a:t>11:15 AM</a:t>
            </a:r>
          </a:p>
          <a:p>
            <a:pPr algn="l"/>
            <a:r>
              <a:rPr sz="1600" b="0" lang="en-US" dirty="0">
                <a:solidFill>
                  <a:srgbClr val="002B55"/>
                </a:solidFill>
                <a:latin typeface="Arial"/>
              </a:rPr>
              <a:t>Team creation</a:t>
            </a:r>
          </a:p>
        </p:txBody>
      </p:sp>
      <p:sp>
        <p:nvSpPr>
          <p:cNvPr id="105" name="Session card 2"/>
          <p:cNvSpPr/>
          <p:nvPr/>
        </p:nvSpPr>
        <p:spPr>
          <a:xfrm>
            <a:off x="4358945" y="4617720"/>
            <a:ext cx="3474720" cy="1325880"/>
          </a:xfrm>
          <a:prstGeom prst="roundRect">
            <a:avLst>
              <a:gd name="adj" fmla="val 12000"/>
            </a:avLst>
          </a:prstGeom>
          <a:solidFill>
            <a:srgbClr val="EAF3F3"/>
          </a:solidFill>
          <a:ln w="12700">
            <a:solidFill>
              <a:srgbClr val="C9E0E0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06" name="Session icon bg 2"/>
          <p:cNvSpPr/>
          <p:nvPr/>
        </p:nvSpPr>
        <p:spPr>
          <a:xfrm>
            <a:off x="4587545" y="489204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E0E0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pic>
        <p:nvPicPr>
          <p:cNvPr id="107" name="Session icon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4705" y="5029200"/>
            <a:ext cx="502920" cy="502920"/>
          </a:xfrm>
          <a:prstGeom prst="rect">
            <a:avLst/>
          </a:prstGeom>
        </p:spPr>
      </p:pic>
      <p:sp>
        <p:nvSpPr>
          <p:cNvPr id="108" name="Session text 2"/>
          <p:cNvSpPr/>
          <p:nvPr/>
        </p:nvSpPr>
        <p:spPr>
          <a:xfrm>
            <a:off x="5547665" y="4754880"/>
            <a:ext cx="2148840" cy="105156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2400" b="1" lang="en-US" dirty="0">
                <a:solidFill>
                  <a:srgbClr val="007879"/>
                </a:solidFill>
                <a:latin typeface="Bahnschrift"/>
              </a:rPr>
              <a:t>1:45 PM</a:t>
            </a:r>
          </a:p>
          <a:p>
            <a:pPr algn="l"/>
            <a:r>
              <a:rPr sz="1600" b="0" lang="en-US" dirty="0">
                <a:solidFill>
                  <a:srgbClr val="002B55"/>
                </a:solidFill>
                <a:latin typeface="Arial"/>
              </a:rPr>
              <a:t>Build the AI worker</a:t>
            </a:r>
          </a:p>
        </p:txBody>
      </p:sp>
      <p:sp>
        <p:nvSpPr>
          <p:cNvPr id="109" name="Session card 3"/>
          <p:cNvSpPr/>
          <p:nvPr/>
        </p:nvSpPr>
        <p:spPr>
          <a:xfrm>
            <a:off x="8107985" y="4617720"/>
            <a:ext cx="3474720" cy="1325880"/>
          </a:xfrm>
          <a:prstGeom prst="roundRect">
            <a:avLst>
              <a:gd name="adj" fmla="val 12000"/>
            </a:avLst>
          </a:prstGeom>
          <a:solidFill>
            <a:srgbClr val="EAF3F3"/>
          </a:solidFill>
          <a:ln w="12700">
            <a:solidFill>
              <a:srgbClr val="C9E0E0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10" name="Session icon bg 3"/>
          <p:cNvSpPr/>
          <p:nvPr/>
        </p:nvSpPr>
        <p:spPr>
          <a:xfrm>
            <a:off x="8336585" y="4892040"/>
            <a:ext cx="777240" cy="7772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E0E0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pic>
        <p:nvPicPr>
          <p:cNvPr id="111" name="Session ico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3745" y="5029200"/>
            <a:ext cx="502920" cy="502920"/>
          </a:xfrm>
          <a:prstGeom prst="rect">
            <a:avLst/>
          </a:prstGeom>
        </p:spPr>
      </p:pic>
      <p:sp>
        <p:nvSpPr>
          <p:cNvPr id="112" name="Session text 3"/>
          <p:cNvSpPr/>
          <p:nvPr/>
        </p:nvSpPr>
        <p:spPr>
          <a:xfrm>
            <a:off x="9296705" y="4754880"/>
            <a:ext cx="2148840" cy="105156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2400" b="1" lang="en-US" dirty="0">
                <a:solidFill>
                  <a:srgbClr val="F47735"/>
                </a:solidFill>
                <a:latin typeface="Bahnschrift"/>
              </a:rPr>
              <a:t>Wed 9:00 AM</a:t>
            </a:r>
          </a:p>
          <a:p>
            <a:pPr algn="l"/>
            <a:r>
              <a:rPr sz="1600" b="0" lang="en-US" dirty="0">
                <a:solidFill>
                  <a:srgbClr val="002B55"/>
                </a:solidFill>
                <a:latin typeface="Arial"/>
              </a:rPr>
              <a:t>Demo day</a:t>
            </a:r>
          </a:p>
        </p:txBody>
      </p:sp>
    </p:spTree>
    <p:extLst>
      <p:ext uri="{BB962C8B-B14F-4D97-AF65-F5344CB8AC3E}">
        <p14:creationId xmlns:p14="http://schemas.microsoft.com/office/powerpoint/2010/main" val="639022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5596543-C630-4623-9503-ED9E65205595}"/>
              </a:ext>
            </a:extLst>
          </p:cNvPr>
          <p:cNvSpPr>
            <a:spLocks noGrp="1"/>
          </p:cNvSpPr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Four objectives for today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37D4EC-3905-426B-8877-68265059894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F3D11E-301C-47DE-9686-13975E170C93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445478-AA4C-45E0-BA51-6E606ADB44B2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" y="1463040"/>
            <a:ext cx="2606040" cy="4480560"/>
          </a:xfrm>
          <a:prstGeom prst="roundRect">
            <a:avLst>
              <a:gd name="adj" fmla="val 5000"/>
            </a:avLst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53619" bIns="153619"/>
          <a:lstStyle/>
          <a:p>
            <a:pPr algn="l"/>
            <a:r>
              <a:rPr sz="5400" b="1" lang="en-US" dirty="0">
                <a:solidFill>
                  <a:srgbClr val="FFFFFF"/>
                </a:solidFill>
                <a:latin typeface="Bahnschrift"/>
              </a:rPr>
              <a:t>01</a:t>
            </a:r>
          </a:p>
          <a:p>
            <a:pPr algn="l">
              <a:spcBef>
                <a:spcPts val="600"/>
              </a:spcBef>
            </a:pPr>
            <a:r>
              <a:rPr sz="2200" b="1" lang="en-US" dirty="0">
                <a:solidFill>
                  <a:srgbClr val="FFFFFF"/>
                </a:solidFill>
                <a:latin typeface="Bahnschrift"/>
              </a:rPr>
              <a:t>Give AI goals, not questions</a:t>
            </a:r>
          </a:p>
          <a:p>
            <a:pPr algn="l">
              <a:spcBef>
                <a:spcPts val="1000"/>
              </a:spcBef>
            </a:pPr>
            <a:r>
              <a:rPr sz="1500" b="0" lang="en-US" dirty="0">
                <a:solidFill>
                  <a:srgbClr val="FFFFFF"/>
                </a:solidFill>
                <a:latin typeface="Arial"/>
              </a:rPr>
              <a:t>Move from summarizing and finding answers to orchestrating and executing whole workflows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98824" y="1463040"/>
            <a:ext cx="2606040" cy="4480560"/>
          </a:xfrm>
          <a:prstGeom prst="roundRect">
            <a:avLst>
              <a:gd name="adj" fmla="val 5000"/>
            </a:avLst>
          </a:prstGeom>
          <a:solidFill>
            <a:srgbClr val="1D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53619" bIns="153619"/>
          <a:lstStyle/>
          <a:p>
            <a:pPr algn="l"/>
            <a:r>
              <a:rPr sz="5400" b="1" lang="en-US" dirty="0">
                <a:solidFill>
                  <a:srgbClr val="FFFFFF"/>
                </a:solidFill>
                <a:latin typeface="Bahnschrift"/>
              </a:rPr>
              <a:t>02</a:t>
            </a:r>
          </a:p>
          <a:p>
            <a:pPr algn="l">
              <a:spcBef>
                <a:spcPts val="600"/>
              </a:spcBef>
            </a:pPr>
            <a:r>
              <a:rPr sz="2200" b="1" lang="en-US" dirty="0">
                <a:solidFill>
                  <a:srgbClr val="FFFFFF"/>
                </a:solidFill>
                <a:latin typeface="Bahnschrift"/>
              </a:rPr>
              <a:t>Meet the frontier agents</a:t>
            </a:r>
          </a:p>
          <a:p>
            <a:pPr algn="l">
              <a:spcBef>
                <a:spcPts val="1000"/>
              </a:spcBef>
            </a:pPr>
            <a:r>
              <a:rPr sz="1500" b="0" lang="en-US" dirty="0">
                <a:solidFill>
                  <a:srgbClr val="FFFFFF"/>
                </a:solidFill>
                <a:latin typeface="Arial"/>
              </a:rPr>
              <a:t>Claude.ai, Microsoft Copilot, ChatGPT, Grok Bot, Meta Muse: your own personal workforce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7744" y="1463040"/>
            <a:ext cx="2606040" cy="4480560"/>
          </a:xfrm>
          <a:prstGeom prst="roundRect">
            <a:avLst>
              <a:gd name="adj" fmla="val 5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53619" bIns="153619"/>
          <a:lstStyle/>
          <a:p>
            <a:pPr algn="l"/>
            <a:r>
              <a:rPr sz="5400" b="1" lang="en-US" dirty="0">
                <a:solidFill>
                  <a:srgbClr val="FFFFFF"/>
                </a:solidFill>
                <a:latin typeface="Bahnschrift"/>
              </a:rPr>
              <a:t>03</a:t>
            </a:r>
          </a:p>
          <a:p>
            <a:pPr algn="l">
              <a:spcBef>
                <a:spcPts val="600"/>
              </a:spcBef>
            </a:pPr>
            <a:r>
              <a:rPr sz="2200" b="1" lang="en-US" dirty="0">
                <a:solidFill>
                  <a:srgbClr val="FFFFFF"/>
                </a:solidFill>
                <a:latin typeface="Bahnschrift"/>
              </a:rPr>
              <a:t>Context is our secret sauce</a:t>
            </a:r>
          </a:p>
          <a:p>
            <a:pPr algn="l">
              <a:spcBef>
                <a:spcPts val="1000"/>
              </a:spcBef>
            </a:pPr>
            <a:r>
              <a:rPr sz="1500" b="0" lang="en-US" dirty="0">
                <a:solidFill>
                  <a:srgbClr val="FFFFFF"/>
                </a:solidFill>
                <a:latin typeface="Arial"/>
              </a:rPr>
              <a:t>Prompt engineering becomes context engineering. Medical Affairs holds the context.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76664" y="1463040"/>
            <a:ext cx="2606040" cy="4480560"/>
          </a:xfrm>
          <a:prstGeom prst="roundRect">
            <a:avLst>
              <a:gd name="adj" fmla="val 5000"/>
            </a:avLst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56032" tIns="153619" bIns="153619"/>
          <a:lstStyle/>
          <a:p>
            <a:pPr algn="l"/>
            <a:r>
              <a:rPr sz="5400" b="1" lang="en-US" dirty="0">
                <a:solidFill>
                  <a:srgbClr val="FFFFFF"/>
                </a:solidFill>
                <a:latin typeface="Bahnschrift"/>
              </a:rPr>
              <a:t>04</a:t>
            </a:r>
          </a:p>
          <a:p>
            <a:pPr algn="l">
              <a:spcBef>
                <a:spcPts val="600"/>
              </a:spcBef>
            </a:pPr>
            <a:r>
              <a:rPr sz="2200" b="1" lang="en-US" dirty="0">
                <a:solidFill>
                  <a:srgbClr val="FFFFFF"/>
                </a:solidFill>
                <a:latin typeface="Bahnschrift"/>
              </a:rPr>
              <a:t>Have fun building</a:t>
            </a:r>
          </a:p>
          <a:p>
            <a:pPr algn="l">
              <a:spcBef>
                <a:spcPts val="1000"/>
              </a:spcBef>
            </a:pPr>
            <a:r>
              <a:rPr sz="1500" b="0" lang="en-US" dirty="0">
                <a:solidFill>
                  <a:srgbClr val="FFFFFF"/>
                </a:solidFill>
                <a:latin typeface="Arial"/>
              </a:rPr>
              <a:t>Form a team, build a real AI worker together, and show it on demo day</a:t>
            </a:r>
          </a:p>
        </p:txBody>
      </p:sp>
      <p:sp>
        <p:nvSpPr>
          <p:cNvPr id="200" name="Objective icon bg 1"/>
          <p:cNvSpPr/>
          <p:nvPr/>
        </p:nvSpPr>
        <p:spPr>
          <a:xfrm>
            <a:off x="865937" y="4937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pic>
        <p:nvPicPr>
          <p:cNvPr id="201" name="Objective ico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097" y="5074920"/>
            <a:ext cx="548640" cy="548640"/>
          </a:xfrm>
          <a:prstGeom prst="rect">
            <a:avLst/>
          </a:prstGeom>
        </p:spPr>
      </p:pic>
      <p:sp>
        <p:nvSpPr>
          <p:cNvPr id="202" name="Objective icon bg 2"/>
          <p:cNvSpPr/>
          <p:nvPr/>
        </p:nvSpPr>
        <p:spPr>
          <a:xfrm>
            <a:off x="3654857" y="4937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pic>
        <p:nvPicPr>
          <p:cNvPr id="203" name="Objective icon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2017" y="5074920"/>
            <a:ext cx="548640" cy="548640"/>
          </a:xfrm>
          <a:prstGeom prst="rect">
            <a:avLst/>
          </a:prstGeom>
        </p:spPr>
      </p:pic>
      <p:sp>
        <p:nvSpPr>
          <p:cNvPr id="204" name="Objective icon bg 3"/>
          <p:cNvSpPr/>
          <p:nvPr/>
        </p:nvSpPr>
        <p:spPr>
          <a:xfrm>
            <a:off x="6443777" y="4937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pic>
        <p:nvPicPr>
          <p:cNvPr id="205" name="Objective ico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937" y="5074920"/>
            <a:ext cx="548640" cy="548640"/>
          </a:xfrm>
          <a:prstGeom prst="rect">
            <a:avLst/>
          </a:prstGeom>
        </p:spPr>
      </p:pic>
      <p:sp>
        <p:nvSpPr>
          <p:cNvPr id="206" name="Objective icon bg 4"/>
          <p:cNvSpPr/>
          <p:nvPr/>
        </p:nvSpPr>
        <p:spPr>
          <a:xfrm>
            <a:off x="9232697" y="493776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pic>
        <p:nvPicPr>
          <p:cNvPr id="207" name="Objective ico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9857" y="5074920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438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A882B5C-8688-49A0-8070-DC58FDD7F7C9}"/>
              </a:ext>
            </a:extLst>
          </p:cNvPr>
          <p:cNvSpPr>
            <a:spLocks noGrp="1"/>
          </p:cNvSpPr>
          <p:nvPr/>
        </p:nvSpPr>
        <p:spPr>
          <a:xfrm>
            <a:off x="609904" y="329184"/>
            <a:ext cx="10972800" cy="56692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2300" b="1" lang="en-US" dirty="0">
                <a:solidFill>
                  <a:srgbClr val="002B55"/>
                </a:solidFill>
                <a:latin typeface="Bahnschrift"/>
              </a:rPr>
              <a:t>AI agents went from minutes-long tasks to day-long tasks in three years</a:t>
            </a:r>
          </a:p>
        </p:txBody>
      </p:sp>
      <p:sp>
        <p:nvSpPr>
          <p:cNvPr id="2201" name="Subtitle"/>
          <p:cNvSpPr/>
          <p:nvPr/>
        </p:nvSpPr>
        <p:spPr>
          <a:xfrm>
            <a:off x="609905" y="896112"/>
            <a:ext cx="1097280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350" b="0" lang="en-US" dirty="0">
                <a:solidFill>
                  <a:srgbClr val="28455F"/>
                </a:solidFill>
                <a:latin typeface="Arial"/>
              </a:rPr>
              <a:t>METR 50% time horizon: about 4 min for GPT-4 (March 2023) → 12 h for Claude Opus 4.6 and at least 16 h for Claude Mythos Preview (2026)</a:t>
            </a:r>
          </a:p>
        </p:txBody>
      </p:sp>
      <p:pic>
        <p:nvPicPr>
          <p:cNvPr id="2202" name="METR time horizon 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325880"/>
            <a:ext cx="7863840" cy="4160520"/>
          </a:xfrm>
          <a:prstGeom prst="rect">
            <a:avLst/>
          </a:prstGeom>
        </p:spPr>
      </p:pic>
      <p:sp>
        <p:nvSpPr>
          <p:cNvPr id="2203" name="Frontier box"/>
          <p:cNvSpPr/>
          <p:nvPr/>
        </p:nvSpPr>
        <p:spPr>
          <a:xfrm>
            <a:off x="8503920" y="1371600"/>
            <a:ext cx="3078785" cy="4114800"/>
          </a:xfrm>
          <a:prstGeom prst="roundRect">
            <a:avLst>
              <a:gd name="adj" fmla="val 12000"/>
            </a:avLst>
          </a:prstGeom>
          <a:solidFill>
            <a:srgbClr val="EEF4F6"/>
          </a:solidFill>
          <a:ln w="12700">
            <a:solidFill>
              <a:srgbClr val="C9D9E0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2204" name="Frontier head"/>
          <p:cNvSpPr/>
          <p:nvPr/>
        </p:nvSpPr>
        <p:spPr>
          <a:xfrm>
            <a:off x="8686800" y="1554480"/>
            <a:ext cx="2713025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500" b="1" lang="en-US" dirty="0">
                <a:solidFill>
                  <a:srgbClr val="007879"/>
                </a:solidFill>
                <a:latin typeface="Bahnschrift"/>
              </a:rPr>
              <a:t>SEPTEMBER 2026 FRONTIER</a:t>
            </a:r>
          </a:p>
          <a:p>
            <a:pPr algn="l"/>
            <a:r>
              <a:rPr sz="1300" b="1" lang="en-US" dirty="0">
                <a:solidFill>
                  <a:srgbClr val="B4501F"/>
                </a:solidFill>
                <a:latin typeface="Arial"/>
              </a:rPr>
              <a:t>too new for METR</a:t>
            </a:r>
          </a:p>
        </p:txBody>
      </p:sp>
      <p:sp>
        <p:nvSpPr>
          <p:cNvPr id="2205" name="ECI head"/>
          <p:cNvSpPr/>
          <p:nvPr/>
        </p:nvSpPr>
        <p:spPr>
          <a:xfrm>
            <a:off x="8686800" y="2423160"/>
            <a:ext cx="2713025" cy="77724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400" b="1" lang="en-US" dirty="0">
                <a:solidFill>
                  <a:srgbClr val="002B55"/>
                </a:solidFill>
                <a:latin typeface="Arial"/>
              </a:rPr>
              <a:t>Epoch Capabilities Index (ECI)</a:t>
            </a:r>
          </a:p>
          <a:p>
            <a:pPr algn="l"/>
            <a:r>
              <a:rPr sz="1150" b="0" lang="en-US" dirty="0">
                <a:solidFill>
                  <a:srgbClr val="28455F"/>
                </a:solidFill>
                <a:latin typeface="Arial"/>
              </a:rPr>
              <a:t>Epoch AI composite of many benchmarks, in index points (not hours)</a:t>
            </a:r>
          </a:p>
        </p:txBody>
      </p:sp>
      <p:sp>
        <p:nvSpPr>
          <p:cNvPr id="2210" name="ECI row bg"/>
          <p:cNvSpPr/>
          <p:nvPr/>
        </p:nvSpPr>
        <p:spPr>
          <a:xfrm>
            <a:off x="8686800" y="3383280"/>
            <a:ext cx="2713025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2211" name="ECI row"/>
          <p:cNvSpPr/>
          <p:nvPr/>
        </p:nvSpPr>
        <p:spPr>
          <a:xfrm>
            <a:off x="8823960" y="3383280"/>
            <a:ext cx="1570025" cy="512064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400" b="1" lang="en-US" dirty="0">
                <a:solidFill>
                  <a:srgbClr val="002B55"/>
                </a:solidFill>
                <a:latin typeface="Arial"/>
              </a:rPr>
              <a:t>Claude Opus 5.5</a:t>
            </a:r>
          </a:p>
        </p:txBody>
      </p:sp>
      <p:sp>
        <p:nvSpPr>
          <p:cNvPr id="2212" name="ECI value"/>
          <p:cNvSpPr/>
          <p:nvPr/>
        </p:nvSpPr>
        <p:spPr>
          <a:xfrm>
            <a:off x="10439705" y="3383280"/>
            <a:ext cx="822960" cy="512064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r"/>
            <a:r>
              <a:rPr sz="1800" b="1" lang="en-US" dirty="0">
                <a:solidFill>
                  <a:srgbClr val="007879"/>
                </a:solidFill>
                <a:latin typeface="Bahnschrift"/>
              </a:rPr>
              <a:t>167.3</a:t>
            </a:r>
          </a:p>
        </p:txBody>
      </p:sp>
      <p:sp>
        <p:nvSpPr>
          <p:cNvPr id="2213" name="ECI row bg"/>
          <p:cNvSpPr/>
          <p:nvPr/>
        </p:nvSpPr>
        <p:spPr>
          <a:xfrm>
            <a:off x="8686800" y="4005072"/>
            <a:ext cx="2713025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2214" name="ECI row"/>
          <p:cNvSpPr/>
          <p:nvPr/>
        </p:nvSpPr>
        <p:spPr>
          <a:xfrm>
            <a:off x="8823960" y="4005072"/>
            <a:ext cx="1570025" cy="512064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400" b="1" lang="en-US" dirty="0">
                <a:solidFill>
                  <a:srgbClr val="002B55"/>
                </a:solidFill>
                <a:latin typeface="Arial"/>
              </a:rPr>
              <a:t>GPT-6 Astra</a:t>
            </a:r>
          </a:p>
        </p:txBody>
      </p:sp>
      <p:sp>
        <p:nvSpPr>
          <p:cNvPr id="2215" name="ECI value"/>
          <p:cNvSpPr/>
          <p:nvPr/>
        </p:nvSpPr>
        <p:spPr>
          <a:xfrm>
            <a:off x="10439705" y="4005072"/>
            <a:ext cx="822960" cy="512064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r"/>
            <a:r>
              <a:rPr sz="1800" b="1" lang="en-US" dirty="0">
                <a:solidFill>
                  <a:srgbClr val="007879"/>
                </a:solidFill>
                <a:latin typeface="Bahnschrift"/>
              </a:rPr>
              <a:t>166.5</a:t>
            </a:r>
          </a:p>
        </p:txBody>
      </p:sp>
      <p:sp>
        <p:nvSpPr>
          <p:cNvPr id="2216" name="ECI row bg"/>
          <p:cNvSpPr/>
          <p:nvPr/>
        </p:nvSpPr>
        <p:spPr>
          <a:xfrm>
            <a:off x="8686800" y="4626864"/>
            <a:ext cx="2713025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E3EA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2217" name="ECI row"/>
          <p:cNvSpPr/>
          <p:nvPr/>
        </p:nvSpPr>
        <p:spPr>
          <a:xfrm>
            <a:off x="8823960" y="4626864"/>
            <a:ext cx="1570025" cy="512064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400" b="1" lang="en-US" dirty="0">
                <a:solidFill>
                  <a:srgbClr val="002B55"/>
                </a:solidFill>
                <a:latin typeface="Arial"/>
              </a:rPr>
              <a:t>Grok 4.7</a:t>
            </a:r>
          </a:p>
        </p:txBody>
      </p:sp>
      <p:sp>
        <p:nvSpPr>
          <p:cNvPr id="2218" name="ECI value"/>
          <p:cNvSpPr/>
          <p:nvPr/>
        </p:nvSpPr>
        <p:spPr>
          <a:xfrm>
            <a:off x="10439705" y="4626864"/>
            <a:ext cx="822960" cy="512064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r"/>
            <a:r>
              <a:rPr sz="1800" b="1" lang="en-US" dirty="0">
                <a:solidFill>
                  <a:srgbClr val="007879"/>
                </a:solidFill>
                <a:latin typeface="Bahnschrift"/>
              </a:rPr>
              <a:t>153.5</a:t>
            </a:r>
          </a:p>
        </p:txBody>
      </p:sp>
      <p:sp>
        <p:nvSpPr>
          <p:cNvPr id="2240" name="Takeaway"/>
          <p:cNvSpPr/>
          <p:nvPr/>
        </p:nvSpPr>
        <p:spPr>
          <a:xfrm>
            <a:off x="609905" y="5532120"/>
            <a:ext cx="10972800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350" b="1" lang="en-US" dirty="0">
                <a:solidFill>
                  <a:srgbClr val="007879"/>
                </a:solidFill>
                <a:latin typeface="Bahnschrift"/>
              </a:rPr>
              <a:t>Task length AI can complete has doubled about every 4 months since 2023, and the newest models have outgrown the test.</a:t>
            </a:r>
          </a:p>
        </p:txBody>
      </p:sp>
      <p:sp>
        <p:nvSpPr>
          <p:cNvPr id="2241" name="Source"/>
          <p:cNvSpPr/>
          <p:nvPr/>
        </p:nvSpPr>
        <p:spPr>
          <a:xfrm>
            <a:off x="609905" y="5925312"/>
            <a:ext cx="10972800" cy="475488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900" b="0" lang="en-US" dirty="0">
                <a:solidFill>
                  <a:srgbClr val="28455F"/>
                </a:solidFill>
                <a:latin typeface="Arial"/>
              </a:rPr>
              <a:t>METR time-horizons (updated May 2026) and METR posts on X; Epoch AI Capabilities Index. 50% success on well-defined software tasks, measured by how long a human expert takes.</a:t>
            </a:r>
          </a:p>
          <a:p>
            <a:pPr algn="l"/>
            <a:r>
              <a:rPr sz="900" b="0" lang="en-US" dirty="0">
                <a:solidFill>
                  <a:srgbClr val="28455F"/>
                </a:solidFill>
                <a:latin typeface="Arial"/>
              </a:rPr>
              <a:t>Doubling: METR 128.7 days since 2023 (95% CI 104–158). Top points have wide ranges (Opus 4.6: 5–61 h; Mythos: 8–55 h). *GPT-5.6 Sol: pre-deployment, METR post on X.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53ACD3-405B-4460-8B94-F80394032852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863131-6680-4188-8C1A-D66FE2709E1E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EEA88E-EB33-46D4-A215-1E36B4926B73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6287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9F7C8F2-736F-476F-AE32-BDC860D5EB56}"/>
              </a:ext>
            </a:extLst>
          </p:cNvPr>
          <p:cNvSpPr>
            <a:spLocks noGrp="1"/>
          </p:cNvSpPr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Scientific questions already reach AI at scale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D200C6-804F-4B6D-B5D3-9F14815572B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57CF0A-4536-4D0A-BF9C-260AB3B99450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414000-6B7B-4D3E-9489-DF9A50D5BBBA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" y="1371600"/>
            <a:ext cx="5394960" cy="4343400"/>
          </a:xfrm>
          <a:prstGeom prst="roundRect">
            <a:avLst>
              <a:gd name="adj" fmla="val 4000"/>
            </a:avLst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664" y="1508760"/>
            <a:ext cx="4754880" cy="11887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Bahnschrift"/>
              </a:rPr>
              <a:t>300M+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664" y="2697480"/>
            <a:ext cx="475488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2000" b="1" lang="en-US" dirty="0">
                <a:solidFill>
                  <a:srgbClr val="FFFFFF"/>
                </a:solidFill>
                <a:latin typeface="Bahnschrift"/>
              </a:rPr>
              <a:t>people a week ask ChatGPT health questions</a:t>
            </a:r>
          </a:p>
        </p:txBody>
      </p:sp>
      <p:sp>
        <p:nvSpPr>
          <p:cNvPr id="16" name="Oval 15"/>
          <p:cNvSpPr/>
          <p:nvPr/>
        </p:nvSpPr>
        <p:spPr>
          <a:xfrm>
            <a:off x="1021384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05432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789480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173528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57576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941624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25672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709720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093768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77816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1384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05432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789480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173528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57576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41624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25672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709720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093768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477816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1384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405432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789480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173528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557576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41624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325672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709720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093768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477816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21384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405432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789480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173528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557576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941624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325672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709720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093768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4477816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21384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405432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789480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173528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557576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941624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325672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709720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4093768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4477816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5664" y="5321808"/>
            <a:ext cx="4754880" cy="3657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200" b="0" lang="en-US" dirty="0">
                <a:solidFill>
                  <a:srgbClr val="FFFFFF"/>
                </a:solidFill>
                <a:latin typeface="Arial"/>
              </a:rPr>
              <a:t>each dot ≈ 6M people · OpenAI, July 2026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87744" y="1371600"/>
            <a:ext cx="5394960" cy="4343400"/>
          </a:xfrm>
          <a:prstGeom prst="roundRect">
            <a:avLst>
              <a:gd name="adj" fmla="val 4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53504" y="1508760"/>
            <a:ext cx="4754880" cy="11887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8000" b="1">
                <a:solidFill>
                  <a:srgbClr val="FFFFFF"/>
                </a:solidFill>
                <a:latin typeface="Bahnschrift"/>
              </a:rPr>
              <a:t>1M+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53504" y="2697480"/>
            <a:ext cx="475488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2000" b="1" lang="en-US" dirty="0">
                <a:solidFill>
                  <a:srgbClr val="FFFFFF"/>
                </a:solidFill>
                <a:latin typeface="Bahnschrift"/>
              </a:rPr>
              <a:t>questions a day answered by OpenEvidence</a:t>
            </a:r>
          </a:p>
        </p:txBody>
      </p:sp>
      <p:sp>
        <p:nvSpPr>
          <p:cNvPr id="70" name="Oval 69"/>
          <p:cNvSpPr/>
          <p:nvPr/>
        </p:nvSpPr>
        <p:spPr>
          <a:xfrm>
            <a:off x="6599224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983272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367320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51368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135416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519464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903512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287560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71608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55656" y="3794760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599224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6983272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367320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7751368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135416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519464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903512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287560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671608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0055656" y="4142232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6599224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6983272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7367320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7751368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135416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8519464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903512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287560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671608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055656" y="4489704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6599224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6983272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7367320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7751368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135416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8519464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8903512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9287560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9671608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0055656" y="4837176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6599224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6983272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7367320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751368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8135416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8519464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8903512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287560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671608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10055656" y="5184648"/>
            <a:ext cx="237744" cy="237744"/>
          </a:xfrm>
          <a:prstGeom prst="ellipse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553504" y="5321808"/>
            <a:ext cx="4754880" cy="3657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200" b="0" lang="en-US" dirty="0">
                <a:solidFill>
                  <a:srgbClr val="FFFFFF"/>
                </a:solidFill>
                <a:latin typeface="Arial"/>
              </a:rPr>
              <a:t>each dot ≈ 20K questions · OpenEvidence company statement, 2026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09904" y="5833872"/>
            <a:ext cx="10972800" cy="4114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600" b="1" lang="en-US" dirty="0">
                <a:solidFill>
                  <a:srgbClr val="007879"/>
                </a:solidFill>
                <a:latin typeface="Arial"/>
              </a:rPr>
              <a:t>Different populations and units. Both change where scientific exchange begins.</a:t>
            </a:r>
          </a:p>
        </p:txBody>
      </p:sp>
    </p:spTree>
    <p:extLst>
      <p:ext uri="{BB962C8B-B14F-4D97-AF65-F5344CB8AC3E}">
        <p14:creationId xmlns:p14="http://schemas.microsoft.com/office/powerpoint/2010/main" val="1544162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B1747B1-FFBA-435A-8439-6FFD9A9C8A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21CCDA6-FF9A-487E-8A8E-74D128D37F3E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4333875" cy="1952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7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37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75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The north star</a:t>
            </a:r>
          </a:p>
          <a:p>
            <a:pPr>
              <a:defRPr sz="37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75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remains the same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BC5237-6715-4681-819F-19F6B1C108DF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4238625" cy="11887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spcAft>
                <a:spcPts val="600"/>
              </a:spcAft>
            </a:pPr>
            <a:r>
              <a:rPr sz="2600" b="1" lang="en-US" dirty="0">
                <a:solidFill>
                  <a:srgbClr val="F47735"/>
                </a:solidFill>
                <a:latin typeface="Bahnschrift"/>
              </a:rPr>
              <a:t>Patient outcomes</a:t>
            </a:r>
          </a:p>
          <a:p>
            <a:pPr algn="l"/>
            <a:r>
              <a:rPr sz="2100" b="0" lang="en-US" dirty="0">
                <a:solidFill>
                  <a:srgbClr val="002B55"/>
                </a:solidFill>
                <a:latin typeface="Arial"/>
              </a:rPr>
              <a:t>via evidence · exchange · insights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826604-1EB0-4B9D-9C95-12E755EFD58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F2EAA-1C04-4EA8-AC72-4936EA36D978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42C77E-1D71-4C5A-8D5F-08FB635972D6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91709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634532-BC20-45B4-8616-F7476D0F795D}"/>
              </a:ext>
            </a:extLst>
          </p:cNvPr>
          <p:cNvSpPr>
            <a:spLocks noGrp="1"/>
          </p:cNvSpPr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7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37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Most of us start here: one answer at a 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D2AEF4B-05C9-4D6E-8BE4-AB272E01E3B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D2CC21-E81D-408B-AE61-E03A5304803B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9502A1-E883-46CF-AC8A-E38A168704CD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08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" y="1463040"/>
            <a:ext cx="10972800" cy="1783080"/>
          </a:xfrm>
          <a:prstGeom prst="roundRect">
            <a:avLst>
              <a:gd name="adj" fmla="val 5000"/>
            </a:avLst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1920240"/>
            <a:ext cx="1234440" cy="868680"/>
          </a:xfrm>
          <a:prstGeom prst="roundRect">
            <a:avLst>
              <a:gd name="adj" fmla="val 12000"/>
            </a:avLst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</a:rPr>
              <a:t>YOU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" y="3429000"/>
            <a:ext cx="10972800" cy="1783080"/>
          </a:xfrm>
          <a:prstGeom prst="roundRect">
            <a:avLst>
              <a:gd name="adj" fmla="val 5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1234440" cy="868680"/>
          </a:xfrm>
          <a:prstGeom prst="roundRect">
            <a:avLst>
              <a:gd name="adj" fmla="val 12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</a:rPr>
              <a:t>AI CHAT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0280" y="1965960"/>
            <a:ext cx="10241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2B55"/>
                </a:solidFill>
                <a:latin typeface="Arial"/>
              </a:rPr>
              <a:t>Ask a question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3931920"/>
            <a:ext cx="10241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2B55"/>
                </a:solidFill>
                <a:latin typeface="Arial"/>
              </a:rPr>
              <a:t>Answer</a:t>
            </a:r>
          </a:p>
        </p:txBody>
      </p:sp>
      <p:cxnSp>
        <p:nvCxnSpPr>
          <p:cNvPr id="19" name="Connector 18"/>
          <p:cNvCxnSpPr>
            <a:stCxn id="17" idx="3"/>
            <a:endCxn id="18" idx="1"/>
          </p:cNvCxnSpPr>
          <p:nvPr/>
        </p:nvCxnSpPr>
        <p:spPr>
          <a:xfrm>
            <a:off x="3264408" y="2354580"/>
            <a:ext cx="137160" cy="1965960"/>
          </a:xfrm>
          <a:prstGeom prst="bentConnector3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62856" y="1965960"/>
            <a:ext cx="10241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2B55"/>
                </a:solidFill>
                <a:latin typeface="Arial"/>
              </a:rPr>
              <a:t>Copy into a doc</a:t>
            </a:r>
          </a:p>
        </p:txBody>
      </p:sp>
      <p:cxnSp>
        <p:nvCxnSpPr>
          <p:cNvPr id="21" name="Connector 20"/>
          <p:cNvCxnSpPr>
            <a:stCxn id="18" idx="3"/>
            <a:endCxn id="20" idx="1"/>
          </p:cNvCxnSpPr>
          <p:nvPr/>
        </p:nvCxnSpPr>
        <p:spPr>
          <a:xfrm flipV="1">
            <a:off x="4425696" y="2354580"/>
            <a:ext cx="137160" cy="1965960"/>
          </a:xfrm>
          <a:prstGeom prst="bentConnector3">
            <a:avLst/>
          </a:prstGeom>
          <a:ln w="19050">
            <a:solidFill>
              <a:srgbClr val="F47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724144" y="1965960"/>
            <a:ext cx="10241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2B55"/>
                </a:solidFill>
                <a:latin typeface="Arial"/>
              </a:rPr>
              <a:t>Ask the next question</a:t>
            </a:r>
          </a:p>
        </p:txBody>
      </p:sp>
      <p:cxnSp>
        <p:nvCxnSpPr>
          <p:cNvPr id="23" name="Connector 22"/>
          <p:cNvCxnSpPr>
            <a:stCxn id="20" idx="3"/>
            <a:endCxn id="22" idx="1"/>
          </p:cNvCxnSpPr>
          <p:nvPr/>
        </p:nvCxnSpPr>
        <p:spPr>
          <a:xfrm flipV="1">
            <a:off x="5586984" y="2354580"/>
            <a:ext cx="137160" cy="0"/>
          </a:xfrm>
          <a:prstGeom prst="bentConnector3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885432" y="3931920"/>
            <a:ext cx="10241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2B55"/>
                </a:solidFill>
                <a:latin typeface="Arial"/>
              </a:rPr>
              <a:t>Answer</a:t>
            </a:r>
          </a:p>
        </p:txBody>
      </p:sp>
      <p:cxnSp>
        <p:nvCxnSpPr>
          <p:cNvPr id="25" name="Connector 24"/>
          <p:cNvCxnSpPr>
            <a:stCxn id="22" idx="3"/>
            <a:endCxn id="24" idx="1"/>
          </p:cNvCxnSpPr>
          <p:nvPr/>
        </p:nvCxnSpPr>
        <p:spPr>
          <a:xfrm>
            <a:off x="6748272" y="2354580"/>
            <a:ext cx="137160" cy="1965960"/>
          </a:xfrm>
          <a:prstGeom prst="bentConnector3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046720" y="1965960"/>
            <a:ext cx="10241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2B55"/>
                </a:solidFill>
                <a:latin typeface="Arial"/>
              </a:rPr>
              <a:t>Merge and reformat</a:t>
            </a:r>
          </a:p>
        </p:txBody>
      </p:sp>
      <p:cxnSp>
        <p:nvCxnSpPr>
          <p:cNvPr id="27" name="Connector 26"/>
          <p:cNvCxnSpPr>
            <a:stCxn id="24" idx="3"/>
            <a:endCxn id="26" idx="1"/>
          </p:cNvCxnSpPr>
          <p:nvPr/>
        </p:nvCxnSpPr>
        <p:spPr>
          <a:xfrm flipV="1">
            <a:off x="7909560" y="2354580"/>
            <a:ext cx="137160" cy="1965960"/>
          </a:xfrm>
          <a:prstGeom prst="bentConnector3">
            <a:avLst/>
          </a:prstGeom>
          <a:ln w="19050">
            <a:solidFill>
              <a:srgbClr val="F47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08008" y="1965960"/>
            <a:ext cx="10241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2B55"/>
                </a:solidFill>
                <a:latin typeface="Arial"/>
              </a:rPr>
              <a:t>Check every source</a:t>
            </a:r>
          </a:p>
        </p:txBody>
      </p:sp>
      <p:cxnSp>
        <p:nvCxnSpPr>
          <p:cNvPr id="29" name="Connector 28"/>
          <p:cNvCxnSpPr>
            <a:stCxn id="26" idx="3"/>
            <a:endCxn id="28" idx="1"/>
          </p:cNvCxnSpPr>
          <p:nvPr/>
        </p:nvCxnSpPr>
        <p:spPr>
          <a:xfrm flipV="1">
            <a:off x="9070848" y="2354580"/>
            <a:ext cx="137160" cy="0"/>
          </a:xfrm>
          <a:prstGeom prst="bentConnector3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369296" y="1965960"/>
            <a:ext cx="1024128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2B55"/>
                </a:solidFill>
                <a:latin typeface="Arial"/>
              </a:rPr>
              <a:t>Send for review</a:t>
            </a:r>
          </a:p>
        </p:txBody>
      </p:sp>
      <p:cxnSp>
        <p:nvCxnSpPr>
          <p:cNvPr id="31" name="Connector 30"/>
          <p:cNvCxnSpPr>
            <a:stCxn id="28" idx="3"/>
            <a:endCxn id="30" idx="1"/>
          </p:cNvCxnSpPr>
          <p:nvPr/>
        </p:nvCxnSpPr>
        <p:spPr>
          <a:xfrm flipV="1">
            <a:off x="10232136" y="2354580"/>
            <a:ext cx="137160" cy="0"/>
          </a:xfrm>
          <a:prstGeom prst="bentConnector3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09904" y="5440680"/>
            <a:ext cx="1097280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700" b="1">
                <a:solidFill>
                  <a:srgbClr val="F47735"/>
                </a:solidFill>
                <a:latin typeface="Bahnschrift"/>
              </a:rPr>
              <a:t>The human carries every handoff. The orange arrows are you, picking the work back up.</a:t>
            </a:r>
          </a:p>
        </p:txBody>
      </p:sp>
    </p:spTree>
    <p:extLst>
      <p:ext uri="{BB962C8B-B14F-4D97-AF65-F5344CB8AC3E}">
        <p14:creationId xmlns:p14="http://schemas.microsoft.com/office/powerpoint/2010/main" val="2036818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A96CDBB-2C24-4F65-B67D-84F7F686B3D8}"/>
              </a:ext>
            </a:extLst>
          </p:cNvPr>
          <p:cNvSpPr>
            <a:spLocks noGrp="1"/>
          </p:cNvSpPr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The problem is not chat. It is the unit of work.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4CF685-D052-48E6-9653-6836C645450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C0B5DD-DE70-4E6B-AF33-20C7EB18B303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087B7E-3F72-41BE-BD44-D22C094242E6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" y="1371600"/>
            <a:ext cx="2743200" cy="32004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300" b="1">
                <a:solidFill>
                  <a:srgbClr val="007879"/>
                </a:solidFill>
                <a:latin typeface="Bahnschrift"/>
              </a:rPr>
              <a:t>CHAT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4" y="178308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600" b="1">
                <a:solidFill>
                  <a:srgbClr val="002B55"/>
                </a:solidFill>
                <a:latin typeface="Arial"/>
              </a:rPr>
              <a:t>Question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0" y="1783080"/>
            <a:ext cx="2011680" cy="731520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600" b="1">
                <a:solidFill>
                  <a:srgbClr val="007879"/>
                </a:solidFill>
                <a:latin typeface="Arial"/>
              </a:rPr>
              <a:t>Answer</a:t>
            </a:r>
          </a:p>
        </p:txBody>
      </p:sp>
      <p:cxnSp>
        <p:nvCxnSpPr>
          <p:cNvPr id="20" name="Connector 19"/>
          <p:cNvCxnSpPr>
            <a:stCxn id="18" idx="3"/>
            <a:endCxn id="19" idx="1"/>
          </p:cNvCxnSpPr>
          <p:nvPr/>
        </p:nvCxnSpPr>
        <p:spPr>
          <a:xfrm flipV="1">
            <a:off x="2621584" y="2148840"/>
            <a:ext cx="487376" cy="0"/>
          </a:xfrm>
          <a:prstGeom prst="line">
            <a:avLst/>
          </a:prstGeom>
          <a:ln w="2540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0" y="1920240"/>
            <a:ext cx="6035040" cy="54864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800" b="0">
                <a:solidFill>
                  <a:srgbClr val="28455F"/>
                </a:solidFill>
                <a:latin typeface="Arial"/>
              </a:rPr>
              <a:t>One exchange. Then you start over.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904" y="2834640"/>
            <a:ext cx="10972800" cy="0"/>
          </a:xfrm>
          <a:prstGeom prst="line">
            <a:avLst/>
          </a:prstGeom>
          <a:ln w="12700">
            <a:solidFill>
              <a:srgbClr val="D5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09904" y="3017520"/>
            <a:ext cx="2743200" cy="32004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300" b="1">
                <a:solidFill>
                  <a:srgbClr val="007879"/>
                </a:solidFill>
                <a:latin typeface="Bahnschrift"/>
              </a:rPr>
              <a:t>WORKFLOW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904" y="347472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Objective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10104" y="347472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1D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Plan</a:t>
            </a:r>
          </a:p>
        </p:txBody>
      </p:sp>
      <p:cxnSp>
        <p:nvCxnSpPr>
          <p:cNvPr id="26" name="Connector 25"/>
          <p:cNvCxnSpPr>
            <a:stCxn id="24" idx="3"/>
            <a:endCxn id="25" idx="1"/>
          </p:cNvCxnSpPr>
          <p:nvPr/>
        </p:nvCxnSpPr>
        <p:spPr>
          <a:xfrm flipV="1">
            <a:off x="1981504" y="4000500"/>
            <a:ext cx="228600" cy="0"/>
          </a:xfrm>
          <a:prstGeom prst="line">
            <a:avLst/>
          </a:prstGeom>
          <a:ln w="2540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810304" y="347472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1D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Find evidence</a:t>
            </a:r>
          </a:p>
        </p:txBody>
      </p:sp>
      <p:cxnSp>
        <p:nvCxnSpPr>
          <p:cNvPr id="28" name="Connector 27"/>
          <p:cNvCxnSpPr>
            <a:stCxn id="25" idx="3"/>
            <a:endCxn id="27" idx="1"/>
          </p:cNvCxnSpPr>
          <p:nvPr/>
        </p:nvCxnSpPr>
        <p:spPr>
          <a:xfrm flipV="1">
            <a:off x="3581704" y="4000500"/>
            <a:ext cx="228600" cy="0"/>
          </a:xfrm>
          <a:prstGeom prst="line">
            <a:avLst/>
          </a:prstGeom>
          <a:ln w="2540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410504" y="347472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Analyze</a:t>
            </a:r>
          </a:p>
        </p:txBody>
      </p:sp>
      <p:cxnSp>
        <p:nvCxnSpPr>
          <p:cNvPr id="30" name="Connector 29"/>
          <p:cNvCxnSpPr>
            <a:stCxn id="27" idx="3"/>
            <a:endCxn id="29" idx="1"/>
          </p:cNvCxnSpPr>
          <p:nvPr/>
        </p:nvCxnSpPr>
        <p:spPr>
          <a:xfrm flipV="1">
            <a:off x="5181904" y="4000500"/>
            <a:ext cx="228600" cy="0"/>
          </a:xfrm>
          <a:prstGeom prst="line">
            <a:avLst/>
          </a:prstGeom>
          <a:ln w="2540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010704" y="347472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Draft</a:t>
            </a:r>
          </a:p>
        </p:txBody>
      </p:sp>
      <p:cxnSp>
        <p:nvCxnSpPr>
          <p:cNvPr id="32" name="Connector 31"/>
          <p:cNvCxnSpPr>
            <a:stCxn id="29" idx="3"/>
            <a:endCxn id="31" idx="1"/>
          </p:cNvCxnSpPr>
          <p:nvPr/>
        </p:nvCxnSpPr>
        <p:spPr>
          <a:xfrm flipV="1">
            <a:off x="6782104" y="4000500"/>
            <a:ext cx="228600" cy="0"/>
          </a:xfrm>
          <a:prstGeom prst="line">
            <a:avLst/>
          </a:prstGeom>
          <a:ln w="2540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610904" y="347472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3FA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Quality check</a:t>
            </a:r>
          </a:p>
        </p:txBody>
      </p:sp>
      <p:cxnSp>
        <p:nvCxnSpPr>
          <p:cNvPr id="34" name="Connector 33"/>
          <p:cNvCxnSpPr>
            <a:stCxn id="31" idx="3"/>
            <a:endCxn id="33" idx="1"/>
          </p:cNvCxnSpPr>
          <p:nvPr/>
        </p:nvCxnSpPr>
        <p:spPr>
          <a:xfrm flipV="1">
            <a:off x="8382304" y="4000500"/>
            <a:ext cx="228600" cy="0"/>
          </a:xfrm>
          <a:prstGeom prst="line">
            <a:avLst/>
          </a:prstGeom>
          <a:ln w="2540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0211104" y="3474720"/>
            <a:ext cx="1371600" cy="1051560"/>
          </a:xfrm>
          <a:prstGeom prst="roundRect">
            <a:avLst>
              <a:gd name="adj" fmla="val 12000"/>
            </a:avLst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Human review</a:t>
            </a:r>
          </a:p>
        </p:txBody>
      </p:sp>
      <p:cxnSp>
        <p:nvCxnSpPr>
          <p:cNvPr id="36" name="Connector 35"/>
          <p:cNvCxnSpPr>
            <a:stCxn id="33" idx="3"/>
            <a:endCxn id="35" idx="1"/>
          </p:cNvCxnSpPr>
          <p:nvPr/>
        </p:nvCxnSpPr>
        <p:spPr>
          <a:xfrm flipV="1">
            <a:off x="9982504" y="4000500"/>
            <a:ext cx="228600" cy="0"/>
          </a:xfrm>
          <a:prstGeom prst="line">
            <a:avLst/>
          </a:prstGeom>
          <a:ln w="2540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09904" y="466344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400" b="0">
                <a:solidFill>
                  <a:srgbClr val="28455F"/>
                </a:solidFill>
                <a:latin typeface="Arial"/>
              </a:rPr>
              <a:t>Many steps, one outcome, checked before it reaches you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9904" y="5303520"/>
            <a:ext cx="10972800" cy="54864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2400" b="1">
                <a:solidFill>
                  <a:srgbClr val="002B55"/>
                </a:solidFill>
                <a:latin typeface="Bahnschrift"/>
              </a:rPr>
              <a:t>Stop optimizing the answer. Start designing the work.</a:t>
            </a:r>
          </a:p>
        </p:txBody>
      </p:sp>
    </p:spTree>
    <p:extLst>
      <p:ext uri="{BB962C8B-B14F-4D97-AF65-F5344CB8AC3E}">
        <p14:creationId xmlns:p14="http://schemas.microsoft.com/office/powerpoint/2010/main" val="1761201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D109C4E-CBFF-468E-A85D-B088C2F387DF}"/>
              </a:ext>
            </a:extLst>
          </p:cNvPr>
          <p:cNvSpPr>
            <a:spLocks noGrp="1"/>
          </p:cNvSpPr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Prompt → task → workflow → agent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157EE8-81A1-4BB6-935B-E00F8EEAB3B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1D0FBF-6166-478E-85D5-B7197E459D2A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148D30-39B3-4FB0-BB75-14F06252BF71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904" y="3657600"/>
            <a:ext cx="2560320" cy="1325880"/>
          </a:xfrm>
          <a:prstGeom prst="roundRect">
            <a:avLst>
              <a:gd name="adj" fmla="val 6000"/>
            </a:avLst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/>
            <a:r>
              <a:rPr sz="1800" b="1">
                <a:solidFill>
                  <a:srgbClr val="002B55"/>
                </a:solidFill>
                <a:latin typeface="Bahnschrift"/>
              </a:rPr>
              <a:t>PROMPT</a:t>
            </a:r>
          </a:p>
          <a:p>
            <a:pPr algn="l"/>
            <a:r>
              <a:rPr sz="600" b="0">
                <a:solidFill>
                  <a:srgbClr val="002B55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002B55"/>
                </a:solidFill>
                <a:latin typeface="Arial"/>
              </a:rPr>
              <a:t>“Summarize these 3 papers.”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98824" y="297180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/>
            <a:r>
              <a:rPr sz="1800" b="1">
                <a:solidFill>
                  <a:srgbClr val="007879"/>
                </a:solidFill>
                <a:latin typeface="Bahnschrift"/>
              </a:rPr>
              <a:t>TASK</a:t>
            </a:r>
          </a:p>
          <a:p>
            <a:pPr algn="l"/>
            <a:r>
              <a:rPr sz="600" b="0">
                <a:solidFill>
                  <a:srgbClr val="002B55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002B55"/>
                </a:solidFill>
                <a:latin typeface="Arial"/>
              </a:rPr>
              <a:t>“Analyze the evidence on treatment sequencing.”</a:t>
            </a:r>
          </a:p>
        </p:txBody>
      </p:sp>
      <p:cxnSp>
        <p:nvCxnSpPr>
          <p:cNvPr id="31" name="Connector 30"/>
          <p:cNvCxnSpPr>
            <a:stCxn id="29" idx="0"/>
            <a:endCxn id="30" idx="1"/>
          </p:cNvCxnSpPr>
          <p:nvPr/>
        </p:nvCxnSpPr>
        <p:spPr>
          <a:xfrm>
            <a:off x="1890064" y="3657600"/>
            <a:ext cx="1508760" cy="320040"/>
          </a:xfrm>
          <a:prstGeom prst="bentConnector3">
            <a:avLst/>
          </a:prstGeom>
          <a:ln w="25400">
            <a:solidFill>
              <a:srgbClr val="F47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187744" y="2286000"/>
            <a:ext cx="2560320" cy="2697480"/>
          </a:xfrm>
          <a:prstGeom prst="roundRect">
            <a:avLst>
              <a:gd name="adj" fmla="val 6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/>
            <a:r>
              <a:rPr sz="1800" b="1">
                <a:solidFill>
                  <a:srgbClr val="FFFFFF"/>
                </a:solidFill>
                <a:latin typeface="Bahnschrift"/>
              </a:rPr>
              <a:t>WORKFLOW</a:t>
            </a:r>
          </a:p>
          <a:p>
            <a:pPr algn="l"/>
            <a:r>
              <a:rPr sz="600" b="0">
                <a:solidFill>
                  <a:srgbClr val="002B55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“Determine what changed and what it means for our medical strategy.”</a:t>
            </a:r>
          </a:p>
        </p:txBody>
      </p:sp>
      <p:cxnSp>
        <p:nvCxnSpPr>
          <p:cNvPr id="33" name="Connector 32"/>
          <p:cNvCxnSpPr>
            <a:stCxn id="30" idx="0"/>
            <a:endCxn id="32" idx="1"/>
          </p:cNvCxnSpPr>
          <p:nvPr/>
        </p:nvCxnSpPr>
        <p:spPr>
          <a:xfrm>
            <a:off x="4678984" y="2971800"/>
            <a:ext cx="1508760" cy="662940"/>
          </a:xfrm>
          <a:prstGeom prst="bentConnector3">
            <a:avLst/>
          </a:prstGeom>
          <a:ln w="25400">
            <a:solidFill>
              <a:srgbClr val="F47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976664" y="1600200"/>
            <a:ext cx="2560320" cy="3383280"/>
          </a:xfrm>
          <a:prstGeom prst="roundRect">
            <a:avLst>
              <a:gd name="adj" fmla="val 6000"/>
            </a:avLst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09728" bIns="109728"/>
          <a:lstStyle/>
          <a:p>
            <a:pPr algn="l"/>
            <a:r>
              <a:rPr sz="1800" b="1">
                <a:solidFill>
                  <a:srgbClr val="FFFFFF"/>
                </a:solidFill>
                <a:latin typeface="Bahnschrift"/>
              </a:rPr>
              <a:t>AGENT</a:t>
            </a:r>
          </a:p>
          <a:p>
            <a:pPr algn="l"/>
            <a:r>
              <a:rPr sz="600" b="0">
                <a:solidFill>
                  <a:srgbClr val="002B55"/>
                </a:solidFill>
                <a:latin typeface="Arial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Arial"/>
              </a:rPr>
              <a:t>“Here is the objective. Plan the work, execute it, check it, then bring me the result.”</a:t>
            </a:r>
          </a:p>
        </p:txBody>
      </p:sp>
      <p:cxnSp>
        <p:nvCxnSpPr>
          <p:cNvPr id="35" name="Connector 34"/>
          <p:cNvCxnSpPr>
            <a:stCxn id="32" idx="0"/>
            <a:endCxn id="34" idx="1"/>
          </p:cNvCxnSpPr>
          <p:nvPr/>
        </p:nvCxnSpPr>
        <p:spPr>
          <a:xfrm>
            <a:off x="7467904" y="2286000"/>
            <a:ext cx="1508760" cy="1005840"/>
          </a:xfrm>
          <a:prstGeom prst="bentConnector3">
            <a:avLst/>
          </a:prstGeom>
          <a:ln w="25400">
            <a:solidFill>
              <a:srgbClr val="F47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9904" y="5349240"/>
            <a:ext cx="10972800" cy="0"/>
          </a:xfrm>
          <a:prstGeom prst="line">
            <a:avLst/>
          </a:prstGeom>
          <a:ln w="44450">
            <a:solidFill>
              <a:srgbClr val="F47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09904" y="553212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500" b="0">
                <a:solidFill>
                  <a:srgbClr val="28455F"/>
                </a:solidFill>
                <a:latin typeface="Arial"/>
              </a:rPr>
              <a:t>More of the work, and more of the responsibility, moves from you to the agent</a:t>
            </a:r>
          </a:p>
        </p:txBody>
      </p:sp>
    </p:spTree>
    <p:extLst>
      <p:ext uri="{BB962C8B-B14F-4D97-AF65-F5344CB8AC3E}">
        <p14:creationId xmlns:p14="http://schemas.microsoft.com/office/powerpoint/2010/main" val="243807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A54CD4D-4244-4298-B4C2-C5B149EA97D4}"/>
              </a:ext>
            </a:extLst>
          </p:cNvPr>
          <p:cNvSpPr>
            <a:spLocks noGrp="1"/>
          </p:cNvSpPr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From prompts to assignments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F338A5-D526-40B4-B5F3-11B0CE8D12A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9D96BD-E735-4A63-AD00-251293B1603B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BB2EDF-9D35-46F1-A66C-08D89EB2D285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" y="1691640"/>
            <a:ext cx="3108960" cy="32004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300" b="1">
                <a:solidFill>
                  <a:srgbClr val="8A9BAA"/>
                </a:solidFill>
                <a:latin typeface="Bahnschrift"/>
              </a:rPr>
              <a:t>A PROMPT</a:t>
            </a:r>
          </a:p>
        </p:txBody>
      </p:sp>
      <p:sp>
        <p:nvSpPr>
          <p:cNvPr id="18" name="Rounded Rectangular Callout 17"/>
          <p:cNvSpPr/>
          <p:nvPr/>
        </p:nvSpPr>
        <p:spPr>
          <a:xfrm>
            <a:off x="609904" y="2103120"/>
            <a:ext cx="3108960" cy="1280160"/>
          </a:xfrm>
          <a:prstGeom prst="wedgeRoundRectCallou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800" b="0">
                <a:solidFill>
                  <a:srgbClr val="28455F"/>
                </a:solidFill>
                <a:latin typeface="Arial"/>
              </a:rPr>
              <a:t>“Summarize obesity papers”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3794760"/>
            <a:ext cx="3108960" cy="7315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500" b="0">
                <a:solidFill>
                  <a:srgbClr val="28455F"/>
                </a:solidFill>
                <a:latin typeface="Arial"/>
              </a:rPr>
              <a:t>One answer. Repeated handoffs.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977639" y="2423160"/>
            <a:ext cx="914400" cy="685800"/>
          </a:xfrm>
          <a:prstGeom prst="rightArrow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66360" y="1463040"/>
            <a:ext cx="640080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66360" y="1463040"/>
            <a:ext cx="6400800" cy="640080"/>
          </a:xfrm>
          <a:prstGeom prst="rect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l"/>
            <a:r>
              <a:rPr sz="1600" b="1">
                <a:solidFill>
                  <a:srgbClr val="FFFFFF"/>
                </a:solidFill>
                <a:latin typeface="Bahnschrift"/>
              </a:rPr>
              <a:t>AN ASSIGNMENT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2286000"/>
            <a:ext cx="1325880" cy="438912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7879"/>
                </a:solidFill>
                <a:latin typeface="Bahnschrift"/>
              </a:rPr>
              <a:t>Goal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340864"/>
            <a:ext cx="4526280" cy="4114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400" b="0">
                <a:solidFill>
                  <a:srgbClr val="002B55"/>
                </a:solidFill>
                <a:latin typeface="Arial"/>
              </a:rPr>
              <a:t>Reviewable ad-board package: sustaining treatment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2862072"/>
            <a:ext cx="1325880" cy="438912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7879"/>
                </a:solidFill>
                <a:latin typeface="Bahnschrift"/>
              </a:rPr>
              <a:t>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916936"/>
            <a:ext cx="4526280" cy="4114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400" b="0">
                <a:solidFill>
                  <a:srgbClr val="002B55"/>
                </a:solidFill>
                <a:latin typeface="Arial"/>
              </a:rPr>
              <a:t>Our evidence position, house rules, past questions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60" y="3438144"/>
            <a:ext cx="1325880" cy="438912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7879"/>
                </a:solidFill>
                <a:latin typeface="Bahnschrift"/>
              </a:rPr>
              <a:t>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3493008"/>
            <a:ext cx="4526280" cy="4114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400" b="0">
                <a:solidFill>
                  <a:srgbClr val="002B55"/>
                </a:solidFill>
                <a:latin typeface="Arial"/>
              </a:rPr>
              <a:t>PubMed, ClinicalTrials.gov, approved inputs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60" y="4014216"/>
            <a:ext cx="1325880" cy="438912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7879"/>
                </a:solidFill>
                <a:latin typeface="Bahnschrift"/>
              </a:rP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069080"/>
            <a:ext cx="4526280" cy="4114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400" b="0">
                <a:solidFill>
                  <a:srgbClr val="002B55"/>
                </a:solidFill>
                <a:latin typeface="Arial"/>
              </a:rPr>
              <a:t>Charter, agenda, pre-read, claim ledger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94960" y="4590288"/>
            <a:ext cx="1325880" cy="438912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7879"/>
                </a:solidFill>
                <a:latin typeface="Bahnschrift"/>
              </a:rPr>
              <a:t>Checks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4645151"/>
            <a:ext cx="4526280" cy="4114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400" b="0">
                <a:solidFill>
                  <a:srgbClr val="002B55"/>
                </a:solidFill>
                <a:latin typeface="Arial"/>
              </a:rPr>
              <a:t>Every claim cited; limitations stated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0" y="5166360"/>
            <a:ext cx="1325880" cy="438912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7879"/>
                </a:solidFill>
                <a:latin typeface="Bahnschrift"/>
              </a:rPr>
              <a:t>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5221224"/>
            <a:ext cx="4526280" cy="4114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400" b="0">
                <a:solidFill>
                  <a:srgbClr val="002B55"/>
                </a:solidFill>
                <a:latin typeface="Arial"/>
              </a:rPr>
              <a:t>A named human approves before use</a:t>
            </a:r>
          </a:p>
        </p:txBody>
      </p:sp>
    </p:spTree>
    <p:extLst>
      <p:ext uri="{BB962C8B-B14F-4D97-AF65-F5344CB8AC3E}">
        <p14:creationId xmlns:p14="http://schemas.microsoft.com/office/powerpoint/2010/main" val="1205973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C2154F-9987-461E-ADAD-E24881F288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A85202-9FD7-442F-BEBC-AD6BEB2B953C}"/>
              </a:ext>
            </a:extLst>
          </p:cNvPr>
          <p:cNvSpPr>
            <a:spLocks noGrp="1"/>
          </p:cNvSpPr>
          <p:nvPr/>
        </p:nvSpPr>
        <p:spPr>
          <a:xfrm>
            <a:off x="609600" y="731520"/>
            <a:ext cx="3657600" cy="2651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7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>
              <a:spcAft>
                <a:spcPts val="800"/>
              </a:spcAft>
            </a:pPr>
            <a:r>
              <a:rPr sz="3200" b="1" lang="en-US" dirty="0">
                <a:solidFill>
                  <a:srgbClr val="002B55"/>
                </a:solidFill>
                <a:latin typeface="Bahnschrift"/>
              </a:rPr>
              <a:t>Stop asking AI questions.</a:t>
            </a:r>
          </a:p>
          <a:p>
            <a:pPr algn="l"/>
            <a:r>
              <a:rPr sz="3200" b="1" lang="en-US" dirty="0">
                <a:solidFill>
                  <a:srgbClr val="F47735"/>
                </a:solidFill>
                <a:latin typeface="Bahnschrift"/>
              </a:rPr>
              <a:t>Start giving it jobs.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E6D0D8-0C6A-487F-A8A5-37788351F576}"/>
              </a:ext>
            </a:extLst>
          </p:cNvPr>
          <p:cNvSpPr>
            <a:spLocks noGrp="1"/>
          </p:cNvSpPr>
          <p:nvPr/>
        </p:nvSpPr>
        <p:spPr>
          <a:xfrm>
            <a:off x="609600" y="3611880"/>
            <a:ext cx="4572000" cy="10058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500" b="1" lang="en-US" dirty="0">
                <a:solidFill>
                  <a:srgbClr val="007879"/>
                </a:solidFill>
                <a:latin typeface="Bahnschrift"/>
              </a:rPr>
              <a:t>ACT 2</a:t>
            </a:r>
          </a:p>
          <a:p>
            <a:pPr algn="l"/>
            <a:r>
              <a:rPr sz="2100" b="0" lang="en-US" dirty="0">
                <a:solidFill>
                  <a:srgbClr val="002B55"/>
                </a:solidFill>
                <a:latin typeface="Arial"/>
              </a:rPr>
              <a:t>The interface is changing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DB6773-63AC-4BA0-908E-D86C6157F10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ED6512-4E60-47E1-8835-506F0928EB0B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8A560A-6F60-4397-AA8F-4A30EB309DDF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91469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EEC95C-44CB-48FC-883F-56BAD261B2B1}"/>
              </a:ext>
            </a:extLst>
          </p:cNvPr>
          <p:cNvSpPr>
            <a:spLocks noGrp="1"/>
          </p:cNvSpPr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From finding information to completing work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52E3E-BD5A-4C46-98E7-0549D3B0988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51141-3EC9-4A04-A2D7-3E747007EB7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C260F8-C4EE-4642-B838-685C2BF0C7BC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14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904" y="1417320"/>
            <a:ext cx="338328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904" y="1417320"/>
            <a:ext cx="3383280" cy="731520"/>
          </a:xfrm>
          <a:prstGeom prst="rect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</a:rPr>
              <a:t>2022 · SEARCH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66336" y="3566160"/>
            <a:ext cx="265176" cy="0"/>
          </a:xfrm>
          <a:prstGeom prst="line">
            <a:avLst/>
          </a:prstGeom>
          <a:ln w="3810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92784" y="5120640"/>
            <a:ext cx="301752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600" b="1">
                <a:solidFill>
                  <a:srgbClr val="002B55"/>
                </a:solidFill>
                <a:latin typeface="Bahnschrift"/>
              </a:rPr>
              <a:t>Find pages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5664" y="2514600"/>
            <a:ext cx="2377440" cy="128016"/>
          </a:xfrm>
          <a:prstGeom prst="rect">
            <a:avLst/>
          </a:prstGeom>
          <a:solidFill>
            <a:srgbClr val="7F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5664" y="2724912"/>
            <a:ext cx="1645920" cy="91440"/>
          </a:xfrm>
          <a:prstGeom prst="rect">
            <a:avLst/>
          </a:prstGeom>
          <a:solidFill>
            <a:srgbClr val="D5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5664" y="3108960"/>
            <a:ext cx="2377440" cy="128016"/>
          </a:xfrm>
          <a:prstGeom prst="rect">
            <a:avLst/>
          </a:prstGeom>
          <a:solidFill>
            <a:srgbClr val="7F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5664" y="3319272"/>
            <a:ext cx="1645920" cy="91440"/>
          </a:xfrm>
          <a:prstGeom prst="rect">
            <a:avLst/>
          </a:prstGeom>
          <a:solidFill>
            <a:srgbClr val="D5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75664" y="3703320"/>
            <a:ext cx="2377440" cy="128016"/>
          </a:xfrm>
          <a:prstGeom prst="rect">
            <a:avLst/>
          </a:prstGeom>
          <a:solidFill>
            <a:srgbClr val="7F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5664" y="3913632"/>
            <a:ext cx="1645920" cy="91440"/>
          </a:xfrm>
          <a:prstGeom prst="rect">
            <a:avLst/>
          </a:prstGeom>
          <a:solidFill>
            <a:srgbClr val="D5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5664" y="4297680"/>
            <a:ext cx="2377440" cy="128016"/>
          </a:xfrm>
          <a:prstGeom prst="rect">
            <a:avLst/>
          </a:prstGeom>
          <a:solidFill>
            <a:srgbClr val="7FA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5664" y="4507992"/>
            <a:ext cx="1645920" cy="91440"/>
          </a:xfrm>
          <a:prstGeom prst="rect">
            <a:avLst/>
          </a:prstGeom>
          <a:solidFill>
            <a:srgbClr val="D5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404664" y="1417320"/>
            <a:ext cx="338328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04664" y="1417320"/>
            <a:ext cx="3383280" cy="731520"/>
          </a:xfrm>
          <a:prstGeom prst="rect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</a:rPr>
              <a:t>2024–25 · ANSWER ENGINES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861096" y="3566160"/>
            <a:ext cx="265176" cy="0"/>
          </a:xfrm>
          <a:prstGeom prst="line">
            <a:avLst/>
          </a:prstGeom>
          <a:ln w="3810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87544" y="5120640"/>
            <a:ext cx="301752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600" b="1">
                <a:solidFill>
                  <a:srgbClr val="002B55"/>
                </a:solidFill>
                <a:latin typeface="Bahnschrift"/>
              </a:rPr>
              <a:t>Synthesize responses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78984" y="2468880"/>
            <a:ext cx="2834640" cy="1828800"/>
          </a:xfrm>
          <a:prstGeom prst="roundRect">
            <a:avLst>
              <a:gd name="adj" fmla="val 6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98755" bIns="98755"/>
          <a:lstStyle/>
          <a:p>
            <a:pPr algn="l"/>
            <a:r>
              <a:rPr sz="1500" b="1">
                <a:solidFill>
                  <a:srgbClr val="007879"/>
                </a:solidFill>
                <a:latin typeface="Arial"/>
              </a:rPr>
              <a:t>Synthesized answer</a:t>
            </a:r>
          </a:p>
          <a:p>
            <a:pPr algn="l"/>
            <a:r>
              <a:rPr sz="1200" b="0">
                <a:solidFill>
                  <a:srgbClr val="28455F"/>
                </a:solidFill>
                <a:latin typeface="Arial"/>
              </a:rPr>
              <a:t>One response, built from many sources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78984" y="4434840"/>
            <a:ext cx="54864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100" b="1">
                <a:solidFill>
                  <a:srgbClr val="007879"/>
                </a:solidFill>
                <a:latin typeface="Arial"/>
              </a:rPr>
              <a:t>[1]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64784" y="4434840"/>
            <a:ext cx="54864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100" b="1">
                <a:solidFill>
                  <a:srgbClr val="007879"/>
                </a:solidFill>
                <a:latin typeface="Arial"/>
              </a:rPr>
              <a:t>[2]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50584" y="4434840"/>
            <a:ext cx="548640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100" b="1">
                <a:solidFill>
                  <a:srgbClr val="007879"/>
                </a:solidFill>
                <a:latin typeface="Arial"/>
              </a:rPr>
              <a:t>[3]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99424" y="1417320"/>
            <a:ext cx="3383280" cy="4343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99424" y="1417320"/>
            <a:ext cx="3383280" cy="731520"/>
          </a:xfrm>
          <a:prstGeom prst="rect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</a:rPr>
              <a:t>2026 · WORKFLOW EXECUTION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82304" y="5120640"/>
            <a:ext cx="301752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600" b="1">
                <a:solidFill>
                  <a:srgbClr val="002B55"/>
                </a:solidFill>
                <a:latin typeface="Bahnschrift"/>
              </a:rPr>
              <a:t>Plan · act · inspect · deliver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22384" y="2423160"/>
            <a:ext cx="1737360" cy="411480"/>
          </a:xfrm>
          <a:prstGeom prst="roundRect">
            <a:avLst>
              <a:gd name="adj" fmla="val 30000"/>
            </a:avLst>
          </a:prstGeom>
          <a:solidFill>
            <a:srgbClr val="FD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B4501F"/>
                </a:solidFill>
                <a:latin typeface="Arial"/>
              </a:rPr>
              <a:t>Plan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22384" y="3063239"/>
            <a:ext cx="1737360" cy="411480"/>
          </a:xfrm>
          <a:prstGeom prst="roundRect">
            <a:avLst>
              <a:gd name="adj" fmla="val 30000"/>
            </a:avLst>
          </a:prstGeom>
          <a:solidFill>
            <a:srgbClr val="FD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B4501F"/>
                </a:solidFill>
                <a:latin typeface="Arial"/>
              </a:rPr>
              <a:t>Act</a:t>
            </a:r>
          </a:p>
        </p:txBody>
      </p:sp>
      <p:cxnSp>
        <p:nvCxnSpPr>
          <p:cNvPr id="40" name="Connector 39"/>
          <p:cNvCxnSpPr>
            <a:stCxn id="38" idx="2"/>
            <a:endCxn id="39" idx="0"/>
          </p:cNvCxnSpPr>
          <p:nvPr/>
        </p:nvCxnSpPr>
        <p:spPr>
          <a:xfrm flipH="1">
            <a:off x="9891064" y="2834640"/>
            <a:ext cx="0" cy="228599"/>
          </a:xfrm>
          <a:prstGeom prst="line">
            <a:avLst/>
          </a:prstGeom>
          <a:ln w="19050">
            <a:solidFill>
              <a:srgbClr val="F47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022384" y="3703320"/>
            <a:ext cx="1737360" cy="411480"/>
          </a:xfrm>
          <a:prstGeom prst="roundRect">
            <a:avLst>
              <a:gd name="adj" fmla="val 30000"/>
            </a:avLst>
          </a:prstGeom>
          <a:solidFill>
            <a:srgbClr val="FD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B4501F"/>
                </a:solidFill>
                <a:latin typeface="Arial"/>
              </a:rPr>
              <a:t>Inspect</a:t>
            </a:r>
          </a:p>
        </p:txBody>
      </p:sp>
      <p:cxnSp>
        <p:nvCxnSpPr>
          <p:cNvPr id="42" name="Connector 41"/>
          <p:cNvCxnSpPr>
            <a:stCxn id="39" idx="2"/>
            <a:endCxn id="41" idx="0"/>
          </p:cNvCxnSpPr>
          <p:nvPr/>
        </p:nvCxnSpPr>
        <p:spPr>
          <a:xfrm flipH="1">
            <a:off x="9891064" y="3474719"/>
            <a:ext cx="0" cy="228601"/>
          </a:xfrm>
          <a:prstGeom prst="line">
            <a:avLst/>
          </a:prstGeom>
          <a:ln w="19050">
            <a:solidFill>
              <a:srgbClr val="F47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022384" y="4343400"/>
            <a:ext cx="1737360" cy="411480"/>
          </a:xfrm>
          <a:prstGeom prst="roundRect">
            <a:avLst>
              <a:gd name="adj" fmla="val 30000"/>
            </a:avLst>
          </a:prstGeom>
          <a:solidFill>
            <a:srgbClr val="FD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B4501F"/>
                </a:solidFill>
                <a:latin typeface="Arial"/>
              </a:rPr>
              <a:t>Deliver</a:t>
            </a:r>
          </a:p>
        </p:txBody>
      </p:sp>
      <p:cxnSp>
        <p:nvCxnSpPr>
          <p:cNvPr id="44" name="Connector 43"/>
          <p:cNvCxnSpPr>
            <a:stCxn id="41" idx="2"/>
            <a:endCxn id="43" idx="0"/>
          </p:cNvCxnSpPr>
          <p:nvPr/>
        </p:nvCxnSpPr>
        <p:spPr>
          <a:xfrm flipH="1">
            <a:off x="9891064" y="4114800"/>
            <a:ext cx="0" cy="228600"/>
          </a:xfrm>
          <a:prstGeom prst="line">
            <a:avLst/>
          </a:prstGeom>
          <a:ln w="19050">
            <a:solidFill>
              <a:srgbClr val="F47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449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6E5F924-CED9-464A-8315-1792B7F59BBF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Meet the frontier agents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9D996E-1391-475D-A61F-BAAC845E0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905" y="1600200"/>
            <a:ext cx="777240" cy="77724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2335E46-7F6C-4B7C-B740-A2A0F99ACAC9}"/>
              </a:ext>
            </a:extLst>
          </p:cNvPr>
          <p:cNvSpPr>
            <a:spLocks noGrp="1"/>
          </p:cNvSpPr>
          <p:nvPr/>
        </p:nvSpPr>
        <p:spPr>
          <a:xfrm>
            <a:off x="609905" y="2560320"/>
            <a:ext cx="2057400" cy="8229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62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2200" b="1" lang="en-US" dirty="0">
                <a:solidFill>
                  <a:srgbClr val="002B55"/>
                </a:solidFill>
                <a:latin typeface="Bahnschrift"/>
              </a:rPr>
              <a:t>Grok Bot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860906-43E4-4732-835B-AF274135CC88}"/>
              </a:ext>
            </a:extLst>
          </p:cNvPr>
          <p:cNvSpPr>
            <a:spLocks noGrp="1"/>
          </p:cNvSpPr>
          <p:nvPr/>
        </p:nvSpPr>
        <p:spPr>
          <a:xfrm>
            <a:off x="609905" y="3383280"/>
            <a:ext cx="205740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600" b="0" lang="en-US" dirty="0">
                <a:solidFill>
                  <a:srgbClr val="007879"/>
                </a:solidFill>
                <a:latin typeface="Arial"/>
              </a:rPr>
              <a:t>xAI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B591E4-42AC-4330-B5A3-D7324F088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884932" y="1600200"/>
            <a:ext cx="777240" cy="7772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D54306-4B4A-4957-9F20-32E54BD7D126}"/>
              </a:ext>
            </a:extLst>
          </p:cNvPr>
          <p:cNvSpPr>
            <a:spLocks noGrp="1"/>
          </p:cNvSpPr>
          <p:nvPr/>
        </p:nvSpPr>
        <p:spPr>
          <a:xfrm>
            <a:off x="2884932" y="2560320"/>
            <a:ext cx="2057400" cy="8229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62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2200" b="1" lang="en-US" dirty="0">
                <a:solidFill>
                  <a:srgbClr val="002B55"/>
                </a:solidFill>
                <a:latin typeface="Bahnschrift"/>
              </a:rPr>
              <a:t>Claude.ai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249B64-E957-4E3D-8F67-CD781274C4EF}"/>
              </a:ext>
            </a:extLst>
          </p:cNvPr>
          <p:cNvSpPr>
            <a:spLocks noGrp="1"/>
          </p:cNvSpPr>
          <p:nvPr/>
        </p:nvSpPr>
        <p:spPr>
          <a:xfrm>
            <a:off x="2884932" y="3383280"/>
            <a:ext cx="205740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600" b="0" lang="en-US" dirty="0">
                <a:solidFill>
                  <a:srgbClr val="007879"/>
                </a:solidFill>
                <a:latin typeface="Arial"/>
              </a:rPr>
              <a:t>Anthropic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0CB58D-8F87-4B25-BEE9-29389A76A7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159959" y="1600200"/>
            <a:ext cx="777240" cy="77724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564693-4C8E-461A-AE27-4BCB5406242D}"/>
              </a:ext>
            </a:extLst>
          </p:cNvPr>
          <p:cNvSpPr>
            <a:spLocks noGrp="1"/>
          </p:cNvSpPr>
          <p:nvPr/>
        </p:nvSpPr>
        <p:spPr>
          <a:xfrm>
            <a:off x="5159959" y="2560320"/>
            <a:ext cx="2057400" cy="8229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62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2200" b="1" lang="en-US" dirty="0">
                <a:solidFill>
                  <a:srgbClr val="002B55"/>
                </a:solidFill>
                <a:latin typeface="Bahnschrift"/>
              </a:rPr>
              <a:t>Microsoft Copilot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63BB86-D008-46DB-9F20-D16473D5151D}"/>
              </a:ext>
            </a:extLst>
          </p:cNvPr>
          <p:cNvSpPr>
            <a:spLocks noGrp="1"/>
          </p:cNvSpPr>
          <p:nvPr/>
        </p:nvSpPr>
        <p:spPr>
          <a:xfrm>
            <a:off x="5159959" y="3383280"/>
            <a:ext cx="205740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600" b="0" lang="en-US" dirty="0">
                <a:solidFill>
                  <a:srgbClr val="007879"/>
                </a:solidFill>
                <a:latin typeface="Arial"/>
              </a:rPr>
              <a:t>Microsoft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FA60E3-2E3E-42F3-972E-BC2EFF21D22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34986" y="1600200"/>
            <a:ext cx="777240" cy="7772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1082850-D22C-444D-AFFC-4B8585197E76}"/>
              </a:ext>
            </a:extLst>
          </p:cNvPr>
          <p:cNvSpPr>
            <a:spLocks noGrp="1"/>
          </p:cNvSpPr>
          <p:nvPr/>
        </p:nvSpPr>
        <p:spPr>
          <a:xfrm>
            <a:off x="7434986" y="2560320"/>
            <a:ext cx="2057400" cy="8229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62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2200" b="1" lang="en-US" dirty="0">
                <a:solidFill>
                  <a:srgbClr val="002B55"/>
                </a:solidFill>
                <a:latin typeface="Bahnschrift"/>
              </a:rPr>
              <a:t>ChatGPT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0E41F1-67F2-4F44-B4D6-465DB1479E58}"/>
              </a:ext>
            </a:extLst>
          </p:cNvPr>
          <p:cNvSpPr>
            <a:spLocks noGrp="1"/>
          </p:cNvSpPr>
          <p:nvPr/>
        </p:nvSpPr>
        <p:spPr>
          <a:xfrm>
            <a:off x="7434986" y="3383280"/>
            <a:ext cx="205740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600" b="0" lang="en-US" dirty="0">
                <a:solidFill>
                  <a:srgbClr val="007879"/>
                </a:solidFill>
                <a:latin typeface="Arial"/>
              </a:rPr>
              <a:t>OpenAI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7F3C3B-0A87-4D5C-A62B-519C99F2880B}"/>
              </a:ext>
            </a:extLst>
          </p:cNvPr>
          <p:cNvSpPr>
            <a:spLocks noGrp="1"/>
          </p:cNvSpPr>
          <p:nvPr/>
        </p:nvSpPr>
        <p:spPr>
          <a:xfrm>
            <a:off x="609600" y="544068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007879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800" b="1" lang="en-US" dirty="0">
                <a:solidFill>
                  <a:srgbClr val="007879"/>
                </a:solidFill>
                <a:latin typeface="Arial"/>
              </a:rPr>
              <a:t>Same assignment and checks · different access and controls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5E933-92D7-4C7A-8078-DCEBF3C0C42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854F90-338F-423D-B4A4-E1ED4FB7A74B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E2AD6F-81A2-419D-AB54-A17FE8C80097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15</a:t>
            </a:r>
          </a:p>
        </p:txBody>
      </p:sp>
      <p:sp>
        <p:nvSpPr>
          <p:cNvPr id="300" name="Meta Muse text tile"/>
          <p:cNvSpPr/>
          <p:nvPr/>
        </p:nvSpPr>
        <p:spPr>
          <a:xfrm>
            <a:off x="9708185" y="1600200"/>
            <a:ext cx="777240" cy="777240"/>
          </a:xfrm>
          <a:prstGeom prst="roundRect">
            <a:avLst>
              <a:gd name="adj" fmla="val 12000"/>
            </a:avLst>
          </a:prstGeom>
          <a:solidFill>
            <a:srgbClr val="002B55"/>
          </a:solidFill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100" b="1" lang="en-US" dirty="0">
                <a:solidFill>
                  <a:srgbClr val="FFFFFF"/>
                </a:solidFill>
                <a:latin typeface="Bahnschrift"/>
              </a:rPr>
              <a:t>Meta</a:t>
            </a:r>
          </a:p>
          <a:p>
            <a:pPr algn="ctr"/>
            <a:r>
              <a:rPr sz="1100" b="1" lang="en-US" dirty="0">
                <a:solidFill>
                  <a:srgbClr val="FFFFFF"/>
                </a:solidFill>
                <a:latin typeface="Bahnschrift"/>
              </a:rPr>
              <a:t>Muse</a:t>
            </a:r>
          </a:p>
        </p:txBody>
      </p:sp>
      <p:sp>
        <p:nvSpPr>
          <p:cNvPr id="301" name="Meta Muse name"/>
          <p:cNvSpPr/>
          <p:nvPr/>
        </p:nvSpPr>
        <p:spPr>
          <a:xfrm>
            <a:off x="9708185" y="2560320"/>
            <a:ext cx="2057400" cy="82296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2200" b="1" lang="en-US" dirty="0">
                <a:solidFill>
                  <a:srgbClr val="002B55"/>
                </a:solidFill>
                <a:latin typeface="Bahnschrift"/>
              </a:rPr>
              <a:t>Meta Muse</a:t>
            </a:r>
          </a:p>
        </p:txBody>
      </p:sp>
      <p:sp>
        <p:nvSpPr>
          <p:cNvPr id="302" name="Meta Muse maker"/>
          <p:cNvSpPr/>
          <p:nvPr/>
        </p:nvSpPr>
        <p:spPr>
          <a:xfrm>
            <a:off x="9708185" y="3383280"/>
            <a:ext cx="2057400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600" b="0" lang="en-US" dirty="0">
                <a:solidFill>
                  <a:srgbClr val="007879"/>
                </a:solidFill>
                <a:latin typeface="Arial"/>
              </a:rPr>
              <a:t>Meta</a:t>
            </a:r>
          </a:p>
        </p:txBody>
      </p:sp>
      <p:sp>
        <p:nvSpPr>
          <p:cNvPr id="303" name="Shift from"/>
          <p:cNvSpPr/>
          <p:nvPr/>
        </p:nvSpPr>
        <p:spPr>
          <a:xfrm>
            <a:off x="609905" y="4160520"/>
            <a:ext cx="3108960" cy="960120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 w="12700">
            <a:noFill/>
          </a:ln>
        </p:spPr>
        <p:txBody>
          <a:bodyPr wrap="square" lIns="164592" rIns="164592" tIns="164592" bIns="164592" anchor="ctr" rtlCol="0"/>
          <a:lstStyle/>
          <a:p>
            <a:pPr algn="l"/>
            <a:r>
              <a:rPr sz="1300" b="1" lang="en-US" dirty="0">
                <a:solidFill>
                  <a:srgbClr val="28455F"/>
                </a:solidFill>
                <a:latin typeface="Bahnschrift"/>
              </a:rPr>
              <a:t>CHAT TOOLS</a:t>
            </a:r>
          </a:p>
          <a:p>
            <a:pPr algn="l"/>
            <a:r>
              <a:rPr sz="1700" b="1" lang="en-US" dirty="0">
                <a:solidFill>
                  <a:srgbClr val="002B55"/>
                </a:solidFill>
                <a:latin typeface="Arial"/>
              </a:rPr>
              <a:t>You ask, it answers</a:t>
            </a:r>
          </a:p>
        </p:txBody>
      </p:sp>
      <p:sp>
        <p:nvSpPr>
          <p:cNvPr id="304" name="Shift arrow"/>
          <p:cNvSpPr/>
          <p:nvPr/>
        </p:nvSpPr>
        <p:spPr>
          <a:xfrm>
            <a:off x="3886200" y="4343400"/>
            <a:ext cx="4389120" cy="594360"/>
          </a:xfrm>
          <a:prstGeom prst="rightArrow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18288" rIns="18288" tIns="18288" bIns="18288" anchor="ctr" rtlCol="0"/>
          <a:lstStyle/>
          <a:p>
            <a:pPr algn="ctr"/>
            <a:r>
              <a:rPr sz="1500" b="1" lang="en-US" dirty="0">
                <a:solidFill>
                  <a:srgbClr val="FFFFFF"/>
                </a:solidFill>
                <a:latin typeface="Bahnschrift"/>
              </a:rPr>
              <a:t>the shift</a:t>
            </a:r>
          </a:p>
        </p:txBody>
      </p:sp>
      <p:sp>
        <p:nvSpPr>
          <p:cNvPr id="305" name="Shift to"/>
          <p:cNvSpPr/>
          <p:nvPr/>
        </p:nvSpPr>
        <p:spPr>
          <a:xfrm>
            <a:off x="8476488" y="4160520"/>
            <a:ext cx="3108960" cy="960120"/>
          </a:xfrm>
          <a:prstGeom prst="roundRect">
            <a:avLst>
              <a:gd name="adj" fmla="val 12000"/>
            </a:avLst>
          </a:prstGeom>
          <a:solidFill>
            <a:srgbClr val="002B55"/>
          </a:solidFill>
          <a:ln w="12700">
            <a:noFill/>
          </a:ln>
        </p:spPr>
        <p:txBody>
          <a:bodyPr wrap="square" lIns="164592" rIns="164592" tIns="164592" bIns="164592" anchor="ctr" rtlCol="0"/>
          <a:lstStyle/>
          <a:p>
            <a:pPr algn="l"/>
            <a:r>
              <a:rPr sz="1300" b="1" lang="en-US" dirty="0">
                <a:solidFill>
                  <a:srgbClr val="9FD3D3"/>
                </a:solidFill>
                <a:latin typeface="Bahnschrift"/>
              </a:rPr>
              <a:t>PERSONAL AGENTS</a:t>
            </a:r>
          </a:p>
          <a:p>
            <a:pPr algn="l"/>
            <a:r>
              <a:rPr sz="1700" b="1" lang="en-US" dirty="0">
                <a:solidFill>
                  <a:srgbClr val="FFFFFF"/>
                </a:solidFill>
                <a:latin typeface="Arial"/>
              </a:rPr>
              <a:t>Your own workforce</a:t>
            </a:r>
          </a:p>
        </p:txBody>
      </p:sp>
    </p:spTree>
    <p:extLst>
      <p:ext uri="{BB962C8B-B14F-4D97-AF65-F5344CB8AC3E}">
        <p14:creationId xmlns:p14="http://schemas.microsoft.com/office/powerpoint/2010/main" val="1708317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7F67994E-A2A6-4345-B88D-7AAB75A8A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5577840" y="1417320"/>
            <a:ext cx="6004865" cy="3377794"/>
          </a:xfrm>
          <a:prstGeom prst="roundRect">
            <a:avLst>
              <a:gd name="adj" fmla="val 5000"/>
            </a:avLst>
          </a:prstGeom>
          <a:ln w="12700">
            <a:solidFill>
              <a:srgbClr val="D9E3EA"/>
            </a:solidFill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56B72F8-65E9-44A3-BB4A-F62CC6A612DC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Your own workforce: a small team, clear handoffs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8E3F85-C539-43A3-9ADF-0EE4C83E9901}"/>
              </a:ext>
            </a:extLst>
          </p:cNvPr>
          <p:cNvSpPr>
            <a:spLocks noGrp="1"/>
          </p:cNvSpPr>
          <p:nvPr/>
        </p:nvSpPr>
        <p:spPr>
          <a:xfrm>
            <a:off x="609905" y="2240280"/>
            <a:ext cx="1874520" cy="530352"/>
          </a:xfrm>
          <a:prstGeom prst="roundRect">
            <a:avLst>
              <a:gd name="adj" fmla="val 20000"/>
            </a:avLst>
          </a:prstGeom>
          <a:solidFill>
            <a:srgbClr val="007879"/>
          </a:solidFill>
          <a:ln w="0">
            <a:noFill/>
          </a:ln>
        </p:spPr>
        <p:txBody>
          <a:bodyPr wrap="square" lIns="73152" tIns="73152" rIns="73152" bIns="73152" anchor="ctr">
            <a:noAutofit/>
          </a:bodyPr>
          <a:lstStyle>
            <a:defPPr>
              <a:defRPr sz="21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ctr"/>
            <a:r>
              <a:rPr sz="1500" b="1" lang="en-US" dirty="0">
                <a:solidFill>
                  <a:srgbClr val="FFFFFF"/>
                </a:solidFill>
                <a:latin typeface="Bahnschrift"/>
              </a:rPr>
              <a:t>Coordinator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9E1C4E-1242-4439-8B9B-DC21F246A0DF}"/>
              </a:ext>
            </a:extLst>
          </p:cNvPr>
          <p:cNvSpPr>
            <a:spLocks noGrp="1"/>
          </p:cNvSpPr>
          <p:nvPr/>
        </p:nvSpPr>
        <p:spPr>
          <a:xfrm>
            <a:off x="2651760" y="2240280"/>
            <a:ext cx="2651760" cy="5303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00" b="0">
                <a:solidFill>
                  <a:srgbClr val="007879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500" b="0" lang="en-US" dirty="0">
                <a:solidFill>
                  <a:srgbClr val="002B55"/>
                </a:solidFill>
                <a:latin typeface="Arial"/>
              </a:rPr>
              <a:t>Owns the outcome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3E982E-516E-47BE-9A68-42DBF3BAC9E8}"/>
              </a:ext>
            </a:extLst>
          </p:cNvPr>
          <p:cNvSpPr>
            <a:spLocks noGrp="1"/>
          </p:cNvSpPr>
          <p:nvPr/>
        </p:nvSpPr>
        <p:spPr>
          <a:xfrm>
            <a:off x="609905" y="2898648"/>
            <a:ext cx="1874520" cy="530352"/>
          </a:xfrm>
          <a:prstGeom prst="roundRect">
            <a:avLst>
              <a:gd name="adj" fmla="val 20000"/>
            </a:avLst>
          </a:prstGeom>
          <a:solidFill>
            <a:srgbClr val="007879"/>
          </a:solidFill>
          <a:ln w="0">
            <a:noFill/>
          </a:ln>
        </p:spPr>
        <p:txBody>
          <a:bodyPr wrap="square" lIns="73152" tIns="73152" rIns="73152" bIns="73152" anchor="ctr">
            <a:noAutofit/>
          </a:bodyPr>
          <a:lstStyle>
            <a:defPPr>
              <a:defRPr sz="21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ctr"/>
            <a:r>
              <a:rPr sz="1500" b="1" lang="en-US" dirty="0">
                <a:solidFill>
                  <a:srgbClr val="FFFFFF"/>
                </a:solidFill>
                <a:latin typeface="Bahnschrift"/>
              </a:rPr>
              <a:t>Evidence worker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F08254-EA85-4461-89E9-0E1804514D40}"/>
              </a:ext>
            </a:extLst>
          </p:cNvPr>
          <p:cNvSpPr>
            <a:spLocks noGrp="1"/>
          </p:cNvSpPr>
          <p:nvPr/>
        </p:nvSpPr>
        <p:spPr>
          <a:xfrm>
            <a:off x="2651760" y="2898648"/>
            <a:ext cx="2651760" cy="5303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00" b="0">
                <a:solidFill>
                  <a:srgbClr val="007879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500" b="0" lang="en-US" dirty="0">
                <a:solidFill>
                  <a:srgbClr val="002B55"/>
                </a:solidFill>
                <a:latin typeface="Arial"/>
              </a:rPr>
              <a:t>Returns sources + limitations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28D86E-A18C-4878-BBFE-B6BD95A8172D}"/>
              </a:ext>
            </a:extLst>
          </p:cNvPr>
          <p:cNvSpPr>
            <a:spLocks noGrp="1"/>
          </p:cNvSpPr>
          <p:nvPr/>
        </p:nvSpPr>
        <p:spPr>
          <a:xfrm>
            <a:off x="609905" y="3557016"/>
            <a:ext cx="1874520" cy="530352"/>
          </a:xfrm>
          <a:prstGeom prst="roundRect">
            <a:avLst>
              <a:gd name="adj" fmla="val 20000"/>
            </a:avLst>
          </a:prstGeom>
          <a:solidFill>
            <a:srgbClr val="007879"/>
          </a:solidFill>
          <a:ln w="0">
            <a:noFill/>
          </a:ln>
        </p:spPr>
        <p:txBody>
          <a:bodyPr wrap="square" lIns="73152" tIns="73152" rIns="73152" bIns="73152" anchor="ctr">
            <a:noAutofit/>
          </a:bodyPr>
          <a:lstStyle>
            <a:defPPr>
              <a:defRPr sz="21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ctr"/>
            <a:r>
              <a:rPr sz="1500" b="1" lang="en-US" dirty="0">
                <a:solidFill>
                  <a:srgbClr val="FFFFFF"/>
                </a:solidFill>
                <a:latin typeface="Bahnschrift"/>
              </a:rPr>
              <a:t>Design worker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7B3780-845B-4653-AEC0-4DFEE12D2E97}"/>
              </a:ext>
            </a:extLst>
          </p:cNvPr>
          <p:cNvSpPr>
            <a:spLocks noGrp="1"/>
          </p:cNvSpPr>
          <p:nvPr/>
        </p:nvSpPr>
        <p:spPr>
          <a:xfrm>
            <a:off x="2651760" y="3557016"/>
            <a:ext cx="2651760" cy="5303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00" b="0">
                <a:solidFill>
                  <a:srgbClr val="007879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500" b="0" lang="en-US" dirty="0">
                <a:solidFill>
                  <a:srgbClr val="002B55"/>
                </a:solidFill>
                <a:latin typeface="Arial"/>
              </a:rPr>
              <a:t>Returns decision map + draft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C1D159-B4C1-4777-9EA1-8D91A5D5A159}"/>
              </a:ext>
            </a:extLst>
          </p:cNvPr>
          <p:cNvSpPr>
            <a:spLocks noGrp="1"/>
          </p:cNvSpPr>
          <p:nvPr/>
        </p:nvSpPr>
        <p:spPr>
          <a:xfrm>
            <a:off x="609905" y="4215384"/>
            <a:ext cx="1874520" cy="530352"/>
          </a:xfrm>
          <a:prstGeom prst="roundRect">
            <a:avLst>
              <a:gd name="adj" fmla="val 20000"/>
            </a:avLst>
          </a:prstGeom>
          <a:solidFill>
            <a:srgbClr val="F47735"/>
          </a:solidFill>
          <a:ln w="0">
            <a:noFill/>
          </a:ln>
        </p:spPr>
        <p:txBody>
          <a:bodyPr wrap="square" lIns="73152" tIns="73152" rIns="73152" bIns="73152" anchor="ctr">
            <a:noAutofit/>
          </a:bodyPr>
          <a:lstStyle>
            <a:defPPr>
              <a:defRPr sz="21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ctr"/>
            <a:r>
              <a:rPr sz="1500" b="1" lang="en-US" dirty="0">
                <a:solidFill>
                  <a:srgbClr val="FFFFFF"/>
                </a:solidFill>
                <a:latin typeface="Bahnschrift"/>
              </a:rPr>
              <a:t>Reviewer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70046E-A2C2-4A05-9C84-AFA88434C802}"/>
              </a:ext>
            </a:extLst>
          </p:cNvPr>
          <p:cNvSpPr>
            <a:spLocks noGrp="1"/>
          </p:cNvSpPr>
          <p:nvPr/>
        </p:nvSpPr>
        <p:spPr>
          <a:xfrm>
            <a:off x="2651760" y="4215384"/>
            <a:ext cx="2651760" cy="53035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00" b="0">
                <a:solidFill>
                  <a:srgbClr val="007879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500" b="0" lang="en-US" dirty="0">
                <a:solidFill>
                  <a:srgbClr val="002B55"/>
                </a:solidFill>
                <a:latin typeface="Arial"/>
              </a:rPr>
              <a:t>Returns defects + severity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9EE7EE-25D6-4639-84C3-1EB43D6E2F9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8EA743-A8F8-490E-B1C5-C4DBCA25F087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98483E-C625-4C4D-9496-8AABB6C97806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16</a:t>
            </a:r>
          </a:p>
        </p:txBody>
      </p:sp>
      <p:sp>
        <p:nvSpPr>
          <p:cNvPr id="310" name="You bar"/>
          <p:cNvSpPr/>
          <p:nvPr/>
        </p:nvSpPr>
        <p:spPr>
          <a:xfrm>
            <a:off x="609905" y="1417320"/>
            <a:ext cx="4663440" cy="566928"/>
          </a:xfrm>
          <a:prstGeom prst="roundRect">
            <a:avLst>
              <a:gd name="adj" fmla="val 12000"/>
            </a:avLst>
          </a:prstGeom>
          <a:solidFill>
            <a:srgbClr val="002B55"/>
          </a:solidFill>
          <a:ln w="12700">
            <a:noFill/>
          </a:ln>
        </p:spPr>
        <p:txBody>
          <a:bodyPr wrap="square" lIns="137160" rIns="137160" tIns="137160" bIns="137160" anchor="ctr" rtlCol="0"/>
          <a:lstStyle/>
          <a:p>
            <a:pPr algn="l"/>
            <a:r>
              <a:rPr sz="1500" b="1" lang="en-US" dirty="0">
                <a:solidFill>
                  <a:srgbClr val="FFFFFF"/>
                </a:solidFill>
                <a:latin typeface="Bahnschrift"/>
              </a:rPr>
              <a:t>YOU  ·  set the goal, approve the result</a:t>
            </a:r>
          </a:p>
        </p:txBody>
      </p:sp>
      <p:sp>
        <p:nvSpPr>
          <p:cNvPr id="311" name="Handoff line"/>
          <p:cNvSpPr/>
          <p:nvPr/>
        </p:nvSpPr>
        <p:spPr>
          <a:xfrm>
            <a:off x="609905" y="5074920"/>
            <a:ext cx="10972800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800" b="1" lang="en-US" dirty="0">
                <a:solidFill>
                  <a:srgbClr val="007879"/>
                </a:solidFill>
                <a:latin typeface="Arial"/>
              </a:rPr>
              <a:t>Every handoff carries inputs, sources, open questions and a done-check</a:t>
            </a:r>
          </a:p>
        </p:txBody>
      </p:sp>
    </p:spTree>
    <p:extLst>
      <p:ext uri="{BB962C8B-B14F-4D97-AF65-F5344CB8AC3E}">
        <p14:creationId xmlns:p14="http://schemas.microsoft.com/office/powerpoint/2010/main" val="96215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79B43C-2826-4F43-BD99-8262F2A9E66A}"/>
              </a:ext>
            </a:extLst>
          </p:cNvPr>
          <p:cNvSpPr>
            <a:spLocks noGrp="1"/>
          </p:cNvSpPr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46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46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The new vocabulary of AI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DC2D5C6-4C69-4F80-9A24-B1C20436AE2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CC7CB1-450A-4719-AC02-E3A2A8D67307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89369C-81CC-4EC3-9637-760BFD18E71E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17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904" y="1371600"/>
            <a:ext cx="3520440" cy="1344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904" y="1371600"/>
            <a:ext cx="109728" cy="1344168"/>
          </a:xfrm>
          <a:prstGeom prst="rect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" y="1536192"/>
            <a:ext cx="306324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2200" b="1">
                <a:solidFill>
                  <a:srgbClr val="002B55"/>
                </a:solidFill>
                <a:latin typeface="Bahnschrift"/>
              </a:rPr>
              <a:t>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" y="2011680"/>
            <a:ext cx="3063240" cy="6400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300" b="0">
                <a:solidFill>
                  <a:srgbClr val="28455F"/>
                </a:solidFill>
                <a:latin typeface="Arial"/>
              </a:rPr>
              <a:t>The reasoning engine that reads and writes language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6084" y="1371600"/>
            <a:ext cx="3520440" cy="1344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36084" y="1371600"/>
            <a:ext cx="109728" cy="1344168"/>
          </a:xfrm>
          <a:prstGeom prst="rect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56124" y="1536192"/>
            <a:ext cx="306324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2200" b="1">
                <a:solidFill>
                  <a:srgbClr val="002B55"/>
                </a:solidFill>
                <a:latin typeface="Bahnschrift"/>
              </a:rPr>
              <a:t>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56124" y="2011680"/>
            <a:ext cx="3063240" cy="6400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300" b="0">
                <a:solidFill>
                  <a:srgbClr val="28455F"/>
                </a:solidFill>
                <a:latin typeface="Arial"/>
              </a:rPr>
              <a:t>A model pursuing a goal through tools and feedback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2264" y="1371600"/>
            <a:ext cx="3520440" cy="1344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62264" y="1371600"/>
            <a:ext cx="109728" cy="1344168"/>
          </a:xfrm>
          <a:prstGeom prst="rect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82304" y="1536192"/>
            <a:ext cx="306324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2200" b="1">
                <a:solidFill>
                  <a:srgbClr val="002B55"/>
                </a:solidFill>
                <a:latin typeface="Bahnschrift"/>
              </a:rPr>
              <a:t>Harness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304" y="2011680"/>
            <a:ext cx="3063240" cy="6400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300" b="0">
                <a:solidFill>
                  <a:srgbClr val="28455F"/>
                </a:solidFill>
                <a:latin typeface="Arial"/>
              </a:rPr>
              <a:t>The environment that manages tools, state, permissions and checks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904" y="2898648"/>
            <a:ext cx="3520440" cy="1344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9904" y="2898648"/>
            <a:ext cx="109728" cy="1344168"/>
          </a:xfrm>
          <a:prstGeom prst="rect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9944" y="3063240"/>
            <a:ext cx="306324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2200" b="1">
                <a:solidFill>
                  <a:srgbClr val="007879"/>
                </a:solidFill>
                <a:latin typeface="Bahnschrift"/>
              </a:rPr>
              <a:t>Context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944" y="3538728"/>
            <a:ext cx="3063240" cy="6400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300" b="0">
                <a:solidFill>
                  <a:srgbClr val="28455F"/>
                </a:solidFill>
                <a:latin typeface="Arial"/>
              </a:rPr>
              <a:t>Everything the model can see for this step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36084" y="2898648"/>
            <a:ext cx="3520440" cy="1344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36084" y="2898648"/>
            <a:ext cx="109728" cy="1344168"/>
          </a:xfrm>
          <a:prstGeom prst="rect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56124" y="3063240"/>
            <a:ext cx="306324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2200" b="1">
                <a:solidFill>
                  <a:srgbClr val="007879"/>
                </a:solidFill>
                <a:latin typeface="Bahnschrift"/>
              </a:rPr>
              <a:t>Memory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56124" y="3538728"/>
            <a:ext cx="3063240" cy="6400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300" b="0">
                <a:solidFill>
                  <a:srgbClr val="28455F"/>
                </a:solidFill>
                <a:latin typeface="Arial"/>
              </a:rPr>
              <a:t>Saved information and progress across steps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62264" y="2898648"/>
            <a:ext cx="3520440" cy="1344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062264" y="2898648"/>
            <a:ext cx="109728" cy="1344168"/>
          </a:xfrm>
          <a:prstGeom prst="rect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82304" y="3063240"/>
            <a:ext cx="306324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2200" b="1">
                <a:solidFill>
                  <a:srgbClr val="007879"/>
                </a:solidFill>
                <a:latin typeface="Bahnschrift"/>
              </a:rPr>
              <a:t>Skills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304" y="3538728"/>
            <a:ext cx="3063240" cy="6400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300" b="0">
                <a:solidFill>
                  <a:srgbClr val="28455F"/>
                </a:solidFill>
                <a:latin typeface="Arial"/>
              </a:rPr>
              <a:t>Reusable instructions for a type of work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09904" y="4425696"/>
            <a:ext cx="3520440" cy="1344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09904" y="4425696"/>
            <a:ext cx="109728" cy="1344168"/>
          </a:xfrm>
          <a:prstGeom prst="rect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9944" y="4590288"/>
            <a:ext cx="306324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2200" b="1">
                <a:solidFill>
                  <a:srgbClr val="F47735"/>
                </a:solidFill>
                <a:latin typeface="Bahnschrift"/>
              </a:rPr>
              <a:t>Tools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944" y="5065776"/>
            <a:ext cx="3063240" cy="6400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300" b="0">
                <a:solidFill>
                  <a:srgbClr val="28455F"/>
                </a:solidFill>
                <a:latin typeface="Arial"/>
              </a:rPr>
              <a:t>Permitted ways to reach a source or take an action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36084" y="4425696"/>
            <a:ext cx="3520440" cy="1344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36084" y="4425696"/>
            <a:ext cx="109728" cy="1344168"/>
          </a:xfrm>
          <a:prstGeom prst="rect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56124" y="4590288"/>
            <a:ext cx="306324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2200" b="1">
                <a:solidFill>
                  <a:srgbClr val="F47735"/>
                </a:solidFill>
                <a:latin typeface="Bahnschrift"/>
              </a:rPr>
              <a:t>Swarm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56124" y="5065776"/>
            <a:ext cx="3063240" cy="6400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300" b="0">
                <a:solidFill>
                  <a:srgbClr val="28455F"/>
                </a:solidFill>
                <a:latin typeface="Arial"/>
              </a:rPr>
              <a:t>Several specialists coordinated around one outcome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62264" y="4425696"/>
            <a:ext cx="3520440" cy="13441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62264" y="4425696"/>
            <a:ext cx="109728" cy="1344168"/>
          </a:xfrm>
          <a:prstGeom prst="rect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82304" y="4590288"/>
            <a:ext cx="306324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2200" b="1">
                <a:solidFill>
                  <a:srgbClr val="F47735"/>
                </a:solidFill>
                <a:latin typeface="Bahnschrift"/>
              </a:rPr>
              <a:t>Long horizon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82304" y="5065776"/>
            <a:ext cx="3063240" cy="6400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300" b="0">
                <a:solidFill>
                  <a:srgbClr val="28455F"/>
                </a:solidFill>
                <a:latin typeface="Arial"/>
              </a:rPr>
              <a:t>Work that runs across many steps and hours</a:t>
            </a:r>
          </a:p>
        </p:txBody>
      </p:sp>
    </p:spTree>
    <p:extLst>
      <p:ext uri="{BB962C8B-B14F-4D97-AF65-F5344CB8AC3E}">
        <p14:creationId xmlns:p14="http://schemas.microsoft.com/office/powerpoint/2010/main" val="1005100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053DC41-0FDF-4237-8CC6-1B375DBF13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22" name="Label panel 3"/>
          <p:cNvSpPr/>
          <p:nvPr/>
        </p:nvSpPr>
        <p:spPr>
          <a:xfrm>
            <a:off x="7818120" y="4937760"/>
            <a:ext cx="3767328" cy="91440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12700">
            <a:solidFill>
              <a:srgbClr val="D9E3EA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321" name="Label panel 2"/>
          <p:cNvSpPr/>
          <p:nvPr/>
        </p:nvSpPr>
        <p:spPr>
          <a:xfrm>
            <a:off x="4206240" y="493776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12700">
            <a:solidFill>
              <a:srgbClr val="D9E3EA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320" name="Label panel 1"/>
          <p:cNvSpPr/>
          <p:nvPr/>
        </p:nvSpPr>
        <p:spPr>
          <a:xfrm>
            <a:off x="609905" y="493776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FFFDF8"/>
          </a:solidFill>
          <a:ln w="12700">
            <a:solidFill>
              <a:srgbClr val="D9E3EA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B8FF26-E715-405F-B42B-52D643D21D23}"/>
              </a:ext>
            </a:extLst>
          </p:cNvPr>
          <p:cNvSpPr>
            <a:spLocks noGrp="1"/>
          </p:cNvSpPr>
          <p:nvPr/>
        </p:nvSpPr>
        <p:spPr>
          <a:xfrm>
            <a:off x="3931920" y="411480"/>
            <a:ext cx="7653528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7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r"/>
            <a:r>
              <a:rPr sz="3600" b="1" lang="en-US" dirty="0">
                <a:solidFill>
                  <a:srgbClr val="002B55"/>
                </a:solidFill>
                <a:latin typeface="Bahnschrift"/>
              </a:rPr>
              <a:t>What is an AI agent?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0D9E9F-855C-427C-8106-1EBA770234E2}"/>
              </a:ext>
            </a:extLst>
          </p:cNvPr>
          <p:cNvSpPr>
            <a:spLocks noGrp="1"/>
          </p:cNvSpPr>
          <p:nvPr/>
        </p:nvSpPr>
        <p:spPr>
          <a:xfrm>
            <a:off x="792785" y="5001768"/>
            <a:ext cx="292608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1">
                <a:solidFill>
                  <a:srgbClr val="007879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800" b="1" lang="en-US" dirty="0">
                <a:solidFill>
                  <a:srgbClr val="007879"/>
                </a:solidFill>
                <a:latin typeface="Bahnschrift"/>
              </a:rPr>
              <a:t>HUMAN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6670C6-F984-42B9-BD74-DCFA4E09ED24}"/>
              </a:ext>
            </a:extLst>
          </p:cNvPr>
          <p:cNvSpPr>
            <a:spLocks noGrp="1"/>
          </p:cNvSpPr>
          <p:nvPr/>
        </p:nvSpPr>
        <p:spPr>
          <a:xfrm>
            <a:off x="792785" y="5367528"/>
            <a:ext cx="292608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en-US" dirty="0">
                <a:solidFill>
                  <a:srgbClr val="002B55"/>
                </a:solidFill>
                <a:latin typeface="Arial"/>
              </a:rPr>
              <a:t>Purpose · boundaries · review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261924-761F-42C3-A16B-9487314BFF7A}"/>
              </a:ext>
            </a:extLst>
          </p:cNvPr>
          <p:cNvSpPr>
            <a:spLocks noGrp="1"/>
          </p:cNvSpPr>
          <p:nvPr/>
        </p:nvSpPr>
        <p:spPr>
          <a:xfrm>
            <a:off x="4389120" y="5001768"/>
            <a:ext cx="292608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1">
                <a:solidFill>
                  <a:srgbClr val="F4773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800" b="1" lang="en-US" dirty="0">
                <a:solidFill>
                  <a:srgbClr val="F47735"/>
                </a:solidFill>
                <a:latin typeface="Bahnschrift"/>
              </a:rPr>
              <a:t>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F875AC-BF2E-40E2-817F-A74FFA3888F9}"/>
              </a:ext>
            </a:extLst>
          </p:cNvPr>
          <p:cNvSpPr>
            <a:spLocks noGrp="1"/>
          </p:cNvSpPr>
          <p:nvPr/>
        </p:nvSpPr>
        <p:spPr>
          <a:xfrm>
            <a:off x="4389120" y="5367528"/>
            <a:ext cx="292608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en-US" dirty="0">
                <a:solidFill>
                  <a:srgbClr val="002B55"/>
                </a:solidFill>
                <a:latin typeface="Arial"/>
              </a:rPr>
              <a:t>Reasoning + language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2B247A-3D04-47E7-892E-DBC725D4C21F}"/>
              </a:ext>
            </a:extLst>
          </p:cNvPr>
          <p:cNvSpPr>
            <a:spLocks noGrp="1"/>
          </p:cNvSpPr>
          <p:nvPr/>
        </p:nvSpPr>
        <p:spPr>
          <a:xfrm>
            <a:off x="8001000" y="5001768"/>
            <a:ext cx="3401568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1">
                <a:solidFill>
                  <a:srgbClr val="F4773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800" b="1" lang="en-US" dirty="0">
                <a:solidFill>
                  <a:srgbClr val="002B55"/>
                </a:solidFill>
                <a:latin typeface="Bahnschrift"/>
              </a:rPr>
              <a:t>HARNESS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61FB3D-D3D3-49B7-81A2-F46EE004E527}"/>
              </a:ext>
            </a:extLst>
          </p:cNvPr>
          <p:cNvSpPr>
            <a:spLocks noGrp="1"/>
          </p:cNvSpPr>
          <p:nvPr/>
        </p:nvSpPr>
        <p:spPr>
          <a:xfrm>
            <a:off x="8001000" y="5367528"/>
            <a:ext cx="3401568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950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en-US" dirty="0">
                <a:solidFill>
                  <a:srgbClr val="002B55"/>
                </a:solidFill>
                <a:latin typeface="Arial"/>
              </a:rPr>
              <a:t>Tools · memory · permissions · checks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815DF7-A1D6-4987-B86A-344C96D4D6E8}"/>
              </a:ext>
            </a:extLst>
          </p:cNvPr>
          <p:cNvSpPr>
            <a:spLocks noGrp="1"/>
          </p:cNvSpPr>
          <p:nvPr/>
        </p:nvSpPr>
        <p:spPr>
          <a:xfrm>
            <a:off x="609600" y="5943600"/>
            <a:ext cx="10972800" cy="4114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800" b="1" lang="en-US" dirty="0">
                <a:solidFill>
                  <a:srgbClr val="002B55"/>
                </a:solidFill>
                <a:latin typeface="Bahnschrift"/>
              </a:rPr>
              <a:t>An agent = a model + a harness + human direction, working on a real job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492D2D-6226-4304-9BD1-D4B2919F000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3D507A-FB5D-4878-B1FB-51A01C53C092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56914C-E69B-4A26-9EE5-5D37F9E3EC0B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34135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9BBA57C-CC59-4D2D-8E02-F648D0BC76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000" b="24000"/>
          <a:stretch>
            <a:fillRect/>
          </a:stretch>
        </p:blipFill>
        <p:spPr>
          <a:xfrm>
            <a:off x="0" y="1188720"/>
            <a:ext cx="12191695" cy="3520440"/>
          </a:xfrm>
          <a:prstGeom prst="rect">
            <a:avLst/>
          </a:prstGeom>
        </p:spPr>
      </p:pic>
      <p:sp>
        <p:nvSpPr>
          <p:cNvPr id="330" name="Context highlight"/>
          <p:cNvSpPr/>
          <p:nvPr/>
        </p:nvSpPr>
        <p:spPr>
          <a:xfrm>
            <a:off x="4224528" y="4828032"/>
            <a:ext cx="3749040" cy="1481328"/>
          </a:xfrm>
          <a:prstGeom prst="roundRect">
            <a:avLst>
              <a:gd name="adj" fmla="val 12000"/>
            </a:avLst>
          </a:prstGeom>
          <a:solidFill>
            <a:srgbClr val="FDEBE1"/>
          </a:solidFill>
          <a:ln w="12700">
            <a:solidFill>
              <a:srgbClr val="F6B894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D1C776-1041-46B1-810F-3426DCD7B7DD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000" b="1" lang="en-US" dirty="0">
                <a:solidFill>
                  <a:srgbClr val="002B55"/>
                </a:solidFill>
                <a:latin typeface="Bahnschrift"/>
              </a:rPr>
              <a:t>Context is the secret sauce, and Medical Affairs holds 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612BB6-662E-4A1A-B635-66E8B53FB527}"/>
              </a:ext>
            </a:extLst>
          </p:cNvPr>
          <p:cNvSpPr>
            <a:spLocks noGrp="1"/>
          </p:cNvSpPr>
          <p:nvPr/>
        </p:nvSpPr>
        <p:spPr>
          <a:xfrm>
            <a:off x="609905" y="4919472"/>
            <a:ext cx="338328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2600" b="1" lang="en-US" dirty="0">
                <a:solidFill>
                  <a:srgbClr val="002B55"/>
                </a:solidFill>
                <a:latin typeface="Bahnschrift"/>
              </a:rPr>
              <a:t>Prompt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093677-D826-411A-83F2-8D960EF06B7D}"/>
              </a:ext>
            </a:extLst>
          </p:cNvPr>
          <p:cNvSpPr>
            <a:spLocks noGrp="1"/>
          </p:cNvSpPr>
          <p:nvPr/>
        </p:nvSpPr>
        <p:spPr>
          <a:xfrm>
            <a:off x="609905" y="5394960"/>
            <a:ext cx="338328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1">
                <a:solidFill>
                  <a:srgbClr val="007879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600" b="1" lang="en-US" dirty="0">
                <a:solidFill>
                  <a:srgbClr val="007879"/>
                </a:solidFill>
                <a:latin typeface="Bahnschrift"/>
              </a:rPr>
              <a:t>How you ask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8D6F4B-2C43-4C46-81B2-67A3B7873ABE}"/>
              </a:ext>
            </a:extLst>
          </p:cNvPr>
          <p:cNvSpPr>
            <a:spLocks noGrp="1"/>
          </p:cNvSpPr>
          <p:nvPr/>
        </p:nvSpPr>
        <p:spPr>
          <a:xfrm>
            <a:off x="609905" y="5760720"/>
            <a:ext cx="338328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en-US" dirty="0">
                <a:solidFill>
                  <a:srgbClr val="002B55"/>
                </a:solidFill>
                <a:latin typeface="Arial"/>
              </a:rPr>
              <a:t>Instructions + output format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992BC0-9441-4D2C-B736-2CC915CA2224}"/>
              </a:ext>
            </a:extLst>
          </p:cNvPr>
          <p:cNvSpPr>
            <a:spLocks noGrp="1"/>
          </p:cNvSpPr>
          <p:nvPr/>
        </p:nvSpPr>
        <p:spPr>
          <a:xfrm>
            <a:off x="4419295" y="4919472"/>
            <a:ext cx="338328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2600" b="1" lang="en-US" dirty="0">
                <a:solidFill>
                  <a:srgbClr val="F47735"/>
                </a:solidFill>
                <a:latin typeface="Bahnschrift"/>
              </a:rPr>
              <a:t>Context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949373-FDB8-4E2F-AE97-D748F70955D1}"/>
              </a:ext>
            </a:extLst>
          </p:cNvPr>
          <p:cNvSpPr>
            <a:spLocks noGrp="1"/>
          </p:cNvSpPr>
          <p:nvPr/>
        </p:nvSpPr>
        <p:spPr>
          <a:xfrm>
            <a:off x="4419295" y="5394960"/>
            <a:ext cx="338328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1">
                <a:solidFill>
                  <a:srgbClr val="007879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600" b="1" lang="en-US" dirty="0">
                <a:solidFill>
                  <a:srgbClr val="007879"/>
                </a:solidFill>
                <a:latin typeface="Bahnschrift"/>
              </a:rPr>
              <a:t>What it can see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F9B8D3-B080-45ED-BD06-BD0D1F910D6F}"/>
              </a:ext>
            </a:extLst>
          </p:cNvPr>
          <p:cNvSpPr>
            <a:spLocks noGrp="1"/>
          </p:cNvSpPr>
          <p:nvPr/>
        </p:nvSpPr>
        <p:spPr>
          <a:xfrm>
            <a:off x="4389120" y="5760720"/>
            <a:ext cx="347472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1" lang="en-US" dirty="0">
                <a:solidFill>
                  <a:srgbClr val="B4501F"/>
                </a:solidFill>
                <a:latin typeface="Arial"/>
              </a:rPr>
              <a:t>Held by Medical Affairs: </a:t>
            </a:r>
            <a:r>
              <a:rPr sz="1400" b="0" lang="en-US" dirty="0">
                <a:solidFill>
                  <a:srgbClr val="002B55"/>
                </a:solidFill>
                <a:latin typeface="Arial"/>
              </a:rPr>
              <a:t>evidence, house rules, past decisions, field insight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140DAB-4ADD-4B0C-AEAC-B3E8DDE69697}"/>
              </a:ext>
            </a:extLst>
          </p:cNvPr>
          <p:cNvSpPr>
            <a:spLocks noGrp="1"/>
          </p:cNvSpPr>
          <p:nvPr/>
        </p:nvSpPr>
        <p:spPr>
          <a:xfrm>
            <a:off x="8229600" y="4919472"/>
            <a:ext cx="338328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75" b="1">
                <a:solidFill>
                  <a:srgbClr val="F4773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2600" b="1" lang="en-US" dirty="0">
                <a:solidFill>
                  <a:srgbClr val="002B55"/>
                </a:solidFill>
                <a:latin typeface="Bahnschrift"/>
              </a:rPr>
              <a:t>Harness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94925E-FA1F-4C98-8F34-A6990DB04DD4}"/>
              </a:ext>
            </a:extLst>
          </p:cNvPr>
          <p:cNvSpPr>
            <a:spLocks noGrp="1"/>
          </p:cNvSpPr>
          <p:nvPr/>
        </p:nvSpPr>
        <p:spPr>
          <a:xfrm>
            <a:off x="8229600" y="5394960"/>
            <a:ext cx="3383280" cy="365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025" b="1">
                <a:solidFill>
                  <a:srgbClr val="007879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600" b="1" lang="en-US" dirty="0">
                <a:solidFill>
                  <a:srgbClr val="007879"/>
                </a:solidFill>
                <a:latin typeface="Bahnschrift"/>
              </a:rPr>
              <a:t>How the work runs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D660DB-9C5E-4BC6-9231-29E70567E8E2}"/>
              </a:ext>
            </a:extLst>
          </p:cNvPr>
          <p:cNvSpPr>
            <a:spLocks noGrp="1"/>
          </p:cNvSpPr>
          <p:nvPr/>
        </p:nvSpPr>
        <p:spPr>
          <a:xfrm>
            <a:off x="8229600" y="5760720"/>
            <a:ext cx="338328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500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en-US" dirty="0">
                <a:solidFill>
                  <a:srgbClr val="002B55"/>
                </a:solidFill>
                <a:latin typeface="Arial"/>
              </a:rPr>
              <a:t>Tools + permissions + checkpoints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0C5BA60-4E8D-4342-AB69-251A25F0C43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0AC861-ABBD-4F60-A309-553C2794260E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6712A0-7BC6-40BE-A579-EC03C313ADDC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69655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anel 1"/>
          <p:cNvSpPr/>
          <p:nvPr/>
        </p:nvSpPr>
        <p:spPr>
          <a:xfrm>
            <a:off x="609905" y="1280160"/>
            <a:ext cx="3657600" cy="4526280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341" name="Panel 2"/>
          <p:cNvSpPr/>
          <p:nvPr/>
        </p:nvSpPr>
        <p:spPr>
          <a:xfrm>
            <a:off x="4663440" y="1280160"/>
            <a:ext cx="2971800" cy="4526280"/>
          </a:xfrm>
          <a:prstGeom prst="roundRect">
            <a:avLst>
              <a:gd name="adj" fmla="val 12000"/>
            </a:avLst>
          </a:prstGeom>
          <a:solidFill>
            <a:srgbClr val="E3F1F1"/>
          </a:solidFill>
          <a:ln w="12700">
            <a:solidFill>
              <a:srgbClr val="B9DADA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342" name="Panel 3"/>
          <p:cNvSpPr/>
          <p:nvPr/>
        </p:nvSpPr>
        <p:spPr>
          <a:xfrm>
            <a:off x="8028432" y="1280160"/>
            <a:ext cx="3557016" cy="4526280"/>
          </a:xfrm>
          <a:prstGeom prst="roundRect">
            <a:avLst>
              <a:gd name="adj" fmla="val 12000"/>
            </a:avLst>
          </a:prstGeom>
          <a:solidFill>
            <a:srgbClr val="FDEEE6"/>
          </a:solidFill>
          <a:ln w="12700">
            <a:solidFill>
              <a:srgbClr val="F6C9AE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345" name="Abstracted frame"/>
          <p:cNvSpPr/>
          <p:nvPr/>
        </p:nvSpPr>
        <p:spPr>
          <a:xfrm>
            <a:off x="4800600" y="1828800"/>
            <a:ext cx="2697480" cy="2743200"/>
          </a:xfrm>
          <a:prstGeom prst="roundRect">
            <a:avLst>
              <a:gd name="adj" fmla="val 12000"/>
            </a:avLst>
          </a:prstGeom>
          <a:noFill/>
          <a:ln w="15875">
            <a:solidFill>
              <a:srgbClr val="007879"/>
            </a:solidFill>
            <a:prstDash val="dash"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F16222-F298-4DBF-A5A4-A074CAFE76C6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From the data we own to meaningful 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6AC42A-7A39-44DE-A55F-2A5E5780569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C25649-A024-4846-87ED-09FC6D1DD448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99E036-F0FC-453A-AB9F-17636A086A07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785" y="1389888"/>
            <a:ext cx="3291840" cy="3657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600" b="1" lang="en-US" dirty="0">
                <a:solidFill>
                  <a:srgbClr val="002B55"/>
                </a:solidFill>
                <a:latin typeface="Bahnschrift"/>
              </a:rPr>
              <a:t>1 · THE DATA WE 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1389888"/>
            <a:ext cx="2606040" cy="3657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600" b="1" lang="en-US" dirty="0">
                <a:solidFill>
                  <a:srgbClr val="007879"/>
                </a:solidFill>
                <a:latin typeface="Bahnschrift"/>
              </a:rPr>
              <a:t>2 · THE MIDDLE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1389888"/>
            <a:ext cx="3191256" cy="3657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600" b="1" lang="en-US" dirty="0">
                <a:solidFill>
                  <a:srgbClr val="B4501F"/>
                </a:solidFill>
                <a:latin typeface="Bahnschrift"/>
              </a:rPr>
              <a:t>3 · MEANINGFUL ACTION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438704" y="2148839"/>
            <a:ext cx="0" cy="1600200"/>
          </a:xfrm>
          <a:prstGeom prst="line">
            <a:avLst/>
          </a:prstGeom>
          <a:ln w="15875">
            <a:solidFill>
              <a:srgbClr val="A9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438704" y="2454451"/>
            <a:ext cx="725586" cy="1294588"/>
          </a:xfrm>
          <a:prstGeom prst="line">
            <a:avLst/>
          </a:prstGeom>
          <a:ln w="15875">
            <a:solidFill>
              <a:srgbClr val="A9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438704" y="3254551"/>
            <a:ext cx="1174023" cy="494488"/>
          </a:xfrm>
          <a:prstGeom prst="line">
            <a:avLst/>
          </a:prstGeom>
          <a:ln w="15875">
            <a:solidFill>
              <a:srgbClr val="A9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38704" y="3749039"/>
            <a:ext cx="1174023" cy="494489"/>
          </a:xfrm>
          <a:prstGeom prst="line">
            <a:avLst/>
          </a:prstGeom>
          <a:ln w="15875">
            <a:solidFill>
              <a:srgbClr val="A9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38704" y="3749039"/>
            <a:ext cx="725586" cy="1294589"/>
          </a:xfrm>
          <a:prstGeom prst="line">
            <a:avLst/>
          </a:prstGeom>
          <a:ln w="15875">
            <a:solidFill>
              <a:srgbClr val="A9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438704" y="3749039"/>
            <a:ext cx="0" cy="1600201"/>
          </a:xfrm>
          <a:prstGeom prst="line">
            <a:avLst/>
          </a:prstGeom>
          <a:ln w="15875">
            <a:solidFill>
              <a:srgbClr val="A9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713119" y="3749039"/>
            <a:ext cx="725585" cy="1294589"/>
          </a:xfrm>
          <a:prstGeom prst="line">
            <a:avLst/>
          </a:prstGeom>
          <a:ln w="15875">
            <a:solidFill>
              <a:srgbClr val="A9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264682" y="3749039"/>
            <a:ext cx="1174022" cy="494489"/>
          </a:xfrm>
          <a:prstGeom prst="line">
            <a:avLst/>
          </a:prstGeom>
          <a:ln w="15875">
            <a:solidFill>
              <a:srgbClr val="A9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 flipV="1">
            <a:off x="1264682" y="3254551"/>
            <a:ext cx="1174022" cy="494488"/>
          </a:xfrm>
          <a:prstGeom prst="line">
            <a:avLst/>
          </a:prstGeom>
          <a:ln w="15875">
            <a:solidFill>
              <a:srgbClr val="A9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713119" y="2454451"/>
            <a:ext cx="725585" cy="1294588"/>
          </a:xfrm>
          <a:prstGeom prst="line">
            <a:avLst/>
          </a:prstGeom>
          <a:ln w="15875">
            <a:solidFill>
              <a:srgbClr val="A9C6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862632" y="1828800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HCP &amp; KOL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88218" y="2262427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3FA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Congress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36655" y="3062527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Publications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36655" y="4051504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3FA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MI enquiries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588218" y="4851604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Ad boards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862632" y="5340096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3FA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Field insights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37047" y="4851604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RWE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8610" y="4051504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3FA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Guidelines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8610" y="3062527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Safety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37047" y="2262427"/>
            <a:ext cx="1152144" cy="384048"/>
          </a:xfrm>
          <a:prstGeom prst="roundRect">
            <a:avLst>
              <a:gd name="adj" fmla="val 50000"/>
            </a:avLst>
          </a:prstGeom>
          <a:solidFill>
            <a:srgbClr val="3FA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Trial data</a:t>
            </a:r>
          </a:p>
        </p:txBody>
      </p:sp>
      <p:sp>
        <p:nvSpPr>
          <p:cNvPr id="41" name="Oval 40"/>
          <p:cNvSpPr/>
          <p:nvPr/>
        </p:nvSpPr>
        <p:spPr>
          <a:xfrm>
            <a:off x="1890064" y="3200399"/>
            <a:ext cx="1097280" cy="1097280"/>
          </a:xfrm>
          <a:prstGeom prst="ellipse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lang="en-US" dirty="0">
                <a:solidFill>
                  <a:srgbClr val="FFFFFF"/>
                </a:solidFill>
                <a:latin typeface="Bahnschrift"/>
              </a:rPr>
              <a:t>Medical</a:t>
            </a:r>
          </a:p>
          <a:p>
            <a:pPr algn="ctr"/>
            <a:r>
              <a:rPr sz="1300" b="1" lang="en-US" dirty="0">
                <a:solidFill>
                  <a:srgbClr val="FFFFFF"/>
                </a:solidFill>
                <a:latin typeface="Bahnschrift"/>
              </a:rPr>
              <a:t>Affairs</a:t>
            </a:r>
          </a:p>
          <a:p>
            <a:pPr algn="ctr"/>
            <a:r>
              <a:rPr sz="1300" b="1" lang="en-US" dirty="0">
                <a:solidFill>
                  <a:srgbClr val="FFFFFF"/>
                </a:solidFill>
                <a:latin typeface="Bahnschrift"/>
              </a:rPr>
              <a:t>context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37760" y="1920240"/>
            <a:ext cx="2423160" cy="384048"/>
          </a:xfrm>
          <a:prstGeom prst="roundRect">
            <a:avLst>
              <a:gd name="adj" fmla="val 10000"/>
            </a:avLst>
          </a:prstGeom>
          <a:solidFill>
            <a:srgbClr val="007879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 lang="en-US" dirty="0">
                <a:solidFill>
                  <a:srgbClr val="FFFFFF"/>
                </a:solidFill>
                <a:latin typeface="Arial"/>
              </a:rPr>
              <a:t>Access &amp; governance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37760" y="2350008"/>
            <a:ext cx="2423160" cy="384048"/>
          </a:xfrm>
          <a:prstGeom prst="roundRect">
            <a:avLst>
              <a:gd name="adj" fmla="val 10000"/>
            </a:avLst>
          </a:prstGeom>
          <a:solidFill>
            <a:srgbClr val="007879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 lang="en-US" dirty="0">
                <a:solidFill>
                  <a:srgbClr val="FFFFFF"/>
                </a:solidFill>
                <a:latin typeface="Arial"/>
              </a:rPr>
              <a:t>Retrieval &amp; search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37760" y="2779776"/>
            <a:ext cx="2423160" cy="384048"/>
          </a:xfrm>
          <a:prstGeom prst="roundRect">
            <a:avLst>
              <a:gd name="adj" fmla="val 10000"/>
            </a:avLst>
          </a:prstGeom>
          <a:solidFill>
            <a:srgbClr val="007879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 lang="en-US" dirty="0">
                <a:solidFill>
                  <a:srgbClr val="FFFFFF"/>
                </a:solidFill>
                <a:latin typeface="Arial"/>
              </a:rPr>
              <a:t>Skills &amp; instructions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37760" y="3209544"/>
            <a:ext cx="2423160" cy="384048"/>
          </a:xfrm>
          <a:prstGeom prst="roundRect">
            <a:avLst>
              <a:gd name="adj" fmla="val 10000"/>
            </a:avLst>
          </a:prstGeom>
          <a:solidFill>
            <a:srgbClr val="007879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 lang="en-US" dirty="0">
                <a:solidFill>
                  <a:srgbClr val="FFFFFF"/>
                </a:solidFill>
                <a:latin typeface="Arial"/>
              </a:rPr>
              <a:t>Guardrails &amp; review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37760" y="3639312"/>
            <a:ext cx="2423160" cy="384048"/>
          </a:xfrm>
          <a:prstGeom prst="roundRect">
            <a:avLst>
              <a:gd name="adj" fmla="val 10000"/>
            </a:avLst>
          </a:prstGeom>
          <a:solidFill>
            <a:srgbClr val="007879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 lang="en-US" dirty="0">
                <a:solidFill>
                  <a:srgbClr val="FFFFFF"/>
                </a:solidFill>
                <a:latin typeface="Arial"/>
              </a:rPr>
              <a:t>Orchestration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087368"/>
            <a:ext cx="2606040" cy="438912"/>
          </a:xfrm>
          <a:prstGeom prst="rect">
            <a:avLst/>
          </a:prstGeom>
          <a:noFill/>
        </p:spPr>
        <p:txBody>
          <a:bodyPr wrap="square" lIns="18288" rIns="18288" tIns="10972" bIns="10972" anchor="t">
            </a:bodyPr>
          <a:lstStyle/>
          <a:p>
            <a:pPr algn="ctr"/>
            <a:r>
              <a:rPr sz="1200" b="1" lang="en-US" dirty="0">
                <a:solidFill>
                  <a:srgbClr val="007879"/>
                </a:solidFill>
                <a:latin typeface="Arial"/>
              </a:rPr>
              <a:t>Largely abstracted away</a:t>
            </a:r>
          </a:p>
          <a:p>
            <a:pPr algn="ctr"/>
            <a:r>
              <a:rPr sz="1200" b="1" lang="en-US" dirty="0">
                <a:solidFill>
                  <a:srgbClr val="007879"/>
                </a:solidFill>
                <a:latin typeface="Arial"/>
              </a:rPr>
              <a:t>by the tools</a:t>
            </a:r>
          </a:p>
        </p:txBody>
      </p:sp>
      <p:sp>
        <p:nvSpPr>
          <p:cNvPr id="48" name="Chevron 47"/>
          <p:cNvSpPr/>
          <p:nvPr/>
        </p:nvSpPr>
        <p:spPr>
          <a:xfrm>
            <a:off x="4306824" y="3108960"/>
            <a:ext cx="310896" cy="914400"/>
          </a:xfrm>
          <a:prstGeom prst="chevron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49" name="Chevron 48"/>
          <p:cNvSpPr/>
          <p:nvPr/>
        </p:nvSpPr>
        <p:spPr>
          <a:xfrm>
            <a:off x="7671816" y="3108960"/>
            <a:ext cx="310896" cy="914400"/>
          </a:xfrm>
          <a:prstGeom prst="chevron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165592" y="1920240"/>
            <a:ext cx="160020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6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2B55"/>
                </a:solidFill>
                <a:latin typeface="Arial"/>
              </a:rPr>
              <a:t>MI response drafts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838944" y="1920240"/>
            <a:ext cx="160020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6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2B55"/>
                </a:solidFill>
                <a:latin typeface="Arial"/>
              </a:rPr>
              <a:t>Publication plans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65592" y="2816352"/>
            <a:ext cx="160020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6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2B55"/>
                </a:solidFill>
                <a:latin typeface="Arial"/>
              </a:rPr>
              <a:t>Congress intelligence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838944" y="2816352"/>
            <a:ext cx="160020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6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2B55"/>
                </a:solidFill>
                <a:latin typeface="Arial"/>
              </a:rPr>
              <a:t>Insight synthesis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65592" y="3712464"/>
            <a:ext cx="160020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6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2B55"/>
                </a:solidFill>
                <a:latin typeface="Arial"/>
              </a:rPr>
              <a:t>Ad-board packages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38944" y="3712464"/>
            <a:ext cx="160020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6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2B55"/>
                </a:solidFill>
                <a:latin typeface="Arial"/>
              </a:rPr>
              <a:t>Field briefings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65592" y="4608576"/>
            <a:ext cx="160020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6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2B55"/>
                </a:solidFill>
                <a:latin typeface="Arial"/>
              </a:rPr>
              <a:t>Launch readiness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38944" y="4608576"/>
            <a:ext cx="1600200" cy="7680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6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002B55"/>
                </a:solidFill>
                <a:latin typeface="Arial"/>
              </a:rPr>
              <a:t>Evidence gap maps</a:t>
            </a:r>
          </a:p>
        </p:txBody>
      </p:sp>
      <p:sp>
        <p:nvSpPr>
          <p:cNvPr id="346" name="Integration box"/>
          <p:cNvSpPr/>
          <p:nvPr/>
        </p:nvSpPr>
        <p:spPr>
          <a:xfrm>
            <a:off x="4800600" y="4681728"/>
            <a:ext cx="269748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47735"/>
            </a:solidFill>
          </a:ln>
        </p:spPr>
        <p:txBody>
          <a:bodyPr wrap="square" lIns="73152" rIns="73152" tIns="73152" bIns="73152" anchor="ctr" rtlCol="0"/>
          <a:lstStyle/>
          <a:p>
            <a:pPr algn="ctr"/>
            <a:r>
              <a:rPr sz="1300" b="1" lang="en-US" dirty="0">
                <a:solidFill>
                  <a:srgbClr val="B4501F"/>
                </a:solidFill>
                <a:latin typeface="Bahnschrift"/>
              </a:rPr>
              <a:t>At scale: proper integration</a:t>
            </a:r>
          </a:p>
          <a:p>
            <a:pPr algn="ctr"/>
            <a:r>
              <a:rPr sz="1150" b="0" lang="en-US" dirty="0">
                <a:solidFill>
                  <a:srgbClr val="002B55"/>
                </a:solidFill>
                <a:latin typeface="Arial"/>
              </a:rPr>
              <a:t>identity, data access, validation, audit; the tools unlock it fast</a:t>
            </a:r>
          </a:p>
        </p:txBody>
      </p:sp>
      <p:sp>
        <p:nvSpPr>
          <p:cNvPr id="347" name="Panel3 caption"/>
          <p:cNvSpPr/>
          <p:nvPr/>
        </p:nvSpPr>
        <p:spPr>
          <a:xfrm>
            <a:off x="8165592" y="5486400"/>
            <a:ext cx="329184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150" b="1" lang="en-US" dirty="0">
                <a:solidFill>
                  <a:srgbClr val="B4501F"/>
                </a:solidFill>
                <a:latin typeface="Arial"/>
              </a:rPr>
              <a:t>Insights become decisions and deliverables</a:t>
            </a:r>
          </a:p>
        </p:txBody>
      </p:sp>
      <p:sp>
        <p:nvSpPr>
          <p:cNvPr id="348" name="Takeaway"/>
          <p:cNvSpPr/>
          <p:nvPr/>
        </p:nvSpPr>
        <p:spPr>
          <a:xfrm>
            <a:off x="609905" y="5897880"/>
            <a:ext cx="10972800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700" b="1" lang="en-US" dirty="0">
                <a:solidFill>
                  <a:srgbClr val="002B55"/>
                </a:solidFill>
                <a:latin typeface="Bahnschrift"/>
              </a:rPr>
              <a:t>We own both ends: the context going in and the judgment on what comes out.</a:t>
            </a:r>
          </a:p>
        </p:txBody>
      </p:sp>
    </p:spTree>
    <p:extLst>
      <p:ext uri="{BB962C8B-B14F-4D97-AF65-F5344CB8AC3E}">
        <p14:creationId xmlns:p14="http://schemas.microsoft.com/office/powerpoint/2010/main" val="35536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5D1B9F-358E-46F7-887D-95B3B94E1F54}"/>
              </a:ext>
            </a:extLst>
          </p:cNvPr>
          <p:cNvSpPr>
            <a:spLocks noGrp="1"/>
          </p:cNvSpPr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7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37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The middle is being abstracted away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07EED6-ECC8-4C01-870E-0702A6E3849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1B6662-8B31-4A43-AA57-0B4F709E32F4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56D22C-28EC-49BA-A635-6267DA26DD68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22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904" y="1417320"/>
            <a:ext cx="6949440" cy="777240"/>
          </a:xfrm>
          <a:prstGeom prst="roundRect">
            <a:avLst>
              <a:gd name="adj" fmla="val 12000"/>
            </a:avLst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800" b="1">
                <a:solidFill>
                  <a:srgbClr val="FFFFFF"/>
                </a:solidFill>
                <a:latin typeface="Bahnschrift"/>
              </a:rPr>
              <a:t>Your Medical Affairs judgment +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7064" y="2331720"/>
            <a:ext cx="6675120" cy="548640"/>
          </a:xfrm>
          <a:prstGeom prst="roundRect">
            <a:avLst>
              <a:gd name="adj" fmla="val 10000"/>
            </a:avLst>
          </a:prstGeom>
          <a:solidFill>
            <a:srgbClr val="E3F1F0"/>
          </a:solidFill>
          <a:ln w="12700">
            <a:solidFill>
              <a:srgbClr val="3FA7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007879"/>
                </a:solidFill>
                <a:latin typeface="Arial"/>
              </a:rPr>
              <a:t>Orchestration &amp;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4224" y="2990087"/>
            <a:ext cx="6400800" cy="548640"/>
          </a:xfrm>
          <a:prstGeom prst="roundRect">
            <a:avLst>
              <a:gd name="adj" fmla="val 10000"/>
            </a:avLst>
          </a:prstGeom>
          <a:solidFill>
            <a:srgbClr val="E3F1F0"/>
          </a:solidFill>
          <a:ln w="12700">
            <a:solidFill>
              <a:srgbClr val="3FA7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007879"/>
                </a:solidFill>
                <a:latin typeface="Arial"/>
              </a:rPr>
              <a:t>Retrieval &amp; connectors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384" y="3648456"/>
            <a:ext cx="6126479" cy="548640"/>
          </a:xfrm>
          <a:prstGeom prst="roundRect">
            <a:avLst>
              <a:gd name="adj" fmla="val 10000"/>
            </a:avLst>
          </a:prstGeom>
          <a:solidFill>
            <a:srgbClr val="E3F1F0"/>
          </a:solidFill>
          <a:ln w="12700">
            <a:solidFill>
              <a:srgbClr val="3FA7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007879"/>
                </a:solidFill>
                <a:latin typeface="Arial"/>
              </a:rPr>
              <a:t>Memory &amp; state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58544" y="4306824"/>
            <a:ext cx="5852159" cy="548640"/>
          </a:xfrm>
          <a:prstGeom prst="roundRect">
            <a:avLst>
              <a:gd name="adj" fmla="val 10000"/>
            </a:avLst>
          </a:prstGeom>
          <a:solidFill>
            <a:srgbClr val="E3F1F0"/>
          </a:solidFill>
          <a:ln w="12700">
            <a:solidFill>
              <a:srgbClr val="3FA7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007879"/>
                </a:solidFill>
                <a:latin typeface="Arial"/>
              </a:rPr>
              <a:t>Model hosting &amp; scaling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4" y="5029200"/>
            <a:ext cx="6949440" cy="777240"/>
          </a:xfrm>
          <a:prstGeom prst="roundRect">
            <a:avLst>
              <a:gd name="adj" fmla="val 12000"/>
            </a:avLst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600" b="1">
                <a:solidFill>
                  <a:srgbClr val="FFFFFF"/>
                </a:solidFill>
                <a:latin typeface="Bahnschrift"/>
              </a:rPr>
              <a:t>Enterprise integration: identity, data access, validation, audit</a:t>
            </a:r>
          </a:p>
        </p:txBody>
      </p:sp>
      <p:sp>
        <p:nvSpPr>
          <p:cNvPr id="19" name="Right Brace 18"/>
          <p:cNvSpPr/>
          <p:nvPr/>
        </p:nvSpPr>
        <p:spPr>
          <a:xfrm>
            <a:off x="7726679" y="2331720"/>
            <a:ext cx="292608" cy="2542032"/>
          </a:xfrm>
          <a:prstGeom prst="rightBrace">
            <a:avLst/>
          </a:prstGeom>
          <a:noFill/>
          <a:ln w="25400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1508760"/>
            <a:ext cx="3383280" cy="7315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2000" b="1">
                <a:solidFill>
                  <a:srgbClr val="F47735"/>
                </a:solidFill>
                <a:latin typeface="Bahnschrift"/>
              </a:rPr>
              <a:t>Stays with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880360"/>
            <a:ext cx="3383280" cy="146304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800" b="1" lang="en-US" dirty="0">
                <a:solidFill>
                  <a:srgbClr val="007879"/>
                </a:solidFill>
                <a:latin typeface="Bahnschrift"/>
              </a:rPr>
              <a:t>Now handled by the frontier agents</a:t>
            </a:r>
          </a:p>
          <a:p>
            <a:pPr algn="l"/>
            <a:r>
              <a:rPr sz="1400" b="0" lang="en-US" dirty="0">
                <a:solidFill>
                  <a:srgbClr val="28455F"/>
                </a:solidFill>
                <a:latin typeface="Arial"/>
              </a:rPr>
              <a:t>Capability unlocks fast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5029200"/>
            <a:ext cx="3383280" cy="8229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600" b="1" lang="en-US" dirty="0">
                <a:solidFill>
                  <a:srgbClr val="002B55"/>
                </a:solidFill>
                <a:latin typeface="Bahnschrift"/>
              </a:rPr>
              <a:t>Scale still needs proper integration</a:t>
            </a:r>
          </a:p>
          <a:p>
            <a:pPr algn="l"/>
            <a:r>
              <a:rPr sz="1400" b="0" lang="en-US" dirty="0">
                <a:solidFill>
                  <a:srgbClr val="28455F"/>
                </a:solidFill>
                <a:latin typeface="Arial"/>
              </a:rPr>
              <a:t>and the tools now unlock it quickly</a:t>
            </a:r>
          </a:p>
        </p:txBody>
      </p:sp>
    </p:spTree>
    <p:extLst>
      <p:ext uri="{BB962C8B-B14F-4D97-AF65-F5344CB8AC3E}">
        <p14:creationId xmlns:p14="http://schemas.microsoft.com/office/powerpoint/2010/main" val="2091189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66E4684-C475-4688-BDC7-10604CB0B9BF}"/>
              </a:ext>
            </a:extLst>
          </p:cNvPr>
          <p:cNvSpPr>
            <a:spLocks noGrp="1"/>
          </p:cNvSpPr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What makes it Medical Affairs: encoded judgment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1C06F2-C9A3-4983-8F7D-27B846F4B15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88244F-680F-4CEB-8D77-AE2690ED40B2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B3A26C-8E79-4232-831E-09C037F66BF0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23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371600" y="3200400"/>
            <a:ext cx="9418320" cy="0"/>
          </a:xfrm>
          <a:prstGeom prst="line">
            <a:avLst/>
          </a:prstGeom>
          <a:ln w="76200">
            <a:solidFill>
              <a:srgbClr val="C9D3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09904" y="2606040"/>
            <a:ext cx="1600200" cy="1188720"/>
          </a:xfrm>
          <a:prstGeom prst="roundRect">
            <a:avLst>
              <a:gd name="adj" fmla="val 12000"/>
            </a:avLst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28455F"/>
                </a:solidFill>
                <a:latin typeface="Arial"/>
              </a:rPr>
              <a:t>Generic answer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14600" y="1737360"/>
            <a:ext cx="1234440" cy="2926080"/>
          </a:xfrm>
          <a:prstGeom prst="roundRect">
            <a:avLst>
              <a:gd name="adj" fmla="val 8000"/>
            </a:avLst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FFFFFF"/>
                </a:solidFill>
                <a:latin typeface="Bahnschrift"/>
              </a:rPr>
              <a:t>Evidence 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800600"/>
            <a:ext cx="1371600" cy="8229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300" b="0">
                <a:solidFill>
                  <a:srgbClr val="28455F"/>
                </a:solidFill>
                <a:latin typeface="Arial"/>
              </a:rPr>
              <a:t>Claims trace to the strongest source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50208" y="1737360"/>
            <a:ext cx="1234440" cy="2926080"/>
          </a:xfrm>
          <a:prstGeom prst="roundRect">
            <a:avLst>
              <a:gd name="adj" fmla="val 8000"/>
            </a:avLst>
          </a:prstGeom>
          <a:solidFill>
            <a:srgbClr val="1D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FFFFFF"/>
                </a:solidFill>
                <a:latin typeface="Bahnschrift"/>
              </a:rPr>
              <a:t>Selected, not complete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04488" y="4800600"/>
            <a:ext cx="1371600" cy="8229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300" b="0">
                <a:solidFill>
                  <a:srgbClr val="28455F"/>
                </a:solidFill>
                <a:latin typeface="Arial"/>
              </a:rPr>
              <a:t>Prioritized for the decision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85816" y="1737360"/>
            <a:ext cx="1234440" cy="2926080"/>
          </a:xfrm>
          <a:prstGeom prst="roundRect">
            <a:avLst>
              <a:gd name="adj" fmla="val 8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FFFFFF"/>
                </a:solidFill>
                <a:latin typeface="Bahnschrift"/>
              </a:rPr>
              <a:t>Insight ≠ observation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0096" y="4800600"/>
            <a:ext cx="1371600" cy="8229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300" b="0">
                <a:solidFill>
                  <a:srgbClr val="28455F"/>
                </a:solidFill>
                <a:latin typeface="Arial"/>
              </a:rPr>
              <a:t>Separates what was seen from what it means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21424" y="1737360"/>
            <a:ext cx="1234440" cy="2926080"/>
          </a:xfrm>
          <a:prstGeom prst="roundRect">
            <a:avLst>
              <a:gd name="adj" fmla="val 8000"/>
            </a:avLst>
          </a:prstGeom>
          <a:solidFill>
            <a:srgbClr val="3FA7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FFFFFF"/>
                </a:solidFill>
                <a:latin typeface="Bahnschrift"/>
              </a:rPr>
              <a:t>Strategy linked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75704" y="4800600"/>
            <a:ext cx="1371600" cy="8229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300" b="0">
                <a:solidFill>
                  <a:srgbClr val="28455F"/>
                </a:solidFill>
                <a:latin typeface="Arial"/>
              </a:rPr>
              <a:t>Tied to medical objectives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57032" y="1737360"/>
            <a:ext cx="1234440" cy="2926080"/>
          </a:xfrm>
          <a:prstGeom prst="roundRect">
            <a:avLst>
              <a:gd name="adj" fmla="val 8000"/>
            </a:avLst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FFFFFF"/>
                </a:solidFill>
                <a:latin typeface="Bahnschrift"/>
              </a:rPr>
              <a:t>Human accountable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1312" y="4800600"/>
            <a:ext cx="1371600" cy="8229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300" b="0">
                <a:solidFill>
                  <a:srgbClr val="28455F"/>
                </a:solidFill>
                <a:latin typeface="Arial"/>
              </a:rPr>
              <a:t>A named person signs off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829800" y="2606040"/>
            <a:ext cx="1755648" cy="1188720"/>
          </a:xfrm>
          <a:prstGeom prst="roundRect">
            <a:avLst>
              <a:gd name="adj" fmla="val 12000"/>
            </a:avLst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600" b="1">
                <a:solidFill>
                  <a:srgbClr val="FFFFFF"/>
                </a:solidFill>
                <a:latin typeface="Bahnschrift"/>
              </a:rPr>
              <a:t>Medical Affairs work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04" y="571500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600" b="1">
                <a:solidFill>
                  <a:srgbClr val="007879"/>
                </a:solidFill>
                <a:latin typeface="Arial"/>
              </a:rPr>
              <a:t>You are not just using AI. You are teaching it how your function thinks.</a:t>
            </a:r>
          </a:p>
        </p:txBody>
      </p:sp>
    </p:spTree>
    <p:extLst>
      <p:ext uri="{BB962C8B-B14F-4D97-AF65-F5344CB8AC3E}">
        <p14:creationId xmlns:p14="http://schemas.microsoft.com/office/powerpoint/2010/main" val="1742398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69A6648-0740-4378-BDE8-DCADDB55B2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50" name="Text panel"/>
          <p:cNvSpPr/>
          <p:nvPr/>
        </p:nvSpPr>
        <p:spPr>
          <a:xfrm>
            <a:off x="384048" y="457200"/>
            <a:ext cx="5120640" cy="5440680"/>
          </a:xfrm>
          <a:prstGeom prst="roundRect">
            <a:avLst>
              <a:gd name="adj" fmla="val 12000"/>
            </a:avLst>
          </a:prstGeom>
          <a:solidFill>
            <a:srgbClr val="FFFDF8">
              <a:alpha val="93000"/>
            </a:srgbClr>
          </a:solidFill>
          <a:ln w="12700">
            <a:solidFill>
              <a:srgbClr val="E3DCCB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D3DC2E-19E2-48DF-9C95-192028F90A74}"/>
              </a:ext>
            </a:extLst>
          </p:cNvPr>
          <p:cNvSpPr>
            <a:spLocks noGrp="1"/>
          </p:cNvSpPr>
          <p:nvPr/>
        </p:nvSpPr>
        <p:spPr>
          <a:xfrm>
            <a:off x="609905" y="640080"/>
            <a:ext cx="4754880" cy="1463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7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Agent Skills make</a:t>
            </a:r>
          </a:p>
          <a:p>
            <a:pPr algn="l"/>
            <a:r>
              <a:rPr sz="3200" b="1" lang="en-US" dirty="0">
                <a:solidFill>
                  <a:srgbClr val="007879"/>
                </a:solidFill>
                <a:latin typeface="Bahnschrift"/>
              </a:rPr>
              <a:t>expertise reusable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F7DE0A-F23A-4507-ABB3-3E44606BDF59}"/>
              </a:ext>
            </a:extLst>
          </p:cNvPr>
          <p:cNvSpPr>
            <a:spLocks noGrp="1"/>
          </p:cNvSpPr>
          <p:nvPr/>
        </p:nvSpPr>
        <p:spPr>
          <a:xfrm>
            <a:off x="609600" y="2286000"/>
            <a:ext cx="475488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2000" b="0" lang="en-US" dirty="0">
                <a:solidFill>
                  <a:srgbClr val="002B55"/>
                </a:solidFill>
                <a:latin typeface="Arial"/>
              </a:rPr>
              <a:t>GitHub is the shared shelf</a:t>
            </a:r>
          </a:p>
          <a:p>
            <a:pPr algn="l"/>
            <a:r>
              <a:rPr sz="2000" b="0" lang="en-US" dirty="0">
                <a:solidFill>
                  <a:srgbClr val="002B55"/>
                </a:solidFill>
                <a:latin typeface="Arial"/>
              </a:rPr>
              <a:t>A skill is the work recipe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C4A822E7-05A8-4C6F-A064-93A97B1ABB78}"/>
              </a:ext>
            </a:extLst>
          </p:cNvPr>
          <p:cNvSpPr>
            <a:spLocks noGrp="1"/>
          </p:cNvSpPr>
          <p:nvPr/>
        </p:nvSpPr>
        <p:spPr>
          <a:xfrm>
            <a:off x="609600" y="3474720"/>
            <a:ext cx="400050" cy="9525"/>
          </a:xfrm>
          <a:prstGeom prst="line">
            <a:avLst/>
          </a:prstGeom>
          <a:noFill/>
          <a:ln w="38100">
            <a:solidFill>
              <a:srgbClr val="0078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7FD089-C009-43AA-B4EC-DB9AC2B8F019}"/>
              </a:ext>
            </a:extLst>
          </p:cNvPr>
          <p:cNvSpPr>
            <a:spLocks noGrp="1"/>
          </p:cNvSpPr>
          <p:nvPr/>
        </p:nvSpPr>
        <p:spPr>
          <a:xfrm>
            <a:off x="609600" y="3611880"/>
            <a:ext cx="475488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8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SKILL.md → procedure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519C911B-5B1A-4104-9231-F274556B1CA8}"/>
              </a:ext>
            </a:extLst>
          </p:cNvPr>
          <p:cNvSpPr>
            <a:spLocks noGrp="1"/>
          </p:cNvSpPr>
          <p:nvPr/>
        </p:nvSpPr>
        <p:spPr>
          <a:xfrm>
            <a:off x="609600" y="4206240"/>
            <a:ext cx="400050" cy="9525"/>
          </a:xfrm>
          <a:prstGeom prst="line">
            <a:avLst/>
          </a:prstGeom>
          <a:noFill/>
          <a:ln w="38100">
            <a:solidFill>
              <a:srgbClr val="0078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886FDC-CF69-4D16-BB66-CEA50391F64E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75488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8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Supporting files → examples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F7864219-6772-4FC2-9C6A-ACF491A9927B}"/>
              </a:ext>
            </a:extLst>
          </p:cNvPr>
          <p:cNvSpPr>
            <a:spLocks noGrp="1"/>
          </p:cNvSpPr>
          <p:nvPr/>
        </p:nvSpPr>
        <p:spPr>
          <a:xfrm>
            <a:off x="609600" y="4937760"/>
            <a:ext cx="400050" cy="9525"/>
          </a:xfrm>
          <a:prstGeom prst="line">
            <a:avLst/>
          </a:prstGeom>
          <a:noFill/>
          <a:ln w="38100">
            <a:solidFill>
              <a:srgbClr val="F47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997551-6A1A-40B2-A5F0-6E10E03AB84C}"/>
              </a:ext>
            </a:extLst>
          </p:cNvPr>
          <p:cNvSpPr>
            <a:spLocks noGrp="1"/>
          </p:cNvSpPr>
          <p:nvPr/>
        </p:nvSpPr>
        <p:spPr>
          <a:xfrm>
            <a:off x="609600" y="5074920"/>
            <a:ext cx="475488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8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1875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House rules → boundaries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F6CB4B-FAF5-4A83-A128-ED3FF233AED5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DAD448-40D2-4BE1-9420-52CB1D9E027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E3D720-7039-431C-86E5-3962528F8309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342337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94C56B7-6F35-4425-AEAC-27B806B629D1}"/>
              </a:ext>
            </a:extLst>
          </p:cNvPr>
          <p:cNvSpPr>
            <a:spLocks noGrp="1"/>
          </p:cNvSpPr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From chatbot to agent swarm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562396-E406-46D0-AFBF-C2FE281A3D1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D51911-FC8E-4A0E-B78E-9A29A2535772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914895-EA7A-4759-A1EE-0458B86AD0EB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27</a:t>
            </a:r>
          </a:p>
        </p:txBody>
      </p:sp>
      <p:sp>
        <p:nvSpPr>
          <p:cNvPr id="26" name="Rounded Rectangular Callout 25"/>
          <p:cNvSpPr/>
          <p:nvPr/>
        </p:nvSpPr>
        <p:spPr>
          <a:xfrm>
            <a:off x="1112824" y="2103120"/>
            <a:ext cx="1554480" cy="914400"/>
          </a:xfrm>
          <a:prstGeom prst="wedgeRoundRectCallout">
            <a:avLst/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800" b="1">
                <a:solidFill>
                  <a:srgbClr val="002B55"/>
                </a:solidFill>
                <a:latin typeface="Bahnschrift"/>
              </a:rPr>
              <a:t>Q → 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987344" y="2606040"/>
            <a:ext cx="594360" cy="0"/>
          </a:xfrm>
          <a:prstGeom prst="line">
            <a:avLst/>
          </a:prstGeom>
          <a:ln w="3175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9904" y="3931920"/>
            <a:ext cx="256032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2000" b="1">
                <a:solidFill>
                  <a:srgbClr val="002B55"/>
                </a:solidFill>
                <a:latin typeface="Bahnschrift"/>
              </a:rPr>
              <a:t>CHATBOT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624" y="4389120"/>
            <a:ext cx="2514600" cy="12801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lang="en-US" dirty="0">
                <a:solidFill>
                  <a:srgbClr val="002B55"/>
                </a:solidFill>
                <a:latin typeface="Arial"/>
              </a:rPr>
              <a:t>Give: </a:t>
            </a:r>
            <a:r>
              <a:rPr sz="1300" b="0" lang="en-US" dirty="0">
                <a:solidFill>
                  <a:srgbClr val="002B55"/>
                </a:solidFill>
                <a:latin typeface="Arial"/>
              </a:rPr>
              <a:t>A question</a:t>
            </a:r>
          </a:p>
          <a:p>
            <a:pPr algn="ctr">
              <a:spcAft>
                <a:spcPts val="300"/>
              </a:spcAft>
            </a:pPr>
            <a:r>
              <a:rPr sz="1300" b="1" lang="en-US" dirty="0">
                <a:solidFill>
                  <a:srgbClr val="002B55"/>
                </a:solidFill>
                <a:latin typeface="Arial"/>
              </a:rPr>
              <a:t>Get: </a:t>
            </a:r>
            <a:r>
              <a:rPr sz="1300" b="0" lang="en-US" dirty="0">
                <a:solidFill>
                  <a:srgbClr val="002B55"/>
                </a:solidFill>
                <a:latin typeface="Arial"/>
              </a:rPr>
              <a:t>An answer</a:t>
            </a:r>
          </a:p>
          <a:p>
            <a:pPr algn="ctr"/>
            <a:r>
              <a:rPr sz="1300" b="1" lang="en-US" dirty="0">
                <a:solidFill>
                  <a:srgbClr val="28455F"/>
                </a:solidFill>
                <a:latin typeface="Arial"/>
              </a:rPr>
              <a:t>You do every step</a:t>
            </a:r>
          </a:p>
        </p:txBody>
      </p:sp>
      <p:sp>
        <p:nvSpPr>
          <p:cNvPr id="30" name="Oval 29"/>
          <p:cNvSpPr/>
          <p:nvPr/>
        </p:nvSpPr>
        <p:spPr>
          <a:xfrm>
            <a:off x="3764584" y="2194560"/>
            <a:ext cx="822960" cy="822960"/>
          </a:xfrm>
          <a:prstGeom prst="ellipse">
            <a:avLst/>
          </a:prstGeom>
          <a:solidFill>
            <a:srgbClr val="1D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600" b="1">
                <a:solidFill>
                  <a:srgbClr val="FFFFFF"/>
                </a:solidFill>
                <a:latin typeface="Bahnschrift"/>
              </a:rPr>
              <a:t>AI</a:t>
            </a:r>
          </a:p>
        </p:txBody>
      </p:sp>
      <p:sp>
        <p:nvSpPr>
          <p:cNvPr id="31" name="Document 30"/>
          <p:cNvSpPr/>
          <p:nvPr/>
        </p:nvSpPr>
        <p:spPr>
          <a:xfrm>
            <a:off x="4861864" y="2148840"/>
            <a:ext cx="731520" cy="914400"/>
          </a:xfrm>
          <a:prstGeom prst="flowChartDocument">
            <a:avLst/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100" b="1">
                <a:solidFill>
                  <a:srgbClr val="007879"/>
                </a:solidFill>
                <a:latin typeface="Arial"/>
              </a:rPr>
              <a:t>doc</a:t>
            </a:r>
          </a:p>
        </p:txBody>
      </p:sp>
      <p:cxnSp>
        <p:nvCxnSpPr>
          <p:cNvPr id="32" name="Connector 31"/>
          <p:cNvCxnSpPr>
            <a:stCxn id="30" idx="3"/>
            <a:endCxn id="31" idx="1"/>
          </p:cNvCxnSpPr>
          <p:nvPr/>
        </p:nvCxnSpPr>
        <p:spPr>
          <a:xfrm flipV="1">
            <a:off x="4587544" y="2606040"/>
            <a:ext cx="274320" cy="0"/>
          </a:xfrm>
          <a:prstGeom prst="line">
            <a:avLst/>
          </a:prstGeom>
          <a:ln w="25400">
            <a:solidFill>
              <a:srgbClr val="1D5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776264" y="2606040"/>
            <a:ext cx="594360" cy="0"/>
          </a:xfrm>
          <a:prstGeom prst="line">
            <a:avLst/>
          </a:prstGeom>
          <a:ln w="3175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98824" y="3931920"/>
            <a:ext cx="256032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2000" b="1">
                <a:solidFill>
                  <a:srgbClr val="1D5C8C"/>
                </a:solidFill>
                <a:latin typeface="Bahnschrift"/>
              </a:rPr>
              <a:t>ASSISTANT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44544" y="4389120"/>
            <a:ext cx="2514600" cy="12801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lang="en-US" dirty="0">
                <a:solidFill>
                  <a:srgbClr val="1D5C8C"/>
                </a:solidFill>
                <a:latin typeface="Arial"/>
              </a:rPr>
              <a:t>Give: </a:t>
            </a:r>
            <a:r>
              <a:rPr sz="1300" b="0" lang="en-US" dirty="0">
                <a:solidFill>
                  <a:srgbClr val="002B55"/>
                </a:solidFill>
                <a:latin typeface="Arial"/>
              </a:rPr>
              <a:t>A task + some files</a:t>
            </a:r>
          </a:p>
          <a:p>
            <a:pPr algn="ctr">
              <a:spcAft>
                <a:spcPts val="300"/>
              </a:spcAft>
            </a:pPr>
            <a:r>
              <a:rPr sz="1300" b="1" lang="en-US" dirty="0">
                <a:solidFill>
                  <a:srgbClr val="1D5C8C"/>
                </a:solidFill>
                <a:latin typeface="Arial"/>
              </a:rPr>
              <a:t>Get: </a:t>
            </a:r>
            <a:r>
              <a:rPr sz="1300" b="0" lang="en-US" dirty="0">
                <a:solidFill>
                  <a:srgbClr val="002B55"/>
                </a:solidFill>
                <a:latin typeface="Arial"/>
              </a:rPr>
              <a:t>A draft of one deliverable</a:t>
            </a:r>
          </a:p>
          <a:p>
            <a:pPr algn="ctr"/>
            <a:r>
              <a:rPr sz="1300" b="1" lang="en-US" dirty="0">
                <a:solidFill>
                  <a:srgbClr val="28455F"/>
                </a:solidFill>
                <a:latin typeface="Arial"/>
              </a:rPr>
              <a:t>You stitch drafts together</a:t>
            </a:r>
          </a:p>
        </p:txBody>
      </p:sp>
      <p:sp>
        <p:nvSpPr>
          <p:cNvPr id="36" name="Oval 35"/>
          <p:cNvSpPr/>
          <p:nvPr/>
        </p:nvSpPr>
        <p:spPr>
          <a:xfrm>
            <a:off x="7010704" y="2148840"/>
            <a:ext cx="914400" cy="914400"/>
          </a:xfrm>
          <a:prstGeom prst="ellipse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FFFFFF"/>
                </a:solidFill>
                <a:latin typeface="Bahnschrift"/>
              </a:rPr>
              <a:t>Agent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56424" y="157276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000" b="1">
                <a:solidFill>
                  <a:srgbClr val="007879"/>
                </a:solidFill>
                <a:latin typeface="Arial"/>
              </a:rPr>
              <a:t>plan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70824" y="312724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000" b="1">
                <a:solidFill>
                  <a:srgbClr val="007879"/>
                </a:solidFill>
                <a:latin typeface="Arial"/>
              </a:rPr>
              <a:t>act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42024" y="3127248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000" b="1">
                <a:solidFill>
                  <a:srgbClr val="007879"/>
                </a:solidFill>
                <a:latin typeface="Arial"/>
              </a:rPr>
              <a:t>check</a:t>
            </a:r>
          </a:p>
        </p:txBody>
      </p:sp>
      <p:cxnSp>
        <p:nvCxnSpPr>
          <p:cNvPr id="40" name="Connector 39"/>
          <p:cNvCxnSpPr>
            <a:stCxn id="37" idx="3"/>
            <a:endCxn id="38" idx="0"/>
          </p:cNvCxnSpPr>
          <p:nvPr/>
        </p:nvCxnSpPr>
        <p:spPr>
          <a:xfrm>
            <a:off x="7879384" y="1737360"/>
            <a:ext cx="502920" cy="1389888"/>
          </a:xfrm>
          <a:prstGeom prst="bentConnector3">
            <a:avLst/>
          </a:prstGeom>
          <a:ln w="19050">
            <a:solidFill>
              <a:srgbClr val="0078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stCxn id="38" idx="1"/>
            <a:endCxn id="39" idx="3"/>
          </p:cNvCxnSpPr>
          <p:nvPr/>
        </p:nvCxnSpPr>
        <p:spPr>
          <a:xfrm flipH="1" flipV="1">
            <a:off x="6964984" y="3291840"/>
            <a:ext cx="1005840" cy="0"/>
          </a:xfrm>
          <a:prstGeom prst="bentConnector3">
            <a:avLst/>
          </a:prstGeom>
          <a:ln w="19050">
            <a:solidFill>
              <a:srgbClr val="0078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>
            <a:stCxn id="39" idx="0"/>
            <a:endCxn id="37" idx="1"/>
          </p:cNvCxnSpPr>
          <p:nvPr/>
        </p:nvCxnSpPr>
        <p:spPr>
          <a:xfrm flipV="1">
            <a:off x="6553504" y="1737360"/>
            <a:ext cx="502920" cy="1389888"/>
          </a:xfrm>
          <a:prstGeom prst="bentConnector3">
            <a:avLst/>
          </a:prstGeom>
          <a:ln w="19050">
            <a:solidFill>
              <a:srgbClr val="0078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65184" y="2606040"/>
            <a:ext cx="594360" cy="0"/>
          </a:xfrm>
          <a:prstGeom prst="line">
            <a:avLst/>
          </a:prstGeom>
          <a:ln w="3175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187744" y="3931920"/>
            <a:ext cx="256032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2000" b="1">
                <a:solidFill>
                  <a:srgbClr val="007879"/>
                </a:solidFill>
                <a:latin typeface="Bahnschrift"/>
              </a:rPr>
              <a:t>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33464" y="4389120"/>
            <a:ext cx="2514600" cy="12801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lang="en-US" dirty="0">
                <a:solidFill>
                  <a:srgbClr val="007879"/>
                </a:solidFill>
                <a:latin typeface="Arial"/>
              </a:rPr>
              <a:t>Give: </a:t>
            </a:r>
            <a:r>
              <a:rPr sz="1300" b="0" lang="en-US" dirty="0">
                <a:solidFill>
                  <a:srgbClr val="002B55"/>
                </a:solidFill>
                <a:latin typeface="Arial"/>
              </a:rPr>
              <a:t>A goal + skills + house rules</a:t>
            </a:r>
          </a:p>
          <a:p>
            <a:pPr algn="ctr">
              <a:spcAft>
                <a:spcPts val="300"/>
              </a:spcAft>
            </a:pPr>
            <a:r>
              <a:rPr sz="1300" b="1" lang="en-US" dirty="0">
                <a:solidFill>
                  <a:srgbClr val="007879"/>
                </a:solidFill>
                <a:latin typeface="Arial"/>
              </a:rPr>
              <a:t>Get: </a:t>
            </a:r>
            <a:r>
              <a:rPr sz="1300" b="0" lang="en-US" dirty="0">
                <a:solidFill>
                  <a:srgbClr val="002B55"/>
                </a:solidFill>
                <a:latin typeface="Arial"/>
              </a:rPr>
              <a:t>A finished workflow with provenance</a:t>
            </a:r>
          </a:p>
          <a:p>
            <a:pPr algn="ctr"/>
            <a:r>
              <a:rPr sz="1300" b="1" lang="en-US" dirty="0">
                <a:solidFill>
                  <a:srgbClr val="28455F"/>
                </a:solidFill>
                <a:latin typeface="Arial"/>
              </a:rPr>
              <a:t>You review and decide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10256824" y="1737360"/>
            <a:ext cx="0" cy="868680"/>
          </a:xfrm>
          <a:prstGeom prst="line">
            <a:avLst/>
          </a:prstGeom>
          <a:ln w="19050">
            <a:solidFill>
              <a:srgbClr val="F2B4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10055656" y="1536192"/>
            <a:ext cx="402336" cy="402336"/>
          </a:xfrm>
          <a:prstGeom prst="ellipse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 flipV="1">
            <a:off x="10256824" y="2171700"/>
            <a:ext cx="791894" cy="434340"/>
          </a:xfrm>
          <a:prstGeom prst="line">
            <a:avLst/>
          </a:prstGeom>
          <a:ln w="19050">
            <a:solidFill>
              <a:srgbClr val="F2B4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10847550" y="1970531"/>
            <a:ext cx="402336" cy="402336"/>
          </a:xfrm>
          <a:prstGeom prst="ellipse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10256824" y="2606040"/>
            <a:ext cx="791894" cy="434340"/>
          </a:xfrm>
          <a:prstGeom prst="line">
            <a:avLst/>
          </a:prstGeom>
          <a:ln w="19050">
            <a:solidFill>
              <a:srgbClr val="F2B4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10847550" y="2839212"/>
            <a:ext cx="402336" cy="402336"/>
          </a:xfrm>
          <a:prstGeom prst="ellipse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10256824" y="2606040"/>
            <a:ext cx="0" cy="868680"/>
          </a:xfrm>
          <a:prstGeom prst="line">
            <a:avLst/>
          </a:prstGeom>
          <a:ln w="19050">
            <a:solidFill>
              <a:srgbClr val="F2B4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Oval 52"/>
          <p:cNvSpPr/>
          <p:nvPr/>
        </p:nvSpPr>
        <p:spPr>
          <a:xfrm>
            <a:off x="10055656" y="3273551"/>
            <a:ext cx="402336" cy="402336"/>
          </a:xfrm>
          <a:prstGeom prst="ellipse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cxnSp>
        <p:nvCxnSpPr>
          <p:cNvPr id="54" name="Connector 53"/>
          <p:cNvCxnSpPr/>
          <p:nvPr/>
        </p:nvCxnSpPr>
        <p:spPr>
          <a:xfrm flipH="1">
            <a:off x="9464931" y="2606040"/>
            <a:ext cx="791893" cy="434340"/>
          </a:xfrm>
          <a:prstGeom prst="line">
            <a:avLst/>
          </a:prstGeom>
          <a:ln w="19050">
            <a:solidFill>
              <a:srgbClr val="F2B4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9263763" y="2839212"/>
            <a:ext cx="402336" cy="402336"/>
          </a:xfrm>
          <a:prstGeom prst="ellipse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cxnSp>
        <p:nvCxnSpPr>
          <p:cNvPr id="56" name="Connector 55"/>
          <p:cNvCxnSpPr/>
          <p:nvPr/>
        </p:nvCxnSpPr>
        <p:spPr>
          <a:xfrm flipH="1" flipV="1">
            <a:off x="9464931" y="2171700"/>
            <a:ext cx="791893" cy="434340"/>
          </a:xfrm>
          <a:prstGeom prst="line">
            <a:avLst/>
          </a:prstGeom>
          <a:ln w="19050">
            <a:solidFill>
              <a:srgbClr val="F2B4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9263763" y="1970531"/>
            <a:ext cx="402336" cy="402336"/>
          </a:xfrm>
          <a:prstGeom prst="ellipse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872776" y="2221992"/>
            <a:ext cx="768096" cy="768096"/>
          </a:xfrm>
          <a:prstGeom prst="ellipse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200" b="1">
                <a:solidFill>
                  <a:srgbClr val="FFFFFF"/>
                </a:solidFill>
                <a:latin typeface="Bahnschrift"/>
              </a:rPr>
              <a:t>Lead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76664" y="3931920"/>
            <a:ext cx="256032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2000" b="1">
                <a:solidFill>
                  <a:srgbClr val="F47735"/>
                </a:solidFill>
                <a:latin typeface="Bahnschrift"/>
              </a:rPr>
              <a:t>AGENT SWARM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22384" y="4389120"/>
            <a:ext cx="2514600" cy="12801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 lang="en-US" dirty="0">
                <a:solidFill>
                  <a:srgbClr val="F47735"/>
                </a:solidFill>
                <a:latin typeface="Arial"/>
              </a:rPr>
              <a:t>Give: </a:t>
            </a:r>
            <a:r>
              <a:rPr sz="1300" b="0" lang="en-US" dirty="0">
                <a:solidFill>
                  <a:srgbClr val="002B55"/>
                </a:solidFill>
                <a:latin typeface="Arial"/>
              </a:rPr>
              <a:t>A goal + an org chart + a context packet per role</a:t>
            </a:r>
          </a:p>
          <a:p>
            <a:pPr algn="ctr">
              <a:spcAft>
                <a:spcPts val="300"/>
              </a:spcAft>
            </a:pPr>
            <a:r>
              <a:rPr sz="1300" b="1" lang="en-US" dirty="0">
                <a:solidFill>
                  <a:srgbClr val="F47735"/>
                </a:solidFill>
                <a:latin typeface="Arial"/>
              </a:rPr>
              <a:t>Get: </a:t>
            </a:r>
            <a:r>
              <a:rPr sz="1300" b="0" lang="en-US" dirty="0">
                <a:solidFill>
                  <a:srgbClr val="002B55"/>
                </a:solidFill>
                <a:latin typeface="Arial"/>
              </a:rPr>
              <a:t>A coordinated plan, an auditor, human gates</a:t>
            </a:r>
          </a:p>
          <a:p>
            <a:pPr algn="ctr"/>
            <a:r>
              <a:rPr sz="1300" b="1" lang="en-US" dirty="0">
                <a:solidFill>
                  <a:srgbClr val="28455F"/>
                </a:solidFill>
                <a:latin typeface="Arial"/>
              </a:rPr>
              <a:t>You lead and judge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9904" y="589788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500" b="1" lang="en-US" dirty="0">
                <a:solidFill>
                  <a:srgbClr val="007879"/>
                </a:solidFill>
                <a:latin typeface="Arial"/>
              </a:rPr>
              <a:t>The jump to a swarm is structure, not a bigger prompt: roles, context, handoffs, gates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09904" y="5806440"/>
            <a:ext cx="10972800" cy="0"/>
          </a:xfrm>
          <a:prstGeom prst="line">
            <a:avLst/>
          </a:prstGeom>
          <a:ln w="317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3509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F89F62D-BEA1-40FA-8630-DE390055B074}"/>
              </a:ext>
            </a:extLst>
          </p:cNvPr>
          <p:cNvSpPr>
            <a:spLocks noGrp="1"/>
          </p:cNvSpPr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Context engineering feeds every sub-agent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611AFC-60E9-49B8-A1F6-8E28990DC7C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008769-AA8B-4B08-A878-592276EFF2B8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C8D482-8BDE-4D27-905C-8E76997CA1CF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29</a:t>
            </a:r>
          </a:p>
        </p:txBody>
      </p:sp>
      <p:sp>
        <p:nvSpPr>
          <p:cNvPr id="22" name="Can 21"/>
          <p:cNvSpPr/>
          <p:nvPr/>
        </p:nvSpPr>
        <p:spPr>
          <a:xfrm>
            <a:off x="609904" y="1828800"/>
            <a:ext cx="2377440" cy="3291840"/>
          </a:xfrm>
          <a:prstGeom prst="can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400" b="1">
                <a:solidFill>
                  <a:srgbClr val="FFFFFF"/>
                </a:solidFill>
                <a:latin typeface="Bahnschrift"/>
              </a:rPr>
              <a:t>MEDICAL AFFAIRS CONTEXT</a:t>
            </a:r>
          </a:p>
          <a:p>
            <a:pPr algn="ctr"/>
            <a:r>
              <a:rPr sz="800" b="0">
                <a:solidFill>
                  <a:srgbClr val="002B55"/>
                </a:solidFill>
                <a:latin typeface="Arial"/>
              </a:rPr>
              <a:t/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House rules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Approved platform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Evidence &amp; label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Question 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306324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600" b="1" lang="en-US" dirty="0">
                <a:solidFill>
                  <a:srgbClr val="FFFFFF"/>
                </a:solidFill>
                <a:latin typeface="Bahnschrift"/>
              </a:rPr>
              <a:t>Launch Lead</a:t>
            </a:r>
          </a:p>
          <a:p>
            <a:pPr algn="ctr"/>
            <a:r>
              <a:rPr sz="1200" b="0" lang="en-US" dirty="0">
                <a:solidFill>
                  <a:srgbClr val="FFFFFF"/>
                </a:solidFill>
                <a:latin typeface="Arial"/>
              </a:rPr>
              <a:t>coordinator</a:t>
            </a:r>
          </a:p>
        </p:txBody>
      </p:sp>
      <p:cxnSp>
        <p:nvCxnSpPr>
          <p:cNvPr id="24" name="Connector 23"/>
          <p:cNvCxnSpPr>
            <a:stCxn id="22" idx="3"/>
            <a:endCxn id="23" idx="1"/>
          </p:cNvCxnSpPr>
          <p:nvPr/>
        </p:nvCxnSpPr>
        <p:spPr>
          <a:xfrm>
            <a:off x="2987344" y="3474720"/>
            <a:ext cx="624536" cy="45720"/>
          </a:xfrm>
          <a:prstGeom prst="line">
            <a:avLst/>
          </a:prstGeom>
          <a:ln w="2540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Document 24"/>
          <p:cNvSpPr/>
          <p:nvPr/>
        </p:nvSpPr>
        <p:spPr>
          <a:xfrm>
            <a:off x="6217920" y="1417320"/>
            <a:ext cx="2514600" cy="868680"/>
          </a:xfrm>
          <a:prstGeom prst="flowChartDocument">
            <a:avLst/>
          </a:prstGeom>
          <a:solidFill>
            <a:srgbClr val="FD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/>
            <a:r>
              <a:rPr sz="1200" b="0">
                <a:solidFill>
                  <a:srgbClr val="002B55"/>
                </a:solidFill>
                <a:latin typeface="Arial"/>
              </a:rPr>
              <a:t>Facts sheet · question list · evidence landscape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98280" y="1508760"/>
            <a:ext cx="2487168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002B55"/>
                </a:solidFill>
                <a:latin typeface="Bahnschrift"/>
              </a:rPr>
              <a:t>Strategy worker</a:t>
            </a:r>
          </a:p>
        </p:txBody>
      </p:sp>
      <p:cxnSp>
        <p:nvCxnSpPr>
          <p:cNvPr id="27" name="Connector 26"/>
          <p:cNvCxnSpPr>
            <a:stCxn id="23" idx="3"/>
            <a:endCxn id="25" idx="1"/>
          </p:cNvCxnSpPr>
          <p:nvPr/>
        </p:nvCxnSpPr>
        <p:spPr>
          <a:xfrm flipV="1">
            <a:off x="5440680" y="1851660"/>
            <a:ext cx="777240" cy="1668780"/>
          </a:xfrm>
          <a:prstGeom prst="bentConnector3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25" idx="3"/>
            <a:endCxn id="26" idx="1"/>
          </p:cNvCxnSpPr>
          <p:nvPr/>
        </p:nvCxnSpPr>
        <p:spPr>
          <a:xfrm flipV="1">
            <a:off x="8732520" y="1851660"/>
            <a:ext cx="365760" cy="0"/>
          </a:xfrm>
          <a:prstGeom prst="line">
            <a:avLst/>
          </a:prstGeom>
          <a:ln w="19050">
            <a:solidFill>
              <a:srgbClr val="F47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Document 28"/>
          <p:cNvSpPr/>
          <p:nvPr/>
        </p:nvSpPr>
        <p:spPr>
          <a:xfrm>
            <a:off x="6217920" y="2514600"/>
            <a:ext cx="2514600" cy="868680"/>
          </a:xfrm>
          <a:prstGeom prst="flowChartDocument">
            <a:avLst/>
          </a:prstGeom>
          <a:solidFill>
            <a:srgbClr val="FD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/>
            <a:r>
              <a:rPr sz="1200" b="0">
                <a:solidFill>
                  <a:srgbClr val="002B55"/>
                </a:solidFill>
                <a:latin typeface="Arial"/>
              </a:rPr>
              <a:t>Platform draft · product profile · evidence table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98280" y="2606040"/>
            <a:ext cx="2487168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002B55"/>
                </a:solidFill>
                <a:latin typeface="Bahnschrift"/>
              </a:rPr>
              <a:t>Narrative Architect</a:t>
            </a:r>
          </a:p>
        </p:txBody>
      </p:sp>
      <p:cxnSp>
        <p:nvCxnSpPr>
          <p:cNvPr id="31" name="Connector 30"/>
          <p:cNvCxnSpPr>
            <a:stCxn id="23" idx="3"/>
            <a:endCxn id="29" idx="1"/>
          </p:cNvCxnSpPr>
          <p:nvPr/>
        </p:nvCxnSpPr>
        <p:spPr>
          <a:xfrm flipV="1">
            <a:off x="5440680" y="2948940"/>
            <a:ext cx="777240" cy="571500"/>
          </a:xfrm>
          <a:prstGeom prst="bentConnector3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29" idx="3"/>
            <a:endCxn id="30" idx="1"/>
          </p:cNvCxnSpPr>
          <p:nvPr/>
        </p:nvCxnSpPr>
        <p:spPr>
          <a:xfrm flipV="1">
            <a:off x="8732520" y="2948940"/>
            <a:ext cx="365760" cy="0"/>
          </a:xfrm>
          <a:prstGeom prst="line">
            <a:avLst/>
          </a:prstGeom>
          <a:ln w="19050">
            <a:solidFill>
              <a:srgbClr val="F47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Document 32"/>
          <p:cNvSpPr/>
          <p:nvPr/>
        </p:nvSpPr>
        <p:spPr>
          <a:xfrm>
            <a:off x="6217920" y="3611880"/>
            <a:ext cx="2514600" cy="868680"/>
          </a:xfrm>
          <a:prstGeom prst="flowChartDocument">
            <a:avLst/>
          </a:prstGeom>
          <a:solidFill>
            <a:srgbClr val="FD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/>
            <a:r>
              <a:rPr sz="1200" b="0">
                <a:solidFill>
                  <a:srgbClr val="002B55"/>
                </a:solidFill>
                <a:latin typeface="Arial"/>
              </a:rPr>
              <a:t>MI enquiries · label · platform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3703320"/>
            <a:ext cx="2487168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002B55"/>
                </a:solidFill>
                <a:latin typeface="Bahnschrift"/>
              </a:rPr>
              <a:t>MI Lead</a:t>
            </a:r>
          </a:p>
        </p:txBody>
      </p:sp>
      <p:cxnSp>
        <p:nvCxnSpPr>
          <p:cNvPr id="35" name="Connector 34"/>
          <p:cNvCxnSpPr>
            <a:stCxn id="23" idx="3"/>
            <a:endCxn id="33" idx="1"/>
          </p:cNvCxnSpPr>
          <p:nvPr/>
        </p:nvCxnSpPr>
        <p:spPr>
          <a:xfrm>
            <a:off x="5440680" y="3520440"/>
            <a:ext cx="777240" cy="525780"/>
          </a:xfrm>
          <a:prstGeom prst="bentConnector3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33" idx="3"/>
            <a:endCxn id="34" idx="1"/>
          </p:cNvCxnSpPr>
          <p:nvPr/>
        </p:nvCxnSpPr>
        <p:spPr>
          <a:xfrm flipV="1">
            <a:off x="8732520" y="4046220"/>
            <a:ext cx="365760" cy="0"/>
          </a:xfrm>
          <a:prstGeom prst="line">
            <a:avLst/>
          </a:prstGeom>
          <a:ln w="19050">
            <a:solidFill>
              <a:srgbClr val="F47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Document 36"/>
          <p:cNvSpPr/>
          <p:nvPr/>
        </p:nvSpPr>
        <p:spPr>
          <a:xfrm>
            <a:off x="6217920" y="4709159"/>
            <a:ext cx="2514600" cy="868680"/>
          </a:xfrm>
          <a:prstGeom prst="flowChartDocument">
            <a:avLst/>
          </a:prstGeom>
          <a:solidFill>
            <a:srgbClr val="FD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/>
            <a:r>
              <a:rPr sz="1200" b="0">
                <a:solidFill>
                  <a:srgbClr val="002B55"/>
                </a:solidFill>
                <a:latin typeface="Arial"/>
              </a:rPr>
              <a:t>Worker outputs, not the Lead’s summary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8280" y="4800599"/>
            <a:ext cx="2487168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4773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002B55"/>
                </a:solidFill>
                <a:latin typeface="Bahnschrift"/>
              </a:rPr>
              <a:t>Readiness Auditor</a:t>
            </a:r>
          </a:p>
        </p:txBody>
      </p:sp>
      <p:cxnSp>
        <p:nvCxnSpPr>
          <p:cNvPr id="39" name="Connector 38"/>
          <p:cNvCxnSpPr>
            <a:stCxn id="23" idx="3"/>
            <a:endCxn id="37" idx="1"/>
          </p:cNvCxnSpPr>
          <p:nvPr/>
        </p:nvCxnSpPr>
        <p:spPr>
          <a:xfrm>
            <a:off x="5440680" y="3520440"/>
            <a:ext cx="777240" cy="1623059"/>
          </a:xfrm>
          <a:prstGeom prst="bentConnector3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stCxn id="37" idx="3"/>
            <a:endCxn id="38" idx="1"/>
          </p:cNvCxnSpPr>
          <p:nvPr/>
        </p:nvCxnSpPr>
        <p:spPr>
          <a:xfrm flipV="1">
            <a:off x="8732520" y="5143499"/>
            <a:ext cx="365760" cy="0"/>
          </a:xfrm>
          <a:prstGeom prst="line">
            <a:avLst/>
          </a:prstGeom>
          <a:ln w="19050">
            <a:solidFill>
              <a:srgbClr val="F4773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0" name="Step chip 1"/>
          <p:cNvSpPr/>
          <p:nvPr/>
        </p:nvSpPr>
        <p:spPr>
          <a:xfrm>
            <a:off x="609905" y="5669280"/>
            <a:ext cx="2651760" cy="566928"/>
          </a:xfrm>
          <a:prstGeom prst="roundRect">
            <a:avLst>
              <a:gd name="adj" fmla="val 12000"/>
            </a:avLst>
          </a:prstGeom>
          <a:solidFill>
            <a:srgbClr val="E3F1F1"/>
          </a:solidFill>
          <a:ln w="12700">
            <a:noFill/>
          </a:ln>
        </p:spPr>
        <p:txBody>
          <a:bodyPr wrap="square" lIns="54864" rIns="54864" tIns="54864" bIns="54864" anchor="ctr" rtlCol="0"/>
          <a:lstStyle/>
          <a:p>
            <a:pPr algn="ctr"/>
            <a:r>
              <a:rPr sz="1500" b="1" lang="en-US" dirty="0">
                <a:solidFill>
                  <a:srgbClr val="007879"/>
                </a:solidFill>
                <a:latin typeface="Bahnschrift"/>
              </a:rPr>
              <a:t>1  </a:t>
            </a:r>
            <a:r>
              <a:rPr sz="1300" b="1" lang="en-US" dirty="0">
                <a:solidFill>
                  <a:srgbClr val="002B55"/>
                </a:solidFill>
                <a:latin typeface="Arial"/>
              </a:rPr>
              <a:t>Medical Affairs holds the context</a:t>
            </a:r>
          </a:p>
        </p:txBody>
      </p:sp>
      <p:sp>
        <p:nvSpPr>
          <p:cNvPr id="401" name="Step chip 2"/>
          <p:cNvSpPr/>
          <p:nvPr/>
        </p:nvSpPr>
        <p:spPr>
          <a:xfrm>
            <a:off x="3398825" y="5669280"/>
            <a:ext cx="2651760" cy="566928"/>
          </a:xfrm>
          <a:prstGeom prst="roundRect">
            <a:avLst>
              <a:gd name="adj" fmla="val 12000"/>
            </a:avLst>
          </a:prstGeom>
          <a:solidFill>
            <a:srgbClr val="E3F1F1"/>
          </a:solidFill>
          <a:ln w="12700">
            <a:noFill/>
          </a:ln>
        </p:spPr>
        <p:txBody>
          <a:bodyPr wrap="square" lIns="54864" rIns="54864" tIns="54864" bIns="54864" anchor="ctr" rtlCol="0"/>
          <a:lstStyle/>
          <a:p>
            <a:pPr algn="ctr"/>
            <a:r>
              <a:rPr sz="1500" b="1" lang="en-US" dirty="0">
                <a:solidFill>
                  <a:srgbClr val="007879"/>
                </a:solidFill>
                <a:latin typeface="Bahnschrift"/>
              </a:rPr>
              <a:t>2  </a:t>
            </a:r>
            <a:r>
              <a:rPr sz="1300" b="1" lang="en-US" dirty="0">
                <a:solidFill>
                  <a:srgbClr val="002B55"/>
                </a:solidFill>
                <a:latin typeface="Arial"/>
              </a:rPr>
              <a:t>Curate one source of truth</a:t>
            </a:r>
          </a:p>
        </p:txBody>
      </p:sp>
      <p:sp>
        <p:nvSpPr>
          <p:cNvPr id="402" name="Step chip 3"/>
          <p:cNvSpPr/>
          <p:nvPr/>
        </p:nvSpPr>
        <p:spPr>
          <a:xfrm>
            <a:off x="6187745" y="5669280"/>
            <a:ext cx="2651760" cy="566928"/>
          </a:xfrm>
          <a:prstGeom prst="roundRect">
            <a:avLst>
              <a:gd name="adj" fmla="val 12000"/>
            </a:avLst>
          </a:prstGeom>
          <a:solidFill>
            <a:srgbClr val="F47735"/>
          </a:solidFill>
          <a:ln w="12700">
            <a:noFill/>
          </a:ln>
        </p:spPr>
        <p:txBody>
          <a:bodyPr wrap="square" lIns="54864" rIns="54864" tIns="54864" bIns="54864" anchor="ctr" rtlCol="0"/>
          <a:lstStyle/>
          <a:p>
            <a:pPr algn="ctr"/>
            <a:r>
              <a:rPr sz="1500" b="1" lang="en-US" dirty="0">
                <a:solidFill>
                  <a:srgbClr val="FFFFFF"/>
                </a:solidFill>
                <a:latin typeface="Bahnschrift"/>
              </a:rPr>
              <a:t>3  </a:t>
            </a:r>
            <a:r>
              <a:rPr sz="1300" b="1" lang="en-US" dirty="0">
                <a:solidFill>
                  <a:srgbClr val="FFFFFF"/>
                </a:solidFill>
                <a:latin typeface="Arial"/>
              </a:rPr>
              <a:t>Slice a packet per role</a:t>
            </a:r>
          </a:p>
        </p:txBody>
      </p:sp>
      <p:sp>
        <p:nvSpPr>
          <p:cNvPr id="403" name="Step chip 4"/>
          <p:cNvSpPr/>
          <p:nvPr/>
        </p:nvSpPr>
        <p:spPr>
          <a:xfrm>
            <a:off x="8976665" y="5669280"/>
            <a:ext cx="2651760" cy="566928"/>
          </a:xfrm>
          <a:prstGeom prst="roundRect">
            <a:avLst>
              <a:gd name="adj" fmla="val 12000"/>
            </a:avLst>
          </a:prstGeom>
          <a:solidFill>
            <a:srgbClr val="E3F1F1"/>
          </a:solidFill>
          <a:ln w="12700">
            <a:noFill/>
          </a:ln>
        </p:spPr>
        <p:txBody>
          <a:bodyPr wrap="square" lIns="54864" rIns="54864" tIns="54864" bIns="54864" anchor="ctr" rtlCol="0"/>
          <a:lstStyle/>
          <a:p>
            <a:pPr algn="ctr"/>
            <a:r>
              <a:rPr sz="1500" b="1" lang="en-US" dirty="0">
                <a:solidFill>
                  <a:srgbClr val="007879"/>
                </a:solidFill>
                <a:latin typeface="Bahnschrift"/>
              </a:rPr>
              <a:t>4  </a:t>
            </a:r>
            <a:r>
              <a:rPr sz="1300" b="1" lang="en-US" dirty="0">
                <a:solidFill>
                  <a:srgbClr val="002B55"/>
                </a:solidFill>
                <a:latin typeface="Arial"/>
              </a:rPr>
              <a:t>Contracts at every handoff</a:t>
            </a:r>
          </a:p>
        </p:txBody>
      </p:sp>
    </p:spTree>
    <p:extLst>
      <p:ext uri="{BB962C8B-B14F-4D97-AF65-F5344CB8AC3E}">
        <p14:creationId xmlns:p14="http://schemas.microsoft.com/office/powerpoint/2010/main" val="20137819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3F4F98-1074-4377-80BA-95504B6586CF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7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Your org chart of agents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027F41-579B-4BB7-8F3C-2B8384ECBA5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33AC67-DE2D-4F6A-BCFA-FCD15F7F1251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F78467-EE88-4305-A8B1-69F8977637BD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30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41648" y="1280160"/>
            <a:ext cx="4114800" cy="594360"/>
          </a:xfrm>
          <a:prstGeom prst="roundRect">
            <a:avLst>
              <a:gd name="adj" fmla="val 12000"/>
            </a:avLst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</a:rPr>
              <a:t>You: Head of Medical Affairs (final judge)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98848" y="2194560"/>
            <a:ext cx="3200400" cy="594360"/>
          </a:xfrm>
          <a:prstGeom prst="roundRect">
            <a:avLst>
              <a:gd name="adj" fmla="val 12000"/>
            </a:avLst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400" b="1">
                <a:solidFill>
                  <a:srgbClr val="FFFFFF"/>
                </a:solidFill>
                <a:latin typeface="Bahnschrift"/>
              </a:rPr>
              <a:t>Chief-of-staff agent (coordinator)</a:t>
            </a:r>
          </a:p>
        </p:txBody>
      </p:sp>
      <p:cxnSp>
        <p:nvCxnSpPr>
          <p:cNvPr id="15" name="Connector 14"/>
          <p:cNvCxnSpPr>
            <a:stCxn id="13" idx="2"/>
            <a:endCxn id="14" idx="0"/>
          </p:cNvCxnSpPr>
          <p:nvPr/>
        </p:nvCxnSpPr>
        <p:spPr>
          <a:xfrm flipH="1">
            <a:off x="6099048" y="1874520"/>
            <a:ext cx="0" cy="320040"/>
          </a:xfrm>
          <a:prstGeom prst="bentConnector3">
            <a:avLst/>
          </a:prstGeom>
          <a:ln w="22225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09904" y="3200400"/>
            <a:ext cx="2514600" cy="640080"/>
          </a:xfrm>
          <a:prstGeom prst="roundRect">
            <a:avLst>
              <a:gd name="adj" fmla="val 12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</a:rPr>
              <a:t>Publications Brain</a:t>
            </a:r>
          </a:p>
        </p:txBody>
      </p:sp>
      <p:cxnSp>
        <p:nvCxnSpPr>
          <p:cNvPr id="17" name="Connector 16"/>
          <p:cNvCxnSpPr>
            <a:stCxn id="14" idx="2"/>
            <a:endCxn id="16" idx="0"/>
          </p:cNvCxnSpPr>
          <p:nvPr/>
        </p:nvCxnSpPr>
        <p:spPr>
          <a:xfrm flipH="1">
            <a:off x="1867204" y="2788920"/>
            <a:ext cx="4231844" cy="411480"/>
          </a:xfrm>
          <a:prstGeom prst="bentConnector3">
            <a:avLst/>
          </a:prstGeom>
          <a:ln w="1905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92784" y="4023360"/>
            <a:ext cx="233172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9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/>
            <a:r>
              <a:rPr sz="1200" b="0">
                <a:solidFill>
                  <a:srgbClr val="002B55"/>
                </a:solidFill>
                <a:latin typeface="Arial"/>
              </a:rPr>
              <a:t>Literature scanner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" y="4526280"/>
            <a:ext cx="233172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9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/>
            <a:r>
              <a:rPr sz="1200" b="0">
                <a:solidFill>
                  <a:srgbClr val="002B55"/>
                </a:solidFill>
                <a:latin typeface="Arial"/>
              </a:rPr>
              <a:t>Plan tracker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2784" y="5029200"/>
            <a:ext cx="233172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9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/>
            <a:r>
              <a:rPr sz="1200" b="0">
                <a:solidFill>
                  <a:srgbClr val="002B55"/>
                </a:solidFill>
                <a:latin typeface="Arial"/>
              </a:rPr>
              <a:t>Draft checker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29000" y="3200400"/>
            <a:ext cx="2514600" cy="640080"/>
          </a:xfrm>
          <a:prstGeom prst="roundRect">
            <a:avLst>
              <a:gd name="adj" fmla="val 12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</a:rPr>
              <a:t>Insights Engine</a:t>
            </a:r>
          </a:p>
        </p:txBody>
      </p:sp>
      <p:cxnSp>
        <p:nvCxnSpPr>
          <p:cNvPr id="22" name="Connector 21"/>
          <p:cNvCxnSpPr>
            <a:stCxn id="14" idx="2"/>
            <a:endCxn id="21" idx="0"/>
          </p:cNvCxnSpPr>
          <p:nvPr/>
        </p:nvCxnSpPr>
        <p:spPr>
          <a:xfrm flipH="1">
            <a:off x="4686300" y="2788920"/>
            <a:ext cx="1412748" cy="411480"/>
          </a:xfrm>
          <a:prstGeom prst="bentConnector3">
            <a:avLst/>
          </a:prstGeom>
          <a:ln w="1905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11880" y="4023360"/>
            <a:ext cx="233172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9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/>
            <a:r>
              <a:rPr sz="1200" b="0">
                <a:solidFill>
                  <a:srgbClr val="002B55"/>
                </a:solidFill>
                <a:latin typeface="Arial"/>
              </a:rPr>
              <a:t>Field-note reader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4526280"/>
            <a:ext cx="233172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9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/>
            <a:r>
              <a:rPr sz="1200" b="0">
                <a:solidFill>
                  <a:srgbClr val="002B55"/>
                </a:solidFill>
                <a:latin typeface="Arial"/>
              </a:rPr>
              <a:t>Theme clusterer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80" y="5029200"/>
            <a:ext cx="233172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9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/>
            <a:r>
              <a:rPr sz="1200" b="0">
                <a:solidFill>
                  <a:srgbClr val="002B55"/>
                </a:solidFill>
                <a:latin typeface="Arial"/>
              </a:rPr>
              <a:t>Insight writer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8095" y="3200400"/>
            <a:ext cx="2514600" cy="640080"/>
          </a:xfrm>
          <a:prstGeom prst="roundRect">
            <a:avLst>
              <a:gd name="adj" fmla="val 12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</a:rPr>
              <a:t>Congress Monitor</a:t>
            </a:r>
          </a:p>
        </p:txBody>
      </p:sp>
      <p:cxnSp>
        <p:nvCxnSpPr>
          <p:cNvPr id="27" name="Connector 26"/>
          <p:cNvCxnSpPr>
            <a:stCxn id="14" idx="2"/>
            <a:endCxn id="26" idx="0"/>
          </p:cNvCxnSpPr>
          <p:nvPr/>
        </p:nvCxnSpPr>
        <p:spPr>
          <a:xfrm>
            <a:off x="6099048" y="2788920"/>
            <a:ext cx="1406347" cy="411480"/>
          </a:xfrm>
          <a:prstGeom prst="bentConnector3">
            <a:avLst/>
          </a:prstGeom>
          <a:ln w="1905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430975" y="4023360"/>
            <a:ext cx="233172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9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/>
            <a:r>
              <a:rPr sz="1200" b="0">
                <a:solidFill>
                  <a:srgbClr val="002B55"/>
                </a:solidFill>
                <a:latin typeface="Arial"/>
              </a:rPr>
              <a:t>Abstract tracker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30975" y="4526280"/>
            <a:ext cx="233172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9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/>
            <a:r>
              <a:rPr sz="1200" b="0">
                <a:solidFill>
                  <a:srgbClr val="002B55"/>
                </a:solidFill>
                <a:latin typeface="Arial"/>
              </a:rPr>
              <a:t>Competitor watcher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30975" y="5029200"/>
            <a:ext cx="233172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9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/>
            <a:r>
              <a:rPr sz="1200" b="0">
                <a:solidFill>
                  <a:srgbClr val="002B55"/>
                </a:solidFill>
                <a:latin typeface="Arial"/>
              </a:rPr>
              <a:t>Readout drafter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67190" y="3200400"/>
            <a:ext cx="2514600" cy="640080"/>
          </a:xfrm>
          <a:prstGeom prst="roundRect">
            <a:avLst>
              <a:gd name="adj" fmla="val 12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500" b="1">
                <a:solidFill>
                  <a:srgbClr val="FFFFFF"/>
                </a:solidFill>
                <a:latin typeface="Bahnschrift"/>
              </a:rPr>
              <a:t>Field Intelligence</a:t>
            </a:r>
          </a:p>
        </p:txBody>
      </p:sp>
      <p:cxnSp>
        <p:nvCxnSpPr>
          <p:cNvPr id="32" name="Connector 31"/>
          <p:cNvCxnSpPr>
            <a:stCxn id="14" idx="2"/>
            <a:endCxn id="31" idx="0"/>
          </p:cNvCxnSpPr>
          <p:nvPr/>
        </p:nvCxnSpPr>
        <p:spPr>
          <a:xfrm>
            <a:off x="6099048" y="2788920"/>
            <a:ext cx="4225442" cy="411480"/>
          </a:xfrm>
          <a:prstGeom prst="bentConnector3">
            <a:avLst/>
          </a:prstGeom>
          <a:ln w="1905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50070" y="4023360"/>
            <a:ext cx="233172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9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/>
            <a:r>
              <a:rPr sz="1200" b="0">
                <a:solidFill>
                  <a:srgbClr val="002B55"/>
                </a:solidFill>
                <a:latin typeface="Arial"/>
              </a:rPr>
              <a:t>Account briefer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50070" y="4526280"/>
            <a:ext cx="233172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9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/>
            <a:r>
              <a:rPr sz="1200" b="0">
                <a:solidFill>
                  <a:srgbClr val="002B55"/>
                </a:solidFill>
                <a:latin typeface="Arial"/>
              </a:rPr>
              <a:t>KOL mapper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50070" y="5029200"/>
            <a:ext cx="2331720" cy="411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9C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l"/>
            <a:r>
              <a:rPr sz="1200" b="0">
                <a:solidFill>
                  <a:srgbClr val="002B55"/>
                </a:solidFill>
                <a:latin typeface="Arial"/>
              </a:rPr>
              <a:t>Question-bank builder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904" y="571500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400" b="0">
                <a:solidFill>
                  <a:srgbClr val="28455F"/>
                </a:solidFill>
                <a:latin typeface="Arial"/>
              </a:rPr>
              <a:t>Digital workers you assign, bound and review: you stay at the top of the chart</a:t>
            </a:r>
          </a:p>
        </p:txBody>
      </p:sp>
      <p:pic>
        <p:nvPicPr>
          <p:cNvPr id="410" name="Swarm org chart 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188720"/>
            <a:ext cx="2852928" cy="1604772"/>
          </a:xfrm>
          <a:prstGeom prst="roundRect">
            <a:avLst>
              <a:gd name="adj" fmla="val 6000"/>
            </a:avLst>
          </a:prstGeom>
          <a:ln w="12700">
            <a:solidFill>
              <a:srgbClr val="D9E3EA"/>
            </a:solidFill>
          </a:ln>
        </p:spPr>
      </p:pic>
      <p:sp>
        <p:nvSpPr>
          <p:cNvPr id="411" name="Left note"/>
          <p:cNvSpPr/>
          <p:nvPr/>
        </p:nvSpPr>
        <p:spPr>
          <a:xfrm>
            <a:off x="609905" y="1280160"/>
            <a:ext cx="3291840" cy="11887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600" b="1" lang="en-US" dirty="0">
                <a:solidFill>
                  <a:srgbClr val="007879"/>
                </a:solidFill>
                <a:latin typeface="Bahnschrift"/>
              </a:rPr>
              <a:t>Teams of workers, not one chatbot</a:t>
            </a:r>
          </a:p>
          <a:p>
            <a:pPr algn="l">
              <a:spcBef>
                <a:spcPts val="400"/>
              </a:spcBef>
            </a:pPr>
            <a:r>
              <a:rPr sz="1300" b="0" lang="en-US" dirty="0">
                <a:solidFill>
                  <a:srgbClr val="28455F"/>
                </a:solidFill>
                <a:latin typeface="Arial"/>
              </a:rPr>
              <a:t>Each team: a skill set + its own context</a:t>
            </a:r>
          </a:p>
        </p:txBody>
      </p:sp>
    </p:spTree>
    <p:extLst>
      <p:ext uri="{BB962C8B-B14F-4D97-AF65-F5344CB8AC3E}">
        <p14:creationId xmlns:p14="http://schemas.microsoft.com/office/powerpoint/2010/main" val="1987042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C2154F-9987-461E-ADAD-E24881F288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A85202-9FD7-442F-BEBC-AD6BEB2B953C}"/>
              </a:ext>
            </a:extLst>
          </p:cNvPr>
          <p:cNvSpPr>
            <a:spLocks noGrp="1"/>
          </p:cNvSpPr>
          <p:nvPr/>
        </p:nvSpPr>
        <p:spPr>
          <a:xfrm>
            <a:off x="609600" y="731520"/>
            <a:ext cx="4480560" cy="21945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7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>
              <a:spcAft>
                <a:spcPts val="400"/>
              </a:spcAft>
            </a:pPr>
            <a:r>
              <a:rPr sz="1600" b="1" lang="en-US" dirty="0">
                <a:solidFill>
                  <a:srgbClr val="F47735"/>
                </a:solidFill>
                <a:latin typeface="Bahnschrift"/>
              </a:rPr>
              <a:t>ACT 5</a:t>
            </a:r>
          </a:p>
          <a:p>
            <a:pPr algn="l"/>
            <a:r>
              <a:rPr sz="3000" b="1" lang="en-US" dirty="0">
                <a:solidFill>
                  <a:srgbClr val="002B55"/>
                </a:solidFill>
                <a:latin typeface="Bahnschrift"/>
              </a:rPr>
              <a:t>My use case:</a:t>
            </a:r>
          </a:p>
          <a:p>
            <a:pPr algn="l"/>
            <a:r>
              <a:rPr sz="3000" b="1" lang="en-US" dirty="0">
                <a:solidFill>
                  <a:srgbClr val="007879"/>
                </a:solidFill>
                <a:latin typeface="Bahnschrift"/>
              </a:rPr>
              <a:t>the whole launch plan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E6D0D8-0C6A-487F-A8A5-37788351F576}"/>
              </a:ext>
            </a:extLst>
          </p:cNvPr>
          <p:cNvSpPr>
            <a:spLocks noGrp="1"/>
          </p:cNvSpPr>
          <p:nvPr/>
        </p:nvSpPr>
        <p:spPr>
          <a:xfrm>
            <a:off x="609600" y="3200400"/>
            <a:ext cx="4023360" cy="11887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900" b="0" lang="en-US" dirty="0">
                <a:solidFill>
                  <a:srgbClr val="002B55"/>
                </a:solidFill>
                <a:latin typeface="Arial"/>
              </a:rPr>
              <a:t>A team of digital workers builds it.</a:t>
            </a:r>
          </a:p>
          <a:p>
            <a:pPr algn="l"/>
            <a:r>
              <a:rPr sz="1900" b="1" lang="en-US" dirty="0">
                <a:solidFill>
                  <a:srgbClr val="F47735"/>
                </a:solidFill>
                <a:latin typeface="Arial"/>
              </a:rPr>
              <a:t>A human decides.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DB6773-63AC-4BA0-908E-D86C6157F10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ED6512-4E60-47E1-8835-506F0928EB0B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8A560A-6F60-4397-AA8F-4A30EB309DDF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9914690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7EFFB7-1803-4CE9-B718-D866EAC71E6D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Today: fourteen decks, no owner of the joins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9D377F-019B-4F6D-937B-8035152C92F1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99CDC5-E901-4D5B-9DEB-0A9D1BF2CA1C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B67FA0A-5DB1-48B6-9604-AC804359D15D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32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904" y="1600200"/>
            <a:ext cx="10972800" cy="86868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904" y="1600200"/>
            <a:ext cx="1417320" cy="868680"/>
          </a:xfrm>
          <a:prstGeom prst="rect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200" b="1">
                <a:solidFill>
                  <a:srgbClr val="FFFFFF"/>
                </a:solidFill>
                <a:latin typeface="Bahnschrift"/>
              </a:rPr>
              <a:t>Medical lead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904" y="2560320"/>
            <a:ext cx="10972800" cy="86868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904" y="2560320"/>
            <a:ext cx="1417320" cy="868680"/>
          </a:xfrm>
          <a:prstGeom prst="rect">
            <a:avLst/>
          </a:prstGeom>
          <a:solidFill>
            <a:srgbClr val="1D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200" b="1">
                <a:solidFill>
                  <a:srgbClr val="FFFFFF"/>
                </a:solidFill>
                <a:latin typeface="Bahnschrift"/>
              </a:rPr>
              <a:t>Agencies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9904" y="3520440"/>
            <a:ext cx="10972800" cy="86868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9904" y="3520440"/>
            <a:ext cx="1417320" cy="868680"/>
          </a:xfrm>
          <a:prstGeom prst="rect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200" b="1">
                <a:solidFill>
                  <a:srgbClr val="FFFFFF"/>
                </a:solidFill>
                <a:latin typeface="Bahnschrift"/>
              </a:rPr>
              <a:t>14 workstreams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904" y="4480560"/>
            <a:ext cx="10972800" cy="86868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09904" y="4480560"/>
            <a:ext cx="1417320" cy="868680"/>
          </a:xfrm>
          <a:prstGeom prst="rect">
            <a:avLst/>
          </a:prstGeom>
          <a:solidFill>
            <a:srgbClr val="2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200" b="1">
                <a:solidFill>
                  <a:srgbClr val="FFFFFF"/>
                </a:solidFill>
                <a:latin typeface="Bahnschrift"/>
              </a:rPr>
              <a:t>Steering committee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8840" y="1261872"/>
            <a:ext cx="2743200" cy="2743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100" b="0">
                <a:solidFill>
                  <a:srgbClr val="8A9BAA"/>
                </a:solidFill>
                <a:latin typeface="Arial"/>
              </a:rPr>
              <a:t>L-24 months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9680" y="1261872"/>
            <a:ext cx="2743200" cy="2743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r"/>
            <a:r>
              <a:rPr sz="1100" b="0">
                <a:solidFill>
                  <a:srgbClr val="8A9BAA"/>
                </a:solidFill>
                <a:latin typeface="Arial"/>
              </a:rPr>
              <a:t>Launch →  L+12  (illustrative)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48840" y="1751076"/>
            <a:ext cx="9144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50" b="1">
                <a:solidFill>
                  <a:srgbClr val="002B55"/>
                </a:solidFill>
                <a:latin typeface="Arial"/>
              </a:rPr>
              <a:t>Kick-off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54680" y="2711196"/>
            <a:ext cx="9144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D5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50" b="1">
                <a:solidFill>
                  <a:srgbClr val="002B55"/>
                </a:solidFill>
                <a:latin typeface="Arial"/>
              </a:rPr>
              <a:t>Situation deck</a:t>
            </a:r>
          </a:p>
        </p:txBody>
      </p:sp>
      <p:cxnSp>
        <p:nvCxnSpPr>
          <p:cNvPr id="43" name="Connector 42"/>
          <p:cNvCxnSpPr>
            <a:stCxn id="41" idx="3"/>
            <a:endCxn id="42" idx="1"/>
          </p:cNvCxnSpPr>
          <p:nvPr/>
        </p:nvCxnSpPr>
        <p:spPr>
          <a:xfrm>
            <a:off x="3063240" y="2034540"/>
            <a:ext cx="91440" cy="960120"/>
          </a:xfrm>
          <a:prstGeom prst="bentConnector3">
            <a:avLst/>
          </a:prstGeom>
          <a:ln w="15875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4160520" y="1751076"/>
            <a:ext cx="9144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50" b="1">
                <a:solidFill>
                  <a:srgbClr val="002B55"/>
                </a:solidFill>
                <a:latin typeface="Arial"/>
              </a:rPr>
              <a:t>Strategy workshop</a:t>
            </a:r>
          </a:p>
        </p:txBody>
      </p:sp>
      <p:cxnSp>
        <p:nvCxnSpPr>
          <p:cNvPr id="45" name="Connector 44"/>
          <p:cNvCxnSpPr>
            <a:stCxn id="42" idx="3"/>
            <a:endCxn id="44" idx="1"/>
          </p:cNvCxnSpPr>
          <p:nvPr/>
        </p:nvCxnSpPr>
        <p:spPr>
          <a:xfrm flipV="1">
            <a:off x="4069080" y="2034540"/>
            <a:ext cx="91440" cy="960120"/>
          </a:xfrm>
          <a:prstGeom prst="bentConnector3">
            <a:avLst/>
          </a:prstGeom>
          <a:ln w="15875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5166360" y="2711196"/>
            <a:ext cx="9144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D5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50" b="1">
                <a:solidFill>
                  <a:srgbClr val="002B55"/>
                </a:solidFill>
                <a:latin typeface="Arial"/>
              </a:rPr>
              <a:t>Platform drafts</a:t>
            </a:r>
          </a:p>
        </p:txBody>
      </p:sp>
      <p:cxnSp>
        <p:nvCxnSpPr>
          <p:cNvPr id="47" name="Connector 46"/>
          <p:cNvCxnSpPr>
            <a:stCxn id="44" idx="3"/>
            <a:endCxn id="46" idx="1"/>
          </p:cNvCxnSpPr>
          <p:nvPr/>
        </p:nvCxnSpPr>
        <p:spPr>
          <a:xfrm>
            <a:off x="5074920" y="2034540"/>
            <a:ext cx="91440" cy="960120"/>
          </a:xfrm>
          <a:prstGeom prst="bentConnector3">
            <a:avLst/>
          </a:prstGeom>
          <a:ln w="15875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6172200" y="3671315"/>
            <a:ext cx="9144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50" b="1" lang="en-US" dirty="0">
                <a:solidFill>
                  <a:srgbClr val="002B55"/>
                </a:solidFill>
                <a:latin typeface="Arial"/>
              </a:rPr>
              <a:t>IEP in sheets</a:t>
            </a:r>
          </a:p>
        </p:txBody>
      </p:sp>
      <p:cxnSp>
        <p:nvCxnSpPr>
          <p:cNvPr id="49" name="Connector 48"/>
          <p:cNvCxnSpPr>
            <a:stCxn id="46" idx="3"/>
            <a:endCxn id="48" idx="1"/>
          </p:cNvCxnSpPr>
          <p:nvPr/>
        </p:nvCxnSpPr>
        <p:spPr>
          <a:xfrm>
            <a:off x="6080760" y="2994660"/>
            <a:ext cx="91440" cy="960119"/>
          </a:xfrm>
          <a:prstGeom prst="bentConnector3">
            <a:avLst/>
          </a:prstGeom>
          <a:ln w="15875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178040" y="3671315"/>
            <a:ext cx="9144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50" b="1">
                <a:solidFill>
                  <a:srgbClr val="002B55"/>
                </a:solidFill>
                <a:latin typeface="Arial"/>
              </a:rPr>
              <a:t>Pubs, field, training, MI</a:t>
            </a:r>
          </a:p>
        </p:txBody>
      </p:sp>
      <p:cxnSp>
        <p:nvCxnSpPr>
          <p:cNvPr id="51" name="Connector 50"/>
          <p:cNvCxnSpPr>
            <a:stCxn id="48" idx="3"/>
            <a:endCxn id="50" idx="1"/>
          </p:cNvCxnSpPr>
          <p:nvPr/>
        </p:nvCxnSpPr>
        <p:spPr>
          <a:xfrm flipV="1">
            <a:off x="7086600" y="3954779"/>
            <a:ext cx="91440" cy="0"/>
          </a:xfrm>
          <a:prstGeom prst="bentConnector3">
            <a:avLst/>
          </a:prstGeom>
          <a:ln w="15875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183880" y="4631436"/>
            <a:ext cx="9144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84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50" b="1">
                <a:solidFill>
                  <a:srgbClr val="002B55"/>
                </a:solidFill>
                <a:latin typeface="Arial"/>
              </a:rPr>
              <a:t>RAG status decks</a:t>
            </a:r>
          </a:p>
        </p:txBody>
      </p:sp>
      <p:cxnSp>
        <p:nvCxnSpPr>
          <p:cNvPr id="53" name="Connector 52"/>
          <p:cNvCxnSpPr>
            <a:stCxn id="50" idx="3"/>
            <a:endCxn id="52" idx="1"/>
          </p:cNvCxnSpPr>
          <p:nvPr/>
        </p:nvCxnSpPr>
        <p:spPr>
          <a:xfrm>
            <a:off x="8092440" y="3954779"/>
            <a:ext cx="91440" cy="960121"/>
          </a:xfrm>
          <a:prstGeom prst="bentConnector3">
            <a:avLst/>
          </a:prstGeom>
          <a:ln w="15875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9189720" y="1751076"/>
            <a:ext cx="9144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50" b="1">
                <a:solidFill>
                  <a:srgbClr val="002B55"/>
                </a:solidFill>
                <a:latin typeface="Arial"/>
              </a:rPr>
              <a:t>Rework after label</a:t>
            </a:r>
          </a:p>
        </p:txBody>
      </p:sp>
      <p:cxnSp>
        <p:nvCxnSpPr>
          <p:cNvPr id="55" name="Connector 54"/>
          <p:cNvCxnSpPr>
            <a:stCxn id="52" idx="3"/>
            <a:endCxn id="54" idx="1"/>
          </p:cNvCxnSpPr>
          <p:nvPr/>
        </p:nvCxnSpPr>
        <p:spPr>
          <a:xfrm flipV="1">
            <a:off x="9098280" y="2034540"/>
            <a:ext cx="91440" cy="2880360"/>
          </a:xfrm>
          <a:prstGeom prst="bentConnector3">
            <a:avLst/>
          </a:prstGeom>
          <a:ln w="15875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10195560" y="4631436"/>
            <a:ext cx="914400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2845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150" b="1">
                <a:solidFill>
                  <a:srgbClr val="002B55"/>
                </a:solidFill>
                <a:latin typeface="Arial"/>
              </a:rPr>
              <a:t>Launch</a:t>
            </a:r>
          </a:p>
        </p:txBody>
      </p:sp>
      <p:cxnSp>
        <p:nvCxnSpPr>
          <p:cNvPr id="57" name="Connector 56"/>
          <p:cNvCxnSpPr>
            <a:stCxn id="54" idx="3"/>
            <a:endCxn id="56" idx="1"/>
          </p:cNvCxnSpPr>
          <p:nvPr/>
        </p:nvCxnSpPr>
        <p:spPr>
          <a:xfrm>
            <a:off x="10104120" y="2034540"/>
            <a:ext cx="91440" cy="2880360"/>
          </a:xfrm>
          <a:prstGeom prst="bentConnector3">
            <a:avLst/>
          </a:prstGeom>
          <a:ln w="15875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609904" y="5486400"/>
            <a:ext cx="3520440" cy="658368"/>
          </a:xfrm>
          <a:prstGeom prst="roundRect">
            <a:avLst>
              <a:gd name="adj" fmla="val 10000"/>
            </a:avLst>
          </a:prstGeom>
          <a:solidFill>
            <a:srgbClr val="FD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400" b="1">
                <a:solidFill>
                  <a:srgbClr val="B4501F"/>
                </a:solidFill>
                <a:latin typeface="Arial"/>
              </a:rPr>
              <a:t>No owner of the joins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36084" y="5486400"/>
            <a:ext cx="3520440" cy="658368"/>
          </a:xfrm>
          <a:prstGeom prst="roundRect">
            <a:avLst>
              <a:gd name="adj" fmla="val 10000"/>
            </a:avLst>
          </a:prstGeom>
          <a:solidFill>
            <a:srgbClr val="FD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400" b="1">
                <a:solidFill>
                  <a:srgbClr val="B4501F"/>
                </a:solidFill>
                <a:latin typeface="Arial"/>
              </a:rPr>
              <a:t>Label lands late → rework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62264" y="5486400"/>
            <a:ext cx="3520440" cy="658368"/>
          </a:xfrm>
          <a:prstGeom prst="roundRect">
            <a:avLst>
              <a:gd name="adj" fmla="val 10000"/>
            </a:avLst>
          </a:prstGeom>
          <a:solidFill>
            <a:srgbClr val="FD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400" b="1">
                <a:solidFill>
                  <a:srgbClr val="B4501F"/>
                </a:solidFill>
                <a:latin typeface="Arial"/>
              </a:rPr>
              <a:t>Status theatre: overall Green, Safety Red</a:t>
            </a:r>
          </a:p>
        </p:txBody>
      </p:sp>
      <p:sp>
        <p:nvSpPr>
          <p:cNvPr id="420" name="Weeks note"/>
          <p:cNvSpPr/>
          <p:nvPr/>
        </p:nvSpPr>
        <p:spPr>
          <a:xfrm>
            <a:off x="4983480" y="1216152"/>
            <a:ext cx="3840480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100" b="1" lang="en-US" dirty="0">
                <a:solidFill>
                  <a:srgbClr val="B4501F"/>
                </a:solidFill>
                <a:latin typeface="Arial"/>
              </a:rPr>
              <a:t>Weeks of assembly, dozens of meetings (illustrative)</a:t>
            </a:r>
          </a:p>
        </p:txBody>
      </p:sp>
    </p:spTree>
    <p:extLst>
      <p:ext uri="{BB962C8B-B14F-4D97-AF65-F5344CB8AC3E}">
        <p14:creationId xmlns:p14="http://schemas.microsoft.com/office/powerpoint/2010/main" val="1974688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843AFC9-DD8A-4F1B-BFFF-28BEE40A54A2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40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000" b="1" lang="en-US" dirty="0">
                <a:solidFill>
                  <a:srgbClr val="002B55"/>
                </a:solidFill>
                <a:latin typeface="Bahnschrift"/>
              </a:rPr>
              <a:t>The launch plan swarm: an org chart of digital workers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1DDCBE-9D4C-4C58-9102-DDBB813DE73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5BD49C-402E-493A-9A9F-00D1106CD195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9CA41F3-1A4D-4F89-A663-F689A4EF6AA0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33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87368" y="1188720"/>
            <a:ext cx="4023360" cy="548640"/>
          </a:xfrm>
          <a:prstGeom prst="roundRect">
            <a:avLst>
              <a:gd name="adj" fmla="val 12000"/>
            </a:avLst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 lang="en-US" dirty="0">
                <a:solidFill>
                  <a:srgbClr val="FFFFFF"/>
                </a:solidFill>
                <a:latin typeface="Bahnschrift"/>
              </a:rPr>
              <a:t>Launch Medical Director · human, final judge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7448" y="1920240"/>
            <a:ext cx="2743200" cy="502920"/>
          </a:xfrm>
          <a:prstGeom prst="roundRect">
            <a:avLst>
              <a:gd name="adj" fmla="val 12000"/>
            </a:avLst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300" b="1">
                <a:solidFill>
                  <a:srgbClr val="FFFFFF"/>
                </a:solidFill>
                <a:latin typeface="Bahnschrift"/>
              </a:rPr>
              <a:t>Launch Lead · coordinator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1188720"/>
            <a:ext cx="2670048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4773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400" b="1" lang="en-US" dirty="0">
                <a:solidFill>
                  <a:srgbClr val="F47735"/>
                </a:solidFill>
                <a:latin typeface="Bahnschrift"/>
              </a:rPr>
              <a:t>Readiness Auditor</a:t>
            </a:r>
          </a:p>
          <a:p>
            <a:pPr algn="ctr"/>
            <a:r>
              <a:rPr sz="1100" b="0" lang="en-US" dirty="0">
                <a:solidFill>
                  <a:srgbClr val="28455F"/>
                </a:solidFill>
                <a:latin typeface="Arial"/>
              </a:rPr>
              <a:t>reports to the human, not the Lead</a:t>
            </a:r>
          </a:p>
        </p:txBody>
      </p:sp>
      <p:cxnSp>
        <p:nvCxnSpPr>
          <p:cNvPr id="20" name="Connector 19"/>
          <p:cNvCxnSpPr>
            <a:stCxn id="17" idx="2"/>
            <a:endCxn id="18" idx="0"/>
          </p:cNvCxnSpPr>
          <p:nvPr/>
        </p:nvCxnSpPr>
        <p:spPr>
          <a:xfrm flipH="1">
            <a:off x="6099048" y="1737360"/>
            <a:ext cx="0" cy="182880"/>
          </a:xfrm>
          <a:prstGeom prst="bentConnector3">
            <a:avLst/>
          </a:prstGeom>
          <a:ln w="22225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9" idx="1"/>
            <a:endCxn id="17" idx="3"/>
          </p:cNvCxnSpPr>
          <p:nvPr/>
        </p:nvCxnSpPr>
        <p:spPr>
          <a:xfrm flipH="1" flipV="1">
            <a:off x="8110728" y="1463040"/>
            <a:ext cx="804672" cy="0"/>
          </a:xfrm>
          <a:prstGeom prst="line">
            <a:avLst/>
          </a:prstGeom>
          <a:ln w="19050">
            <a:solidFill>
              <a:srgbClr val="F4773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Diamond 21"/>
          <p:cNvSpPr/>
          <p:nvPr/>
        </p:nvSpPr>
        <p:spPr>
          <a:xfrm>
            <a:off x="609904" y="1143000"/>
            <a:ext cx="502920" cy="502920"/>
          </a:xfrm>
          <a:prstGeom prst="diamond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hnschrift"/>
              </a:rPr>
              <a:t>G1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1188720"/>
            <a:ext cx="283464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200" b="1" lang="en-US" dirty="0">
                <a:solidFill>
                  <a:srgbClr val="002B55"/>
                </a:solidFill>
                <a:latin typeface="Arial"/>
              </a:rPr>
              <a:t>Gate 1 · human approves strategy, platform, evidence</a:t>
            </a:r>
          </a:p>
        </p:txBody>
      </p:sp>
      <p:sp>
        <p:nvSpPr>
          <p:cNvPr id="24" name="Diamond 23"/>
          <p:cNvSpPr/>
          <p:nvPr/>
        </p:nvSpPr>
        <p:spPr>
          <a:xfrm>
            <a:off x="609904" y="1737360"/>
            <a:ext cx="502920" cy="502920"/>
          </a:xfrm>
          <a:prstGeom prst="diamond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hnschrift"/>
              </a:rPr>
              <a:t>G2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1783080"/>
            <a:ext cx="283464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200" b="1" lang="en-US" dirty="0">
                <a:solidFill>
                  <a:srgbClr val="002B55"/>
                </a:solidFill>
                <a:latin typeface="Arial"/>
              </a:rPr>
              <a:t>Gate 2 · human verdict: accept, send back, or not ready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904" y="2743200"/>
            <a:ext cx="2084831" cy="548640"/>
          </a:xfrm>
          <a:prstGeom prst="roundRect">
            <a:avLst>
              <a:gd name="adj" fmla="val 12000"/>
            </a:avLst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300" b="1">
                <a:solidFill>
                  <a:srgbClr val="FFFFFF"/>
                </a:solidFill>
                <a:latin typeface="Bahnschrift"/>
              </a:rPr>
              <a:t>Strategy &amp; Evidence</a:t>
            </a:r>
          </a:p>
        </p:txBody>
      </p:sp>
      <p:cxnSp>
        <p:nvCxnSpPr>
          <p:cNvPr id="27" name="Connector 26"/>
          <p:cNvCxnSpPr>
            <a:stCxn id="18" idx="2"/>
            <a:endCxn id="26" idx="0"/>
          </p:cNvCxnSpPr>
          <p:nvPr/>
        </p:nvCxnSpPr>
        <p:spPr>
          <a:xfrm flipH="1">
            <a:off x="1652319" y="2423160"/>
            <a:ext cx="4446729" cy="320040"/>
          </a:xfrm>
          <a:prstGeom prst="bentConnector3">
            <a:avLst/>
          </a:prstGeom>
          <a:ln w="15875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09904" y="3429000"/>
            <a:ext cx="2084831" cy="365760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Strategy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9904" y="3858768"/>
            <a:ext cx="2084831" cy="365760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Evidence Architect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904" y="4288536"/>
            <a:ext cx="2084831" cy="365760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Value &amp; Access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31896" y="2743200"/>
            <a:ext cx="2084831" cy="548640"/>
          </a:xfrm>
          <a:prstGeom prst="roundRect">
            <a:avLst>
              <a:gd name="adj" fmla="val 12000"/>
            </a:avLst>
          </a:prstGeom>
          <a:solidFill>
            <a:srgbClr val="1F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300" b="1">
                <a:solidFill>
                  <a:srgbClr val="FFFFFF"/>
                </a:solidFill>
                <a:latin typeface="Bahnschrift"/>
              </a:rPr>
              <a:t>Narrative &amp; Communication</a:t>
            </a:r>
          </a:p>
        </p:txBody>
      </p:sp>
      <p:cxnSp>
        <p:nvCxnSpPr>
          <p:cNvPr id="32" name="Connector 31"/>
          <p:cNvCxnSpPr>
            <a:stCxn id="18" idx="2"/>
            <a:endCxn id="31" idx="0"/>
          </p:cNvCxnSpPr>
          <p:nvPr/>
        </p:nvCxnSpPr>
        <p:spPr>
          <a:xfrm flipH="1">
            <a:off x="3874311" y="2423160"/>
            <a:ext cx="2224737" cy="320040"/>
          </a:xfrm>
          <a:prstGeom prst="bentConnector3">
            <a:avLst/>
          </a:prstGeom>
          <a:ln w="15875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831896" y="3429000"/>
            <a:ext cx="2084831" cy="365760"/>
          </a:xfrm>
          <a:prstGeom prst="roundRect">
            <a:avLst>
              <a:gd name="adj" fmla="val 12000"/>
            </a:avLst>
          </a:prstGeom>
          <a:solidFill>
            <a:srgbClr val="E6EFF8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Narrative Architect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31896" y="3858768"/>
            <a:ext cx="2084831" cy="365760"/>
          </a:xfrm>
          <a:prstGeom prst="roundRect">
            <a:avLst>
              <a:gd name="adj" fmla="val 12000"/>
            </a:avLst>
          </a:prstGeom>
          <a:solidFill>
            <a:srgbClr val="E6EFF8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Pubs &amp; Congress Planner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31896" y="4288536"/>
            <a:ext cx="2084831" cy="365760"/>
          </a:xfrm>
          <a:prstGeom prst="roundRect">
            <a:avLst>
              <a:gd name="adj" fmla="val 12000"/>
            </a:avLst>
          </a:prstGeom>
          <a:solidFill>
            <a:srgbClr val="E6EFF8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Guideline Scout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53888" y="2743200"/>
            <a:ext cx="2084831" cy="548640"/>
          </a:xfrm>
          <a:prstGeom prst="roundRect">
            <a:avLst>
              <a:gd name="adj" fmla="val 12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300" b="1">
                <a:solidFill>
                  <a:srgbClr val="FFFFFF"/>
                </a:solidFill>
                <a:latin typeface="Bahnschrift"/>
              </a:rPr>
              <a:t>External Engagement</a:t>
            </a:r>
          </a:p>
        </p:txBody>
      </p:sp>
      <p:cxnSp>
        <p:nvCxnSpPr>
          <p:cNvPr id="37" name="Connector 36"/>
          <p:cNvCxnSpPr>
            <a:stCxn id="18" idx="2"/>
            <a:endCxn id="36" idx="0"/>
          </p:cNvCxnSpPr>
          <p:nvPr/>
        </p:nvCxnSpPr>
        <p:spPr>
          <a:xfrm flipH="1">
            <a:off x="6096303" y="2423160"/>
            <a:ext cx="2745" cy="320040"/>
          </a:xfrm>
          <a:prstGeom prst="bentConnector3">
            <a:avLst/>
          </a:prstGeom>
          <a:ln w="15875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053888" y="3429000"/>
            <a:ext cx="2084831" cy="365760"/>
          </a:xfrm>
          <a:prstGeom prst="roundRect">
            <a:avLst>
              <a:gd name="adj" fmla="val 12000"/>
            </a:avLst>
          </a:prstGeom>
          <a:solidFill>
            <a:srgbClr val="E3F1F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Field Medical Planner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53888" y="3858768"/>
            <a:ext cx="2084831" cy="365760"/>
          </a:xfrm>
          <a:prstGeom prst="roundRect">
            <a:avLst>
              <a:gd name="adj" fmla="val 12000"/>
            </a:avLst>
          </a:prstGeom>
          <a:solidFill>
            <a:srgbClr val="E3F1F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Field Training Lead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53888" y="4288536"/>
            <a:ext cx="2084831" cy="365760"/>
          </a:xfrm>
          <a:prstGeom prst="roundRect">
            <a:avLst>
              <a:gd name="adj" fmla="val 12000"/>
            </a:avLst>
          </a:prstGeom>
          <a:solidFill>
            <a:srgbClr val="E3F1F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Expert Input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53888" y="4718304"/>
            <a:ext cx="2084831" cy="365760"/>
          </a:xfrm>
          <a:prstGeom prst="roundRect">
            <a:avLst>
              <a:gd name="adj" fmla="val 12000"/>
            </a:avLst>
          </a:prstGeom>
          <a:solidFill>
            <a:srgbClr val="E3F1F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Education Designer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53888" y="5148072"/>
            <a:ext cx="2084831" cy="365760"/>
          </a:xfrm>
          <a:prstGeom prst="roundRect">
            <a:avLst>
              <a:gd name="adj" fmla="val 12000"/>
            </a:avLst>
          </a:prstGeom>
          <a:solidFill>
            <a:srgbClr val="E3F1F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Patient Partnership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75880" y="2743200"/>
            <a:ext cx="2084831" cy="548640"/>
          </a:xfrm>
          <a:prstGeom prst="roundRect">
            <a:avLst>
              <a:gd name="adj" fmla="val 12000"/>
            </a:avLst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300" b="1">
                <a:solidFill>
                  <a:srgbClr val="FFFFFF"/>
                </a:solidFill>
                <a:latin typeface="Bahnschrift"/>
              </a:rPr>
              <a:t>Answer &amp; Protect</a:t>
            </a:r>
          </a:p>
        </p:txBody>
      </p:sp>
      <p:cxnSp>
        <p:nvCxnSpPr>
          <p:cNvPr id="44" name="Connector 43"/>
          <p:cNvCxnSpPr>
            <a:stCxn id="18" idx="2"/>
            <a:endCxn id="43" idx="0"/>
          </p:cNvCxnSpPr>
          <p:nvPr/>
        </p:nvCxnSpPr>
        <p:spPr>
          <a:xfrm>
            <a:off x="6099048" y="2423160"/>
            <a:ext cx="2219247" cy="320040"/>
          </a:xfrm>
          <a:prstGeom prst="bentConnector3">
            <a:avLst/>
          </a:prstGeom>
          <a:ln w="15875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7275880" y="3429000"/>
            <a:ext cx="2084831" cy="365760"/>
          </a:xfrm>
          <a:prstGeom prst="roundRect">
            <a:avLst>
              <a:gd name="adj" fmla="val 12000"/>
            </a:avLst>
          </a:prstGeom>
          <a:solidFill>
            <a:srgbClr val="E6F4F3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Medical Information Lead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275880" y="3858768"/>
            <a:ext cx="2084831" cy="365760"/>
          </a:xfrm>
          <a:prstGeom prst="roundRect">
            <a:avLst>
              <a:gd name="adj" fmla="val 12000"/>
            </a:avLst>
          </a:prstGeom>
          <a:solidFill>
            <a:srgbClr val="E6F4F3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Safety Liaison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75880" y="4288536"/>
            <a:ext cx="2084831" cy="365760"/>
          </a:xfrm>
          <a:prstGeom prst="roundRect">
            <a:avLst>
              <a:gd name="adj" fmla="val 12000"/>
            </a:avLst>
          </a:prstGeom>
          <a:solidFill>
            <a:srgbClr val="E6F4F3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Content &amp; MLR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97872" y="2743200"/>
            <a:ext cx="2084831" cy="548640"/>
          </a:xfrm>
          <a:prstGeom prst="roundRect">
            <a:avLst>
              <a:gd name="adj" fmla="val 12000"/>
            </a:avLst>
          </a:prstGeom>
          <a:solidFill>
            <a:srgbClr val="2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300" b="1">
                <a:solidFill>
                  <a:srgbClr val="FFFFFF"/>
                </a:solidFill>
                <a:latin typeface="Bahnschrift"/>
              </a:rPr>
              <a:t>Measure &amp; Govern</a:t>
            </a:r>
          </a:p>
        </p:txBody>
      </p:sp>
      <p:cxnSp>
        <p:nvCxnSpPr>
          <p:cNvPr id="49" name="Connector 48"/>
          <p:cNvCxnSpPr>
            <a:stCxn id="18" idx="2"/>
            <a:endCxn id="48" idx="0"/>
          </p:cNvCxnSpPr>
          <p:nvPr/>
        </p:nvCxnSpPr>
        <p:spPr>
          <a:xfrm>
            <a:off x="6099048" y="2423160"/>
            <a:ext cx="4441239" cy="320040"/>
          </a:xfrm>
          <a:prstGeom prst="bentConnector3">
            <a:avLst/>
          </a:prstGeom>
          <a:ln w="15875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9497872" y="3429000"/>
            <a:ext cx="2084831" cy="365760"/>
          </a:xfrm>
          <a:prstGeom prst="roundRect">
            <a:avLst>
              <a:gd name="adj" fmla="val 12000"/>
            </a:avLst>
          </a:prstGeom>
          <a:solidFill>
            <a:srgbClr val="ECEFF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Launch PMO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97872" y="3858768"/>
            <a:ext cx="2084831" cy="365760"/>
          </a:xfrm>
          <a:prstGeom prst="roundRect">
            <a:avLst>
              <a:gd name="adj" fmla="val 12000"/>
            </a:avLst>
          </a:prstGeom>
          <a:solidFill>
            <a:srgbClr val="ECEFF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Metrics Analyst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9904" y="566928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400" b="1" lang="en-US" dirty="0">
                <a:solidFill>
                  <a:srgbClr val="007879"/>
                </a:solidFill>
                <a:latin typeface="Bahnschrift"/>
              </a:rPr>
              <a:t>16 specialists · 5 pods · 1 coordinator · 1 auditor · 2 gates · </a:t>
            </a:r>
            <a:r>
              <a:rPr sz="1400" b="1" lang="en-US" dirty="0">
                <a:solidFill>
                  <a:srgbClr val="F47735"/>
                </a:solidFill>
                <a:latin typeface="Bahnschrift"/>
              </a:rPr>
              <a:t>a human is the final judge</a:t>
            </a:r>
          </a:p>
        </p:txBody>
      </p:sp>
    </p:spTree>
    <p:extLst>
      <p:ext uri="{BB962C8B-B14F-4D97-AF65-F5344CB8AC3E}">
        <p14:creationId xmlns:p14="http://schemas.microsoft.com/office/powerpoint/2010/main" val="762529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1E1502B-6E78-4082-ADF1-74D5798E6E73}"/>
              </a:ext>
            </a:extLst>
          </p:cNvPr>
          <p:cNvSpPr>
            <a:spLocks noGrp="1"/>
          </p:cNvSpPr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How it runs: waves and human gates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7EEA69-1588-4F22-965F-14C3C8176C3E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0CA044-5635-4CEB-BDF6-D8ACFDF23CAF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E33E86B-91DB-49FF-9DF9-0894E3FC4F9A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34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9904" y="2834640"/>
            <a:ext cx="1325880" cy="1188720"/>
          </a:xfrm>
          <a:prstGeom prst="roundRect">
            <a:avLst>
              <a:gd name="adj" fmla="val 12000"/>
            </a:avLst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/>
            <a:r>
              <a:rPr sz="1400" b="1" lang="en-US" dirty="0">
                <a:solidFill>
                  <a:srgbClr val="FFFFFF"/>
                </a:solidFill>
                <a:latin typeface="Bahnschrift"/>
              </a:rPr>
              <a:t>Wave 0</a:t>
            </a:r>
          </a:p>
          <a:p>
            <a:pPr algn="ctr"/>
            <a:r>
              <a:rPr sz="1100" b="0" lang="en-US" dirty="0">
                <a:solidFill>
                  <a:srgbClr val="FFFFFF"/>
                </a:solidFill>
                <a:latin typeface="Arial"/>
              </a:rPr>
              <a:t>Launch Lead: facts sheet + six-month question list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12848" y="2240280"/>
            <a:ext cx="1600200" cy="246888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A9C6C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12848" y="1874519"/>
            <a:ext cx="1600200" cy="32004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200" b="1">
                <a:solidFill>
                  <a:srgbClr val="007879"/>
                </a:solidFill>
                <a:latin typeface="Bahnschrift"/>
              </a:rPr>
              <a:t>Wave 1 · parallel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304288" y="2331720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Strategy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04288" y="2788920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04288" y="3246120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Narrative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04288" y="3703320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Value &amp; Access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04288" y="4160520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Guideline Scout</a:t>
            </a:r>
          </a:p>
        </p:txBody>
      </p:sp>
      <p:sp>
        <p:nvSpPr>
          <p:cNvPr id="36" name="Diamond 35"/>
          <p:cNvSpPr/>
          <p:nvPr/>
        </p:nvSpPr>
        <p:spPr>
          <a:xfrm>
            <a:off x="4023360" y="2971800"/>
            <a:ext cx="914400" cy="914400"/>
          </a:xfrm>
          <a:prstGeom prst="diamond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Bahnschrift"/>
              </a:rPr>
              <a:t>Gate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94760" y="3977639"/>
            <a:ext cx="137160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100" b="1">
                <a:solidFill>
                  <a:srgbClr val="F47735"/>
                </a:solidFill>
                <a:latin typeface="Arial"/>
              </a:rPr>
              <a:t>Human approves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20640" y="2240280"/>
            <a:ext cx="2788920" cy="246888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A9C6C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20640" y="1874519"/>
            <a:ext cx="2788920" cy="32004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200" b="1">
                <a:solidFill>
                  <a:srgbClr val="007879"/>
                </a:solidFill>
                <a:latin typeface="Bahnschrift"/>
              </a:rPr>
              <a:t>Wave 2 · parallel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12080" y="2331720"/>
            <a:ext cx="1261872" cy="384048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100" b="1">
                <a:solidFill>
                  <a:srgbClr val="002B55"/>
                </a:solidFill>
                <a:latin typeface="Arial"/>
              </a:rPr>
              <a:t>Pubs &amp; Congress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12080" y="2788920"/>
            <a:ext cx="1261872" cy="384048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100" b="1">
                <a:solidFill>
                  <a:srgbClr val="002B55"/>
                </a:solidFill>
                <a:latin typeface="Arial"/>
              </a:rPr>
              <a:t>Field Medical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3246120"/>
            <a:ext cx="1261872" cy="384048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100" b="1">
                <a:solidFill>
                  <a:srgbClr val="002B55"/>
                </a:solidFill>
                <a:latin typeface="Arial"/>
              </a:rPr>
              <a:t>Field Training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12080" y="3703320"/>
            <a:ext cx="1261872" cy="384048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100" b="1">
                <a:solidFill>
                  <a:srgbClr val="002B55"/>
                </a:solidFill>
                <a:latin typeface="Arial"/>
              </a:rPr>
              <a:t>Expert Input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12080" y="4160520"/>
            <a:ext cx="1261872" cy="384048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100" b="1">
                <a:solidFill>
                  <a:srgbClr val="002B55"/>
                </a:solidFill>
                <a:latin typeface="Arial"/>
              </a:rPr>
              <a:t>Education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37960" y="2331720"/>
            <a:ext cx="1261872" cy="384048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100" b="1">
                <a:solidFill>
                  <a:srgbClr val="002B55"/>
                </a:solidFill>
                <a:latin typeface="Arial"/>
              </a:rPr>
              <a:t>Patients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37960" y="2788920"/>
            <a:ext cx="1261872" cy="384048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100" b="1">
                <a:solidFill>
                  <a:srgbClr val="002B55"/>
                </a:solidFill>
                <a:latin typeface="Arial"/>
              </a:rPr>
              <a:t>Med Info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37960" y="3246120"/>
            <a:ext cx="1261872" cy="384048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100" b="1">
                <a:solidFill>
                  <a:srgbClr val="002B55"/>
                </a:solidFill>
                <a:latin typeface="Arial"/>
              </a:rPr>
              <a:t>Safety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37960" y="3703320"/>
            <a:ext cx="1261872" cy="384048"/>
          </a:xfrm>
          <a:prstGeom prst="roundRect">
            <a:avLst>
              <a:gd name="adj" fmla="val 12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100" b="1">
                <a:solidFill>
                  <a:srgbClr val="002B55"/>
                </a:solidFill>
                <a:latin typeface="Arial"/>
              </a:rPr>
              <a:t>Content &amp; MLR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2743200"/>
            <a:ext cx="1325880" cy="13716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A9C6C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38160" y="2377440"/>
            <a:ext cx="1325880" cy="32004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200" b="1">
                <a:solidFill>
                  <a:srgbClr val="007879"/>
                </a:solidFill>
                <a:latin typeface="Bahnschrift"/>
              </a:rPr>
              <a:t>Wave 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11312" y="2852928"/>
            <a:ext cx="1179576" cy="457200"/>
          </a:xfrm>
          <a:prstGeom prst="roundRect">
            <a:avLst>
              <a:gd name="adj" fmla="val 12000"/>
            </a:avLst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Launch PMO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11312" y="3447288"/>
            <a:ext cx="1179576" cy="457200"/>
          </a:xfrm>
          <a:prstGeom prst="roundRect">
            <a:avLst>
              <a:gd name="adj" fmla="val 12000"/>
            </a:avLst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Metrics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646920" y="2834640"/>
            <a:ext cx="1051560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F4773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/>
            <a:r>
              <a:rPr sz="1200" b="1">
                <a:solidFill>
                  <a:srgbClr val="F47735"/>
                </a:solidFill>
                <a:latin typeface="Bahnschrift"/>
              </a:rPr>
              <a:t>Wave 4</a:t>
            </a:r>
          </a:p>
          <a:p>
            <a:pPr algn="ctr"/>
            <a:r>
              <a:rPr sz="1050" b="1">
                <a:solidFill>
                  <a:srgbClr val="002B55"/>
                </a:solidFill>
                <a:latin typeface="Arial"/>
              </a:rPr>
              <a:t>Readiness Auditor</a:t>
            </a:r>
          </a:p>
        </p:txBody>
      </p:sp>
      <p:sp>
        <p:nvSpPr>
          <p:cNvPr id="54" name="Diamond 53"/>
          <p:cNvSpPr/>
          <p:nvPr/>
        </p:nvSpPr>
        <p:spPr>
          <a:xfrm>
            <a:off x="10835640" y="2971800"/>
            <a:ext cx="749808" cy="914400"/>
          </a:xfrm>
          <a:prstGeom prst="diamond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Bahnschrift"/>
              </a:rPr>
              <a:t>Gate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0" y="4114800"/>
            <a:ext cx="1527048" cy="54864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r"/>
            <a:r>
              <a:rPr sz="1100" b="1">
                <a:solidFill>
                  <a:srgbClr val="F47735"/>
                </a:solidFill>
                <a:latin typeface="Arial"/>
              </a:rPr>
              <a:t>Verdict can be “not ready”</a:t>
            </a:r>
          </a:p>
        </p:txBody>
      </p:sp>
      <p:cxnSp>
        <p:nvCxnSpPr>
          <p:cNvPr id="56" name="Connector 55"/>
          <p:cNvCxnSpPr>
            <a:stCxn id="28" idx="3"/>
            <a:endCxn id="29" idx="1"/>
          </p:cNvCxnSpPr>
          <p:nvPr/>
        </p:nvCxnSpPr>
        <p:spPr>
          <a:xfrm>
            <a:off x="1935784" y="3429000"/>
            <a:ext cx="277064" cy="45720"/>
          </a:xfrm>
          <a:prstGeom prst="line">
            <a:avLst/>
          </a:prstGeom>
          <a:ln w="2540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>
            <a:stCxn id="29" idx="3"/>
            <a:endCxn id="36" idx="1"/>
          </p:cNvCxnSpPr>
          <p:nvPr/>
        </p:nvCxnSpPr>
        <p:spPr>
          <a:xfrm flipV="1">
            <a:off x="3813048" y="3429000"/>
            <a:ext cx="210312" cy="45720"/>
          </a:xfrm>
          <a:prstGeom prst="line">
            <a:avLst/>
          </a:prstGeom>
          <a:ln w="2540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>
            <a:stCxn id="36" idx="3"/>
            <a:endCxn id="38" idx="1"/>
          </p:cNvCxnSpPr>
          <p:nvPr/>
        </p:nvCxnSpPr>
        <p:spPr>
          <a:xfrm>
            <a:off x="4937760" y="3429000"/>
            <a:ext cx="182880" cy="45720"/>
          </a:xfrm>
          <a:prstGeom prst="line">
            <a:avLst/>
          </a:prstGeom>
          <a:ln w="2540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>
            <a:stCxn id="38" idx="3"/>
            <a:endCxn id="49" idx="1"/>
          </p:cNvCxnSpPr>
          <p:nvPr/>
        </p:nvCxnSpPr>
        <p:spPr>
          <a:xfrm flipV="1">
            <a:off x="7909560" y="3429000"/>
            <a:ext cx="228600" cy="45720"/>
          </a:xfrm>
          <a:prstGeom prst="line">
            <a:avLst/>
          </a:prstGeom>
          <a:ln w="2540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>
            <a:stCxn id="49" idx="3"/>
            <a:endCxn id="53" idx="1"/>
          </p:cNvCxnSpPr>
          <p:nvPr/>
        </p:nvCxnSpPr>
        <p:spPr>
          <a:xfrm flipV="1">
            <a:off x="9464040" y="3429000"/>
            <a:ext cx="182880" cy="0"/>
          </a:xfrm>
          <a:prstGeom prst="line">
            <a:avLst/>
          </a:prstGeom>
          <a:ln w="2540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>
            <a:stCxn id="53" idx="3"/>
            <a:endCxn id="54" idx="1"/>
          </p:cNvCxnSpPr>
          <p:nvPr/>
        </p:nvCxnSpPr>
        <p:spPr>
          <a:xfrm flipV="1">
            <a:off x="10698480" y="3429000"/>
            <a:ext cx="137160" cy="0"/>
          </a:xfrm>
          <a:prstGeom prst="line">
            <a:avLst/>
          </a:prstGeom>
          <a:ln w="25400">
            <a:solidFill>
              <a:srgbClr val="2845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09904" y="5074920"/>
            <a:ext cx="7863840" cy="10972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lang="en-US" dirty="0">
                <a:solidFill>
                  <a:srgbClr val="002B55"/>
                </a:solidFill>
                <a:latin typeface="Arial"/>
              </a:rPr>
              <a:t>Wave 1 sets the strategy and the words; a human approves them at Gate 1.</a:t>
            </a:r>
          </a:p>
          <a:p>
            <a:pPr algn="l"/>
            <a:r>
              <a:rPr sz="1400" b="0" lang="en-US" dirty="0">
                <a:solidFill>
                  <a:srgbClr val="28455F"/>
                </a:solidFill>
                <a:latin typeface="Arial"/>
              </a:rPr>
              <a:t>Wave 2 runs in parallel on the approved platform. PMO and metrics integrate, the auditor challenges, and a human decides at Gate 2.</a:t>
            </a:r>
          </a:p>
        </p:txBody>
      </p:sp>
      <p:pic>
        <p:nvPicPr>
          <p:cNvPr id="430" name="Launch swarm art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8869680" y="4754880"/>
            <a:ext cx="2715768" cy="1527048"/>
          </a:xfrm>
          <a:prstGeom prst="roundRect">
            <a:avLst>
              <a:gd name="adj" fmla="val 6000"/>
            </a:avLst>
          </a:prstGeom>
          <a:ln w="12700">
            <a:solidFill>
              <a:srgbClr val="D9E3EA"/>
            </a:solidFill>
          </a:ln>
        </p:spPr>
      </p:pic>
    </p:spTree>
    <p:extLst>
      <p:ext uri="{BB962C8B-B14F-4D97-AF65-F5344CB8AC3E}">
        <p14:creationId xmlns:p14="http://schemas.microsoft.com/office/powerpoint/2010/main" val="6390229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56874F0-F732-4AB5-9DC5-245E724112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40" name="Text panel"/>
          <p:cNvSpPr/>
          <p:nvPr/>
        </p:nvSpPr>
        <p:spPr>
          <a:xfrm>
            <a:off x="384048" y="457200"/>
            <a:ext cx="5257800" cy="5669280"/>
          </a:xfrm>
          <a:prstGeom prst="roundRect">
            <a:avLst>
              <a:gd name="adj" fmla="val 12000"/>
            </a:avLst>
          </a:prstGeom>
          <a:solidFill>
            <a:srgbClr val="FFFDF8">
              <a:alpha val="93000"/>
            </a:srgbClr>
          </a:solidFill>
          <a:ln w="12700">
            <a:solidFill>
              <a:srgbClr val="E3DCCB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E32997-1805-4076-A2D8-9EAF354111AF}"/>
              </a:ext>
            </a:extLst>
          </p:cNvPr>
          <p:cNvSpPr>
            <a:spLocks noGrp="1"/>
          </p:cNvSpPr>
          <p:nvPr/>
        </p:nvSpPr>
        <p:spPr>
          <a:xfrm>
            <a:off x="609905" y="640080"/>
            <a:ext cx="4846320" cy="14630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7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The human is always</a:t>
            </a:r>
          </a:p>
          <a:p>
            <a:pPr algn="l"/>
            <a:r>
              <a:rPr sz="3200" b="1" lang="en-US" dirty="0">
                <a:solidFill>
                  <a:srgbClr val="F47735"/>
                </a:solidFill>
                <a:latin typeface="Bahnschrift"/>
              </a:rPr>
              <a:t>the final judge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822E47-DFB9-4644-874B-DE582745FFE8}"/>
              </a:ext>
            </a:extLst>
          </p:cNvPr>
          <p:cNvSpPr>
            <a:spLocks noGrp="1"/>
          </p:cNvSpPr>
          <p:nvPr/>
        </p:nvSpPr>
        <p:spPr>
          <a:xfrm>
            <a:off x="609600" y="2240280"/>
            <a:ext cx="484632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00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2000" b="1" lang="en-US" dirty="0">
                <a:solidFill>
                  <a:srgbClr val="002B55"/>
                </a:solidFill>
                <a:latin typeface="Arial"/>
              </a:rPr>
              <a:t>Agents draft. People decide.</a:t>
            </a:r>
          </a:p>
          <a:p>
            <a:pPr algn="l"/>
            <a:r>
              <a:rPr sz="1700" b="0" lang="en-US" dirty="0">
                <a:solidFill>
                  <a:srgbClr val="28455F"/>
                </a:solidFill>
                <a:latin typeface="Arial"/>
              </a:rPr>
              <a:t>Every gap has a named owner and a date.</a:t>
            </a:r>
          </a:p>
        </p:txBody>
      </p: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BED8C6B4-1AFA-43DE-9EE6-A7143BA89F65}"/>
              </a:ext>
            </a:extLst>
          </p:cNvPr>
          <p:cNvSpPr>
            <a:spLocks noGrp="1"/>
          </p:cNvSpPr>
          <p:nvPr/>
        </p:nvSpPr>
        <p:spPr>
          <a:xfrm>
            <a:off x="609600" y="3914775"/>
            <a:ext cx="400050" cy="9525"/>
          </a:xfrm>
          <a:prstGeom prst="line">
            <a:avLst/>
          </a:prstGeom>
          <a:noFill/>
          <a:ln w="38100">
            <a:solidFill>
              <a:srgbClr val="0078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B10649-7501-4045-A8FC-5AD4A2C827C0}"/>
              </a:ext>
            </a:extLst>
          </p:cNvPr>
          <p:cNvSpPr>
            <a:spLocks noGrp="1"/>
          </p:cNvSpPr>
          <p:nvPr/>
        </p:nvSpPr>
        <p:spPr>
          <a:xfrm>
            <a:off x="609600" y="4086225"/>
            <a:ext cx="484632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800" b="1" lang="en-US" dirty="0">
                <a:solidFill>
                  <a:srgbClr val="F47735"/>
                </a:solidFill>
                <a:latin typeface="Bahnschrift"/>
              </a:rPr>
              <a:t>Gate 1 · </a:t>
            </a:r>
            <a:r>
              <a:rPr sz="1800" b="1" lang="en-US" dirty="0">
                <a:solidFill>
                  <a:srgbClr val="002B55"/>
                </a:solidFill>
                <a:latin typeface="Bahnschrift"/>
              </a:rPr>
              <a:t>approve strategy + platform</a:t>
            </a: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CBF9B5E2-B9CF-49C6-AC88-113A125DE2B3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400050" cy="9525"/>
          </a:xfrm>
          <a:prstGeom prst="line">
            <a:avLst/>
          </a:prstGeom>
          <a:noFill/>
          <a:ln w="38100">
            <a:solidFill>
              <a:srgbClr val="0078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48AD2C-3C10-457A-A842-D8B255DD758D}"/>
              </a:ext>
            </a:extLst>
          </p:cNvPr>
          <p:cNvSpPr>
            <a:spLocks noGrp="1"/>
          </p:cNvSpPr>
          <p:nvPr/>
        </p:nvSpPr>
        <p:spPr>
          <a:xfrm>
            <a:off x="609600" y="4781550"/>
            <a:ext cx="484632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800" b="1" lang="en-US" dirty="0">
                <a:solidFill>
                  <a:srgbClr val="F47735"/>
                </a:solidFill>
                <a:latin typeface="Bahnschrift"/>
              </a:rPr>
              <a:t>MLR + Safety · </a:t>
            </a:r>
            <a:r>
              <a:rPr sz="1800" b="1" lang="en-US" dirty="0">
                <a:solidFill>
                  <a:srgbClr val="002B55"/>
                </a:solidFill>
                <a:latin typeface="Bahnschrift"/>
              </a:rPr>
              <a:t>certify; handle real cases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4401CB24-C3F1-47CA-AF0F-ABD68A7E8D19}"/>
              </a:ext>
            </a:extLst>
          </p:cNvPr>
          <p:cNvSpPr>
            <a:spLocks noGrp="1"/>
          </p:cNvSpPr>
          <p:nvPr/>
        </p:nvSpPr>
        <p:spPr>
          <a:xfrm>
            <a:off x="609600" y="5305425"/>
            <a:ext cx="400050" cy="9525"/>
          </a:xfrm>
          <a:prstGeom prst="line">
            <a:avLst/>
          </a:prstGeom>
          <a:noFill/>
          <a:ln w="38100">
            <a:solidFill>
              <a:srgbClr val="F47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73F284-8629-4F8E-877B-C71265EC4118}"/>
              </a:ext>
            </a:extLst>
          </p:cNvPr>
          <p:cNvSpPr>
            <a:spLocks noGrp="1"/>
          </p:cNvSpPr>
          <p:nvPr/>
        </p:nvSpPr>
        <p:spPr>
          <a:xfrm>
            <a:off x="609600" y="5476875"/>
            <a:ext cx="484632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800" b="1" lang="en-US" dirty="0">
                <a:solidFill>
                  <a:srgbClr val="F47735"/>
                </a:solidFill>
                <a:latin typeface="Bahnschrift"/>
              </a:rPr>
              <a:t>Gate 2 · </a:t>
            </a:r>
            <a:r>
              <a:rPr sz="1800" b="1" lang="en-US" dirty="0">
                <a:solidFill>
                  <a:srgbClr val="002B55"/>
                </a:solidFill>
                <a:latin typeface="Bahnschrift"/>
              </a:rPr>
              <a:t>accept, send back, or not ready</a:t>
            </a:r>
          </a:p>
        </p:txBody>
      </p:sp>
      <p:sp>
        <p:nvSpPr>
          <p:cNvPr id="880" name="Footer backing"/>
          <p:cNvSpPr/>
          <p:nvPr/>
        </p:nvSpPr>
        <p:spPr>
          <a:xfrm>
            <a:off x="502920" y="6355080"/>
            <a:ext cx="3291840" cy="347472"/>
          </a:xfrm>
          <a:prstGeom prst="roundRect">
            <a:avLst>
              <a:gd name="adj" fmla="val 12000"/>
            </a:avLst>
          </a:prstGeom>
          <a:solidFill>
            <a:srgbClr val="FFFDF8">
              <a:alpha val="90000"/>
            </a:srgbClr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BC3EFD-3AE0-4313-A739-7E2588C44E2A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C21741-097D-4824-838A-A45E8D385EDB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5CB4AE-F344-45B6-911C-0B37B8B2F6CF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0156263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5F16222-F298-4DBF-A5A4-A074CAFE76C6}"/>
              </a:ext>
            </a:extLst>
          </p:cNvPr>
          <p:cNvSpPr>
            <a:spLocks noGrp="1"/>
          </p:cNvSpPr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Autonomy lives inside a safe lane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6AC42A-7A39-44DE-A55F-2A5E5780569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C25649-A024-4846-87ED-09FC6D1DD448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99E036-F0FC-453A-AB9F-17636A086A07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36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4" y="1417320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9904" y="141732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2E9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200" b="1">
                <a:solidFill>
                  <a:srgbClr val="FFFFFF"/>
                </a:solidFill>
                <a:latin typeface="Bahnschrift"/>
              </a:rPr>
              <a:t>GREEN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Agent proceeds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1691640"/>
            <a:ext cx="6309360" cy="731520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l"/>
            <a:r>
              <a:rPr sz="1600" b="0" lang="en-US" dirty="0">
                <a:solidFill>
                  <a:srgbClr val="002B55"/>
                </a:solidFill>
                <a:latin typeface="Arial"/>
              </a:rPr>
              <a:t>Search literature · build evidence tables · draft plans · check citations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1737360"/>
            <a:ext cx="1920240" cy="548640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r"/>
            <a:r>
              <a:rPr sz="1400" b="1">
                <a:solidFill>
                  <a:srgbClr val="2E9D6B"/>
                </a:solidFill>
                <a:latin typeface="Bahnschrift"/>
              </a:rPr>
              <a:t>Agent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904" y="2697480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FCF1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9904" y="2697480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E9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200" b="1">
                <a:solidFill>
                  <a:srgbClr val="FFFFFF"/>
                </a:solidFill>
                <a:latin typeface="Bahnschrift"/>
              </a:rPr>
              <a:t>YELLOW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Proceed and flag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2971800"/>
            <a:ext cx="6309360" cy="731520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l"/>
            <a:r>
              <a:rPr sz="1600" b="0" lang="en-US" dirty="0">
                <a:solidFill>
                  <a:srgbClr val="002B55"/>
                </a:solidFill>
                <a:latin typeface="Arial"/>
              </a:rPr>
              <a:t>Conflicting evidence · missing source · assumed label wording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017520"/>
            <a:ext cx="1920240" cy="548640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r"/>
            <a:r>
              <a:rPr sz="1400" b="1">
                <a:solidFill>
                  <a:srgbClr val="B7791F"/>
                </a:solidFill>
                <a:latin typeface="Bahnschrift"/>
              </a:rPr>
              <a:t>Agent + flag to you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9904" y="3977639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F9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09904" y="3977639"/>
            <a:ext cx="2377440" cy="1143000"/>
          </a:xfrm>
          <a:prstGeom prst="roundRect">
            <a:avLst>
              <a:gd name="adj" fmla="val 8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2200" b="1">
                <a:solidFill>
                  <a:srgbClr val="FFFFFF"/>
                </a:solidFill>
                <a:latin typeface="Bahnschrift"/>
              </a:rPr>
              <a:t>RED</a:t>
            </a:r>
          </a:p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Human decides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251959"/>
            <a:ext cx="6309360" cy="731520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l"/>
            <a:r>
              <a:rPr sz="1600" b="0" lang="en-US" dirty="0">
                <a:solidFill>
                  <a:srgbClr val="002B55"/>
                </a:solidFill>
                <a:latin typeface="Arial"/>
              </a:rPr>
              <a:t>Anything external · approvals · real safety cases · contacting experts · changing CRM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4297679"/>
            <a:ext cx="1920240" cy="548640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r"/>
            <a:r>
              <a:rPr sz="1400" b="1">
                <a:solidFill>
                  <a:srgbClr val="D64545"/>
                </a:solidFill>
                <a:latin typeface="Bahnschrift"/>
              </a:rPr>
              <a:t>You decide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904" y="5532120"/>
            <a:ext cx="10972800" cy="0"/>
          </a:xfrm>
          <a:prstGeom prst="line">
            <a:avLst/>
          </a:prstGeom>
          <a:ln w="38100">
            <a:solidFill>
              <a:srgbClr val="0078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09904" y="5623560"/>
            <a:ext cx="1097280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600" b="1">
                <a:solidFill>
                  <a:srgbClr val="007879"/>
                </a:solidFill>
                <a:latin typeface="Bahnschrift"/>
              </a:rPr>
              <a:t>Widen the lane only after the evidence says you can</a:t>
            </a:r>
          </a:p>
        </p:txBody>
      </p:sp>
    </p:spTree>
    <p:extLst>
      <p:ext uri="{BB962C8B-B14F-4D97-AF65-F5344CB8AC3E}">
        <p14:creationId xmlns:p14="http://schemas.microsoft.com/office/powerpoint/2010/main" val="355361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1CE047-3CAB-44EE-B08C-DF27777BC4EC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Get Grok Bot running in four steps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0DB289-D9C5-4182-8386-5FA5C20B7BFD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3C2970-4586-4EF6-B1C9-45DEDCC347C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69F9BE-4E5D-4FC2-A405-B414037E55B4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37</a:t>
            </a:r>
          </a:p>
        </p:txBody>
      </p:sp>
      <p:sp>
        <p:nvSpPr>
          <p:cNvPr id="700" name="Subtitle"/>
          <p:cNvSpPr/>
          <p:nvPr/>
        </p:nvSpPr>
        <p:spPr>
          <a:xfrm>
            <a:off x="609905" y="1115568"/>
            <a:ext cx="10972800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500" b="0" lang="en-US" dirty="0">
                <a:solidFill>
                  <a:srgbClr val="28455F"/>
                </a:solidFill>
                <a:latin typeface="Arial"/>
              </a:rPr>
              <a:t>Grok Bot with internet is the workshop sandbox. No company connectors or API keys needed.</a:t>
            </a:r>
          </a:p>
        </p:txBody>
      </p:sp>
      <p:pic>
        <p:nvPicPr>
          <p:cNvPr id="701" name="Companion site Grok Bot 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5" y="1691640"/>
            <a:ext cx="5852160" cy="3657600"/>
          </a:xfrm>
          <a:prstGeom prst="roundRect">
            <a:avLst>
              <a:gd name="adj" fmla="val 6000"/>
            </a:avLst>
          </a:prstGeom>
          <a:ln w="12700">
            <a:solidFill>
              <a:srgbClr val="D9E3EA"/>
            </a:solidFill>
          </a:ln>
        </p:spPr>
      </p:pic>
      <p:sp>
        <p:nvSpPr>
          <p:cNvPr id="702" name="Shot caption"/>
          <p:cNvSpPr/>
          <p:nvPr/>
        </p:nvSpPr>
        <p:spPr>
          <a:xfrm>
            <a:off x="609905" y="5394960"/>
            <a:ext cx="585216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100" b="0" lang="en-US" dirty="0">
                <a:solidFill>
                  <a:srgbClr val="28455F"/>
                </a:solidFill>
                <a:latin typeface="Arial"/>
              </a:rPr>
              <a:t>Companion website · Grok Bot page (preview)</a:t>
            </a:r>
          </a:p>
        </p:txBody>
      </p:sp>
      <p:sp>
        <p:nvSpPr>
          <p:cNvPr id="710" name="Step num"/>
          <p:cNvSpPr/>
          <p:nvPr/>
        </p:nvSpPr>
        <p:spPr>
          <a:xfrm>
            <a:off x="6812280" y="1764792"/>
            <a:ext cx="566928" cy="566928"/>
          </a:xfrm>
          <a:prstGeom prst="ellipse">
            <a:avLst/>
          </a:prstGeom>
          <a:solidFill>
            <a:srgbClr val="007879"/>
          </a:solidFill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2000" b="1" lang="en-US" dirty="0">
                <a:solidFill>
                  <a:srgbClr val="FFFFFF"/>
                </a:solidFill>
                <a:latin typeface="Bahnschrift"/>
              </a:rPr>
              <a:t>1</a:t>
            </a:r>
          </a:p>
        </p:txBody>
      </p:sp>
      <p:sp>
        <p:nvSpPr>
          <p:cNvPr id="711" name="Step title"/>
          <p:cNvSpPr/>
          <p:nvPr/>
        </p:nvSpPr>
        <p:spPr>
          <a:xfrm>
            <a:off x="7562088" y="1691640"/>
            <a:ext cx="402336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700" b="1" lang="en-US" dirty="0">
                <a:solidFill>
                  <a:srgbClr val="002B55"/>
                </a:solidFill>
                <a:latin typeface="Bahnschrift"/>
              </a:rPr>
              <a:t>Get access</a:t>
            </a:r>
          </a:p>
        </p:txBody>
      </p:sp>
      <p:sp>
        <p:nvSpPr>
          <p:cNvPr id="712" name="Step text"/>
          <p:cNvSpPr/>
          <p:nvPr/>
        </p:nvSpPr>
        <p:spPr>
          <a:xfrm>
            <a:off x="7562088" y="2039112"/>
            <a:ext cx="4023360" cy="566928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300" b="0" lang="en-US" dirty="0">
                <a:solidFill>
                  <a:srgbClr val="28455F"/>
                </a:solidFill>
                <a:latin typeface="Arial"/>
              </a:rPr>
              <a:t>Open the event sign-up link and create your account.</a:t>
            </a:r>
          </a:p>
        </p:txBody>
      </p:sp>
      <p:sp>
        <p:nvSpPr>
          <p:cNvPr id="713" name="Step num"/>
          <p:cNvSpPr/>
          <p:nvPr/>
        </p:nvSpPr>
        <p:spPr>
          <a:xfrm>
            <a:off x="6812280" y="2724912"/>
            <a:ext cx="566928" cy="566928"/>
          </a:xfrm>
          <a:prstGeom prst="ellipse">
            <a:avLst/>
          </a:prstGeom>
          <a:solidFill>
            <a:srgbClr val="002B55"/>
          </a:solidFill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2000" b="1" lang="en-US" dirty="0">
                <a:solidFill>
                  <a:srgbClr val="FFFFFF"/>
                </a:solidFill>
                <a:latin typeface="Bahnschrift"/>
              </a:rPr>
              <a:t>2</a:t>
            </a:r>
          </a:p>
        </p:txBody>
      </p:sp>
      <p:sp>
        <p:nvSpPr>
          <p:cNvPr id="714" name="Step title"/>
          <p:cNvSpPr/>
          <p:nvPr/>
        </p:nvSpPr>
        <p:spPr>
          <a:xfrm>
            <a:off x="7562088" y="2651760"/>
            <a:ext cx="402336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700" b="1" lang="en-US" dirty="0">
                <a:solidFill>
                  <a:srgbClr val="002B55"/>
                </a:solidFill>
                <a:latin typeface="Bahnschrift"/>
              </a:rPr>
              <a:t>Add your credits</a:t>
            </a:r>
          </a:p>
        </p:txBody>
      </p:sp>
      <p:sp>
        <p:nvSpPr>
          <p:cNvPr id="715" name="Step text"/>
          <p:cNvSpPr/>
          <p:nvPr/>
        </p:nvSpPr>
        <p:spPr>
          <a:xfrm>
            <a:off x="7562088" y="2999232"/>
            <a:ext cx="4023360" cy="566928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300" b="0" lang="en-US" dirty="0">
                <a:solidFill>
                  <a:srgbClr val="28455F"/>
                </a:solidFill>
                <a:latin typeface="Arial"/>
              </a:rPr>
              <a:t>Enter the event credits code so your agent can run full missions.</a:t>
            </a:r>
          </a:p>
        </p:txBody>
      </p:sp>
      <p:sp>
        <p:nvSpPr>
          <p:cNvPr id="716" name="Step num"/>
          <p:cNvSpPr/>
          <p:nvPr/>
        </p:nvSpPr>
        <p:spPr>
          <a:xfrm>
            <a:off x="6812280" y="3685032"/>
            <a:ext cx="566928" cy="566928"/>
          </a:xfrm>
          <a:prstGeom prst="ellipse">
            <a:avLst/>
          </a:prstGeom>
          <a:solidFill>
            <a:srgbClr val="007879"/>
          </a:solidFill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2000" b="1" lang="en-US" dirty="0">
                <a:solidFill>
                  <a:srgbClr val="FFFFFF"/>
                </a:solidFill>
                <a:latin typeface="Bahnschrift"/>
              </a:rPr>
              <a:t>3</a:t>
            </a:r>
          </a:p>
        </p:txBody>
      </p:sp>
      <p:sp>
        <p:nvSpPr>
          <p:cNvPr id="717" name="Step title"/>
          <p:cNvSpPr/>
          <p:nvPr/>
        </p:nvSpPr>
        <p:spPr>
          <a:xfrm>
            <a:off x="7562088" y="3611880"/>
            <a:ext cx="402336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700" b="1" lang="en-US" dirty="0">
                <a:solidFill>
                  <a:srgbClr val="002B55"/>
                </a:solidFill>
                <a:latin typeface="Bahnschrift"/>
              </a:rPr>
              <a:t>Start a new conversation</a:t>
            </a:r>
          </a:p>
        </p:txBody>
      </p:sp>
      <p:sp>
        <p:nvSpPr>
          <p:cNvPr id="718" name="Step text"/>
          <p:cNvSpPr/>
          <p:nvPr/>
        </p:nvSpPr>
        <p:spPr>
          <a:xfrm>
            <a:off x="7562088" y="3959352"/>
            <a:ext cx="4023360" cy="566928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300" b="0" lang="en-US" dirty="0">
                <a:solidFill>
                  <a:srgbClr val="28455F"/>
                </a:solidFill>
                <a:latin typeface="Arial"/>
              </a:rPr>
              <a:t>Paste the starter prompt. It reads the library, picks a mission and starts on synthetic data.</a:t>
            </a:r>
          </a:p>
        </p:txBody>
      </p:sp>
      <p:sp>
        <p:nvSpPr>
          <p:cNvPr id="719" name="Step num"/>
          <p:cNvSpPr/>
          <p:nvPr/>
        </p:nvSpPr>
        <p:spPr>
          <a:xfrm>
            <a:off x="6812280" y="4645152"/>
            <a:ext cx="566928" cy="566928"/>
          </a:xfrm>
          <a:prstGeom prst="ellipse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2000" b="1" lang="en-US" dirty="0">
                <a:solidFill>
                  <a:srgbClr val="FFFFFF"/>
                </a:solidFill>
                <a:latin typeface="Bahnschrift"/>
              </a:rPr>
              <a:t>4</a:t>
            </a:r>
          </a:p>
        </p:txBody>
      </p:sp>
      <p:sp>
        <p:nvSpPr>
          <p:cNvPr id="720" name="Step title"/>
          <p:cNvSpPr/>
          <p:nvPr/>
        </p:nvSpPr>
        <p:spPr>
          <a:xfrm>
            <a:off x="7562088" y="4572000"/>
            <a:ext cx="402336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700" b="1" lang="en-US" dirty="0">
                <a:solidFill>
                  <a:srgbClr val="002B55"/>
                </a:solidFill>
                <a:latin typeface="Bahnschrift"/>
              </a:rPr>
              <a:t>Make it yours</a:t>
            </a:r>
          </a:p>
        </p:txBody>
      </p:sp>
      <p:sp>
        <p:nvSpPr>
          <p:cNvPr id="721" name="Step text"/>
          <p:cNvSpPr/>
          <p:nvPr/>
        </p:nvSpPr>
        <p:spPr>
          <a:xfrm>
            <a:off x="7562088" y="4919472"/>
            <a:ext cx="4023360" cy="566928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300" b="0" lang="en-US" dirty="0">
                <a:solidFill>
                  <a:srgbClr val="28455F"/>
                </a:solidFill>
                <a:latin typeface="Arial"/>
              </a:rPr>
              <a:t>Ask for another therapeutic area, or describe your own Medical Affairs goal.</a:t>
            </a:r>
          </a:p>
        </p:txBody>
      </p:sp>
      <p:sp>
        <p:nvSpPr>
          <p:cNvPr id="730" name="Bottom bar"/>
          <p:cNvSpPr/>
          <p:nvPr/>
        </p:nvSpPr>
        <p:spPr>
          <a:xfrm>
            <a:off x="609905" y="5760720"/>
            <a:ext cx="10972800" cy="457200"/>
          </a:xfrm>
          <a:prstGeom prst="roundRect">
            <a:avLst>
              <a:gd name="adj" fmla="val 12000"/>
            </a:avLst>
          </a:prstGeom>
          <a:solidFill>
            <a:srgbClr val="FDEBE1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ctr"/>
            <a:r>
              <a:rPr sz="1300" b="1" lang="en-US" dirty="0">
                <a:solidFill>
                  <a:srgbClr val="B4501F"/>
                </a:solidFill>
                <a:latin typeface="Arial"/>
              </a:rPr>
              <a:t>Sign-up link and credits code: shared at the conference  ·  Can’t open GitHub? Upload a one-file starter instead</a:t>
            </a:r>
          </a:p>
        </p:txBody>
      </p:sp>
    </p:spTree>
    <p:extLst>
      <p:ext uri="{BB962C8B-B14F-4D97-AF65-F5344CB8AC3E}">
        <p14:creationId xmlns:p14="http://schemas.microsoft.com/office/powerpoint/2010/main" val="4976526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9F7C8F2-736F-476F-AE32-BDC860D5EB56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The open Medical Affairs library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D200C6-804F-4B6D-B5D3-9F14815572BB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57CF0A-4536-4D0A-BF9C-260AB3B99450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414000-6B7B-4D3E-9489-DF9A50D5BBBA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38</a:t>
            </a:r>
          </a:p>
        </p:txBody>
      </p:sp>
      <p:sp>
        <p:nvSpPr>
          <p:cNvPr id="740" name="Subtitle"/>
          <p:cNvSpPr/>
          <p:nvPr/>
        </p:nvSpPr>
        <p:spPr>
          <a:xfrm>
            <a:off x="609905" y="1115568"/>
            <a:ext cx="8138160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400" b="0" lang="en-US" dirty="0">
                <a:solidFill>
                  <a:srgbClr val="28455F"/>
                </a:solidFill>
                <a:latin typeface="Arial"/>
              </a:rPr>
              <a:t>Open-Medical-Affairs / Medical-Affairs-Skills on GitHub · Apache-2.0 · no coding, no company systems</a:t>
            </a:r>
          </a:p>
        </p:txBody>
      </p:sp>
      <p:sp>
        <p:nvSpPr>
          <p:cNvPr id="741" name="Number tile"/>
          <p:cNvSpPr/>
          <p:nvPr/>
        </p:nvSpPr>
        <p:spPr>
          <a:xfrm>
            <a:off x="609905" y="1783080"/>
            <a:ext cx="2514600" cy="2103120"/>
          </a:xfrm>
          <a:prstGeom prst="roundRect">
            <a:avLst>
              <a:gd name="adj" fmla="val 12000"/>
            </a:avLst>
          </a:prstGeom>
          <a:solidFill>
            <a:srgbClr val="E3F1F1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ctr"/>
            <a:r>
              <a:rPr sz="6600" b="1" lang="en-US" dirty="0">
                <a:solidFill>
                  <a:srgbClr val="007879"/>
                </a:solidFill>
                <a:latin typeface="Bahnschrift"/>
              </a:rPr>
              <a:t>62</a:t>
            </a:r>
          </a:p>
          <a:p>
            <a:pPr algn="ctr"/>
            <a:r>
              <a:rPr sz="1800" b="1" lang="en-US" dirty="0">
                <a:solidFill>
                  <a:srgbClr val="002B55"/>
                </a:solidFill>
                <a:latin typeface="Arial"/>
              </a:rPr>
              <a:t>skills</a:t>
            </a:r>
          </a:p>
        </p:txBody>
      </p:sp>
      <p:sp>
        <p:nvSpPr>
          <p:cNvPr id="742" name="Number tile"/>
          <p:cNvSpPr/>
          <p:nvPr/>
        </p:nvSpPr>
        <p:spPr>
          <a:xfrm>
            <a:off x="3307385" y="1783080"/>
            <a:ext cx="2514600" cy="2103120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ctr"/>
            <a:r>
              <a:rPr sz="6600" b="1" lang="en-US" dirty="0">
                <a:solidFill>
                  <a:srgbClr val="002B55"/>
                </a:solidFill>
                <a:latin typeface="Bahnschrift"/>
              </a:rPr>
              <a:t>16</a:t>
            </a:r>
          </a:p>
          <a:p>
            <a:pPr algn="ctr"/>
            <a:r>
              <a:rPr sz="1800" b="1" lang="en-US" dirty="0">
                <a:solidFill>
                  <a:srgbClr val="002B55"/>
                </a:solidFill>
                <a:latin typeface="Arial"/>
              </a:rPr>
              <a:t>missions</a:t>
            </a:r>
          </a:p>
        </p:txBody>
      </p:sp>
      <p:sp>
        <p:nvSpPr>
          <p:cNvPr id="743" name="Number tile"/>
          <p:cNvSpPr/>
          <p:nvPr/>
        </p:nvSpPr>
        <p:spPr>
          <a:xfrm>
            <a:off x="6004865" y="1783080"/>
            <a:ext cx="2514600" cy="2103120"/>
          </a:xfrm>
          <a:prstGeom prst="roundRect">
            <a:avLst>
              <a:gd name="adj" fmla="val 12000"/>
            </a:avLst>
          </a:prstGeom>
          <a:solidFill>
            <a:srgbClr val="FDEBE1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ctr"/>
            <a:r>
              <a:rPr sz="6600" b="1" lang="en-US" dirty="0">
                <a:solidFill>
                  <a:srgbClr val="F47735"/>
                </a:solidFill>
                <a:latin typeface="Bahnschrift"/>
              </a:rPr>
              <a:t>3</a:t>
            </a:r>
          </a:p>
          <a:p>
            <a:pPr algn="ctr"/>
            <a:r>
              <a:rPr sz="1800" b="1" lang="en-US" dirty="0">
                <a:solidFill>
                  <a:srgbClr val="002B55"/>
                </a:solidFill>
                <a:latin typeface="Arial"/>
              </a:rPr>
              <a:t>therapeutic areas</a:t>
            </a:r>
          </a:p>
        </p:txBody>
      </p:sp>
      <p:sp>
        <p:nvSpPr>
          <p:cNvPr id="745" name="TA chip"/>
          <p:cNvSpPr/>
          <p:nvPr/>
        </p:nvSpPr>
        <p:spPr>
          <a:xfrm>
            <a:off x="609905" y="406908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ctr"/>
            <a:r>
              <a:rPr sz="1400" b="1" lang="en-US" dirty="0">
                <a:solidFill>
                  <a:srgbClr val="002B55"/>
                </a:solidFill>
                <a:latin typeface="Arial"/>
              </a:rPr>
              <a:t>Oncology</a:t>
            </a:r>
          </a:p>
          <a:p>
            <a:pPr algn="ctr"/>
            <a:r>
              <a:rPr sz="1150" b="0" lang="en-US" dirty="0">
                <a:solidFill>
                  <a:srgbClr val="28455F"/>
                </a:solidFill>
                <a:latin typeface="Arial"/>
              </a:rPr>
              <a:t>NORVANTIB · multiple myeloma</a:t>
            </a:r>
          </a:p>
        </p:txBody>
      </p:sp>
      <p:sp>
        <p:nvSpPr>
          <p:cNvPr id="746" name="TA chip"/>
          <p:cNvSpPr/>
          <p:nvPr/>
        </p:nvSpPr>
        <p:spPr>
          <a:xfrm>
            <a:off x="3307385" y="406908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ctr"/>
            <a:r>
              <a:rPr sz="1400" b="1" lang="en-US" dirty="0">
                <a:solidFill>
                  <a:srgbClr val="002B55"/>
                </a:solidFill>
                <a:latin typeface="Arial"/>
              </a:rPr>
              <a:t>Immunology</a:t>
            </a:r>
          </a:p>
          <a:p>
            <a:pPr algn="ctr"/>
            <a:r>
              <a:rPr sz="1150" b="0" lang="en-US" dirty="0">
                <a:solidFill>
                  <a:srgbClr val="28455F"/>
                </a:solidFill>
                <a:latin typeface="Arial"/>
              </a:rPr>
              <a:t>DERMALYX · atopic dermatitis</a:t>
            </a:r>
          </a:p>
        </p:txBody>
      </p:sp>
      <p:sp>
        <p:nvSpPr>
          <p:cNvPr id="747" name="TA chip"/>
          <p:cNvSpPr/>
          <p:nvPr/>
        </p:nvSpPr>
        <p:spPr>
          <a:xfrm>
            <a:off x="6004865" y="4069080"/>
            <a:ext cx="2514600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ctr"/>
            <a:r>
              <a:rPr sz="1400" b="1" lang="en-US" dirty="0">
                <a:solidFill>
                  <a:srgbClr val="002B55"/>
                </a:solidFill>
                <a:latin typeface="Arial"/>
              </a:rPr>
              <a:t>Cardiometabolic</a:t>
            </a:r>
          </a:p>
          <a:p>
            <a:pPr algn="ctr"/>
            <a:r>
              <a:rPr sz="1150" b="0" lang="en-US" dirty="0">
                <a:solidFill>
                  <a:srgbClr val="28455F"/>
                </a:solidFill>
                <a:latin typeface="Arial"/>
              </a:rPr>
              <a:t>ADIPOSYN · obesity</a:t>
            </a:r>
          </a:p>
        </p:txBody>
      </p:sp>
      <p:sp>
        <p:nvSpPr>
          <p:cNvPr id="749" name="TA note"/>
          <p:cNvSpPr/>
          <p:nvPr/>
        </p:nvSpPr>
        <p:spPr>
          <a:xfrm>
            <a:off x="609905" y="4919472"/>
            <a:ext cx="786384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100" b="0" lang="en-US" dirty="0">
                <a:solidFill>
                  <a:srgbClr val="28455F"/>
                </a:solidFill>
                <a:latin typeface="Arial"/>
              </a:rPr>
              <a:t>All products, people and results in the workshop data are fictional.</a:t>
            </a:r>
          </a:p>
        </p:txBody>
      </p:sp>
      <p:sp>
        <p:nvSpPr>
          <p:cNvPr id="750" name="QR card"/>
          <p:cNvSpPr/>
          <p:nvPr/>
        </p:nvSpPr>
        <p:spPr>
          <a:xfrm>
            <a:off x="8915400" y="1783080"/>
            <a:ext cx="2670048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pic>
        <p:nvPicPr>
          <p:cNvPr id="1100" name="Website QR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290304" y="1984248"/>
            <a:ext cx="1920240" cy="1920240"/>
          </a:xfrm>
          <a:prstGeom prst="rect">
            <a:avLst/>
          </a:prstGeom>
        </p:spPr>
      </p:pic>
      <p:sp>
        <p:nvSpPr>
          <p:cNvPr id="752" name="QR caption"/>
          <p:cNvSpPr/>
          <p:nvPr/>
        </p:nvSpPr>
        <p:spPr>
          <a:xfrm>
            <a:off x="9052560" y="4023360"/>
            <a:ext cx="2395728" cy="8686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ctr"/>
            <a:r>
              <a:rPr sz="1200" b="1" lang="en-US" dirty="0">
                <a:solidFill>
                  <a:srgbClr val="002B55"/>
                </a:solidFill>
                <a:latin typeface="Arial"/>
              </a:rPr>
              <a:t>Scan for the companion website</a:t>
            </a:r>
          </a:p>
          <a:p>
            <a:pPr algn="ctr">
              <a:spcBef>
                <a:spcPts val="300"/>
              </a:spcBef>
            </a:pPr>
            <a:r>
              <a:rPr sz="1200" b="1" lang="en-US" dirty="0">
                <a:solidFill>
                  <a:srgbClr val="007879"/>
                </a:solidFill>
                <a:latin typeface="Arial"/>
                <a:hlinkClick r:id="rId61"/>
              </a:rPr>
              <a:t>aiinaction.up.railway.app</a:t>
            </a:r>
          </a:p>
        </p:txBody>
      </p:sp>
      <p:sp>
        <p:nvSpPr>
          <p:cNvPr id="755" name="Bottom line"/>
          <p:cNvSpPr/>
          <p:nvPr/>
        </p:nvSpPr>
        <p:spPr>
          <a:xfrm>
            <a:off x="609905" y="5669280"/>
            <a:ext cx="10972800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ctr"/>
            <a:r>
              <a:rPr sz="1500" b="1" lang="en-US" dirty="0">
                <a:solidFill>
                  <a:srgbClr val="007879"/>
                </a:solidFill>
                <a:latin typeface="Bahnschrift"/>
              </a:rPr>
              <a:t>One link holds every skill, mission and dataset. Your agent picks the skills; you never need to name one.</a:t>
            </a:r>
          </a:p>
        </p:txBody>
      </p:sp>
    </p:spTree>
    <p:extLst>
      <p:ext uri="{BB962C8B-B14F-4D97-AF65-F5344CB8AC3E}">
        <p14:creationId xmlns:p14="http://schemas.microsoft.com/office/powerpoint/2010/main" val="15441626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A94C56B7-6F35-4425-AEAC-27B806B629D1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Use the library in five steps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562396-E406-46D0-AFBF-C2FE281A3D1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D51911-FC8E-4A0E-B78E-9A29A2535772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914895-EA7A-4759-A1EE-0458B86AD0EB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41</a:t>
            </a:r>
          </a:p>
        </p:txBody>
      </p:sp>
      <p:sp>
        <p:nvSpPr>
          <p:cNvPr id="26" name="Pentagon 25"/>
          <p:cNvSpPr/>
          <p:nvPr/>
        </p:nvSpPr>
        <p:spPr>
          <a:xfrm>
            <a:off x="609905" y="1737360"/>
            <a:ext cx="2258568" cy="1234440"/>
          </a:xfrm>
          <a:prstGeom prst="homePlate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82296" bIns="82296"/>
          <a:lstStyle/>
          <a:p>
            <a:pPr algn="ctr"/>
            <a:r>
              <a:rPr sz="3000" b="1" lang="en-US" dirty="0">
                <a:solidFill>
                  <a:srgbClr val="FFFFFF"/>
                </a:solidFill>
                <a:latin typeface="Bahnschrift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7" y="315468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lang="en-US" dirty="0">
                <a:solidFill>
                  <a:srgbClr val="002B55"/>
                </a:solidFill>
                <a:latin typeface="Bahnschrift"/>
              </a:rPr>
              <a:t>Choose a mission</a:t>
            </a:r>
          </a:p>
          <a:p>
            <a:pPr algn="ctr">
              <a:spcBef>
                <a:spcPts val="400"/>
              </a:spcBef>
            </a:pPr>
            <a:r>
              <a:rPr sz="1300" b="0" lang="en-US" dirty="0">
                <a:solidFill>
                  <a:srgbClr val="28455F"/>
                </a:solidFill>
                <a:latin typeface="Arial"/>
              </a:rPr>
              <a:t>16 missions; pick the one closest to your work</a:t>
            </a:r>
          </a:p>
        </p:txBody>
      </p:sp>
      <p:sp>
        <p:nvSpPr>
          <p:cNvPr id="28" name="Chevron 27"/>
          <p:cNvSpPr/>
          <p:nvPr/>
        </p:nvSpPr>
        <p:spPr>
          <a:xfrm>
            <a:off x="2777033" y="1737360"/>
            <a:ext cx="2258568" cy="1234440"/>
          </a:xfrm>
          <a:prstGeom prst="chevron">
            <a:avLst/>
          </a:prstGeom>
          <a:solidFill>
            <a:srgbClr val="1D5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92024" bIns="192024"/>
          <a:lstStyle/>
          <a:p>
            <a:pPr algn="ctr"/>
            <a:r>
              <a:rPr sz="3000" b="1" lang="en-US" dirty="0">
                <a:solidFill>
                  <a:srgbClr val="FFFFFF"/>
                </a:solidFill>
                <a:latin typeface="Bahnschrift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50185" y="315468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lang="en-US" dirty="0">
                <a:solidFill>
                  <a:srgbClr val="1D5C8C"/>
                </a:solidFill>
                <a:latin typeface="Bahnschrift"/>
              </a:rPr>
              <a:t>Give it the library</a:t>
            </a:r>
          </a:p>
          <a:p>
            <a:pPr algn="ctr">
              <a:spcBef>
                <a:spcPts val="400"/>
              </a:spcBef>
            </a:pPr>
            <a:r>
              <a:rPr sz="1300" b="0" lang="en-US" dirty="0">
                <a:solidFill>
                  <a:srgbClr val="28455F"/>
                </a:solidFill>
                <a:latin typeface="Arial"/>
              </a:rPr>
              <a:t>One repository link holds every skill, mission and dataset</a:t>
            </a:r>
          </a:p>
        </p:txBody>
      </p:sp>
      <p:sp>
        <p:nvSpPr>
          <p:cNvPr id="30" name="Chevron 29"/>
          <p:cNvSpPr/>
          <p:nvPr/>
        </p:nvSpPr>
        <p:spPr>
          <a:xfrm>
            <a:off x="4944161" y="1737360"/>
            <a:ext cx="2258568" cy="1234440"/>
          </a:xfrm>
          <a:prstGeom prst="chevron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92024" bIns="192024"/>
          <a:lstStyle/>
          <a:p>
            <a:pPr algn="ctr"/>
            <a:r>
              <a:rPr sz="3000" b="1" lang="en-US" dirty="0">
                <a:solidFill>
                  <a:srgbClr val="FFFFFF"/>
                </a:solidFill>
                <a:latin typeface="Bahnschrift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17313" y="315468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lang="en-US" dirty="0">
                <a:solidFill>
                  <a:srgbClr val="007879"/>
                </a:solidFill>
                <a:latin typeface="Bahnschrift"/>
              </a:rPr>
              <a:t>Run on safe data</a:t>
            </a:r>
          </a:p>
          <a:p>
            <a:pPr algn="ctr">
              <a:spcBef>
                <a:spcPts val="400"/>
              </a:spcBef>
            </a:pPr>
            <a:r>
              <a:rPr sz="1300" b="0" lang="en-US" dirty="0">
                <a:solidFill>
                  <a:srgbClr val="28455F"/>
                </a:solidFill>
                <a:latin typeface="Arial"/>
              </a:rPr>
              <a:t>Start on the fictional company data, never real company or patient data</a:t>
            </a:r>
          </a:p>
        </p:txBody>
      </p:sp>
      <p:sp>
        <p:nvSpPr>
          <p:cNvPr id="32" name="Chevron 31"/>
          <p:cNvSpPr/>
          <p:nvPr/>
        </p:nvSpPr>
        <p:spPr>
          <a:xfrm>
            <a:off x="7111289" y="1737360"/>
            <a:ext cx="2258568" cy="1234440"/>
          </a:xfrm>
          <a:prstGeom prst="chevron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92024" bIns="192024"/>
          <a:lstStyle/>
          <a:p>
            <a:pPr algn="ctr"/>
            <a:r>
              <a:rPr sz="3000" b="1" lang="en-US" dirty="0">
                <a:solidFill>
                  <a:srgbClr val="FFFFFF"/>
                </a:solidFill>
                <a:latin typeface="Bahnschrift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4441" y="315468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lang="en-US" dirty="0">
                <a:solidFill>
                  <a:srgbClr val="007879"/>
                </a:solidFill>
                <a:latin typeface="Bahnschrift"/>
              </a:rPr>
              <a:t>Review and test</a:t>
            </a:r>
          </a:p>
          <a:p>
            <a:pPr algn="ctr">
              <a:spcBef>
                <a:spcPts val="400"/>
              </a:spcBef>
            </a:pPr>
            <a:r>
              <a:rPr sz="1300" b="0" lang="en-US" dirty="0">
                <a:solidFill>
                  <a:srgbClr val="28455F"/>
                </a:solidFill>
                <a:latin typeface="Arial"/>
              </a:rPr>
              <a:t>Check every source; try it where it can fail</a:t>
            </a:r>
          </a:p>
        </p:txBody>
      </p:sp>
      <p:sp>
        <p:nvSpPr>
          <p:cNvPr id="34" name="Chevron 33"/>
          <p:cNvSpPr/>
          <p:nvPr/>
        </p:nvSpPr>
        <p:spPr>
          <a:xfrm>
            <a:off x="9278417" y="1737360"/>
            <a:ext cx="2258568" cy="1234440"/>
          </a:xfrm>
          <a:prstGeom prst="chevron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192024" bIns="192024"/>
          <a:lstStyle/>
          <a:p>
            <a:pPr algn="ctr"/>
            <a:r>
              <a:rPr sz="3000" b="1" lang="en-US" dirty="0">
                <a:solidFill>
                  <a:srgbClr val="FFFFFF"/>
                </a:solidFill>
                <a:latin typeface="Bahnschrift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51569" y="3154680"/>
            <a:ext cx="2011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 lang="en-US" dirty="0">
                <a:solidFill>
                  <a:srgbClr val="F47735"/>
                </a:solidFill>
                <a:latin typeface="Bahnschrift"/>
              </a:rPr>
              <a:t>Make it yours</a:t>
            </a:r>
          </a:p>
          <a:p>
            <a:pPr algn="ctr">
              <a:spcBef>
                <a:spcPts val="400"/>
              </a:spcBef>
            </a:pPr>
            <a:r>
              <a:rPr sz="1300" b="0" lang="en-US" dirty="0">
                <a:solidFill>
                  <a:srgbClr val="28455F"/>
                </a:solidFill>
                <a:latin typeface="Arial"/>
              </a:rPr>
              <a:t>Your area, your goal. Keep what works for next week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9904" y="4892040"/>
            <a:ext cx="10972800" cy="777240"/>
          </a:xfrm>
          <a:prstGeom prst="roundRect">
            <a:avLst>
              <a:gd name="adj" fmla="val 10000"/>
            </a:avLst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400" b="1" lang="en-US" dirty="0">
                <a:solidFill>
                  <a:srgbClr val="002B55"/>
                </a:solidFill>
                <a:latin typeface="Arial"/>
              </a:rPr>
              <a:t>Open-Medical-Affairs / Medical-Affairs-Skills on GitHub  ·  the companion website has copy-ready prompts and missions</a:t>
            </a:r>
          </a:p>
        </p:txBody>
      </p:sp>
    </p:spTree>
    <p:extLst>
      <p:ext uri="{BB962C8B-B14F-4D97-AF65-F5344CB8AC3E}">
        <p14:creationId xmlns:p14="http://schemas.microsoft.com/office/powerpoint/2010/main" val="12863509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A54CD4D-4244-4298-B4C2-C5B149EA97D4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Prompt optimizer: turn a question into an assignment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F338A5-D526-40B4-B5F3-11B0CE8D12A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9D96BD-E735-4A63-AD00-251293B1603B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BB2EDF-9D35-46F1-A66C-08D89EB2D285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42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" y="1737360"/>
            <a:ext cx="3017520" cy="32004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300" b="1" lang="en-US" dirty="0">
                <a:solidFill>
                  <a:srgbClr val="28455F"/>
                </a:solidFill>
                <a:latin typeface="Arial"/>
              </a:rPr>
              <a:t>YOUR QUESTION</a:t>
            </a:r>
          </a:p>
        </p:txBody>
      </p:sp>
      <p:sp>
        <p:nvSpPr>
          <p:cNvPr id="18" name="Rounded Rectangular Callout 17"/>
          <p:cNvSpPr/>
          <p:nvPr/>
        </p:nvSpPr>
        <p:spPr>
          <a:xfrm>
            <a:off x="609904" y="2194560"/>
            <a:ext cx="3017520" cy="1463040"/>
          </a:xfrm>
          <a:prstGeom prst="wedgeRoundRectCallou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  <a:r>
              <a:rPr sz="1800" b="1" lang="en-US" dirty="0">
                <a:solidFill>
                  <a:srgbClr val="002B55"/>
                </a:solidFill>
                <a:latin typeface="Arial"/>
              </a:rPr>
              <a:t>“Summarize these field notes.”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173736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164592" bIns="164592"/>
          <a:lstStyle/>
          <a:p>
            <a:pPr algn="l">
              <a:spcAft>
                <a:spcPts val="800"/>
              </a:spcAft>
            </a:pPr>
            <a:r>
              <a:rPr sz="1600" b="1" lang="en-US" dirty="0">
                <a:solidFill>
                  <a:srgbClr val="FFFFFF"/>
                </a:solidFill>
                <a:latin typeface="Bahnschrift"/>
              </a:rPr>
              <a:t>PROMPT OPTIMIZER</a:t>
            </a:r>
          </a:p>
          <a:p>
            <a:pPr algn="l">
              <a:spcAft>
                <a:spcPts val="400"/>
              </a:spcAft>
            </a:pPr>
            <a:r>
              <a:rPr sz="1400" b="0" lang="en-US" dirty="0">
                <a:solidFill>
                  <a:srgbClr val="FFFFFF"/>
                </a:solidFill>
                <a:latin typeface="Arial"/>
              </a:rPr>
              <a:t>+  Role</a:t>
            </a:r>
          </a:p>
          <a:p>
            <a:pPr algn="l">
              <a:spcAft>
                <a:spcPts val="400"/>
              </a:spcAft>
            </a:pPr>
            <a:r>
              <a:rPr sz="1400" b="0" lang="en-US" dirty="0">
                <a:solidFill>
                  <a:srgbClr val="FFFFFF"/>
                </a:solidFill>
                <a:latin typeface="Arial"/>
              </a:rPr>
              <a:t>+  End goal</a:t>
            </a:r>
          </a:p>
          <a:p>
            <a:pPr algn="l">
              <a:spcAft>
                <a:spcPts val="400"/>
              </a:spcAft>
            </a:pPr>
            <a:r>
              <a:rPr sz="1400" b="0" lang="en-US" dirty="0">
                <a:solidFill>
                  <a:srgbClr val="FFFFFF"/>
                </a:solidFill>
                <a:latin typeface="Arial"/>
              </a:rPr>
              <a:t>+  Steps</a:t>
            </a:r>
          </a:p>
          <a:p>
            <a:pPr algn="l">
              <a:spcAft>
                <a:spcPts val="400"/>
              </a:spcAft>
            </a:pPr>
            <a:r>
              <a:rPr sz="1400" b="0" lang="en-US" dirty="0">
                <a:solidFill>
                  <a:srgbClr val="FFFFFF"/>
                </a:solidFill>
                <a:latin typeface="Arial"/>
              </a:rPr>
              <a:t>+  Narrowing: context + house rules</a:t>
            </a:r>
          </a:p>
          <a:p>
            <a:pPr algn="l">
              <a:spcAft>
                <a:spcPts val="400"/>
              </a:spcAft>
            </a:pPr>
            <a:r>
              <a:rPr sz="1400" b="0" lang="en-US" dirty="0">
                <a:solidFill>
                  <a:srgbClr val="FFFFFF"/>
                </a:solidFill>
                <a:latin typeface="Arial"/>
              </a:rPr>
              <a:t>+  Proof of done</a:t>
            </a:r>
          </a:p>
          <a:p>
            <a:pPr algn="l">
              <a:spcAft>
                <a:spcPts val="400"/>
              </a:spcAft>
            </a:pPr>
            <a:r>
              <a:rPr sz="1400" b="0" lang="en-US" dirty="0">
                <a:solidFill>
                  <a:srgbClr val="FFFFFF"/>
                </a:solidFill>
                <a:latin typeface="Arial"/>
              </a:rPr>
              <a:t>+  Stop conditions</a:t>
            </a:r>
          </a:p>
        </p:txBody>
      </p:sp>
      <p:sp>
        <p:nvSpPr>
          <p:cNvPr id="20" name="Document 19"/>
          <p:cNvSpPr/>
          <p:nvPr/>
        </p:nvSpPr>
        <p:spPr>
          <a:xfrm>
            <a:off x="8092440" y="1737360"/>
            <a:ext cx="3493008" cy="3474720"/>
          </a:xfrm>
          <a:prstGeom prst="flowChartDocument">
            <a:avLst/>
          </a:prstGeom>
          <a:solidFill>
            <a:srgbClr val="FFFFFF"/>
          </a:solidFill>
          <a:ln w="19050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>
              <a:spcAft>
                <a:spcPts val="600"/>
              </a:spcAft>
            </a:pPr>
            <a:r>
              <a:rPr sz="1400" b="1" lang="en-US" dirty="0">
                <a:solidFill>
                  <a:srgbClr val="007879"/>
                </a:solidFill>
                <a:latin typeface="Bahnschrift"/>
              </a:rPr>
              <a:t>YOUR ASSIGNMENT</a:t>
            </a:r>
          </a:p>
          <a:p>
            <a:pPr algn="l">
              <a:spcAft>
                <a:spcPts val="400"/>
              </a:spcAft>
            </a:pPr>
            <a:r>
              <a:rPr sz="1150" b="1" lang="en-US" dirty="0">
                <a:solidFill>
                  <a:srgbClr val="002B55"/>
                </a:solidFill>
                <a:latin typeface="Arial"/>
              </a:rPr>
              <a:t>Role: </a:t>
            </a:r>
            <a:r>
              <a:rPr sz="1150" b="0" lang="en-US" dirty="0">
                <a:solidFill>
                  <a:srgbClr val="28455F"/>
                </a:solidFill>
                <a:latin typeface="Arial"/>
              </a:rPr>
              <a:t>Medical Affairs insights lead</a:t>
            </a:r>
          </a:p>
          <a:p>
            <a:pPr algn="l">
              <a:spcAft>
                <a:spcPts val="400"/>
              </a:spcAft>
            </a:pPr>
            <a:r>
              <a:rPr sz="1150" b="1" lang="en-US" dirty="0">
                <a:solidFill>
                  <a:srgbClr val="002B55"/>
                </a:solidFill>
                <a:latin typeface="Arial"/>
              </a:rPr>
              <a:t>Goal: </a:t>
            </a:r>
            <a:r>
              <a:rPr sz="1150" b="0" lang="en-US" dirty="0">
                <a:solidFill>
                  <a:srgbClr val="28455F"/>
                </a:solidFill>
                <a:latin typeface="Arial"/>
              </a:rPr>
              <a:t>leadership knows the three field insights that should change what we do this quarter, each with an owner and a next action</a:t>
            </a:r>
          </a:p>
          <a:p>
            <a:pPr algn="l">
              <a:spcAft>
                <a:spcPts val="400"/>
              </a:spcAft>
            </a:pPr>
            <a:r>
              <a:rPr sz="1150" b="1" lang="en-US" dirty="0">
                <a:solidFill>
                  <a:srgbClr val="002B55"/>
                </a:solidFill>
                <a:latin typeface="Arial"/>
              </a:rPr>
              <a:t>Context: </a:t>
            </a:r>
            <a:r>
              <a:rPr sz="1150" b="0" lang="en-US" dirty="0">
                <a:solidFill>
                  <a:srgbClr val="28455F"/>
                </a:solidFill>
                <a:latin typeface="Arial"/>
              </a:rPr>
              <a:t>field-observations.csv, medical plan</a:t>
            </a:r>
          </a:p>
          <a:p>
            <a:pPr algn="l">
              <a:spcAft>
                <a:spcPts val="400"/>
              </a:spcAft>
            </a:pPr>
            <a:r>
              <a:rPr sz="1150" b="1" lang="en-US" dirty="0">
                <a:solidFill>
                  <a:srgbClr val="002B55"/>
                </a:solidFill>
                <a:latin typeface="Arial"/>
              </a:rPr>
              <a:t>Deliver: </a:t>
            </a:r>
            <a:r>
              <a:rPr sz="1150" b="0" lang="en-US" dirty="0">
                <a:solidFill>
                  <a:srgbClr val="28455F"/>
                </a:solidFill>
                <a:latin typeface="Arial"/>
              </a:rPr>
              <a:t>leadership brief + insight table with source IDs</a:t>
            </a:r>
          </a:p>
          <a:p>
            <a:pPr algn="l">
              <a:spcAft>
                <a:spcPts val="400"/>
              </a:spcAft>
            </a:pPr>
            <a:r>
              <a:rPr sz="1150" b="1" lang="en-US" dirty="0">
                <a:solidFill>
                  <a:srgbClr val="002B55"/>
                </a:solidFill>
                <a:latin typeface="Arial"/>
              </a:rPr>
              <a:t>Stop: </a:t>
            </a:r>
            <a:r>
              <a:rPr sz="1150" b="0" lang="en-US" dirty="0">
                <a:solidFill>
                  <a:srgbClr val="28455F"/>
                </a:solidFill>
                <a:latin typeface="Arial"/>
              </a:rPr>
              <a:t>before anything external. I am the final judge.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03320" y="2926080"/>
            <a:ext cx="429767" cy="0"/>
          </a:xfrm>
          <a:prstGeom prst="line">
            <a:avLst/>
          </a:prstGeom>
          <a:ln w="38100">
            <a:solidFill>
              <a:srgbClr val="0078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562088" y="3429000"/>
            <a:ext cx="466343" cy="0"/>
          </a:xfrm>
          <a:prstGeom prst="line">
            <a:avLst/>
          </a:prstGeom>
          <a:ln w="38100">
            <a:solidFill>
              <a:srgbClr val="0078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06240" y="5349240"/>
            <a:ext cx="7379208" cy="54864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400" b="1" lang="en-US" dirty="0">
                <a:solidFill>
                  <a:srgbClr val="007879"/>
                </a:solidFill>
                <a:latin typeface="Arial"/>
              </a:rPr>
              <a:t>On the companion website: pick the job, answer a few questions, copy the assignment. It runs in your browser; nothing is sent anywhere.</a:t>
            </a:r>
          </a:p>
        </p:txBody>
      </p:sp>
      <p:pic>
        <p:nvPicPr>
          <p:cNvPr id="760" name="Optimizer screenshot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09905" y="3931920"/>
            <a:ext cx="3017520" cy="1883664"/>
          </a:xfrm>
          <a:prstGeom prst="roundRect">
            <a:avLst>
              <a:gd name="adj" fmla="val 6000"/>
            </a:avLst>
          </a:prstGeom>
          <a:ln w="12700">
            <a:solidFill>
              <a:srgbClr val="D9E3EA"/>
            </a:solidFill>
          </a:ln>
        </p:spPr>
      </p:pic>
    </p:spTree>
    <p:extLst>
      <p:ext uri="{BB962C8B-B14F-4D97-AF65-F5344CB8AC3E}">
        <p14:creationId xmlns:p14="http://schemas.microsoft.com/office/powerpoint/2010/main" val="12059737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45596543-C630-4623-9503-ED9E65205595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Four teams, four digital workforces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37D4EC-3905-426B-8877-682650598949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F3D11E-301C-47DE-9686-13975E170C93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8445478-AA4C-45E0-BA51-6E606ADB44B2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43</a:t>
            </a:r>
          </a:p>
        </p:txBody>
      </p:sp>
      <p:sp>
        <p:nvSpPr>
          <p:cNvPr id="770" name="Team card"/>
          <p:cNvSpPr/>
          <p:nvPr/>
        </p:nvSpPr>
        <p:spPr>
          <a:xfrm>
            <a:off x="609905" y="1325880"/>
            <a:ext cx="342900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771" name="Team header"/>
          <p:cNvSpPr/>
          <p:nvPr/>
        </p:nvSpPr>
        <p:spPr>
          <a:xfrm>
            <a:off x="609905" y="1325880"/>
            <a:ext cx="3429000" cy="640080"/>
          </a:xfrm>
          <a:prstGeom prst="rect">
            <a:avLst/>
          </a:prstGeom>
          <a:solidFill>
            <a:srgbClr val="002B55"/>
          </a:solidFill>
          <a:ln w="12700">
            <a:noFill/>
          </a:ln>
        </p:spPr>
        <p:txBody>
          <a:bodyPr wrap="square" lIns="137160" rIns="137160" tIns="137160" bIns="137160" anchor="ctr" rtlCol="0"/>
          <a:lstStyle/>
          <a:p>
            <a:pPr algn="l"/>
            <a:r>
              <a:rPr sz="1050" b="1" lang="en-US" dirty="0">
                <a:solidFill>
                  <a:srgbClr val="FFFFFF"/>
                </a:solidFill>
                <a:latin typeface="Arial"/>
              </a:rPr>
              <a:t>TEAM 01</a:t>
            </a:r>
          </a:p>
          <a:p>
            <a:pPr algn="l"/>
            <a:r>
              <a:rPr sz="1600" b="1" lang="en-US" dirty="0">
                <a:solidFill>
                  <a:srgbClr val="FFFFFF"/>
                </a:solidFill>
                <a:latin typeface="Bahnschrift"/>
              </a:rPr>
              <a:t>Publications Brain</a:t>
            </a:r>
          </a:p>
        </p:txBody>
      </p:sp>
      <p:sp>
        <p:nvSpPr>
          <p:cNvPr id="772" name="Team job"/>
          <p:cNvSpPr/>
          <p:nvPr/>
        </p:nvSpPr>
        <p:spPr>
          <a:xfrm>
            <a:off x="774497" y="2075688"/>
            <a:ext cx="3108960" cy="7315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300" b="0" lang="en-US" dirty="0">
                <a:solidFill>
                  <a:srgbClr val="002B55"/>
                </a:solidFill>
                <a:latin typeface="Arial"/>
              </a:rPr>
              <a:t>What to publish, what to stop, and keeping every output consistent.</a:t>
            </a:r>
          </a:p>
        </p:txBody>
      </p:sp>
      <p:sp>
        <p:nvSpPr>
          <p:cNvPr id="773" name="Start label"/>
          <p:cNvSpPr/>
          <p:nvPr/>
        </p:nvSpPr>
        <p:spPr>
          <a:xfrm>
            <a:off x="774497" y="2788920"/>
            <a:ext cx="310896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050" b="1" lang="en-US" dirty="0">
                <a:solidFill>
                  <a:srgbClr val="002B55"/>
                </a:solidFill>
                <a:latin typeface="Arial"/>
              </a:rPr>
              <a:t>START WITH</a:t>
            </a:r>
          </a:p>
        </p:txBody>
      </p:sp>
      <p:sp>
        <p:nvSpPr>
          <p:cNvPr id="774" name="Start mission"/>
          <p:cNvSpPr/>
          <p:nvPr/>
        </p:nvSpPr>
        <p:spPr>
          <a:xfrm>
            <a:off x="774497" y="3017520"/>
            <a:ext cx="310896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250" b="1" lang="en-US" dirty="0">
                <a:solidFill>
                  <a:srgbClr val="28455F"/>
                </a:solidFill>
                <a:latin typeface="Arial"/>
              </a:rPr>
              <a:t>Mission 4 · Scientific Communications</a:t>
            </a:r>
          </a:p>
        </p:txBody>
      </p:sp>
      <p:sp>
        <p:nvSpPr>
          <p:cNvPr id="775" name="Team card"/>
          <p:cNvSpPr/>
          <p:nvPr/>
        </p:nvSpPr>
        <p:spPr>
          <a:xfrm>
            <a:off x="4221785" y="1325880"/>
            <a:ext cx="342900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776" name="Team header"/>
          <p:cNvSpPr/>
          <p:nvPr/>
        </p:nvSpPr>
        <p:spPr>
          <a:xfrm>
            <a:off x="4221785" y="1325880"/>
            <a:ext cx="3429000" cy="640080"/>
          </a:xfrm>
          <a:prstGeom prst="rect">
            <a:avLst/>
          </a:prstGeom>
          <a:solidFill>
            <a:srgbClr val="1F5C99"/>
          </a:solidFill>
          <a:ln w="12700">
            <a:noFill/>
          </a:ln>
        </p:spPr>
        <p:txBody>
          <a:bodyPr wrap="square" lIns="137160" rIns="137160" tIns="137160" bIns="137160" anchor="ctr" rtlCol="0"/>
          <a:lstStyle/>
          <a:p>
            <a:pPr algn="l"/>
            <a:r>
              <a:rPr sz="1050" b="1" lang="en-US" dirty="0">
                <a:solidFill>
                  <a:srgbClr val="FFFFFF"/>
                </a:solidFill>
                <a:latin typeface="Arial"/>
              </a:rPr>
              <a:t>TEAM 02</a:t>
            </a:r>
          </a:p>
          <a:p>
            <a:pPr algn="l"/>
            <a:r>
              <a:rPr sz="1600" b="1" lang="en-US" dirty="0">
                <a:solidFill>
                  <a:srgbClr val="FFFFFF"/>
                </a:solidFill>
                <a:latin typeface="Bahnschrift"/>
              </a:rPr>
              <a:t>Insights Engine</a:t>
            </a:r>
          </a:p>
        </p:txBody>
      </p:sp>
      <p:sp>
        <p:nvSpPr>
          <p:cNvPr id="777" name="Team job"/>
          <p:cNvSpPr/>
          <p:nvPr/>
        </p:nvSpPr>
        <p:spPr>
          <a:xfrm>
            <a:off x="4386377" y="2075688"/>
            <a:ext cx="3108960" cy="7315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300" b="0" lang="en-US" dirty="0">
                <a:solidFill>
                  <a:srgbClr val="002B55"/>
                </a:solidFill>
                <a:latin typeface="Arial"/>
              </a:rPr>
              <a:t>Turn a quarter of field records into decisions leadership can act on.</a:t>
            </a:r>
          </a:p>
        </p:txBody>
      </p:sp>
      <p:sp>
        <p:nvSpPr>
          <p:cNvPr id="778" name="Start label"/>
          <p:cNvSpPr/>
          <p:nvPr/>
        </p:nvSpPr>
        <p:spPr>
          <a:xfrm>
            <a:off x="4386377" y="2788920"/>
            <a:ext cx="310896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050" b="1" lang="en-US" dirty="0">
                <a:solidFill>
                  <a:srgbClr val="1F5C99"/>
                </a:solidFill>
                <a:latin typeface="Arial"/>
              </a:rPr>
              <a:t>START WITH</a:t>
            </a:r>
          </a:p>
        </p:txBody>
      </p:sp>
      <p:sp>
        <p:nvSpPr>
          <p:cNvPr id="779" name="Start mission"/>
          <p:cNvSpPr/>
          <p:nvPr/>
        </p:nvSpPr>
        <p:spPr>
          <a:xfrm>
            <a:off x="4386377" y="3017520"/>
            <a:ext cx="310896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250" b="1" lang="en-US" dirty="0">
                <a:solidFill>
                  <a:srgbClr val="28455F"/>
                </a:solidFill>
                <a:latin typeface="Arial"/>
              </a:rPr>
              <a:t>Mission 2 · Field Insights</a:t>
            </a:r>
          </a:p>
        </p:txBody>
      </p:sp>
      <p:sp>
        <p:nvSpPr>
          <p:cNvPr id="780" name="Team card"/>
          <p:cNvSpPr/>
          <p:nvPr/>
        </p:nvSpPr>
        <p:spPr>
          <a:xfrm>
            <a:off x="609905" y="3611880"/>
            <a:ext cx="342900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781" name="Team header"/>
          <p:cNvSpPr/>
          <p:nvPr/>
        </p:nvSpPr>
        <p:spPr>
          <a:xfrm>
            <a:off x="609905" y="3611880"/>
            <a:ext cx="3429000" cy="640080"/>
          </a:xfrm>
          <a:prstGeom prst="rect">
            <a:avLst/>
          </a:prstGeom>
          <a:solidFill>
            <a:srgbClr val="007879"/>
          </a:solidFill>
          <a:ln w="12700">
            <a:noFill/>
          </a:ln>
        </p:spPr>
        <p:txBody>
          <a:bodyPr wrap="square" lIns="137160" rIns="137160" tIns="137160" bIns="137160" anchor="ctr" rtlCol="0"/>
          <a:lstStyle/>
          <a:p>
            <a:pPr algn="l"/>
            <a:r>
              <a:rPr sz="1050" b="1" lang="en-US" dirty="0">
                <a:solidFill>
                  <a:srgbClr val="FFFFFF"/>
                </a:solidFill>
                <a:latin typeface="Arial"/>
              </a:rPr>
              <a:t>TEAM 03</a:t>
            </a:r>
          </a:p>
          <a:p>
            <a:pPr algn="l"/>
            <a:r>
              <a:rPr sz="1600" b="1" lang="en-US" dirty="0">
                <a:solidFill>
                  <a:srgbClr val="FFFFFF"/>
                </a:solidFill>
                <a:latin typeface="Bahnschrift"/>
              </a:rPr>
              <a:t>Congress Monitor</a:t>
            </a:r>
          </a:p>
        </p:txBody>
      </p:sp>
      <p:sp>
        <p:nvSpPr>
          <p:cNvPr id="782" name="Team job"/>
          <p:cNvSpPr/>
          <p:nvPr/>
        </p:nvSpPr>
        <p:spPr>
          <a:xfrm>
            <a:off x="774497" y="4361688"/>
            <a:ext cx="3108960" cy="7315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300" b="0" lang="en-US" dirty="0">
                <a:solidFill>
                  <a:srgbClr val="002B55"/>
                </a:solidFill>
                <a:latin typeface="Arial"/>
              </a:rPr>
              <a:t>The congress just ended. What changed, and what do we do about it?</a:t>
            </a:r>
          </a:p>
        </p:txBody>
      </p:sp>
      <p:sp>
        <p:nvSpPr>
          <p:cNvPr id="783" name="Start label"/>
          <p:cNvSpPr/>
          <p:nvPr/>
        </p:nvSpPr>
        <p:spPr>
          <a:xfrm>
            <a:off x="774497" y="5074920"/>
            <a:ext cx="310896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050" b="1" lang="en-US" dirty="0">
                <a:solidFill>
                  <a:srgbClr val="007879"/>
                </a:solidFill>
                <a:latin typeface="Arial"/>
              </a:rPr>
              <a:t>START WITH</a:t>
            </a:r>
          </a:p>
        </p:txBody>
      </p:sp>
      <p:sp>
        <p:nvSpPr>
          <p:cNvPr id="784" name="Start mission"/>
          <p:cNvSpPr/>
          <p:nvPr/>
        </p:nvSpPr>
        <p:spPr>
          <a:xfrm>
            <a:off x="774497" y="5303520"/>
            <a:ext cx="310896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250" b="1" lang="en-US" dirty="0">
                <a:solidFill>
                  <a:srgbClr val="28455F"/>
                </a:solidFill>
                <a:latin typeface="Arial"/>
              </a:rPr>
              <a:t>Mission 3 · Congress Intelligence</a:t>
            </a:r>
          </a:p>
        </p:txBody>
      </p:sp>
      <p:sp>
        <p:nvSpPr>
          <p:cNvPr id="785" name="Team card"/>
          <p:cNvSpPr/>
          <p:nvPr/>
        </p:nvSpPr>
        <p:spPr>
          <a:xfrm>
            <a:off x="4221785" y="3611880"/>
            <a:ext cx="342900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786" name="Team header"/>
          <p:cNvSpPr/>
          <p:nvPr/>
        </p:nvSpPr>
        <p:spPr>
          <a:xfrm>
            <a:off x="4221785" y="3611880"/>
            <a:ext cx="3429000" cy="640080"/>
          </a:xfrm>
          <a:prstGeom prst="rect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137160" rIns="137160" tIns="137160" bIns="137160" anchor="ctr" rtlCol="0"/>
          <a:lstStyle/>
          <a:p>
            <a:pPr algn="l"/>
            <a:r>
              <a:rPr sz="1050" b="1" lang="en-US" dirty="0">
                <a:solidFill>
                  <a:srgbClr val="FFFFFF"/>
                </a:solidFill>
                <a:latin typeface="Arial"/>
              </a:rPr>
              <a:t>TEAM 04</a:t>
            </a:r>
          </a:p>
          <a:p>
            <a:pPr algn="l"/>
            <a:r>
              <a:rPr sz="1600" b="1" lang="en-US" dirty="0">
                <a:solidFill>
                  <a:srgbClr val="FFFFFF"/>
                </a:solidFill>
                <a:latin typeface="Bahnschrift"/>
              </a:rPr>
              <a:t>Field Intelligence Engine</a:t>
            </a:r>
          </a:p>
        </p:txBody>
      </p:sp>
      <p:sp>
        <p:nvSpPr>
          <p:cNvPr id="787" name="Team job"/>
          <p:cNvSpPr/>
          <p:nvPr/>
        </p:nvSpPr>
        <p:spPr>
          <a:xfrm>
            <a:off x="4386377" y="4361688"/>
            <a:ext cx="3108960" cy="7315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300" b="0" lang="en-US" dirty="0">
                <a:solidFill>
                  <a:srgbClr val="002B55"/>
                </a:solidFill>
                <a:latin typeface="Arial"/>
              </a:rPr>
              <a:t>Walk into every HCP conversation prepared, and close the loop after.</a:t>
            </a:r>
          </a:p>
        </p:txBody>
      </p:sp>
      <p:sp>
        <p:nvSpPr>
          <p:cNvPr id="788" name="Start label"/>
          <p:cNvSpPr/>
          <p:nvPr/>
        </p:nvSpPr>
        <p:spPr>
          <a:xfrm>
            <a:off x="4386377" y="5074920"/>
            <a:ext cx="310896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050" b="1" lang="en-US" dirty="0">
                <a:solidFill>
                  <a:srgbClr val="B4501F"/>
                </a:solidFill>
                <a:latin typeface="Arial"/>
              </a:rPr>
              <a:t>START WITH</a:t>
            </a:r>
          </a:p>
        </p:txBody>
      </p:sp>
      <p:sp>
        <p:nvSpPr>
          <p:cNvPr id="789" name="Start mission"/>
          <p:cNvSpPr/>
          <p:nvPr/>
        </p:nvSpPr>
        <p:spPr>
          <a:xfrm>
            <a:off x="4386377" y="5303520"/>
            <a:ext cx="3108960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250" b="1" lang="en-US" dirty="0">
                <a:solidFill>
                  <a:srgbClr val="28455F"/>
                </a:solidFill>
                <a:latin typeface="Arial"/>
              </a:rPr>
              <a:t>Mission 1 · Field Medical</a:t>
            </a:r>
          </a:p>
        </p:txBody>
      </p:sp>
      <p:pic>
        <p:nvPicPr>
          <p:cNvPr id="795" name="Build team art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7909560" y="1325880"/>
            <a:ext cx="3657600" cy="2057400"/>
          </a:xfrm>
          <a:prstGeom prst="roundRect">
            <a:avLst>
              <a:gd name="adj" fmla="val 6000"/>
            </a:avLst>
          </a:prstGeom>
          <a:ln w="12700">
            <a:solidFill>
              <a:srgbClr val="D9E3EA"/>
            </a:solidFill>
          </a:ln>
        </p:spPr>
      </p:pic>
      <p:sp>
        <p:nvSpPr>
          <p:cNvPr id="796" name="Art caption"/>
          <p:cNvSpPr/>
          <p:nvPr/>
        </p:nvSpPr>
        <p:spPr>
          <a:xfrm>
            <a:off x="7909560" y="3611880"/>
            <a:ext cx="3657600" cy="1645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2200" b="1" lang="en-US" dirty="0">
                <a:solidFill>
                  <a:srgbClr val="002B55"/>
                </a:solidFill>
                <a:latin typeface="Bahnschrift"/>
              </a:rPr>
              <a:t>Two days.</a:t>
            </a:r>
          </a:p>
          <a:p>
            <a:pPr algn="l"/>
            <a:r>
              <a:rPr sz="2200" b="1" lang="en-US" dirty="0">
                <a:solidFill>
                  <a:srgbClr val="007879"/>
                </a:solidFill>
                <a:latin typeface="Bahnschrift"/>
              </a:rPr>
              <a:t>One AI worker per team.</a:t>
            </a:r>
          </a:p>
          <a:p>
            <a:pPr algn="l">
              <a:spcBef>
                <a:spcPts val="800"/>
              </a:spcBef>
            </a:pPr>
            <a:r>
              <a:rPr sz="1300" b="0" lang="en-US" dirty="0">
                <a:solidFill>
                  <a:srgbClr val="28455F"/>
                </a:solidFill>
                <a:latin typeface="Arial"/>
              </a:rPr>
              <a:t>Each team runs a mission on fictional data and leaves with a worker it has tested.</a:t>
            </a:r>
          </a:p>
        </p:txBody>
      </p:sp>
    </p:spTree>
    <p:extLst>
      <p:ext uri="{BB962C8B-B14F-4D97-AF65-F5344CB8AC3E}">
        <p14:creationId xmlns:p14="http://schemas.microsoft.com/office/powerpoint/2010/main" val="20014384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F89F62D-BEA1-40FA-8630-DE390055B074}"/>
              </a:ext>
            </a:extLst>
          </p:cNvPr>
          <p:cNvSpPr>
            <a:spLocks noGrp="1"/>
          </p:cNvSpPr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Test the worker where it can fail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611AFC-60E9-49B8-A1F6-8E28990DC7C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008769-AA8B-4B08-A878-592276EFF2B8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BC8D482-8BDE-4D27-905C-8E76997CA1CF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44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09904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3566160"/>
                <a:gridCol w="1188720"/>
              </a:tblGrid>
              <a:tr h="6858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ahnschrift"/>
                        </a:rPr>
                        <a:t>Test</a:t>
                      </a:r>
                    </a:p>
                  </a:txBody>
                  <a:tcPr anchor="ctr">
                    <a:solidFill>
                      <a:srgbClr val="002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ahnschrift"/>
                        </a:rPr>
                        <a:t>What we feed it</a:t>
                      </a:r>
                    </a:p>
                  </a:txBody>
                  <a:tcPr anchor="ctr">
                    <a:solidFill>
                      <a:srgbClr val="002B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Bahnschrift"/>
                        </a:rPr>
                        <a:t>What good looks like</a:t>
                      </a:r>
                    </a:p>
                  </a:txBody>
                  <a:tcPr anchor="ctr">
                    <a:solidFill>
                      <a:srgbClr val="002B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Bahnschrift"/>
                        </a:rPr>
                        <a:t>Result</a:t>
                      </a:r>
                    </a:p>
                  </a:txBody>
                  <a:tcPr anchor="ctr">
                    <a:solidFill>
                      <a:srgbClr val="002B5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2B55"/>
                          </a:solidFill>
                          <a:latin typeface="Bahnschrift"/>
                        </a:rPr>
                        <a:t>Standard case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2B55"/>
                          </a:solidFill>
                          <a:latin typeface="Arial"/>
                        </a:rPr>
                        <a:t>A complete source pack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2B55"/>
                          </a:solidFill>
                          <a:latin typeface="Arial"/>
                        </a:rPr>
                        <a:t>Accurate, cited, on time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Bahnschrift"/>
                        </a:rPr>
                        <a:t>PASS</a:t>
                      </a:r>
                    </a:p>
                  </a:txBody>
                  <a:tcPr anchor="ctr">
                    <a:solidFill>
                      <a:srgbClr val="2E9D6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2B55"/>
                          </a:solidFill>
                          <a:latin typeface="Bahnschrift"/>
                        </a:rPr>
                        <a:t>Missing source</a:t>
                      </a:r>
                    </a:p>
                  </a:txBody>
                  <a:tcPr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2B55"/>
                          </a:solidFill>
                          <a:latin typeface="Arial"/>
                        </a:rPr>
                        <a:t>One key paper withheld</a:t>
                      </a:r>
                    </a:p>
                  </a:txBody>
                  <a:tcPr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2B55"/>
                          </a:solidFill>
                          <a:latin typeface="Arial"/>
                        </a:rPr>
                        <a:t>Names the gap, does not invent</a:t>
                      </a:r>
                    </a:p>
                  </a:txBody>
                  <a:tcPr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Bahnschrift"/>
                        </a:rPr>
                        <a:t>PASS</a:t>
                      </a:r>
                    </a:p>
                  </a:txBody>
                  <a:tcPr anchor="ctr">
                    <a:solidFill>
                      <a:srgbClr val="2E9D6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2B55"/>
                          </a:solidFill>
                          <a:latin typeface="Bahnschrift"/>
                        </a:rPr>
                        <a:t>Wrong population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2B55"/>
                          </a:solidFill>
                          <a:latin typeface="Arial"/>
                        </a:rPr>
                        <a:t>Data from a different patient group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2B55"/>
                          </a:solidFill>
                          <a:latin typeface="Arial"/>
                        </a:rPr>
                        <a:t>Flags the mismatch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Bahnschrift"/>
                        </a:rPr>
                        <a:t>CHECK</a:t>
                      </a:r>
                    </a:p>
                  </a:txBody>
                  <a:tcPr anchor="ctr">
                    <a:solidFill>
                      <a:srgbClr val="E9A2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2B55"/>
                          </a:solidFill>
                          <a:latin typeface="Bahnschrift"/>
                        </a:rPr>
                        <a:t>Source injection</a:t>
                      </a:r>
                    </a:p>
                  </a:txBody>
                  <a:tcPr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2B55"/>
                          </a:solidFill>
                          <a:latin typeface="Arial"/>
                        </a:rPr>
                        <a:t>A document with hidden instructions</a:t>
                      </a:r>
                    </a:p>
                  </a:txBody>
                  <a:tcPr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2B55"/>
                          </a:solidFill>
                          <a:latin typeface="Arial"/>
                        </a:rPr>
                        <a:t>Ignores them and reports it</a:t>
                      </a:r>
                    </a:p>
                  </a:txBody>
                  <a:tcPr anchor="ctr"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Bahnschrift"/>
                        </a:rPr>
                        <a:t>PASS</a:t>
                      </a:r>
                    </a:p>
                  </a:txBody>
                  <a:tcPr anchor="ctr">
                    <a:solidFill>
                      <a:srgbClr val="2E9D6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002B55"/>
                          </a:solidFill>
                          <a:latin typeface="Bahnschrift"/>
                        </a:rPr>
                        <a:t>Action boundary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2B55"/>
                          </a:solidFill>
                          <a:latin typeface="Arial"/>
                        </a:rPr>
                        <a:t>A request to send or approve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002B55"/>
                          </a:solidFill>
                          <a:latin typeface="Arial"/>
                        </a:rPr>
                        <a:t>Stops for human approval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Bahnschrift"/>
                        </a:rPr>
                        <a:t>STOPS</a:t>
                      </a:r>
                    </a:p>
                  </a:txBody>
                  <a:tcPr anchor="ctr">
                    <a:solidFill>
                      <a:srgbClr val="007879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09904" y="5715000"/>
            <a:ext cx="10972800" cy="4114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600" b="1">
                <a:solidFill>
                  <a:srgbClr val="007879"/>
                </a:solidFill>
                <a:latin typeface="Arial"/>
              </a:rPr>
              <a:t>A credible demo includes one failure and what the worker did about it.</a:t>
            </a:r>
          </a:p>
        </p:txBody>
      </p:sp>
      <p:sp>
        <p:nvSpPr>
          <p:cNvPr id="800" name="Illustrative tag"/>
          <p:cNvSpPr/>
          <p:nvPr/>
        </p:nvSpPr>
        <p:spPr>
          <a:xfrm>
            <a:off x="7927848" y="1024128"/>
            <a:ext cx="365760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r"/>
            <a:r>
              <a:rPr sz="1100" b="1" lang="en-US" dirty="0">
                <a:solidFill>
                  <a:srgbClr val="B4501F"/>
                </a:solidFill>
                <a:latin typeface="Arial"/>
              </a:rPr>
              <a:t>Illustrative example · results are placeholders</a:t>
            </a:r>
          </a:p>
        </p:txBody>
      </p:sp>
    </p:spTree>
    <p:extLst>
      <p:ext uri="{BB962C8B-B14F-4D97-AF65-F5344CB8AC3E}">
        <p14:creationId xmlns:p14="http://schemas.microsoft.com/office/powerpoint/2010/main" val="20137819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E3E486C-7562-4E9E-800F-1C10B3C4AC45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Own it, bound it, measure 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EDB0FE-B270-40F0-A113-569EF876446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7B449A-1BE0-4FB2-B6D6-B312CB46FE5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15EF9E-B14A-4A0B-8041-A8EDFDB3442D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45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1325880"/>
            <a:ext cx="3108960" cy="3108960"/>
          </a:xfrm>
          <a:prstGeom prst="ellipse">
            <a:avLst/>
          </a:prstGeom>
          <a:solidFill>
            <a:srgbClr val="002B55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834640" y="1325880"/>
            <a:ext cx="3108960" cy="3108960"/>
          </a:xfrm>
          <a:prstGeom prst="ellipse">
            <a:avLst/>
          </a:prstGeom>
          <a:solidFill>
            <a:srgbClr val="007879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28800" y="2926080"/>
            <a:ext cx="3108960" cy="3108960"/>
          </a:xfrm>
          <a:prstGeom prst="ellipse">
            <a:avLst/>
          </a:prstGeom>
          <a:solidFill>
            <a:srgbClr val="F47735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103120"/>
            <a:ext cx="1828800" cy="9144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ahnschrift"/>
              </a:rPr>
              <a:t>OWN IT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A named person decides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103120"/>
            <a:ext cx="1828800" cy="9144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ahnschrift"/>
              </a:rPr>
              <a:t>BOUND IT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Inputs, outputs, stop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4572000"/>
            <a:ext cx="1828800" cy="9144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Bahnschrift"/>
              </a:rPr>
              <a:t>MEASURE IT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Arial"/>
              </a:rPr>
              <a:t>Effort, rework,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3429000"/>
            <a:ext cx="155448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Bahnschrift"/>
              </a:rPr>
              <a:t>Trusted worker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1645920"/>
            <a:ext cx="4754880" cy="8229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2000" b="1" lang="en-US" dirty="0">
                <a:solidFill>
                  <a:srgbClr val="002B55"/>
                </a:solidFill>
                <a:latin typeface="Bahnschrift"/>
              </a:rPr>
              <a:t>Own it</a:t>
            </a:r>
          </a:p>
          <a:p>
            <a:pPr algn="l">
              <a:spcBef>
                <a:spcPts val="200"/>
              </a:spcBef>
            </a:pPr>
            <a:r>
              <a:rPr sz="1400" b="0" lang="en-US" dirty="0">
                <a:solidFill>
                  <a:srgbClr val="28455F"/>
                </a:solidFill>
                <a:latin typeface="Arial"/>
              </a:rPr>
              <a:t>A named decision owner and reviewer. 'Medical' is not an owner.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651760"/>
            <a:ext cx="4754880" cy="8229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2000" b="1" lang="en-US" dirty="0">
                <a:solidFill>
                  <a:srgbClr val="007879"/>
                </a:solidFill>
                <a:latin typeface="Bahnschrift"/>
              </a:rPr>
              <a:t>Bound it</a:t>
            </a:r>
          </a:p>
          <a:p>
            <a:pPr algn="l">
              <a:spcBef>
                <a:spcPts val="200"/>
              </a:spcBef>
            </a:pPr>
            <a:r>
              <a:rPr sz="1400" b="0" lang="en-US" dirty="0">
                <a:solidFill>
                  <a:srgbClr val="28455F"/>
                </a:solidFill>
                <a:latin typeface="Arial"/>
              </a:rPr>
              <a:t>Inputs, outputs and stop rules. The safe lane is written down.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657600"/>
            <a:ext cx="4754880" cy="8229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2000" b="1" lang="en-US" dirty="0">
                <a:solidFill>
                  <a:srgbClr val="B4501F"/>
                </a:solidFill>
                <a:latin typeface="Bahnschrift"/>
              </a:rPr>
              <a:t>Measure it</a:t>
            </a:r>
          </a:p>
          <a:p>
            <a:pPr algn="l">
              <a:spcBef>
                <a:spcPts val="200"/>
              </a:spcBef>
            </a:pPr>
            <a:r>
              <a:rPr sz="1400" b="0" lang="en-US" dirty="0">
                <a:solidFill>
                  <a:srgbClr val="28455F"/>
                </a:solidFill>
                <a:latin typeface="Arial"/>
              </a:rPr>
              <a:t>Effort, review time, rework and value, against the old process.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4800600"/>
            <a:ext cx="4754880" cy="9144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600" b="1" lang="en-US" dirty="0">
                <a:solidFill>
                  <a:srgbClr val="007879"/>
                </a:solidFill>
                <a:latin typeface="Bahnschrift"/>
              </a:rPr>
              <a:t>Start narrow. Compare against the full process. Expand only after the evidence.</a:t>
            </a:r>
          </a:p>
        </p:txBody>
      </p:sp>
    </p:spTree>
    <p:extLst>
      <p:ext uri="{BB962C8B-B14F-4D97-AF65-F5344CB8AC3E}">
        <p14:creationId xmlns:p14="http://schemas.microsoft.com/office/powerpoint/2010/main" val="2378905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70AED14-837C-4EB0-AAE5-60527F3F5C2A}"/>
              </a:ext>
            </a:extLst>
          </p:cNvPr>
          <p:cNvSpPr>
            <a:spLocks noGrp="1"/>
          </p:cNvSpPr>
          <p:nvPr/>
        </p:nvSpPr>
        <p:spPr>
          <a:xfrm>
            <a:off x="609600" y="695325"/>
            <a:ext cx="7863840" cy="1657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45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45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45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Bring one workflow</a:t>
            </a:r>
          </a:p>
          <a:p>
            <a:pPr>
              <a:defRPr sz="45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45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Leave with a tested worker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F2E18D-CAC1-4D70-8061-82106F4789B8}"/>
              </a:ext>
            </a:extLst>
          </p:cNvPr>
          <p:cNvSpPr>
            <a:spLocks noGrp="1"/>
          </p:cNvSpPr>
          <p:nvPr/>
        </p:nvSpPr>
        <p:spPr>
          <a:xfrm>
            <a:off x="609600" y="2743200"/>
            <a:ext cx="786384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400" b="0">
                <a:solidFill>
                  <a:srgbClr val="007879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00787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7879"/>
                </a:solidFill>
                <a:latin typeface="Arial"/>
                <a:ea typeface="Arial"/>
                <a:cs typeface="Arial"/>
              </a:rPr>
              <a:t>Same north star</a:t>
            </a:r>
          </a:p>
          <a:p>
            <a:pPr>
              <a:defRPr sz="2400" b="0">
                <a:solidFill>
                  <a:srgbClr val="00787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7879"/>
                </a:solidFill>
                <a:latin typeface="Arial"/>
                <a:ea typeface="Arial"/>
                <a:cs typeface="Arial"/>
              </a:rPr>
              <a:t>More capacity for the work you lead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237055-E745-4E83-ADFD-96C1B6E9929D}"/>
              </a:ext>
            </a:extLst>
          </p:cNvPr>
          <p:cNvSpPr>
            <a:spLocks noGrp="1"/>
          </p:cNvSpPr>
          <p:nvPr/>
        </p:nvSpPr>
        <p:spPr>
          <a:xfrm>
            <a:off x="609905" y="4480560"/>
            <a:ext cx="246888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2000" b="1" lang="en-US" dirty="0">
                <a:solidFill>
                  <a:srgbClr val="007879"/>
                </a:solidFill>
                <a:latin typeface="Bahnschrift"/>
              </a:rPr>
              <a:t>Today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6F73AC-142D-4667-BBFE-2A60BC032651}"/>
              </a:ext>
            </a:extLst>
          </p:cNvPr>
          <p:cNvSpPr>
            <a:spLocks noGrp="1"/>
          </p:cNvSpPr>
          <p:nvPr/>
        </p:nvSpPr>
        <p:spPr>
          <a:xfrm>
            <a:off x="609905" y="4937760"/>
            <a:ext cx="246888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600" b="0" lang="en-US" dirty="0">
                <a:solidFill>
                  <a:srgbClr val="002B55"/>
                </a:solidFill>
                <a:latin typeface="Arial"/>
              </a:rPr>
              <a:t>One stakeholder to tell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66375E-B095-434B-A10D-4181F2A7B25F}"/>
              </a:ext>
            </a:extLst>
          </p:cNvPr>
          <p:cNvSpPr>
            <a:spLocks noGrp="1"/>
          </p:cNvSpPr>
          <p:nvPr/>
        </p:nvSpPr>
        <p:spPr>
          <a:xfrm>
            <a:off x="3215945" y="4480560"/>
            <a:ext cx="246888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75" b="1">
                <a:solidFill>
                  <a:srgbClr val="F4773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2000" b="1" lang="en-US" dirty="0">
                <a:solidFill>
                  <a:srgbClr val="002B55"/>
                </a:solidFill>
                <a:latin typeface="Bahnschrift"/>
              </a:rPr>
              <a:t>Next week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33ED01-FC93-4919-9F48-C5693603741C}"/>
              </a:ext>
            </a:extLst>
          </p:cNvPr>
          <p:cNvSpPr>
            <a:spLocks noGrp="1"/>
          </p:cNvSpPr>
          <p:nvPr/>
        </p:nvSpPr>
        <p:spPr>
          <a:xfrm>
            <a:off x="3215945" y="4937760"/>
            <a:ext cx="246888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600" b="0" lang="en-US" dirty="0">
                <a:solidFill>
                  <a:srgbClr val="002B55"/>
                </a:solidFill>
                <a:latin typeface="Arial"/>
              </a:rPr>
              <a:t>One new behavior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F8BC50-2A65-42B3-BB75-C782C599EE76}"/>
              </a:ext>
            </a:extLst>
          </p:cNvPr>
          <p:cNvSpPr>
            <a:spLocks noGrp="1"/>
          </p:cNvSpPr>
          <p:nvPr/>
        </p:nvSpPr>
        <p:spPr>
          <a:xfrm>
            <a:off x="5821985" y="4480560"/>
            <a:ext cx="246888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7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2000" b="1" lang="en-US" dirty="0">
                <a:solidFill>
                  <a:srgbClr val="B4501F"/>
                </a:solidFill>
                <a:latin typeface="Bahnschrift"/>
              </a:rPr>
              <a:t>90 days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5E899D-BA93-40FE-832F-A1CF179645DD}"/>
              </a:ext>
            </a:extLst>
          </p:cNvPr>
          <p:cNvSpPr>
            <a:spLocks noGrp="1"/>
          </p:cNvSpPr>
          <p:nvPr/>
        </p:nvSpPr>
        <p:spPr>
          <a:xfrm>
            <a:off x="5821985" y="4937760"/>
            <a:ext cx="246888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250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600" b="0" lang="en-US" dirty="0">
                <a:solidFill>
                  <a:srgbClr val="002B55"/>
                </a:solidFill>
                <a:latin typeface="Arial"/>
              </a:rPr>
              <a:t>One bounded pilot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21E322-4603-4456-8E4C-4B897B4DCCDC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D39031-03CE-4D05-B60A-FB664C929D9F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3593BB-A9C8-47DF-804D-2EE224000C6A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46</a:t>
            </a:r>
          </a:p>
        </p:txBody>
      </p:sp>
      <p:sp>
        <p:nvSpPr>
          <p:cNvPr id="810" name="Timeline"/>
          <p:cNvSpPr/>
          <p:nvPr/>
        </p:nvSpPr>
        <p:spPr>
          <a:xfrm>
            <a:off x="822960" y="4224528"/>
            <a:ext cx="7223760" cy="54864"/>
          </a:xfrm>
          <a:prstGeom prst="rect">
            <a:avLst/>
          </a:prstGeom>
          <a:solidFill>
            <a:srgbClr val="C9D6E3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811" name="Timeline dot"/>
          <p:cNvSpPr/>
          <p:nvPr/>
        </p:nvSpPr>
        <p:spPr>
          <a:xfrm>
            <a:off x="655625" y="4114800"/>
            <a:ext cx="274320" cy="274320"/>
          </a:xfrm>
          <a:prstGeom prst="ellipse">
            <a:avLst/>
          </a:prstGeom>
          <a:solidFill>
            <a:srgbClr val="00787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812" name="Timeline dot"/>
          <p:cNvSpPr/>
          <p:nvPr/>
        </p:nvSpPr>
        <p:spPr>
          <a:xfrm>
            <a:off x="3261665" y="4114800"/>
            <a:ext cx="274320" cy="274320"/>
          </a:xfrm>
          <a:prstGeom prst="ellipse">
            <a:avLst/>
          </a:prstGeom>
          <a:solidFill>
            <a:srgbClr val="002B5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813" name="Timeline dot"/>
          <p:cNvSpPr/>
          <p:nvPr/>
        </p:nvSpPr>
        <p:spPr>
          <a:xfrm>
            <a:off x="5867705" y="4114800"/>
            <a:ext cx="274320" cy="274320"/>
          </a:xfrm>
          <a:prstGeom prst="ellipse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820" name="QR card"/>
          <p:cNvSpPr/>
          <p:nvPr/>
        </p:nvSpPr>
        <p:spPr>
          <a:xfrm>
            <a:off x="8915400" y="914400"/>
            <a:ext cx="2670048" cy="3200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pic>
        <p:nvPicPr>
          <p:cNvPr id="1100" name="Website QR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9290304" y="1115568"/>
            <a:ext cx="1920240" cy="1920240"/>
          </a:xfrm>
          <a:prstGeom prst="rect">
            <a:avLst/>
          </a:prstGeom>
        </p:spPr>
      </p:pic>
      <p:sp>
        <p:nvSpPr>
          <p:cNvPr id="822" name="QR caption"/>
          <p:cNvSpPr/>
          <p:nvPr/>
        </p:nvSpPr>
        <p:spPr>
          <a:xfrm>
            <a:off x="9052560" y="3154680"/>
            <a:ext cx="2395728" cy="8686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ctr"/>
            <a:r>
              <a:rPr sz="1200" b="1" lang="en-US" dirty="0">
                <a:solidFill>
                  <a:srgbClr val="002B55"/>
                </a:solidFill>
                <a:latin typeface="Arial"/>
              </a:rPr>
              <a:t>Scan for the companion website</a:t>
            </a:r>
          </a:p>
          <a:p>
            <a:pPr algn="ctr">
              <a:spcBef>
                <a:spcPts val="300"/>
              </a:spcBef>
            </a:pPr>
            <a:r>
              <a:rPr sz="1200" b="1" lang="en-US" dirty="0">
                <a:solidFill>
                  <a:srgbClr val="007879"/>
                </a:solidFill>
                <a:latin typeface="Arial"/>
                <a:hlinkClick r:id="rId61"/>
              </a:rPr>
              <a:t>aiinaction.up.railway.app</a:t>
            </a:r>
          </a:p>
        </p:txBody>
      </p:sp>
      <p:sp>
        <p:nvSpPr>
          <p:cNvPr id="825" name="QR line"/>
          <p:cNvSpPr/>
          <p:nvPr/>
        </p:nvSpPr>
        <p:spPr>
          <a:xfrm>
            <a:off x="8915400" y="4206240"/>
            <a:ext cx="2670048" cy="82296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ctr"/>
            <a:r>
              <a:rPr sz="1300" b="1" lang="en-US" dirty="0">
                <a:solidFill>
                  <a:srgbClr val="007879"/>
                </a:solidFill>
                <a:latin typeface="Arial"/>
              </a:rPr>
              <a:t>Prompts, missions, data and the optimizer</a:t>
            </a:r>
          </a:p>
        </p:txBody>
      </p:sp>
    </p:spTree>
    <p:extLst>
      <p:ext uri="{BB962C8B-B14F-4D97-AF65-F5344CB8AC3E}">
        <p14:creationId xmlns:p14="http://schemas.microsoft.com/office/powerpoint/2010/main" val="2867404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CC2154F-9987-461E-ADAD-E24881F288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2A85202-9FD7-442F-BEBC-AD6BEB2B953C}"/>
              </a:ext>
            </a:extLst>
          </p:cNvPr>
          <p:cNvSpPr>
            <a:spLocks noGrp="1"/>
          </p:cNvSpPr>
          <p:nvPr/>
        </p:nvSpPr>
        <p:spPr>
          <a:xfrm>
            <a:off x="7223760" y="320040"/>
            <a:ext cx="4663440" cy="11887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7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r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Human at the helm.</a:t>
            </a:r>
          </a:p>
          <a:p>
            <a:pPr algn="r"/>
            <a:r>
              <a:rPr sz="3200" b="1" lang="en-US" dirty="0">
                <a:solidFill>
                  <a:srgbClr val="F47735"/>
                </a:solidFill>
                <a:latin typeface="Bahnschrift"/>
              </a:rPr>
              <a:t>AI in the loop.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E6D0D8-0C6A-487F-A8A5-37788351F576}"/>
              </a:ext>
            </a:extLst>
          </p:cNvPr>
          <p:cNvSpPr>
            <a:spLocks noGrp="1"/>
          </p:cNvSpPr>
          <p:nvPr/>
        </p:nvSpPr>
        <p:spPr>
          <a:xfrm>
            <a:off x="8138160" y="1645920"/>
            <a:ext cx="374904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00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r"/>
            <a:r>
              <a:rPr sz="2000" b="1" lang="en-US" dirty="0">
                <a:solidFill>
                  <a:srgbClr val="007879"/>
                </a:solidFill>
                <a:latin typeface="Arial"/>
              </a:rPr>
              <a:t>What is the first job</a:t>
            </a:r>
          </a:p>
          <a:p>
            <a:pPr algn="r"/>
            <a:r>
              <a:rPr sz="2000" b="1" lang="en-US" dirty="0">
                <a:solidFill>
                  <a:srgbClr val="007879"/>
                </a:solidFill>
                <a:latin typeface="Arial"/>
              </a:rPr>
              <a:t>you will delegate?</a:t>
            </a:r>
          </a:p>
        </p:txBody>
      </p:sp>
      <p:sp>
        <p:nvSpPr>
          <p:cNvPr id="880" name="Footer backing"/>
          <p:cNvSpPr/>
          <p:nvPr/>
        </p:nvSpPr>
        <p:spPr>
          <a:xfrm>
            <a:off x="502920" y="6355080"/>
            <a:ext cx="3291840" cy="347472"/>
          </a:xfrm>
          <a:prstGeom prst="roundRect">
            <a:avLst>
              <a:gd name="adj" fmla="val 12000"/>
            </a:avLst>
          </a:prstGeom>
          <a:solidFill>
            <a:srgbClr val="FFFDF8">
              <a:alpha val="90000"/>
            </a:srgbClr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DB6773-63AC-4BA0-908E-D86C6157F10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500" name="Page backing"/>
          <p:cNvSpPr/>
          <p:nvPr/>
        </p:nvSpPr>
        <p:spPr>
          <a:xfrm>
            <a:off x="11018520" y="6336792"/>
            <a:ext cx="640080" cy="384048"/>
          </a:xfrm>
          <a:prstGeom prst="roundRect">
            <a:avLst>
              <a:gd name="adj" fmla="val 12000"/>
            </a:avLst>
          </a:prstGeom>
          <a:solidFill>
            <a:srgbClr val="FFFDF8">
              <a:alpha val="90000"/>
            </a:srgbClr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ED6512-4E60-47E1-8835-506F0928EB0B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8A560A-6F60-4397-AA8F-4A30EB309DDF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9914690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9F8219C2-817B-4C0C-A749-70688B8249AA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Appendix · plain-language glossary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82FEA80-7DA4-4EF0-9CE0-4D4205013100}"/>
              </a:ext>
            </a:extLst>
          </p:cNvPr>
          <p:cNvSpPr>
            <a:spLocks noGrp="1"/>
          </p:cNvSpPr>
          <p:nvPr/>
        </p:nvSpPr>
        <p:spPr>
          <a:xfrm>
            <a:off x="609600" y="2121408"/>
            <a:ext cx="10972800" cy="9525"/>
          </a:xfrm>
          <a:prstGeom prst="line">
            <a:avLst/>
          </a:prstGeom>
          <a:noFill/>
          <a:ln w="9525">
            <a:solidFill>
              <a:srgbClr val="CE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A7FE3D-85CE-4791-8C0E-B905BFC0B166}"/>
              </a:ext>
            </a:extLst>
          </p:cNvPr>
          <p:cNvSpPr>
            <a:spLocks noGrp="1"/>
          </p:cNvSpPr>
          <p:nvPr/>
        </p:nvSpPr>
        <p:spPr>
          <a:xfrm>
            <a:off x="609600" y="1417320"/>
            <a:ext cx="3238500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700" b="1" lang="en-US" dirty="0">
                <a:solidFill>
                  <a:srgbClr val="002B55"/>
                </a:solidFill>
                <a:latin typeface="Bahnschrift"/>
              </a:rPr>
              <a:t>Agent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1DD22F-5BEC-4B26-B756-3E01BBD3AE77}"/>
              </a:ext>
            </a:extLst>
          </p:cNvPr>
          <p:cNvSpPr>
            <a:spLocks noGrp="1"/>
          </p:cNvSpPr>
          <p:nvPr/>
        </p:nvSpPr>
        <p:spPr>
          <a:xfrm>
            <a:off x="4181475" y="1417320"/>
            <a:ext cx="7296150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en-US" dirty="0">
                <a:solidFill>
                  <a:srgbClr val="28455F"/>
                </a:solidFill>
                <a:latin typeface="Arial"/>
              </a:rPr>
              <a:t>AI that pursues a goal: it plans, uses tools, makes files and checks its own work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F8978EB8-C094-45C0-929D-8A6DEE0FDE65}"/>
              </a:ext>
            </a:extLst>
          </p:cNvPr>
          <p:cNvSpPr>
            <a:spLocks noGrp="1"/>
          </p:cNvSpPr>
          <p:nvPr/>
        </p:nvSpPr>
        <p:spPr>
          <a:xfrm>
            <a:off x="609600" y="2871216"/>
            <a:ext cx="10972800" cy="9525"/>
          </a:xfrm>
          <a:prstGeom prst="line">
            <a:avLst/>
          </a:prstGeom>
          <a:noFill/>
          <a:ln w="9525">
            <a:solidFill>
              <a:srgbClr val="CE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7DAC75-309B-4C1F-8C33-0A4DF7C6336C}"/>
              </a:ext>
            </a:extLst>
          </p:cNvPr>
          <p:cNvSpPr>
            <a:spLocks noGrp="1"/>
          </p:cNvSpPr>
          <p:nvPr/>
        </p:nvSpPr>
        <p:spPr>
          <a:xfrm>
            <a:off x="609600" y="2167128"/>
            <a:ext cx="3238500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700" b="1" lang="en-US" dirty="0">
                <a:solidFill>
                  <a:srgbClr val="002B55"/>
                </a:solidFill>
                <a:latin typeface="Bahnschrift"/>
              </a:rPr>
              <a:t>Skill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2E271B-0350-4468-B9D2-AAC433A7653F}"/>
              </a:ext>
            </a:extLst>
          </p:cNvPr>
          <p:cNvSpPr>
            <a:spLocks noGrp="1"/>
          </p:cNvSpPr>
          <p:nvPr/>
        </p:nvSpPr>
        <p:spPr>
          <a:xfrm>
            <a:off x="4181475" y="2167128"/>
            <a:ext cx="7296150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en-US" dirty="0">
                <a:solidFill>
                  <a:srgbClr val="28455F"/>
                </a:solidFill>
                <a:latin typeface="Arial"/>
              </a:rPr>
              <a:t>A packaged procedure an agent loads on demand: instructions, house rules, examples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F5B96E00-A0AF-4BCA-A3DB-1783342B9DE8}"/>
              </a:ext>
            </a:extLst>
          </p:cNvPr>
          <p:cNvSpPr>
            <a:spLocks noGrp="1"/>
          </p:cNvSpPr>
          <p:nvPr/>
        </p:nvSpPr>
        <p:spPr>
          <a:xfrm>
            <a:off x="609600" y="3621024"/>
            <a:ext cx="10972800" cy="9525"/>
          </a:xfrm>
          <a:prstGeom prst="line">
            <a:avLst/>
          </a:prstGeom>
          <a:noFill/>
          <a:ln w="9525">
            <a:solidFill>
              <a:srgbClr val="CE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FF7DEE-3E78-4AB9-9947-F1F6E4FF5D93}"/>
              </a:ext>
            </a:extLst>
          </p:cNvPr>
          <p:cNvSpPr>
            <a:spLocks noGrp="1"/>
          </p:cNvSpPr>
          <p:nvPr/>
        </p:nvSpPr>
        <p:spPr>
          <a:xfrm>
            <a:off x="609600" y="2916936"/>
            <a:ext cx="3238500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700" b="1" lang="en-US" dirty="0">
                <a:solidFill>
                  <a:srgbClr val="002B55"/>
                </a:solidFill>
                <a:latin typeface="Bahnschrift"/>
              </a:rPr>
              <a:t>Context engineering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E927E9-3C1C-4F87-BAE1-7DEC3835842A}"/>
              </a:ext>
            </a:extLst>
          </p:cNvPr>
          <p:cNvSpPr>
            <a:spLocks noGrp="1"/>
          </p:cNvSpPr>
          <p:nvPr/>
        </p:nvSpPr>
        <p:spPr>
          <a:xfrm>
            <a:off x="4181475" y="2916936"/>
            <a:ext cx="7296150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en-US" dirty="0">
                <a:solidFill>
                  <a:srgbClr val="28455F"/>
                </a:solidFill>
                <a:latin typeface="Arial"/>
              </a:rPr>
              <a:t>Giving each agent exactly the information its step needs, no more and no less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29B80457-7C3E-4279-82E8-2B59F2304761}"/>
              </a:ext>
            </a:extLst>
          </p:cNvPr>
          <p:cNvSpPr>
            <a:spLocks noGrp="1"/>
          </p:cNvSpPr>
          <p:nvPr/>
        </p:nvSpPr>
        <p:spPr>
          <a:xfrm>
            <a:off x="609600" y="4370832"/>
            <a:ext cx="10972800" cy="9525"/>
          </a:xfrm>
          <a:prstGeom prst="line">
            <a:avLst/>
          </a:prstGeom>
          <a:noFill/>
          <a:ln w="9525">
            <a:solidFill>
              <a:srgbClr val="CE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26F14E-0DB9-44E3-84ED-96A6D1611F15}"/>
              </a:ext>
            </a:extLst>
          </p:cNvPr>
          <p:cNvSpPr>
            <a:spLocks noGrp="1"/>
          </p:cNvSpPr>
          <p:nvPr/>
        </p:nvSpPr>
        <p:spPr>
          <a:xfrm>
            <a:off x="609600" y="3666744"/>
            <a:ext cx="3238500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700" b="1" lang="en-US" dirty="0">
                <a:solidFill>
                  <a:srgbClr val="002B55"/>
                </a:solidFill>
                <a:latin typeface="Bahnschrift"/>
              </a:rPr>
              <a:t>Harness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1183A6-8A3D-4341-9533-EA555A847527}"/>
              </a:ext>
            </a:extLst>
          </p:cNvPr>
          <p:cNvSpPr>
            <a:spLocks noGrp="1"/>
          </p:cNvSpPr>
          <p:nvPr/>
        </p:nvSpPr>
        <p:spPr>
          <a:xfrm>
            <a:off x="4181475" y="3666744"/>
            <a:ext cx="7296150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en-US" dirty="0">
                <a:solidFill>
                  <a:srgbClr val="28455F"/>
                </a:solidFill>
                <a:latin typeface="Arial"/>
              </a:rPr>
              <a:t>The environment around the model: tools, files, permissions and checks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6514EB9C-22E3-45D1-9485-8B899F517512}"/>
              </a:ext>
            </a:extLst>
          </p:cNvPr>
          <p:cNvSpPr>
            <a:spLocks noGrp="1"/>
          </p:cNvSpPr>
          <p:nvPr/>
        </p:nvSpPr>
        <p:spPr>
          <a:xfrm>
            <a:off x="609600" y="5120640"/>
            <a:ext cx="10972800" cy="9525"/>
          </a:xfrm>
          <a:prstGeom prst="line">
            <a:avLst/>
          </a:prstGeom>
          <a:noFill/>
          <a:ln w="9525">
            <a:solidFill>
              <a:srgbClr val="CE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FCB18CC-9F55-4E25-AE95-03A833C6DC2B}"/>
              </a:ext>
            </a:extLst>
          </p:cNvPr>
          <p:cNvSpPr>
            <a:spLocks noGrp="1"/>
          </p:cNvSpPr>
          <p:nvPr/>
        </p:nvSpPr>
        <p:spPr>
          <a:xfrm>
            <a:off x="609600" y="4416552"/>
            <a:ext cx="3238500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700" b="1" lang="en-US" dirty="0">
                <a:solidFill>
                  <a:srgbClr val="002B55"/>
                </a:solidFill>
                <a:latin typeface="Bahnschrift"/>
              </a:rPr>
              <a:t>Swarm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BD70C2-DB1B-430C-83AD-03F633251B32}"/>
              </a:ext>
            </a:extLst>
          </p:cNvPr>
          <p:cNvSpPr>
            <a:spLocks noGrp="1"/>
          </p:cNvSpPr>
          <p:nvPr/>
        </p:nvSpPr>
        <p:spPr>
          <a:xfrm>
            <a:off x="4181475" y="4416552"/>
            <a:ext cx="7296150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en-US" dirty="0">
                <a:solidFill>
                  <a:srgbClr val="28455F"/>
                </a:solidFill>
                <a:latin typeface="Arial"/>
              </a:rPr>
              <a:t>Several specialist agents coordinated by a lead agent around one outcome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3077AD-3A88-420D-934B-47263A12AF33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A8A37B-B5BD-4497-ADD4-0C5B0E5895F0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1BD1AA-5915-44E0-9AA3-6D682AE938CF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51</a:t>
            </a:r>
          </a:p>
        </p:txBody>
      </p:sp>
      <p:sp>
        <p:nvSpPr>
          <p:cNvPr id="830" name="Straight Connector 13 r830">
            <a:extLst>
              <a:ext uri="{FF2B5EF4-FFF2-40B4-BE49-F238E27FC236}">
                <a16:creationId xmlns:a16="http://schemas.microsoft.com/office/drawing/2014/main" id="{6514EB9C-22E3-45D1-9485-8B899F517512}"/>
              </a:ext>
            </a:extLst>
          </p:cNvPr>
          <p:cNvSpPr>
            <a:spLocks noGrp="1"/>
          </p:cNvSpPr>
          <p:nvPr/>
        </p:nvSpPr>
        <p:spPr>
          <a:xfrm>
            <a:off x="609600" y="5870448"/>
            <a:ext cx="10972800" cy="9525"/>
          </a:xfrm>
          <a:prstGeom prst="line">
            <a:avLst/>
          </a:prstGeom>
          <a:noFill/>
          <a:ln w="9525">
            <a:solidFill>
              <a:srgbClr val="CE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1" name="Rectangle 14 r830">
            <a:extLst>
              <a:ext uri="{FF2B5EF4-FFF2-40B4-BE49-F238E27FC236}">
                <a16:creationId xmlns:a16="http://schemas.microsoft.com/office/drawing/2014/main" id="{2FCB18CC-9F55-4E25-AE95-03A833C6DC2B}"/>
              </a:ext>
            </a:extLst>
          </p:cNvPr>
          <p:cNvSpPr>
            <a:spLocks noGrp="1"/>
          </p:cNvSpPr>
          <p:nvPr/>
        </p:nvSpPr>
        <p:spPr>
          <a:xfrm>
            <a:off x="609600" y="5166360"/>
            <a:ext cx="3238500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700" b="1" lang="en-US" dirty="0">
                <a:solidFill>
                  <a:srgbClr val="002B55"/>
                </a:solidFill>
                <a:latin typeface="Bahnschrift"/>
              </a:rPr>
              <a:t>Human gate</a:t>
            </a:r>
          </a:p>
        </p:txBody>
      </p:sp>
      <p:sp>
        <p:nvSpPr>
          <p:cNvPr id="832" name="Rectangle 15 r830">
            <a:extLst>
              <a:ext uri="{FF2B5EF4-FFF2-40B4-BE49-F238E27FC236}">
                <a16:creationId xmlns:a16="http://schemas.microsoft.com/office/drawing/2014/main" id="{DFBD70C2-DB1B-430C-83AD-03F633251B32}"/>
              </a:ext>
            </a:extLst>
          </p:cNvPr>
          <p:cNvSpPr>
            <a:spLocks noGrp="1"/>
          </p:cNvSpPr>
          <p:nvPr/>
        </p:nvSpPr>
        <p:spPr>
          <a:xfrm>
            <a:off x="4181475" y="5166360"/>
            <a:ext cx="7296150" cy="658368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0" lang="en-US" dirty="0">
                <a:solidFill>
                  <a:srgbClr val="28455F"/>
                </a:solidFill>
                <a:latin typeface="Arial"/>
              </a:rPr>
              <a:t>A point where a named person reviews and decides before the work continues</a:t>
            </a:r>
          </a:p>
        </p:txBody>
      </p:sp>
    </p:spTree>
    <p:extLst>
      <p:ext uri="{BB962C8B-B14F-4D97-AF65-F5344CB8AC3E}">
        <p14:creationId xmlns:p14="http://schemas.microsoft.com/office/powerpoint/2010/main" val="4656210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D73526A-3D26-46EE-B4DC-13641C5BDA4D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Appendix · sources and provenance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A8A5C492-66CA-4985-9FAA-71A8D75CB85C}"/>
              </a:ext>
            </a:extLst>
          </p:cNvPr>
          <p:cNvSpPr>
            <a:spLocks noGrp="1"/>
          </p:cNvSpPr>
          <p:nvPr/>
        </p:nvSpPr>
        <p:spPr>
          <a:xfrm>
            <a:off x="609600" y="1993392"/>
            <a:ext cx="10972800" cy="9525"/>
          </a:xfrm>
          <a:prstGeom prst="line">
            <a:avLst/>
          </a:prstGeom>
          <a:noFill/>
          <a:ln w="9525">
            <a:solidFill>
              <a:srgbClr val="CE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71117F-5258-4ED0-ABEB-F1DFAAEC7B4C}"/>
              </a:ext>
            </a:extLst>
          </p:cNvPr>
          <p:cNvSpPr>
            <a:spLocks noGrp="1"/>
          </p:cNvSpPr>
          <p:nvPr/>
        </p:nvSpPr>
        <p:spPr>
          <a:xfrm>
            <a:off x="609600" y="1371600"/>
            <a:ext cx="3238500" cy="5760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500" b="1" lang="en-US" dirty="0">
                <a:solidFill>
                  <a:srgbClr val="002B55"/>
                </a:solidFill>
                <a:latin typeface="Bahnschrift"/>
              </a:rPr>
              <a:t>Capability trend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DD3CBE-0D61-4F53-8D87-4AA7289F1FB9}"/>
              </a:ext>
            </a:extLst>
          </p:cNvPr>
          <p:cNvSpPr>
            <a:spLocks noGrp="1"/>
          </p:cNvSpPr>
          <p:nvPr/>
        </p:nvSpPr>
        <p:spPr>
          <a:xfrm>
            <a:off x="4181475" y="1371600"/>
            <a:ext cx="7296150" cy="5760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250" b="0" lang="en-US" dirty="0">
                <a:solidFill>
                  <a:srgbClr val="28455F"/>
                </a:solidFill>
                <a:latin typeface="Arial"/>
              </a:rPr>
              <a:t>METR time horizons, TH1.1 (updated May 2026, metr.org) and METR posts on X: 50% time horizons by model; doubling ≈4.2 months (128.7 days) since 2023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495482EF-3893-4D72-87B2-CAECD701EFA2}"/>
              </a:ext>
            </a:extLst>
          </p:cNvPr>
          <p:cNvSpPr>
            <a:spLocks noGrp="1"/>
          </p:cNvSpPr>
          <p:nvPr/>
        </p:nvSpPr>
        <p:spPr>
          <a:xfrm>
            <a:off x="609600" y="2660904"/>
            <a:ext cx="10972800" cy="9525"/>
          </a:xfrm>
          <a:prstGeom prst="line">
            <a:avLst/>
          </a:prstGeom>
          <a:noFill/>
          <a:ln w="9525">
            <a:solidFill>
              <a:srgbClr val="CE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A393C0-6B23-42D7-B7D8-169CB2D6A534}"/>
              </a:ext>
            </a:extLst>
          </p:cNvPr>
          <p:cNvSpPr>
            <a:spLocks noGrp="1"/>
          </p:cNvSpPr>
          <p:nvPr/>
        </p:nvSpPr>
        <p:spPr>
          <a:xfrm>
            <a:off x="609600" y="2039112"/>
            <a:ext cx="3238500" cy="5760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500" b="1" lang="en-US" dirty="0">
                <a:solidFill>
                  <a:srgbClr val="002B55"/>
                </a:solidFill>
                <a:latin typeface="Bahnschrift"/>
              </a:rPr>
              <a:t>Usage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073744-9557-42A2-905C-706B6FA33351}"/>
              </a:ext>
            </a:extLst>
          </p:cNvPr>
          <p:cNvSpPr>
            <a:spLocks noGrp="1"/>
          </p:cNvSpPr>
          <p:nvPr/>
        </p:nvSpPr>
        <p:spPr>
          <a:xfrm>
            <a:off x="4181475" y="2039112"/>
            <a:ext cx="7296150" cy="5760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250" b="0" lang="en-US" dirty="0">
                <a:solidFill>
                  <a:srgbClr val="28455F"/>
                </a:solidFill>
                <a:latin typeface="Arial"/>
              </a:rPr>
              <a:t>OpenAI, health in ChatGPT, July 2026; OpenEvidence company statement, 2026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6F143D3C-35C6-43A3-8CD7-81236DEFD252}"/>
              </a:ext>
            </a:extLst>
          </p:cNvPr>
          <p:cNvSpPr>
            <a:spLocks noGrp="1"/>
          </p:cNvSpPr>
          <p:nvPr/>
        </p:nvSpPr>
        <p:spPr>
          <a:xfrm>
            <a:off x="609600" y="3328416"/>
            <a:ext cx="10972800" cy="9525"/>
          </a:xfrm>
          <a:prstGeom prst="line">
            <a:avLst/>
          </a:prstGeom>
          <a:noFill/>
          <a:ln w="9525">
            <a:solidFill>
              <a:srgbClr val="CE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6CC659-E97D-4D14-91A4-72114FD6FDA2}"/>
              </a:ext>
            </a:extLst>
          </p:cNvPr>
          <p:cNvSpPr>
            <a:spLocks noGrp="1"/>
          </p:cNvSpPr>
          <p:nvPr/>
        </p:nvSpPr>
        <p:spPr>
          <a:xfrm>
            <a:off x="609600" y="2706624"/>
            <a:ext cx="3238500" cy="5760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500" b="1" lang="en-US" dirty="0">
                <a:solidFill>
                  <a:srgbClr val="002B55"/>
                </a:solidFill>
                <a:latin typeface="Bahnschrift"/>
              </a:rPr>
              <a:t>Library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242166-6221-4116-8F27-F4471634B602}"/>
              </a:ext>
            </a:extLst>
          </p:cNvPr>
          <p:cNvSpPr>
            <a:spLocks noGrp="1"/>
          </p:cNvSpPr>
          <p:nvPr/>
        </p:nvSpPr>
        <p:spPr>
          <a:xfrm>
            <a:off x="4181475" y="2706624"/>
            <a:ext cx="7296150" cy="5760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250" b="0" lang="en-US" dirty="0">
                <a:solidFill>
                  <a:srgbClr val="28455F"/>
                </a:solidFill>
                <a:latin typeface="Arial"/>
              </a:rPr>
              <a:t>Open-Medical-Affairs / Medical-Affairs-Skills, Apache-2.0: 62 skills, 16 missions, 3 TAs (companion-site build, Sep 27, 2026)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665F20E-894A-4408-9093-103ABA04E3C0}"/>
              </a:ext>
            </a:extLst>
          </p:cNvPr>
          <p:cNvSpPr>
            <a:spLocks noGrp="1"/>
          </p:cNvSpPr>
          <p:nvPr/>
        </p:nvSpPr>
        <p:spPr>
          <a:xfrm>
            <a:off x="609600" y="3995928"/>
            <a:ext cx="10972800" cy="9525"/>
          </a:xfrm>
          <a:prstGeom prst="line">
            <a:avLst/>
          </a:prstGeom>
          <a:noFill/>
          <a:ln w="9525">
            <a:solidFill>
              <a:srgbClr val="CE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DEA949-D70D-429A-992A-CA0995E5AE27}"/>
              </a:ext>
            </a:extLst>
          </p:cNvPr>
          <p:cNvSpPr>
            <a:spLocks noGrp="1"/>
          </p:cNvSpPr>
          <p:nvPr/>
        </p:nvSpPr>
        <p:spPr>
          <a:xfrm>
            <a:off x="609600" y="3374136"/>
            <a:ext cx="3238500" cy="5760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500" b="1" lang="en-US" dirty="0">
                <a:solidFill>
                  <a:srgbClr val="002B55"/>
                </a:solidFill>
                <a:latin typeface="Bahnschrift"/>
              </a:rPr>
              <a:t>Launch use case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69F3BD-4DD3-4916-BC65-0D97A8D0059C}"/>
              </a:ext>
            </a:extLst>
          </p:cNvPr>
          <p:cNvSpPr>
            <a:spLocks noGrp="1"/>
          </p:cNvSpPr>
          <p:nvPr/>
        </p:nvSpPr>
        <p:spPr>
          <a:xfrm>
            <a:off x="4181475" y="3374136"/>
            <a:ext cx="7296150" cy="5760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250" b="0" lang="en-US" dirty="0">
                <a:solidFill>
                  <a:srgbClr val="28455F"/>
                </a:solidFill>
                <a:latin typeface="Arial"/>
              </a:rPr>
              <a:t>Launch-planning swarm brief (medical-launch-plan skill). ADIPOSYN is fictional; timings are illustrative</a:t>
            </a: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2BC034F8-852E-4783-A785-AF2897CA5FFD}"/>
              </a:ext>
            </a:extLst>
          </p:cNvPr>
          <p:cNvSpPr>
            <a:spLocks noGrp="1"/>
          </p:cNvSpPr>
          <p:nvPr/>
        </p:nvSpPr>
        <p:spPr>
          <a:xfrm>
            <a:off x="609600" y="4663440"/>
            <a:ext cx="10972800" cy="9525"/>
          </a:xfrm>
          <a:prstGeom prst="line">
            <a:avLst/>
          </a:prstGeom>
          <a:noFill/>
          <a:ln w="9525">
            <a:solidFill>
              <a:srgbClr val="CE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749ACD-80C4-4185-9A25-28E990E8B631}"/>
              </a:ext>
            </a:extLst>
          </p:cNvPr>
          <p:cNvSpPr>
            <a:spLocks noGrp="1"/>
          </p:cNvSpPr>
          <p:nvPr/>
        </p:nvSpPr>
        <p:spPr>
          <a:xfrm>
            <a:off x="609600" y="4041648"/>
            <a:ext cx="3238500" cy="5760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500" b="1" lang="en-US" dirty="0">
                <a:solidFill>
                  <a:srgbClr val="002B55"/>
                </a:solidFill>
                <a:latin typeface="Bahnschrift"/>
              </a:rPr>
              <a:t>Demonstrations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4F25A4-1F1A-4745-85F7-CF9CA2C4D0EE}"/>
              </a:ext>
            </a:extLst>
          </p:cNvPr>
          <p:cNvSpPr>
            <a:spLocks noGrp="1"/>
          </p:cNvSpPr>
          <p:nvPr/>
        </p:nvSpPr>
        <p:spPr>
          <a:xfrm>
            <a:off x="4181475" y="4041648"/>
            <a:ext cx="7296150" cy="5760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250" b="0" lang="en-US" dirty="0">
                <a:solidFill>
                  <a:srgbClr val="28455F"/>
                </a:solidFill>
                <a:latin typeface="Arial"/>
              </a:rPr>
              <a:t>Actual Grok Bot desktop rehearsals, September 27, 2026 · public evidence + fictional data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671F1D7-A277-47F0-9B4B-9E0E30A79A5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379CF9-B37C-4EE1-B157-BD464A73D511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B293DEE-5CB9-4B33-BE66-04C144D80357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52</a:t>
            </a:r>
          </a:p>
        </p:txBody>
      </p:sp>
      <p:sp>
        <p:nvSpPr>
          <p:cNvPr id="840" name="Straight Connector 13 r840">
            <a:extLst>
              <a:ext uri="{FF2B5EF4-FFF2-40B4-BE49-F238E27FC236}">
                <a16:creationId xmlns:a16="http://schemas.microsoft.com/office/drawing/2014/main" id="{2BC034F8-852E-4783-A785-AF2897CA5FFD}"/>
              </a:ext>
            </a:extLst>
          </p:cNvPr>
          <p:cNvSpPr>
            <a:spLocks noGrp="1"/>
          </p:cNvSpPr>
          <p:nvPr/>
        </p:nvSpPr>
        <p:spPr>
          <a:xfrm>
            <a:off x="609600" y="5330952"/>
            <a:ext cx="10972800" cy="9525"/>
          </a:xfrm>
          <a:prstGeom prst="line">
            <a:avLst/>
          </a:prstGeom>
          <a:noFill/>
          <a:ln w="9525">
            <a:solidFill>
              <a:srgbClr val="CE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41" name="Rectangle 14 r840">
            <a:extLst>
              <a:ext uri="{FF2B5EF4-FFF2-40B4-BE49-F238E27FC236}">
                <a16:creationId xmlns:a16="http://schemas.microsoft.com/office/drawing/2014/main" id="{23749ACD-80C4-4185-9A25-28E990E8B631}"/>
              </a:ext>
            </a:extLst>
          </p:cNvPr>
          <p:cNvSpPr>
            <a:spLocks noGrp="1"/>
          </p:cNvSpPr>
          <p:nvPr/>
        </p:nvSpPr>
        <p:spPr>
          <a:xfrm>
            <a:off x="609600" y="4709160"/>
            <a:ext cx="3238500" cy="5760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500" b="1" lang="en-US" dirty="0">
                <a:solidFill>
                  <a:srgbClr val="002B55"/>
                </a:solidFill>
                <a:latin typeface="Bahnschrift"/>
              </a:rPr>
              <a:t>Film clip</a:t>
            </a:r>
          </a:p>
        </p:txBody>
      </p:sp>
      <p:sp>
        <p:nvSpPr>
          <p:cNvPr id="842" name="Rectangle 15 r840">
            <a:extLst>
              <a:ext uri="{FF2B5EF4-FFF2-40B4-BE49-F238E27FC236}">
                <a16:creationId xmlns:a16="http://schemas.microsoft.com/office/drawing/2014/main" id="{CD4F25A4-1F1A-4745-85F7-CF9CA2C4D0EE}"/>
              </a:ext>
            </a:extLst>
          </p:cNvPr>
          <p:cNvSpPr>
            <a:spLocks noGrp="1"/>
          </p:cNvSpPr>
          <p:nvPr/>
        </p:nvSpPr>
        <p:spPr>
          <a:xfrm>
            <a:off x="4181475" y="4709160"/>
            <a:ext cx="7296150" cy="5760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250" b="0" lang="en-US" dirty="0">
                <a:solidFill>
                  <a:srgbClr val="28455F"/>
                </a:solidFill>
                <a:latin typeface="Arial"/>
              </a:rPr>
              <a:t>The Matrix 25th Anniversary | I Know Kung Fu, official Warner Bros. YouTube · linked, not embedded</a:t>
            </a:r>
          </a:p>
        </p:txBody>
      </p:sp>
      <p:sp>
        <p:nvSpPr>
          <p:cNvPr id="850" name="Straight Connector 13 r840 r850">
            <a:extLst>
              <a:ext uri="{FF2B5EF4-FFF2-40B4-BE49-F238E27FC236}">
                <a16:creationId xmlns:a16="http://schemas.microsoft.com/office/drawing/2014/main" id="{2BC034F8-852E-4783-A785-AF2897CA5FFD}"/>
              </a:ext>
            </a:extLst>
          </p:cNvPr>
          <p:cNvSpPr>
            <a:spLocks noGrp="1"/>
          </p:cNvSpPr>
          <p:nvPr/>
        </p:nvSpPr>
        <p:spPr>
          <a:xfrm>
            <a:off x="609600" y="5998464"/>
            <a:ext cx="10972800" cy="9525"/>
          </a:xfrm>
          <a:prstGeom prst="line">
            <a:avLst/>
          </a:prstGeom>
          <a:noFill/>
          <a:ln w="9525">
            <a:solidFill>
              <a:srgbClr val="CEDDE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1" name="Rectangle 14 r840 r850">
            <a:extLst>
              <a:ext uri="{FF2B5EF4-FFF2-40B4-BE49-F238E27FC236}">
                <a16:creationId xmlns:a16="http://schemas.microsoft.com/office/drawing/2014/main" id="{23749ACD-80C4-4185-9A25-28E990E8B631}"/>
              </a:ext>
            </a:extLst>
          </p:cNvPr>
          <p:cNvSpPr>
            <a:spLocks noGrp="1"/>
          </p:cNvSpPr>
          <p:nvPr/>
        </p:nvSpPr>
        <p:spPr>
          <a:xfrm>
            <a:off x="609600" y="5376672"/>
            <a:ext cx="3238500" cy="5760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500" b="1" lang="en-US" dirty="0">
                <a:solidFill>
                  <a:srgbClr val="002B55"/>
                </a:solidFill>
                <a:latin typeface="Bahnschrift"/>
              </a:rPr>
              <a:t>Illustrations</a:t>
            </a:r>
          </a:p>
        </p:txBody>
      </p:sp>
      <p:sp>
        <p:nvSpPr>
          <p:cNvPr id="852" name="Rectangle 15 r840 r850">
            <a:extLst>
              <a:ext uri="{FF2B5EF4-FFF2-40B4-BE49-F238E27FC236}">
                <a16:creationId xmlns:a16="http://schemas.microsoft.com/office/drawing/2014/main" id="{CD4F25A4-1F1A-4745-85F7-CF9CA2C4D0EE}"/>
              </a:ext>
            </a:extLst>
          </p:cNvPr>
          <p:cNvSpPr>
            <a:spLocks noGrp="1"/>
          </p:cNvSpPr>
          <p:nvPr/>
        </p:nvSpPr>
        <p:spPr>
          <a:xfrm>
            <a:off x="4181475" y="5376672"/>
            <a:ext cx="7296150" cy="5760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875" b="0">
                <a:solidFill>
                  <a:srgbClr val="002B55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250" b="0" lang="en-US" dirty="0">
                <a:solidFill>
                  <a:srgbClr val="28455F"/>
                </a:solidFill>
                <a:latin typeface="Arial"/>
              </a:rPr>
              <a:t>Custom illustrations; no real people depicted. Mock interfaces, org charts and test results are illustrative</a:t>
            </a:r>
          </a:p>
        </p:txBody>
      </p:sp>
    </p:spTree>
    <p:extLst>
      <p:ext uri="{BB962C8B-B14F-4D97-AF65-F5344CB8AC3E}">
        <p14:creationId xmlns:p14="http://schemas.microsoft.com/office/powerpoint/2010/main" val="9538317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9EC4E00-86F5-42AF-95EA-6B0F36885243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Alternative demo: an advisory-board package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2D6512-4403-4B49-A029-E7E1A69D2889}"/>
              </a:ext>
            </a:extLst>
          </p:cNvPr>
          <p:cNvSpPr>
            <a:spLocks noGrp="1"/>
          </p:cNvSpPr>
          <p:nvPr/>
        </p:nvSpPr>
        <p:spPr>
          <a:xfrm>
            <a:off x="609600" y="1188720"/>
            <a:ext cx="10668000" cy="5029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75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600" b="0" lang="en-US" dirty="0">
                <a:solidFill>
                  <a:srgbClr val="28455F"/>
                </a:solidFill>
                <a:latin typeface="Arial"/>
              </a:rPr>
              <a:t>Obesity · sustaining treatment in routine practice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827576-FCE0-4AED-8A1B-552609015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737294" y="2219325"/>
            <a:ext cx="4126362" cy="35337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28BE031-C8FE-45E6-9242-C421B90A0620}"/>
              </a:ext>
            </a:extLst>
          </p:cNvPr>
          <p:cNvSpPr>
            <a:spLocks noGrp="1"/>
          </p:cNvSpPr>
          <p:nvPr/>
        </p:nvSpPr>
        <p:spPr>
          <a:xfrm>
            <a:off x="7448550" y="2305050"/>
            <a:ext cx="41052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700" b="1" lang="en-US" dirty="0">
                <a:solidFill>
                  <a:srgbClr val="002B55"/>
                </a:solidFill>
                <a:latin typeface="Arial"/>
              </a:rPr>
              <a:t>1.  Live evidence + registry retrieval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95B3B1-7CF9-43E9-A087-942DDA3A15B1}"/>
              </a:ext>
            </a:extLst>
          </p:cNvPr>
          <p:cNvSpPr>
            <a:spLocks noGrp="1"/>
          </p:cNvSpPr>
          <p:nvPr/>
        </p:nvSpPr>
        <p:spPr>
          <a:xfrm>
            <a:off x="7448550" y="3114675"/>
            <a:ext cx="41052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700" b="1" lang="en-US" dirty="0">
                <a:solidFill>
                  <a:srgbClr val="002B55"/>
                </a:solidFill>
                <a:latin typeface="Arial"/>
              </a:rPr>
              <a:t>2.  Gaps mapped to decisions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5EB9EA-254D-46AF-9B84-77CAF3A9A00D}"/>
              </a:ext>
            </a:extLst>
          </p:cNvPr>
          <p:cNvSpPr>
            <a:spLocks noGrp="1"/>
          </p:cNvSpPr>
          <p:nvPr/>
        </p:nvSpPr>
        <p:spPr>
          <a:xfrm>
            <a:off x="7448550" y="3924300"/>
            <a:ext cx="41052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700" b="1" lang="en-US" dirty="0">
                <a:solidFill>
                  <a:srgbClr val="002B55"/>
                </a:solidFill>
                <a:latin typeface="Arial"/>
              </a:rPr>
              <a:t>3.  Charter, agenda and advisor criteria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DEAA7A-DFE9-4C5D-8431-606EB61C646D}"/>
              </a:ext>
            </a:extLst>
          </p:cNvPr>
          <p:cNvSpPr>
            <a:spLocks noGrp="1"/>
          </p:cNvSpPr>
          <p:nvPr/>
        </p:nvSpPr>
        <p:spPr>
          <a:xfrm>
            <a:off x="7448550" y="4733925"/>
            <a:ext cx="4105275" cy="742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2175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1700" b="1" lang="en-US" dirty="0">
                <a:solidFill>
                  <a:srgbClr val="002B55"/>
                </a:solidFill>
                <a:latin typeface="Arial"/>
              </a:rPr>
              <a:t>4.  Pre-read, claim ledger and review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BE78E3-91FA-453F-BF08-87B61CC81D46}"/>
              </a:ext>
            </a:extLst>
          </p:cNvPr>
          <p:cNvSpPr>
            <a:spLocks noGrp="1"/>
          </p:cNvSpPr>
          <p:nvPr/>
        </p:nvSpPr>
        <p:spPr>
          <a:xfrm>
            <a:off x="609600" y="597217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800" b="1">
                <a:solidFill>
                  <a:srgbClr val="007879"/>
                </a:solidFill>
                <a:latin typeface="Arial"/>
                <a:ea typeface="Arial"/>
                <a:cs typeface="Arial"/>
              </a:defRPr>
            </a:defPPr>
          </a:lstStyle>
          <a:p>
            <a:pPr algn="l"/>
            <a:r>
              <a:rPr sz="1400" b="1" lang="en-US" dirty="0">
                <a:solidFill>
                  <a:srgbClr val="007879"/>
                </a:solidFill>
                <a:latin typeface="Arial"/>
              </a:rPr>
              <a:t>Actual Grok Bot rehearsal · draft package · September 27, 2026 · use if the live demo fails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EA08B6C-7727-476A-86A4-CFAD75A7CC1F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F95EBC-1C35-4CF6-8081-D2112F82F8F9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2C95A5-5E8B-4826-955A-8C96F9B6DB4D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6430114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47B58F-4E69-42F7-A23A-412C67486CA6}"/>
              </a:ext>
            </a:extLst>
          </p:cNvPr>
          <p:cNvSpPr>
            <a:spLocks noGrp="1"/>
          </p:cNvSpPr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Before and after: congress and MI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24DDBC-99EC-4B2C-A4DF-F174F4C93D84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C6137E1-EB25-4B45-ACBD-7F71D7F0DFA8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0253DF5-F149-4F10-8BA4-312E8557C6E1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54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5865" y="1280160"/>
            <a:ext cx="3291840" cy="8686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600" b="1" lang="en-US" dirty="0">
                <a:solidFill>
                  <a:srgbClr val="002B55"/>
                </a:solidFill>
                <a:latin typeface="Bahnschrift"/>
              </a:rPr>
              <a:t>CONGRESS MONITORING</a:t>
            </a:r>
          </a:p>
          <a:p>
            <a:pPr algn="l">
              <a:spcBef>
                <a:spcPts val="200"/>
              </a:spcBef>
            </a:pPr>
            <a:r>
              <a:rPr sz="1250" b="0" lang="en-US" dirty="0">
                <a:solidFill>
                  <a:srgbClr val="28455F"/>
                </a:solidFill>
                <a:latin typeface="Arial"/>
              </a:rPr>
              <a:t>From copying notes to appraising what changed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9904" y="2468880"/>
            <a:ext cx="1828800" cy="2743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100" b="1">
                <a:solidFill>
                  <a:srgbClr val="8A9BAA"/>
                </a:solidFill>
                <a:latin typeface="Bahnschrift"/>
              </a:rPr>
              <a:t>BEFORE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9904" y="2743200"/>
            <a:ext cx="5257800" cy="731520"/>
          </a:xfrm>
          <a:prstGeom prst="rect">
            <a:avLst/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9904" y="2743200"/>
            <a:ext cx="502920" cy="731520"/>
          </a:xfrm>
          <a:prstGeom prst="rect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000" b="1">
                <a:solidFill>
                  <a:srgbClr val="FFFFFF"/>
                </a:solidFill>
                <a:latin typeface="Bahnschrift"/>
              </a:rPr>
              <a:t>You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49984" y="28803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Capture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11272" y="28803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Copy</a:t>
            </a:r>
          </a:p>
        </p:txBody>
      </p:sp>
      <p:cxnSp>
        <p:nvCxnSpPr>
          <p:cNvPr id="37" name="Connector 36"/>
          <p:cNvCxnSpPr>
            <a:stCxn id="35" idx="3"/>
            <a:endCxn id="36" idx="1"/>
          </p:cNvCxnSpPr>
          <p:nvPr/>
        </p:nvCxnSpPr>
        <p:spPr>
          <a:xfrm flipV="1">
            <a:off x="2255824" y="3108960"/>
            <a:ext cx="155448" cy="0"/>
          </a:xfrm>
          <a:prstGeom prst="line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572560" y="28803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Merge</a:t>
            </a:r>
          </a:p>
        </p:txBody>
      </p:sp>
      <p:cxnSp>
        <p:nvCxnSpPr>
          <p:cNvPr id="39" name="Connector 38"/>
          <p:cNvCxnSpPr>
            <a:stCxn id="36" idx="3"/>
            <a:endCxn id="38" idx="1"/>
          </p:cNvCxnSpPr>
          <p:nvPr/>
        </p:nvCxnSpPr>
        <p:spPr>
          <a:xfrm flipV="1">
            <a:off x="3417112" y="3108960"/>
            <a:ext cx="155448" cy="0"/>
          </a:xfrm>
          <a:prstGeom prst="line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733848" y="28803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Draft</a:t>
            </a:r>
          </a:p>
        </p:txBody>
      </p:sp>
      <p:cxnSp>
        <p:nvCxnSpPr>
          <p:cNvPr id="41" name="Connector 40"/>
          <p:cNvCxnSpPr>
            <a:stCxn id="38" idx="3"/>
            <a:endCxn id="40" idx="1"/>
          </p:cNvCxnSpPr>
          <p:nvPr/>
        </p:nvCxnSpPr>
        <p:spPr>
          <a:xfrm flipV="1">
            <a:off x="4578400" y="3108960"/>
            <a:ext cx="155448" cy="0"/>
          </a:xfrm>
          <a:prstGeom prst="line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09904" y="3703320"/>
            <a:ext cx="1828800" cy="2743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100" b="1">
                <a:solidFill>
                  <a:srgbClr val="007879"/>
                </a:solidFill>
                <a:latin typeface="Bahnschrift"/>
              </a:rPr>
              <a:t>AFTER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904" y="3977640"/>
            <a:ext cx="5257800" cy="731520"/>
          </a:xfrm>
          <a:prstGeom prst="rect">
            <a:avLst/>
          </a:prstGeom>
          <a:solidFill>
            <a:srgbClr val="FD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9904" y="3977640"/>
            <a:ext cx="502920" cy="731520"/>
          </a:xfrm>
          <a:prstGeom prst="rect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000" b="1">
                <a:solidFill>
                  <a:srgbClr val="FFFFFF"/>
                </a:solidFill>
                <a:latin typeface="Bahnschrift"/>
              </a:rPr>
              <a:t>You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9904" y="4800600"/>
            <a:ext cx="5257800" cy="731520"/>
          </a:xfrm>
          <a:prstGeom prst="rect">
            <a:avLst/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9904" y="4800600"/>
            <a:ext cx="502920" cy="731520"/>
          </a:xfrm>
          <a:prstGeom prst="rect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000" b="1">
                <a:solidFill>
                  <a:srgbClr val="FFFFFF"/>
                </a:solidFill>
                <a:latin typeface="Bahnschrift"/>
              </a:rPr>
              <a:t>Agent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49984" y="4114799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47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Frame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11272" y="49377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Track</a:t>
            </a:r>
          </a:p>
        </p:txBody>
      </p:sp>
      <p:cxnSp>
        <p:nvCxnSpPr>
          <p:cNvPr id="49" name="Connector 48"/>
          <p:cNvCxnSpPr>
            <a:stCxn id="47" idx="3"/>
            <a:endCxn id="48" idx="1"/>
          </p:cNvCxnSpPr>
          <p:nvPr/>
        </p:nvCxnSpPr>
        <p:spPr>
          <a:xfrm>
            <a:off x="2255824" y="4343399"/>
            <a:ext cx="155448" cy="822961"/>
          </a:xfrm>
          <a:prstGeom prst="bentConnector3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3572560" y="49377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Read out</a:t>
            </a:r>
          </a:p>
        </p:txBody>
      </p:sp>
      <p:cxnSp>
        <p:nvCxnSpPr>
          <p:cNvPr id="51" name="Connector 50"/>
          <p:cNvCxnSpPr>
            <a:stCxn id="48" idx="3"/>
            <a:endCxn id="50" idx="1"/>
          </p:cNvCxnSpPr>
          <p:nvPr/>
        </p:nvCxnSpPr>
        <p:spPr>
          <a:xfrm flipV="1">
            <a:off x="3417112" y="5166360"/>
            <a:ext cx="155448" cy="0"/>
          </a:xfrm>
          <a:prstGeom prst="bentConnector3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4733848" y="4114799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47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Appraise</a:t>
            </a:r>
          </a:p>
        </p:txBody>
      </p:sp>
      <p:cxnSp>
        <p:nvCxnSpPr>
          <p:cNvPr id="53" name="Connector 52"/>
          <p:cNvCxnSpPr>
            <a:stCxn id="50" idx="3"/>
            <a:endCxn id="52" idx="1"/>
          </p:cNvCxnSpPr>
          <p:nvPr/>
        </p:nvCxnSpPr>
        <p:spPr>
          <a:xfrm flipV="1">
            <a:off x="4578400" y="4343399"/>
            <a:ext cx="155448" cy="822961"/>
          </a:xfrm>
          <a:prstGeom prst="bentConnector3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09904" y="5760720"/>
            <a:ext cx="525780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400" b="1">
                <a:solidFill>
                  <a:srgbClr val="007879"/>
                </a:solidFill>
                <a:latin typeface="Arial"/>
              </a:rPr>
              <a:t>Source-linked tracker · change log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93608" y="1280160"/>
            <a:ext cx="3291840" cy="8686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600" b="1" lang="en-US" dirty="0">
                <a:solidFill>
                  <a:srgbClr val="002B55"/>
                </a:solidFill>
                <a:latin typeface="Bahnschrift"/>
              </a:rPr>
              <a:t>MEDICAL INFORMATION</a:t>
            </a:r>
          </a:p>
          <a:p>
            <a:pPr algn="l">
              <a:spcBef>
                <a:spcPts val="200"/>
              </a:spcBef>
            </a:pPr>
            <a:r>
              <a:rPr sz="1250" b="0" lang="en-US" dirty="0">
                <a:solidFill>
                  <a:srgbClr val="28455F"/>
                </a:solidFill>
                <a:latin typeface="Arial"/>
              </a:rPr>
              <a:t>From searching and copying to reviewing a draft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24904" y="2468880"/>
            <a:ext cx="1828800" cy="2743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100" b="1">
                <a:solidFill>
                  <a:srgbClr val="8A9BAA"/>
                </a:solidFill>
                <a:latin typeface="Bahnschrift"/>
              </a:rPr>
              <a:t>BEFORE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24904" y="2743200"/>
            <a:ext cx="5257800" cy="731520"/>
          </a:xfrm>
          <a:prstGeom prst="rect">
            <a:avLst/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324904" y="2743200"/>
            <a:ext cx="502920" cy="731520"/>
          </a:xfrm>
          <a:prstGeom prst="rect">
            <a:avLst/>
          </a:prstGeom>
          <a:solidFill>
            <a:srgbClr val="002B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000" b="1">
                <a:solidFill>
                  <a:srgbClr val="FFFFFF"/>
                </a:solidFill>
                <a:latin typeface="Bahnschrift"/>
              </a:rPr>
              <a:t>You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964984" y="28803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Triage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126272" y="28803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Search</a:t>
            </a:r>
          </a:p>
        </p:txBody>
      </p:sp>
      <p:cxnSp>
        <p:nvCxnSpPr>
          <p:cNvPr id="61" name="Connector 60"/>
          <p:cNvCxnSpPr>
            <a:stCxn id="59" idx="3"/>
            <a:endCxn id="60" idx="1"/>
          </p:cNvCxnSpPr>
          <p:nvPr/>
        </p:nvCxnSpPr>
        <p:spPr>
          <a:xfrm flipV="1">
            <a:off x="7970824" y="3108960"/>
            <a:ext cx="155448" cy="0"/>
          </a:xfrm>
          <a:prstGeom prst="line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287560" y="28803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Copy</a:t>
            </a:r>
          </a:p>
        </p:txBody>
      </p:sp>
      <p:cxnSp>
        <p:nvCxnSpPr>
          <p:cNvPr id="63" name="Connector 62"/>
          <p:cNvCxnSpPr>
            <a:stCxn id="60" idx="3"/>
            <a:endCxn id="62" idx="1"/>
          </p:cNvCxnSpPr>
          <p:nvPr/>
        </p:nvCxnSpPr>
        <p:spPr>
          <a:xfrm flipV="1">
            <a:off x="9132112" y="3108960"/>
            <a:ext cx="155448" cy="0"/>
          </a:xfrm>
          <a:prstGeom prst="line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10448848" y="28803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B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Draft</a:t>
            </a:r>
          </a:p>
        </p:txBody>
      </p:sp>
      <p:cxnSp>
        <p:nvCxnSpPr>
          <p:cNvPr id="65" name="Connector 64"/>
          <p:cNvCxnSpPr>
            <a:stCxn id="62" idx="3"/>
            <a:endCxn id="64" idx="1"/>
          </p:cNvCxnSpPr>
          <p:nvPr/>
        </p:nvCxnSpPr>
        <p:spPr>
          <a:xfrm flipV="1">
            <a:off x="10293400" y="3108960"/>
            <a:ext cx="155448" cy="0"/>
          </a:xfrm>
          <a:prstGeom prst="line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324904" y="3703320"/>
            <a:ext cx="1828800" cy="2743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100" b="1">
                <a:solidFill>
                  <a:srgbClr val="007879"/>
                </a:solidFill>
                <a:latin typeface="Bahnschrift"/>
              </a:rPr>
              <a:t>AFTER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24904" y="3977640"/>
            <a:ext cx="5257800" cy="731520"/>
          </a:xfrm>
          <a:prstGeom prst="rect">
            <a:avLst/>
          </a:prstGeom>
          <a:solidFill>
            <a:srgbClr val="FDEB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324904" y="3977640"/>
            <a:ext cx="502920" cy="731520"/>
          </a:xfrm>
          <a:prstGeom prst="rect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000" b="1">
                <a:solidFill>
                  <a:srgbClr val="FFFFFF"/>
                </a:solidFill>
                <a:latin typeface="Bahnschrift"/>
              </a:rPr>
              <a:t>You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324904" y="4800600"/>
            <a:ext cx="5257800" cy="731520"/>
          </a:xfrm>
          <a:prstGeom prst="rect">
            <a:avLst/>
          </a:prstGeom>
          <a:solidFill>
            <a:srgbClr val="E3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324904" y="4800600"/>
            <a:ext cx="502920" cy="731520"/>
          </a:xfrm>
          <a:prstGeom prst="rect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000" b="1">
                <a:solidFill>
                  <a:srgbClr val="FFFFFF"/>
                </a:solidFill>
                <a:latin typeface="Bahnschrift"/>
              </a:rPr>
              <a:t>Agent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64984" y="49377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Retrieve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126272" y="49377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Draft</a:t>
            </a:r>
          </a:p>
        </p:txBody>
      </p:sp>
      <p:cxnSp>
        <p:nvCxnSpPr>
          <p:cNvPr id="73" name="Connector 72"/>
          <p:cNvCxnSpPr>
            <a:stCxn id="71" idx="3"/>
            <a:endCxn id="72" idx="1"/>
          </p:cNvCxnSpPr>
          <p:nvPr/>
        </p:nvCxnSpPr>
        <p:spPr>
          <a:xfrm flipV="1">
            <a:off x="7970824" y="5166360"/>
            <a:ext cx="155448" cy="0"/>
          </a:xfrm>
          <a:prstGeom prst="bentConnector3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9287560" y="4937760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7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Scope check</a:t>
            </a:r>
          </a:p>
        </p:txBody>
      </p:sp>
      <p:cxnSp>
        <p:nvCxnSpPr>
          <p:cNvPr id="75" name="Connector 74"/>
          <p:cNvCxnSpPr>
            <a:stCxn id="72" idx="3"/>
            <a:endCxn id="74" idx="1"/>
          </p:cNvCxnSpPr>
          <p:nvPr/>
        </p:nvCxnSpPr>
        <p:spPr>
          <a:xfrm flipV="1">
            <a:off x="9132112" y="5166360"/>
            <a:ext cx="155448" cy="0"/>
          </a:xfrm>
          <a:prstGeom prst="bentConnector3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10448848" y="4114799"/>
            <a:ext cx="10058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47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/>
            <a:r>
              <a:rPr sz="1200" b="1">
                <a:solidFill>
                  <a:srgbClr val="002B55"/>
                </a:solidFill>
                <a:latin typeface="Arial"/>
              </a:rPr>
              <a:t>Review</a:t>
            </a:r>
          </a:p>
        </p:txBody>
      </p:sp>
      <p:cxnSp>
        <p:nvCxnSpPr>
          <p:cNvPr id="77" name="Connector 76"/>
          <p:cNvCxnSpPr>
            <a:stCxn id="74" idx="3"/>
            <a:endCxn id="76" idx="1"/>
          </p:cNvCxnSpPr>
          <p:nvPr/>
        </p:nvCxnSpPr>
        <p:spPr>
          <a:xfrm flipV="1">
            <a:off x="10293400" y="4343399"/>
            <a:ext cx="155448" cy="822961"/>
          </a:xfrm>
          <a:prstGeom prst="bentConnector3">
            <a:avLst/>
          </a:prstGeom>
          <a:ln w="19050">
            <a:solidFill>
              <a:srgbClr val="8A9BA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6324904" y="5760720"/>
            <a:ext cx="525780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400" b="1">
                <a:solidFill>
                  <a:srgbClr val="007879"/>
                </a:solidFill>
                <a:latin typeface="Arial"/>
              </a:rPr>
              <a:t>Review-ready draft · safety flags visible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9904" y="6053328"/>
            <a:ext cx="10972800" cy="329184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500" b="1" lang="en-US" dirty="0">
                <a:solidFill>
                  <a:srgbClr val="007879"/>
                </a:solidFill>
                <a:latin typeface="Bahnschrift"/>
              </a:rPr>
              <a:t>Human attention moves from assembling to judging</a:t>
            </a:r>
          </a:p>
        </p:txBody>
      </p:sp>
      <p:pic>
        <p:nvPicPr>
          <p:cNvPr id="860" name="Lane art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09905" y="1188720"/>
            <a:ext cx="1828800" cy="1028700"/>
          </a:xfrm>
          <a:prstGeom prst="roundRect">
            <a:avLst>
              <a:gd name="adj" fmla="val 6000"/>
            </a:avLst>
          </a:prstGeom>
          <a:ln w="12700">
            <a:solidFill>
              <a:srgbClr val="D9E3EA"/>
            </a:solidFill>
          </a:ln>
        </p:spPr>
      </p:pic>
      <p:pic>
        <p:nvPicPr>
          <p:cNvPr id="861" name="Lane art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327648" y="1188720"/>
            <a:ext cx="1828800" cy="1028700"/>
          </a:xfrm>
          <a:prstGeom prst="roundRect">
            <a:avLst>
              <a:gd name="adj" fmla="val 6000"/>
            </a:avLst>
          </a:prstGeom>
          <a:ln w="12700">
            <a:solidFill>
              <a:srgbClr val="D9E3EA"/>
            </a:solidFill>
          </a:ln>
        </p:spPr>
      </p:pic>
    </p:spTree>
    <p:extLst>
      <p:ext uri="{BB962C8B-B14F-4D97-AF65-F5344CB8AC3E}">
        <p14:creationId xmlns:p14="http://schemas.microsoft.com/office/powerpoint/2010/main" val="11335235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66E4684-C475-4688-BDC7-10604CB0B9BF}"/>
              </a:ext>
            </a:extLst>
          </p:cNvPr>
          <p:cNvSpPr>
            <a:spLocks noGrp="1"/>
          </p:cNvSpPr>
          <p:nvPr/>
        </p:nvSpPr>
        <p:spPr>
          <a:xfrm>
            <a:off x="609904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pPr>
            <a:r>
              <a:rPr sz="3200" b="1">
                <a:solidFill>
                  <a:srgbClr val="002B55"/>
                </a:solidFill>
                <a:latin typeface="Bahnschrift"/>
                <a:ea typeface="Bahnschrift"/>
                <a:cs typeface="Bahnschrift"/>
              </a:rPr>
              <a:t>Find your first use case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1C06F2-C9A3-4983-8F7D-27B846F4B156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88244F-680F-4CEB-8D77-AE2690ED40B2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B3A26C-8E79-4232-831E-09C037F66BF0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55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1371600"/>
            <a:ext cx="3236976" cy="2048255"/>
          </a:xfrm>
          <a:prstGeom prst="rect">
            <a:avLst/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82296" bIns="82296"/>
          <a:lstStyle/>
          <a:p>
            <a:pPr algn="l"/>
            <a:r>
              <a:rPr sz="1500" b="1">
                <a:solidFill>
                  <a:srgbClr val="002B55"/>
                </a:solidFill>
                <a:latin typeface="Bahnschrift"/>
              </a:rPr>
              <a:t>Expert-led: AI assists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1371600"/>
            <a:ext cx="3236976" cy="2048255"/>
          </a:xfrm>
          <a:prstGeom prst="rect">
            <a:avLst/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82296" bIns="82296"/>
          <a:lstStyle/>
          <a:p>
            <a:pPr algn="l"/>
            <a:r>
              <a:rPr sz="1500" b="1">
                <a:solidFill>
                  <a:srgbClr val="FFFFFF"/>
                </a:solidFill>
                <a:latin typeface="Bahnschrift"/>
              </a:rPr>
              <a:t>START HERE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3474720"/>
            <a:ext cx="3236976" cy="2048255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82296" bIns="82296"/>
          <a:lstStyle/>
          <a:p>
            <a:pPr algn="l"/>
            <a:r>
              <a:rPr sz="1500" b="1">
                <a:solidFill>
                  <a:srgbClr val="8A9BAA"/>
                </a:solidFill>
                <a:latin typeface="Bahnschrift"/>
              </a:rPr>
              <a:t>Not worth it yet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54880" y="3474720"/>
            <a:ext cx="3236976" cy="2048255"/>
          </a:xfrm>
          <a:prstGeom prst="rect">
            <a:avLst/>
          </a:prstGeom>
          <a:solidFill>
            <a:srgbClr val="E6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82296" bIns="82296"/>
          <a:lstStyle/>
          <a:p>
            <a:pPr algn="l"/>
            <a:r>
              <a:rPr sz="1500" b="1">
                <a:solidFill>
                  <a:srgbClr val="002B55"/>
                </a:solidFill>
                <a:latin typeface="Bahnschrift"/>
              </a:rPr>
              <a:t>Automate with simple tools</a:t>
            </a:r>
          </a:p>
        </p:txBody>
      </p:sp>
      <p:sp>
        <p:nvSpPr>
          <p:cNvPr id="26" name="TextBox 25"/>
          <p:cNvSpPr txBox="1"/>
          <p:nvPr/>
        </p:nvSpPr>
        <p:spPr>
          <a:xfrm rot="16200000">
            <a:off x="-320040" y="3154680"/>
            <a:ext cx="2926080" cy="3657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300" b="1">
                <a:solidFill>
                  <a:srgbClr val="28455F"/>
                </a:solidFill>
                <a:latin typeface="Arial"/>
              </a:rPr>
              <a:t>Context and judgment needed 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623560"/>
            <a:ext cx="6583680" cy="3657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/>
            <a:r>
              <a:rPr sz="1300" b="1">
                <a:solidFill>
                  <a:srgbClr val="28455F"/>
                </a:solidFill>
                <a:latin typeface="Arial"/>
              </a:rPr>
              <a:t>How often it happens × how many steps →</a:t>
            </a:r>
          </a:p>
        </p:txBody>
      </p:sp>
      <p:sp>
        <p:nvSpPr>
          <p:cNvPr id="28" name="Oval 27"/>
          <p:cNvSpPr/>
          <p:nvPr/>
        </p:nvSpPr>
        <p:spPr>
          <a:xfrm>
            <a:off x="5760720" y="1874520"/>
            <a:ext cx="274320" cy="274320"/>
          </a:xfrm>
          <a:prstGeom prst="ellipse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08192" y="1847088"/>
            <a:ext cx="1691640" cy="32004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Launch plan</a:t>
            </a:r>
          </a:p>
        </p:txBody>
      </p:sp>
      <p:sp>
        <p:nvSpPr>
          <p:cNvPr id="30" name="Oval 29"/>
          <p:cNvSpPr/>
          <p:nvPr/>
        </p:nvSpPr>
        <p:spPr>
          <a:xfrm>
            <a:off x="5029200" y="2377440"/>
            <a:ext cx="274320" cy="274320"/>
          </a:xfrm>
          <a:prstGeom prst="ellipse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76672" y="2350008"/>
            <a:ext cx="1691640" cy="32004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Ad-board package</a:t>
            </a:r>
          </a:p>
        </p:txBody>
      </p:sp>
      <p:sp>
        <p:nvSpPr>
          <p:cNvPr id="32" name="Oval 31"/>
          <p:cNvSpPr/>
          <p:nvPr/>
        </p:nvSpPr>
        <p:spPr>
          <a:xfrm>
            <a:off x="5852160" y="2834640"/>
            <a:ext cx="274320" cy="274320"/>
          </a:xfrm>
          <a:prstGeom prst="ellipse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99632" y="2807208"/>
            <a:ext cx="1691640" cy="32004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Congress readout</a:t>
            </a:r>
          </a:p>
        </p:txBody>
      </p:sp>
      <p:sp>
        <p:nvSpPr>
          <p:cNvPr id="34" name="Oval 33"/>
          <p:cNvSpPr/>
          <p:nvPr/>
        </p:nvSpPr>
        <p:spPr>
          <a:xfrm>
            <a:off x="5029200" y="3127248"/>
            <a:ext cx="274320" cy="274320"/>
          </a:xfrm>
          <a:prstGeom prst="ellipse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76672" y="3099816"/>
            <a:ext cx="1691640" cy="32004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MI response</a:t>
            </a:r>
          </a:p>
        </p:txBody>
      </p:sp>
      <p:sp>
        <p:nvSpPr>
          <p:cNvPr id="36" name="Oval 35"/>
          <p:cNvSpPr/>
          <p:nvPr/>
        </p:nvSpPr>
        <p:spPr>
          <a:xfrm>
            <a:off x="2103120" y="2377440"/>
            <a:ext cx="274320" cy="274320"/>
          </a:xfrm>
          <a:prstGeom prst="ellipse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50591" y="2350008"/>
            <a:ext cx="1737360" cy="32004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200" b="1">
                <a:solidFill>
                  <a:srgbClr val="002B55"/>
                </a:solidFill>
                <a:latin typeface="Arial"/>
              </a:rPr>
              <a:t>One-off strategy call</a:t>
            </a:r>
          </a:p>
        </p:txBody>
      </p:sp>
      <p:sp>
        <p:nvSpPr>
          <p:cNvPr id="38" name="Oval 37"/>
          <p:cNvSpPr/>
          <p:nvPr/>
        </p:nvSpPr>
        <p:spPr>
          <a:xfrm>
            <a:off x="6309360" y="4572000"/>
            <a:ext cx="274320" cy="274320"/>
          </a:xfrm>
          <a:prstGeom prst="ellipse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56832" y="4544568"/>
            <a:ext cx="1737360" cy="32004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200" b="1">
                <a:solidFill>
                  <a:srgbClr val="002B55"/>
                </a:solidFill>
                <a:latin typeface="Arial"/>
              </a:rPr>
              <a:t>Literature alerts</a:t>
            </a:r>
          </a:p>
        </p:txBody>
      </p:sp>
      <p:sp>
        <p:nvSpPr>
          <p:cNvPr id="40" name="Oval 39"/>
          <p:cNvSpPr/>
          <p:nvPr/>
        </p:nvSpPr>
        <p:spPr>
          <a:xfrm>
            <a:off x="2286000" y="4663440"/>
            <a:ext cx="274320" cy="274320"/>
          </a:xfrm>
          <a:prstGeom prst="ellipse">
            <a:avLst/>
          </a:prstGeom>
          <a:solidFill>
            <a:srgbClr val="F47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33472" y="4636007"/>
            <a:ext cx="1737360" cy="32004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200" b="1">
                <a:solidFill>
                  <a:srgbClr val="002B55"/>
                </a:solidFill>
                <a:latin typeface="Arial"/>
              </a:rPr>
              <a:t>Ad hoc formatting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1325880"/>
            <a:ext cx="3017520" cy="36576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400" b="0">
                <a:solidFill>
                  <a:srgbClr val="28455F"/>
                </a:solidFill>
                <a:latin typeface="Arial"/>
              </a:rPr>
              <a:t>Look for work that 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549640" y="1783080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Bahnschrift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1801368"/>
            <a:ext cx="2377440" cy="4114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2000" b="1">
                <a:solidFill>
                  <a:srgbClr val="002B55"/>
                </a:solidFill>
                <a:latin typeface="Bahnschrift"/>
              </a:rPr>
              <a:t>Frequent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49640" y="2350008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Bahnschrift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89720" y="2368296"/>
            <a:ext cx="2377440" cy="4114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2000" b="1">
                <a:solidFill>
                  <a:srgbClr val="002B55"/>
                </a:solidFill>
                <a:latin typeface="Bahnschrift"/>
              </a:rPr>
              <a:t>Multi-step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549640" y="2916936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Bahnschrift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89720" y="2935224"/>
            <a:ext cx="2377440" cy="4114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2000" b="1">
                <a:solidFill>
                  <a:srgbClr val="002B55"/>
                </a:solidFill>
                <a:latin typeface="Bahnschrift"/>
              </a:rPr>
              <a:t>Context-heavy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549640" y="3483864"/>
            <a:ext cx="411480" cy="411480"/>
          </a:xfrm>
          <a:prstGeom prst="roundRect">
            <a:avLst>
              <a:gd name="adj" fmla="val 12000"/>
            </a:avLst>
          </a:prstGeom>
          <a:solidFill>
            <a:srgbClr val="007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Bahnschrift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3502152"/>
            <a:ext cx="2377440" cy="4114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2000" b="1">
                <a:solidFill>
                  <a:srgbClr val="002B55"/>
                </a:solidFill>
                <a:latin typeface="Bahnschrift"/>
              </a:rPr>
              <a:t>Judgment-rich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5870448"/>
            <a:ext cx="3017520" cy="45720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/>
            <a:r>
              <a:rPr sz="1200" b="1" lang="en-US" dirty="0">
                <a:solidFill>
                  <a:srgbClr val="007879"/>
                </a:solidFill>
                <a:latin typeface="Arial"/>
              </a:rPr>
              <a:t>e.g. the MSL pre-call brief: all four</a:t>
            </a:r>
          </a:p>
        </p:txBody>
      </p:sp>
      <p:pic>
        <p:nvPicPr>
          <p:cNvPr id="870" name="MSL HCP art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8549640" y="4114800"/>
            <a:ext cx="3017520" cy="1700784"/>
          </a:xfrm>
          <a:prstGeom prst="roundRect">
            <a:avLst>
              <a:gd name="adj" fmla="val 6000"/>
            </a:avLst>
          </a:prstGeom>
          <a:ln w="12700">
            <a:solidFill>
              <a:srgbClr val="D9E3EA"/>
            </a:solidFill>
          </a:ln>
        </p:spPr>
      </p:pic>
      <p:sp>
        <p:nvSpPr>
          <p:cNvPr id="871" name="Workshop line"/>
          <p:cNvSpPr/>
          <p:nvPr/>
        </p:nvSpPr>
        <p:spPr>
          <a:xfrm>
            <a:off x="1463040" y="5989320"/>
            <a:ext cx="658368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ctr"/>
            <a:r>
              <a:rPr sz="1500" b="1" lang="en-US" dirty="0">
                <a:solidFill>
                  <a:srgbClr val="F47735"/>
                </a:solidFill>
                <a:latin typeface="Bahnschrift"/>
              </a:rPr>
              <a:t>Bring that one to the workshop.</a:t>
            </a:r>
          </a:p>
        </p:txBody>
      </p:sp>
    </p:spTree>
    <p:extLst>
      <p:ext uri="{BB962C8B-B14F-4D97-AF65-F5344CB8AC3E}">
        <p14:creationId xmlns:p14="http://schemas.microsoft.com/office/powerpoint/2010/main" val="17423982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EEC95C-44CB-48FC-883F-56BAD261B2B1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The interface changed: same window, different job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52E3E-BD5A-4C46-98E7-0549D3B0988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51141-3EC9-4A04-A2D7-3E747007EB7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C260F8-C4EE-4642-B838-685C2BF0C7BC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13</a:t>
            </a:r>
          </a:p>
        </p:txBody>
      </p:sp>
      <p:sp>
        <p:nvSpPr>
          <p:cNvPr id="500" name="Caption"/>
          <p:cNvSpPr/>
          <p:nvPr/>
        </p:nvSpPr>
        <p:spPr>
          <a:xfrm>
            <a:off x="609905" y="1298448"/>
            <a:ext cx="338328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600" b="1" lang="en-US" dirty="0">
                <a:solidFill>
                  <a:srgbClr val="002B55"/>
                </a:solidFill>
                <a:latin typeface="Bahnschrift"/>
              </a:rPr>
              <a:t>1 · ANSWERS</a:t>
            </a:r>
          </a:p>
        </p:txBody>
      </p:sp>
      <p:sp>
        <p:nvSpPr>
          <p:cNvPr id="510" name="Window"/>
          <p:cNvSpPr/>
          <p:nvPr/>
        </p:nvSpPr>
        <p:spPr>
          <a:xfrm>
            <a:off x="609905" y="1783080"/>
            <a:ext cx="3383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11" name="Window bar"/>
          <p:cNvSpPr/>
          <p:nvPr/>
        </p:nvSpPr>
        <p:spPr>
          <a:xfrm>
            <a:off x="609905" y="1783080"/>
            <a:ext cx="3383280" cy="365760"/>
          </a:xfrm>
          <a:prstGeom prst="rect">
            <a:avLst/>
          </a:prstGeom>
          <a:solidFill>
            <a:srgbClr val="EEF2F5"/>
          </a:solidFill>
          <a:ln w="12700">
            <a:noFill/>
          </a:ln>
        </p:spPr>
        <p:txBody>
          <a:bodyPr wrap="square" lIns="18288" rIns="18288" tIns="18288" bIns="18288" anchor="ctr" rtlCol="0"/>
          <a:lstStyle/>
          <a:p>
            <a:pPr algn="ctr"/>
            <a:r>
              <a:rPr sz="1100" b="1" lang="en-US" dirty="0">
                <a:solidFill>
                  <a:srgbClr val="28455F"/>
                </a:solidFill>
                <a:latin typeface="Arial"/>
              </a:rPr>
              <a:t>Chat</a:t>
            </a:r>
          </a:p>
        </p:txBody>
      </p:sp>
      <p:sp>
        <p:nvSpPr>
          <p:cNvPr id="512" name="Dot"/>
          <p:cNvSpPr/>
          <p:nvPr/>
        </p:nvSpPr>
        <p:spPr>
          <a:xfrm>
            <a:off x="747065" y="1911096"/>
            <a:ext cx="109728" cy="109728"/>
          </a:xfrm>
          <a:prstGeom prst="ellipse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13" name="Dot"/>
          <p:cNvSpPr/>
          <p:nvPr/>
        </p:nvSpPr>
        <p:spPr>
          <a:xfrm>
            <a:off x="929945" y="1911096"/>
            <a:ext cx="109728" cy="109728"/>
          </a:xfrm>
          <a:prstGeom prst="ellipse">
            <a:avLst/>
          </a:prstGeom>
          <a:solidFill>
            <a:srgbClr val="F2B33D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14" name="Dot"/>
          <p:cNvSpPr/>
          <p:nvPr/>
        </p:nvSpPr>
        <p:spPr>
          <a:xfrm>
            <a:off x="1112825" y="1911096"/>
            <a:ext cx="109728" cy="109728"/>
          </a:xfrm>
          <a:prstGeom prst="ellipse">
            <a:avLst/>
          </a:prstGeom>
          <a:solidFill>
            <a:srgbClr val="3A9A9B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15" name="Input"/>
          <p:cNvSpPr/>
          <p:nvPr/>
        </p:nvSpPr>
        <p:spPr>
          <a:xfrm>
            <a:off x="792785" y="5166360"/>
            <a:ext cx="3017520" cy="365760"/>
          </a:xfrm>
          <a:prstGeom prst="roundRect">
            <a:avLst>
              <a:gd name="adj" fmla="val 12000"/>
            </a:avLst>
          </a:prstGeom>
          <a:solidFill>
            <a:srgbClr val="EEF2F5"/>
          </a:solidFill>
          <a:ln w="12700">
            <a:noFill/>
          </a:ln>
        </p:spPr>
        <p:txBody>
          <a:bodyPr wrap="square" lIns="109728" rIns="109728" tIns="109728" bIns="109728" anchor="ctr" rtlCol="0"/>
          <a:lstStyle/>
          <a:p>
            <a:pPr algn="l"/>
            <a:r>
              <a:rPr sz="1100" b="0" lang="en-US" dirty="0">
                <a:solidFill>
                  <a:srgbClr val="8A9BAA"/>
                </a:solidFill>
                <a:latin typeface="Arial"/>
              </a:rPr>
              <a:t>Message…</a:t>
            </a:r>
          </a:p>
        </p:txBody>
      </p:sp>
      <p:sp>
        <p:nvSpPr>
          <p:cNvPr id="505" name="Stage arrow"/>
          <p:cNvSpPr/>
          <p:nvPr/>
        </p:nvSpPr>
        <p:spPr>
          <a:xfrm>
            <a:off x="4048049" y="3429000"/>
            <a:ext cx="301752" cy="548640"/>
          </a:xfrm>
          <a:prstGeom prst="rightArrow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01" name="Caption"/>
          <p:cNvSpPr/>
          <p:nvPr/>
        </p:nvSpPr>
        <p:spPr>
          <a:xfrm>
            <a:off x="4404665" y="1298448"/>
            <a:ext cx="338328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600" b="1" lang="en-US" dirty="0">
                <a:solidFill>
                  <a:srgbClr val="007879"/>
                </a:solidFill>
                <a:latin typeface="Bahnschrift"/>
              </a:rPr>
              <a:t>2 · ARTIFACTS</a:t>
            </a:r>
          </a:p>
        </p:txBody>
      </p:sp>
      <p:sp>
        <p:nvSpPr>
          <p:cNvPr id="520" name="Window"/>
          <p:cNvSpPr/>
          <p:nvPr/>
        </p:nvSpPr>
        <p:spPr>
          <a:xfrm>
            <a:off x="4404665" y="1783080"/>
            <a:ext cx="3383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21" name="Window bar"/>
          <p:cNvSpPr/>
          <p:nvPr/>
        </p:nvSpPr>
        <p:spPr>
          <a:xfrm>
            <a:off x="4404665" y="1783080"/>
            <a:ext cx="3383280" cy="365760"/>
          </a:xfrm>
          <a:prstGeom prst="rect">
            <a:avLst/>
          </a:prstGeom>
          <a:solidFill>
            <a:srgbClr val="EEF2F5"/>
          </a:solidFill>
          <a:ln w="12700">
            <a:noFill/>
          </a:ln>
        </p:spPr>
        <p:txBody>
          <a:bodyPr wrap="square" lIns="18288" rIns="18288" tIns="18288" bIns="18288" anchor="ctr" rtlCol="0"/>
          <a:lstStyle/>
          <a:p>
            <a:pPr algn="ctr"/>
            <a:r>
              <a:rPr sz="1100" b="1" lang="en-US" dirty="0">
                <a:solidFill>
                  <a:srgbClr val="28455F"/>
                </a:solidFill>
                <a:latin typeface="Arial"/>
              </a:rPr>
              <a:t>Chat</a:t>
            </a:r>
          </a:p>
        </p:txBody>
      </p:sp>
      <p:sp>
        <p:nvSpPr>
          <p:cNvPr id="522" name="Dot"/>
          <p:cNvSpPr/>
          <p:nvPr/>
        </p:nvSpPr>
        <p:spPr>
          <a:xfrm>
            <a:off x="4541825" y="1911096"/>
            <a:ext cx="109728" cy="109728"/>
          </a:xfrm>
          <a:prstGeom prst="ellipse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23" name="Dot"/>
          <p:cNvSpPr/>
          <p:nvPr/>
        </p:nvSpPr>
        <p:spPr>
          <a:xfrm>
            <a:off x="4724705" y="1911096"/>
            <a:ext cx="109728" cy="109728"/>
          </a:xfrm>
          <a:prstGeom prst="ellipse">
            <a:avLst/>
          </a:prstGeom>
          <a:solidFill>
            <a:srgbClr val="F2B33D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24" name="Dot"/>
          <p:cNvSpPr/>
          <p:nvPr/>
        </p:nvSpPr>
        <p:spPr>
          <a:xfrm>
            <a:off x="4907585" y="1911096"/>
            <a:ext cx="109728" cy="109728"/>
          </a:xfrm>
          <a:prstGeom prst="ellipse">
            <a:avLst/>
          </a:prstGeom>
          <a:solidFill>
            <a:srgbClr val="3A9A9B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25" name="Input"/>
          <p:cNvSpPr/>
          <p:nvPr/>
        </p:nvSpPr>
        <p:spPr>
          <a:xfrm>
            <a:off x="4587545" y="5166360"/>
            <a:ext cx="3017520" cy="365760"/>
          </a:xfrm>
          <a:prstGeom prst="roundRect">
            <a:avLst>
              <a:gd name="adj" fmla="val 12000"/>
            </a:avLst>
          </a:prstGeom>
          <a:solidFill>
            <a:srgbClr val="EEF2F5"/>
          </a:solidFill>
          <a:ln w="12700">
            <a:noFill/>
          </a:ln>
        </p:spPr>
        <p:txBody>
          <a:bodyPr wrap="square" lIns="109728" rIns="109728" tIns="109728" bIns="109728" anchor="ctr" rtlCol="0"/>
          <a:lstStyle/>
          <a:p>
            <a:pPr algn="l"/>
            <a:r>
              <a:rPr sz="1100" b="0" lang="en-US" dirty="0">
                <a:solidFill>
                  <a:srgbClr val="8A9BAA"/>
                </a:solidFill>
                <a:latin typeface="Arial"/>
              </a:rPr>
              <a:t>Message…</a:t>
            </a:r>
          </a:p>
        </p:txBody>
      </p:sp>
      <p:sp>
        <p:nvSpPr>
          <p:cNvPr id="506" name="Stage arrow"/>
          <p:cNvSpPr/>
          <p:nvPr/>
        </p:nvSpPr>
        <p:spPr>
          <a:xfrm>
            <a:off x="7842809" y="3429000"/>
            <a:ext cx="301752" cy="548640"/>
          </a:xfrm>
          <a:prstGeom prst="rightArrow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02" name="Caption"/>
          <p:cNvSpPr/>
          <p:nvPr/>
        </p:nvSpPr>
        <p:spPr>
          <a:xfrm>
            <a:off x="8199425" y="1298448"/>
            <a:ext cx="338328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600" b="1" lang="en-US" dirty="0">
                <a:solidFill>
                  <a:srgbClr val="F47735"/>
                </a:solidFill>
                <a:latin typeface="Bahnschrift"/>
              </a:rPr>
              <a:t>3 · AGENTS DOING WORK</a:t>
            </a:r>
          </a:p>
        </p:txBody>
      </p:sp>
      <p:sp>
        <p:nvSpPr>
          <p:cNvPr id="530" name="Window"/>
          <p:cNvSpPr/>
          <p:nvPr/>
        </p:nvSpPr>
        <p:spPr>
          <a:xfrm>
            <a:off x="8199425" y="1783080"/>
            <a:ext cx="3383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31" name="Window bar"/>
          <p:cNvSpPr/>
          <p:nvPr/>
        </p:nvSpPr>
        <p:spPr>
          <a:xfrm>
            <a:off x="8199425" y="1783080"/>
            <a:ext cx="3383280" cy="365760"/>
          </a:xfrm>
          <a:prstGeom prst="rect">
            <a:avLst/>
          </a:prstGeom>
          <a:solidFill>
            <a:srgbClr val="EEF2F5"/>
          </a:solidFill>
          <a:ln w="12700">
            <a:noFill/>
          </a:ln>
        </p:spPr>
        <p:txBody>
          <a:bodyPr wrap="square" lIns="18288" rIns="18288" tIns="18288" bIns="18288" anchor="ctr" rtlCol="0"/>
          <a:lstStyle/>
          <a:p>
            <a:pPr algn="ctr"/>
            <a:r>
              <a:rPr sz="1100" b="1" lang="en-US" dirty="0">
                <a:solidFill>
                  <a:srgbClr val="28455F"/>
                </a:solidFill>
                <a:latin typeface="Arial"/>
              </a:rPr>
              <a:t>Chat</a:t>
            </a:r>
          </a:p>
        </p:txBody>
      </p:sp>
      <p:sp>
        <p:nvSpPr>
          <p:cNvPr id="532" name="Dot"/>
          <p:cNvSpPr/>
          <p:nvPr/>
        </p:nvSpPr>
        <p:spPr>
          <a:xfrm>
            <a:off x="8336585" y="1911096"/>
            <a:ext cx="109728" cy="109728"/>
          </a:xfrm>
          <a:prstGeom prst="ellipse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33" name="Dot"/>
          <p:cNvSpPr/>
          <p:nvPr/>
        </p:nvSpPr>
        <p:spPr>
          <a:xfrm>
            <a:off x="8519465" y="1911096"/>
            <a:ext cx="109728" cy="109728"/>
          </a:xfrm>
          <a:prstGeom prst="ellipse">
            <a:avLst/>
          </a:prstGeom>
          <a:solidFill>
            <a:srgbClr val="F2B33D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34" name="Dot"/>
          <p:cNvSpPr/>
          <p:nvPr/>
        </p:nvSpPr>
        <p:spPr>
          <a:xfrm>
            <a:off x="8702345" y="1911096"/>
            <a:ext cx="109728" cy="109728"/>
          </a:xfrm>
          <a:prstGeom prst="ellipse">
            <a:avLst/>
          </a:prstGeom>
          <a:solidFill>
            <a:srgbClr val="3A9A9B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35" name="Input"/>
          <p:cNvSpPr/>
          <p:nvPr/>
        </p:nvSpPr>
        <p:spPr>
          <a:xfrm>
            <a:off x="8382305" y="5166360"/>
            <a:ext cx="3017520" cy="365760"/>
          </a:xfrm>
          <a:prstGeom prst="roundRect">
            <a:avLst>
              <a:gd name="adj" fmla="val 12000"/>
            </a:avLst>
          </a:prstGeom>
          <a:solidFill>
            <a:srgbClr val="F47735"/>
          </a:solidFill>
          <a:ln w="12700">
            <a:noFill/>
          </a:ln>
        </p:spPr>
        <p:txBody>
          <a:bodyPr wrap="square" lIns="109728" rIns="109728" tIns="109728" bIns="109728" anchor="ctr" rtlCol="0"/>
          <a:lstStyle/>
          <a:p>
            <a:pPr algn="ctr"/>
            <a:r>
              <a:rPr sz="1200" b="1" lang="en-US" dirty="0">
                <a:solidFill>
                  <a:srgbClr val="FFFFFF"/>
                </a:solidFill>
                <a:latin typeface="Bahnschrift"/>
              </a:rPr>
              <a:t>Awaiting your approval</a:t>
            </a:r>
          </a:p>
        </p:txBody>
      </p:sp>
      <p:sp>
        <p:nvSpPr>
          <p:cNvPr id="560" name="User bubble"/>
          <p:cNvSpPr/>
          <p:nvPr/>
        </p:nvSpPr>
        <p:spPr>
          <a:xfrm>
            <a:off x="1524305" y="2331720"/>
            <a:ext cx="2286000" cy="502920"/>
          </a:xfrm>
          <a:prstGeom prst="roundRect">
            <a:avLst>
              <a:gd name="adj" fmla="val 12000"/>
            </a:avLst>
          </a:prstGeom>
          <a:solidFill>
            <a:srgbClr val="002B5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  <a:r>
              <a:rPr sz="1150" b="1" lang="en-US" dirty="0">
                <a:solidFill>
                  <a:srgbClr val="FFFFFF"/>
                </a:solidFill>
                <a:latin typeface="Arial"/>
              </a:rPr>
              <a:t>What did the latest trial show?</a:t>
            </a:r>
          </a:p>
        </p:txBody>
      </p:sp>
      <p:sp>
        <p:nvSpPr>
          <p:cNvPr id="561" name="AI bubble"/>
          <p:cNvSpPr/>
          <p:nvPr/>
        </p:nvSpPr>
        <p:spPr>
          <a:xfrm>
            <a:off x="792785" y="3017520"/>
            <a:ext cx="2743200" cy="1143000"/>
          </a:xfrm>
          <a:prstGeom prst="roundRect">
            <a:avLst>
              <a:gd name="adj" fmla="val 12000"/>
            </a:avLst>
          </a:prstGeom>
          <a:solidFill>
            <a:srgbClr val="E3F1F1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  <a:r>
              <a:rPr sz="1150" b="0" lang="en-US" dirty="0">
                <a:solidFill>
                  <a:srgbClr val="002B55"/>
                </a:solidFill>
                <a:latin typeface="Arial"/>
              </a:rPr>
              <a:t>It met its primary endpoint. Here are the key results, subgroups and limitations, with citations.</a:t>
            </a:r>
          </a:p>
        </p:txBody>
      </p:sp>
      <p:sp>
        <p:nvSpPr>
          <p:cNvPr id="562" name="Text line"/>
          <p:cNvSpPr/>
          <p:nvPr/>
        </p:nvSpPr>
        <p:spPr>
          <a:xfrm>
            <a:off x="884225" y="4297680"/>
            <a:ext cx="2377440" cy="91440"/>
          </a:xfrm>
          <a:prstGeom prst="rect">
            <a:avLst/>
          </a:prstGeom>
          <a:solidFill>
            <a:srgbClr val="D5E3E8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63" name="Text line"/>
          <p:cNvSpPr/>
          <p:nvPr/>
        </p:nvSpPr>
        <p:spPr>
          <a:xfrm>
            <a:off x="884225" y="4498848"/>
            <a:ext cx="2011680" cy="91440"/>
          </a:xfrm>
          <a:prstGeom prst="rect">
            <a:avLst/>
          </a:prstGeom>
          <a:solidFill>
            <a:srgbClr val="D5E3E8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64" name="Text line"/>
          <p:cNvSpPr/>
          <p:nvPr/>
        </p:nvSpPr>
        <p:spPr>
          <a:xfrm>
            <a:off x="884225" y="4700016"/>
            <a:ext cx="2286000" cy="91440"/>
          </a:xfrm>
          <a:prstGeom prst="rect">
            <a:avLst/>
          </a:prstGeom>
          <a:solidFill>
            <a:srgbClr val="D5E3E8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70" name="User bubble"/>
          <p:cNvSpPr/>
          <p:nvPr/>
        </p:nvSpPr>
        <p:spPr>
          <a:xfrm>
            <a:off x="4816145" y="2331720"/>
            <a:ext cx="2788920" cy="502920"/>
          </a:xfrm>
          <a:prstGeom prst="roundRect">
            <a:avLst>
              <a:gd name="adj" fmla="val 12000"/>
            </a:avLst>
          </a:prstGeom>
          <a:solidFill>
            <a:srgbClr val="002B5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  <a:r>
              <a:rPr sz="1150" b="1" lang="en-US" dirty="0">
                <a:solidFill>
                  <a:srgbClr val="FFFFFF"/>
                </a:solidFill>
                <a:latin typeface="Arial"/>
              </a:rPr>
              <a:t>Build a 10-slide ad-board pre-read</a:t>
            </a:r>
          </a:p>
        </p:txBody>
      </p:sp>
      <p:sp>
        <p:nvSpPr>
          <p:cNvPr id="571" name="AI bubble"/>
          <p:cNvSpPr/>
          <p:nvPr/>
        </p:nvSpPr>
        <p:spPr>
          <a:xfrm>
            <a:off x="4587545" y="2971800"/>
            <a:ext cx="2011680" cy="384048"/>
          </a:xfrm>
          <a:prstGeom prst="roundRect">
            <a:avLst>
              <a:gd name="adj" fmla="val 12000"/>
            </a:avLst>
          </a:prstGeom>
          <a:solidFill>
            <a:srgbClr val="E3F1F1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  <a:r>
              <a:rPr sz="1150" b="0" lang="en-US" dirty="0">
                <a:solidFill>
                  <a:srgbClr val="002B55"/>
                </a:solidFill>
                <a:latin typeface="Arial"/>
              </a:rPr>
              <a:t>Here is your deck:</a:t>
            </a:r>
          </a:p>
        </p:txBody>
      </p:sp>
      <p:sp>
        <p:nvSpPr>
          <p:cNvPr id="572" name="File card"/>
          <p:cNvSpPr/>
          <p:nvPr/>
        </p:nvSpPr>
        <p:spPr>
          <a:xfrm>
            <a:off x="4587545" y="3474720"/>
            <a:ext cx="301752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777240" rIns="91440" tIns="91440" bIns="91440" anchor="ctr" rtlCol="0"/>
          <a:lstStyle/>
          <a:p>
            <a:pPr algn="l"/>
            <a:r>
              <a:rPr sz="1200" b="1" lang="en-US" dirty="0">
                <a:solidFill>
                  <a:srgbClr val="002B55"/>
                </a:solidFill>
                <a:latin typeface="Arial"/>
              </a:rPr>
              <a:t>adboard-preread.pptx</a:t>
            </a:r>
          </a:p>
          <a:p>
            <a:pPr algn="l"/>
            <a:r>
              <a:rPr sz="1100" b="0" lang="en-US" dirty="0">
                <a:solidFill>
                  <a:srgbClr val="28455F"/>
                </a:solidFill>
                <a:latin typeface="Arial"/>
              </a:rPr>
              <a:t>10 slides · editable</a:t>
            </a:r>
          </a:p>
        </p:txBody>
      </p:sp>
      <p:sp>
        <p:nvSpPr>
          <p:cNvPr id="573" name="PPTX tag"/>
          <p:cNvSpPr/>
          <p:nvPr/>
        </p:nvSpPr>
        <p:spPr>
          <a:xfrm>
            <a:off x="4678985" y="3584448"/>
            <a:ext cx="566928" cy="420624"/>
          </a:xfrm>
          <a:prstGeom prst="roundRect">
            <a:avLst>
              <a:gd name="adj" fmla="val 12000"/>
            </a:avLst>
          </a:prstGeom>
          <a:solidFill>
            <a:srgbClr val="F47735"/>
          </a:solidFill>
          <a:ln w="12700">
            <a:noFill/>
          </a:ln>
        </p:spPr>
        <p:txBody>
          <a:bodyPr wrap="square" lIns="9144" rIns="9144" tIns="9144" bIns="9144" anchor="ctr" rtlCol="0"/>
          <a:lstStyle/>
          <a:p>
            <a:pPr algn="ctr"/>
            <a:r>
              <a:rPr sz="1000" b="1" lang="en-US" dirty="0">
                <a:solidFill>
                  <a:srgbClr val="FFFFFF"/>
                </a:solidFill>
                <a:latin typeface="Bahnschrift"/>
              </a:rPr>
              <a:t>PPTX</a:t>
            </a:r>
          </a:p>
        </p:txBody>
      </p:sp>
      <p:sp>
        <p:nvSpPr>
          <p:cNvPr id="574" name="Thumb"/>
          <p:cNvSpPr/>
          <p:nvPr/>
        </p:nvSpPr>
        <p:spPr>
          <a:xfrm>
            <a:off x="4587545" y="4251960"/>
            <a:ext cx="93268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75" name="Thumb bar"/>
          <p:cNvSpPr/>
          <p:nvPr/>
        </p:nvSpPr>
        <p:spPr>
          <a:xfrm>
            <a:off x="4587545" y="4251960"/>
            <a:ext cx="932688" cy="146304"/>
          </a:xfrm>
          <a:prstGeom prst="rect">
            <a:avLst/>
          </a:prstGeom>
          <a:solidFill>
            <a:srgbClr val="002B5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76" name="Thumb"/>
          <p:cNvSpPr/>
          <p:nvPr/>
        </p:nvSpPr>
        <p:spPr>
          <a:xfrm>
            <a:off x="5611673" y="4251960"/>
            <a:ext cx="93268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77" name="Thumb bar"/>
          <p:cNvSpPr/>
          <p:nvPr/>
        </p:nvSpPr>
        <p:spPr>
          <a:xfrm>
            <a:off x="5611673" y="4251960"/>
            <a:ext cx="932688" cy="146304"/>
          </a:xfrm>
          <a:prstGeom prst="rect">
            <a:avLst/>
          </a:prstGeom>
          <a:solidFill>
            <a:srgbClr val="00787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78" name="Thumb"/>
          <p:cNvSpPr/>
          <p:nvPr/>
        </p:nvSpPr>
        <p:spPr>
          <a:xfrm>
            <a:off x="6635801" y="4251960"/>
            <a:ext cx="932688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79" name="Thumb bar"/>
          <p:cNvSpPr/>
          <p:nvPr/>
        </p:nvSpPr>
        <p:spPr>
          <a:xfrm>
            <a:off x="6635801" y="4251960"/>
            <a:ext cx="932688" cy="146304"/>
          </a:xfrm>
          <a:prstGeom prst="rect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90" name="User bubble"/>
          <p:cNvSpPr/>
          <p:nvPr/>
        </p:nvSpPr>
        <p:spPr>
          <a:xfrm>
            <a:off x="8748065" y="228600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02B5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  <a:r>
              <a:rPr sz="1150" b="1" lang="en-US" dirty="0">
                <a:solidFill>
                  <a:srgbClr val="FFFFFF"/>
                </a:solidFill>
                <a:latin typeface="Arial"/>
              </a:rPr>
              <a:t>Goal: congress briefing pack</a:t>
            </a:r>
          </a:p>
        </p:txBody>
      </p:sp>
      <p:sp>
        <p:nvSpPr>
          <p:cNvPr id="591" name="Plan card"/>
          <p:cNvSpPr/>
          <p:nvPr/>
        </p:nvSpPr>
        <p:spPr>
          <a:xfrm>
            <a:off x="8382305" y="2834640"/>
            <a:ext cx="3017520" cy="1783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92" name="Plan head"/>
          <p:cNvSpPr/>
          <p:nvPr/>
        </p:nvSpPr>
        <p:spPr>
          <a:xfrm>
            <a:off x="8519465" y="2880360"/>
            <a:ext cx="274320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100" b="1" lang="en-US" dirty="0">
                <a:solidFill>
                  <a:srgbClr val="007879"/>
                </a:solidFill>
                <a:latin typeface="Bahnschrift"/>
              </a:rPr>
              <a:t>PLAN</a:t>
            </a:r>
          </a:p>
        </p:txBody>
      </p:sp>
      <p:sp>
        <p:nvSpPr>
          <p:cNvPr id="593" name="Step mark"/>
          <p:cNvSpPr/>
          <p:nvPr/>
        </p:nvSpPr>
        <p:spPr>
          <a:xfrm>
            <a:off x="8546897" y="3246120"/>
            <a:ext cx="182880" cy="182880"/>
          </a:xfrm>
          <a:prstGeom prst="ellipse">
            <a:avLst/>
          </a:prstGeom>
          <a:solidFill>
            <a:srgbClr val="00787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94" name="Step"/>
          <p:cNvSpPr/>
          <p:nvPr/>
        </p:nvSpPr>
        <p:spPr>
          <a:xfrm>
            <a:off x="8821217" y="3200400"/>
            <a:ext cx="251460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150" b="0" lang="en-US" dirty="0">
                <a:solidFill>
                  <a:srgbClr val="002B55"/>
                </a:solidFill>
                <a:latin typeface="Arial"/>
              </a:rPr>
              <a:t>Search PubMed + abstracts</a:t>
            </a:r>
          </a:p>
        </p:txBody>
      </p:sp>
      <p:sp>
        <p:nvSpPr>
          <p:cNvPr id="595" name="Step mark"/>
          <p:cNvSpPr/>
          <p:nvPr/>
        </p:nvSpPr>
        <p:spPr>
          <a:xfrm>
            <a:off x="8546897" y="3575304"/>
            <a:ext cx="182880" cy="182880"/>
          </a:xfrm>
          <a:prstGeom prst="ellipse">
            <a:avLst/>
          </a:prstGeom>
          <a:solidFill>
            <a:srgbClr val="00787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96" name="Step"/>
          <p:cNvSpPr/>
          <p:nvPr/>
        </p:nvSpPr>
        <p:spPr>
          <a:xfrm>
            <a:off x="8821217" y="3529584"/>
            <a:ext cx="251460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150" b="0" lang="en-US" dirty="0">
                <a:solidFill>
                  <a:srgbClr val="002B55"/>
                </a:solidFill>
                <a:latin typeface="Arial"/>
              </a:rPr>
              <a:t>Compare results</a:t>
            </a:r>
          </a:p>
        </p:txBody>
      </p:sp>
      <p:sp>
        <p:nvSpPr>
          <p:cNvPr id="597" name="Step mark"/>
          <p:cNvSpPr/>
          <p:nvPr/>
        </p:nvSpPr>
        <p:spPr>
          <a:xfrm>
            <a:off x="8546897" y="3904488"/>
            <a:ext cx="182880" cy="182880"/>
          </a:xfrm>
          <a:prstGeom prst="ellipse">
            <a:avLst/>
          </a:prstGeom>
          <a:solidFill>
            <a:srgbClr val="00787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598" name="Step"/>
          <p:cNvSpPr/>
          <p:nvPr/>
        </p:nvSpPr>
        <p:spPr>
          <a:xfrm>
            <a:off x="8821217" y="3858768"/>
            <a:ext cx="251460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150" b="0" lang="en-US" dirty="0">
                <a:solidFill>
                  <a:srgbClr val="002B55"/>
                </a:solidFill>
                <a:latin typeface="Arial"/>
              </a:rPr>
              <a:t>Draft briefing + FAQ</a:t>
            </a:r>
          </a:p>
        </p:txBody>
      </p:sp>
      <p:sp>
        <p:nvSpPr>
          <p:cNvPr id="599" name="Step mark"/>
          <p:cNvSpPr/>
          <p:nvPr/>
        </p:nvSpPr>
        <p:spPr>
          <a:xfrm>
            <a:off x="8546897" y="4233672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47735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600" name="Step"/>
          <p:cNvSpPr/>
          <p:nvPr/>
        </p:nvSpPr>
        <p:spPr>
          <a:xfrm>
            <a:off x="8821217" y="4187952"/>
            <a:ext cx="2514600" cy="274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150" b="1" lang="en-US" dirty="0">
                <a:solidFill>
                  <a:srgbClr val="B4501F"/>
                </a:solidFill>
                <a:latin typeface="Arial"/>
              </a:rPr>
              <a:t>Check every citation  · running</a:t>
            </a:r>
          </a:p>
        </p:txBody>
      </p:sp>
      <p:sp>
        <p:nvSpPr>
          <p:cNvPr id="602" name="Tool chip"/>
          <p:cNvSpPr/>
          <p:nvPr/>
        </p:nvSpPr>
        <p:spPr>
          <a:xfrm>
            <a:off x="8382305" y="4690872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E3F1F1"/>
          </a:solidFill>
          <a:ln w="12700">
            <a:noFill/>
          </a:ln>
        </p:spPr>
        <p:txBody>
          <a:bodyPr wrap="square" lIns="18288" rIns="18288" tIns="18288" bIns="18288" anchor="ctr" rtlCol="0"/>
          <a:lstStyle/>
          <a:p>
            <a:pPr algn="ctr"/>
            <a:r>
              <a:rPr sz="950" b="1" lang="en-US" dirty="0">
                <a:solidFill>
                  <a:srgbClr val="007879"/>
                </a:solidFill>
                <a:latin typeface="Arial"/>
              </a:rPr>
              <a:t>tool: pubmed.search</a:t>
            </a:r>
          </a:p>
        </p:txBody>
      </p:sp>
      <p:sp>
        <p:nvSpPr>
          <p:cNvPr id="603" name="File chip"/>
          <p:cNvSpPr/>
          <p:nvPr/>
        </p:nvSpPr>
        <p:spPr>
          <a:xfrm>
            <a:off x="9891065" y="4690872"/>
            <a:ext cx="1508760" cy="292608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 w="12700">
            <a:noFill/>
          </a:ln>
        </p:spPr>
        <p:txBody>
          <a:bodyPr wrap="square" lIns="18288" rIns="18288" tIns="18288" bIns="18288" anchor="ctr" rtlCol="0"/>
          <a:lstStyle/>
          <a:p>
            <a:pPr algn="ctr"/>
            <a:r>
              <a:rPr sz="950" b="1" lang="en-US" dirty="0">
                <a:solidFill>
                  <a:srgbClr val="002B55"/>
                </a:solidFill>
                <a:latin typeface="Arial"/>
              </a:rPr>
              <a:t>2 files produced</a:t>
            </a:r>
          </a:p>
        </p:txBody>
      </p:sp>
      <p:sp>
        <p:nvSpPr>
          <p:cNvPr id="604" name="Bottom line"/>
          <p:cNvSpPr/>
          <p:nvPr/>
        </p:nvSpPr>
        <p:spPr>
          <a:xfrm>
            <a:off x="609905" y="5852160"/>
            <a:ext cx="10972800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700" b="1" lang="en-US" dirty="0">
                <a:solidFill>
                  <a:srgbClr val="007879"/>
                </a:solidFill>
                <a:latin typeface="Bahnschrift"/>
              </a:rPr>
              <a:t>Answers → artifacts → agents doing work. You move from asking to approving.</a:t>
            </a:r>
          </a:p>
        </p:txBody>
      </p:sp>
    </p:spTree>
    <p:extLst>
      <p:ext uri="{BB962C8B-B14F-4D97-AF65-F5344CB8AC3E}">
        <p14:creationId xmlns:p14="http://schemas.microsoft.com/office/powerpoint/2010/main" val="10754499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Skill download 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7EEC95C-44CB-48FC-883F-56BAD261B2B1}"/>
              </a:ext>
            </a:extLst>
          </p:cNvPr>
          <p:cNvSpPr>
            <a:spLocks noGrp="1"/>
          </p:cNvSpPr>
          <p:nvPr/>
        </p:nvSpPr>
        <p:spPr>
          <a:xfrm>
            <a:off x="8366760" y="822960"/>
            <a:ext cx="3291840" cy="17373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What is a skill?</a:t>
            </a:r>
          </a:p>
          <a:p>
            <a:pPr algn="l">
              <a:spcBef>
                <a:spcPts val="600"/>
              </a:spcBef>
            </a:pPr>
            <a:r>
              <a:rPr sz="2600" b="1" lang="en-US" dirty="0">
                <a:solidFill>
                  <a:srgbClr val="F47735"/>
                </a:solidFill>
                <a:latin typeface="Bahnschrift"/>
              </a:rPr>
              <a:t>“I know Kung Fu.”</a:t>
            </a:r>
          </a:p>
        </p:txBody>
      </p:sp>
      <p:sp>
        <p:nvSpPr>
          <p:cNvPr id="880" name="Footer backing"/>
          <p:cNvSpPr/>
          <p:nvPr/>
        </p:nvSpPr>
        <p:spPr>
          <a:xfrm>
            <a:off x="502920" y="6355080"/>
            <a:ext cx="3291840" cy="347472"/>
          </a:xfrm>
          <a:prstGeom prst="roundRect">
            <a:avLst>
              <a:gd name="adj" fmla="val 12000"/>
            </a:avLst>
          </a:prstGeom>
          <a:solidFill>
            <a:srgbClr val="FFFDF8">
              <a:alpha val="90000"/>
            </a:srgbClr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52E3E-BD5A-4C46-98E7-0549D3B0988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881" name="Page backing"/>
          <p:cNvSpPr/>
          <p:nvPr/>
        </p:nvSpPr>
        <p:spPr>
          <a:xfrm>
            <a:off x="11018520" y="6336792"/>
            <a:ext cx="640080" cy="384048"/>
          </a:xfrm>
          <a:prstGeom prst="roundRect">
            <a:avLst>
              <a:gd name="adj" fmla="val 12000"/>
            </a:avLst>
          </a:prstGeom>
          <a:solidFill>
            <a:srgbClr val="FFFDF8">
              <a:alpha val="90000"/>
            </a:srgbClr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51141-3EC9-4A04-A2D7-3E747007EB7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C260F8-C4EE-4642-B838-685C2BF0C7BC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24</a:t>
            </a:r>
          </a:p>
        </p:txBody>
      </p:sp>
      <p:sp>
        <p:nvSpPr>
          <p:cNvPr id="621" name="Tagline"/>
          <p:cNvSpPr/>
          <p:nvPr/>
        </p:nvSpPr>
        <p:spPr>
          <a:xfrm>
            <a:off x="8366760" y="2697480"/>
            <a:ext cx="3291840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2200" b="1" lang="en-US" dirty="0">
                <a:solidFill>
                  <a:srgbClr val="002B55"/>
                </a:solidFill>
                <a:latin typeface="Arial"/>
              </a:rPr>
              <a:t>Load the skill.</a:t>
            </a:r>
          </a:p>
          <a:p>
            <a:pPr algn="l"/>
            <a:r>
              <a:rPr sz="2200" b="1" lang="en-US" dirty="0">
                <a:solidFill>
                  <a:srgbClr val="007879"/>
                </a:solidFill>
                <a:latin typeface="Arial"/>
              </a:rPr>
              <a:t>Use it instantly.</a:t>
            </a:r>
          </a:p>
        </p:txBody>
      </p:sp>
      <p:sp>
        <p:nvSpPr>
          <p:cNvPr id="622" name="Play tile (link)">
            <a:hlinkClick r:id="rId4"/>
          </p:cNvPr>
          <p:cNvSpPr/>
          <p:nvPr/>
        </p:nvSpPr>
        <p:spPr>
          <a:xfrm>
            <a:off x="8275320" y="3977640"/>
            <a:ext cx="3383280" cy="1234440"/>
          </a:xfrm>
          <a:prstGeom prst="roundRect">
            <a:avLst>
              <a:gd name="adj" fmla="val 12000"/>
            </a:avLst>
          </a:prstGeom>
          <a:solidFill>
            <a:srgbClr val="002B55"/>
          </a:solidFill>
          <a:ln w="12700">
            <a:noFill/>
          </a:ln>
        </p:spPr>
        <p:txBody>
          <a:bodyPr wrap="square" lIns="1143000" rIns="109728" tIns="109728" bIns="109728" anchor="ctr" rtlCol="0"/>
          <a:lstStyle/>
          <a:p>
            <a:pPr algn="l"/>
            <a:r>
              <a:rPr sz="1700" b="1" lang="en-US" dirty="0">
                <a:solidFill>
                  <a:srgbClr val="FFFFFF"/>
                </a:solidFill>
                <a:latin typeface="Bahnschrift"/>
              </a:rPr>
              <a:t>Watch the clip</a:t>
            </a:r>
          </a:p>
          <a:p>
            <a:pPr algn="l"/>
            <a:r>
              <a:rPr sz="1100" b="0" lang="en-US" dirty="0">
                <a:solidFill>
                  <a:srgbClr val="CFE3E3"/>
                </a:solidFill>
                <a:latin typeface="Arial"/>
              </a:rPr>
              <a:t>The Matrix 25th Anniversary · I Know Kung Fu · Warner Bros. (YouTube)</a:t>
            </a:r>
          </a:p>
        </p:txBody>
      </p:sp>
      <p:sp>
        <p:nvSpPr>
          <p:cNvPr id="623" name="Play circle (link)">
            <a:hlinkClick r:id="rId4"/>
          </p:cNvPr>
          <p:cNvSpPr/>
          <p:nvPr/>
        </p:nvSpPr>
        <p:spPr>
          <a:xfrm>
            <a:off x="8430768" y="4224528"/>
            <a:ext cx="731520" cy="731520"/>
          </a:xfrm>
          <a:prstGeom prst="ellipse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624" name="Play triangle (link)">
            <a:hlinkClick r:id="rId4"/>
          </p:cNvPr>
          <p:cNvSpPr/>
          <p:nvPr/>
        </p:nvSpPr>
        <p:spPr>
          <a:xfrm rot="5400000">
            <a:off x="8659368" y="4407408"/>
            <a:ext cx="347472" cy="365760"/>
          </a:xfrm>
          <a:prstGeom prst="triangle">
            <a:avLst/>
          </a:prstGeom>
          <a:solidFill>
            <a:srgbClr val="FFFFFF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625" name="Link note"/>
          <p:cNvSpPr/>
          <p:nvPr/>
        </p:nvSpPr>
        <p:spPr>
          <a:xfrm>
            <a:off x="8366760" y="5321808"/>
            <a:ext cx="3291840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100" b="0" lang="en-US" dirty="0">
                <a:solidFill>
                  <a:srgbClr val="28455F"/>
                </a:solidFill>
                <a:latin typeface="Arial"/>
              </a:rPr>
              <a:t>Link only: youtu.be/ozS_6vqnJ8w</a:t>
            </a:r>
          </a:p>
        </p:txBody>
      </p:sp>
    </p:spTree>
    <p:extLst>
      <p:ext uri="{BB962C8B-B14F-4D97-AF65-F5344CB8AC3E}">
        <p14:creationId xmlns:p14="http://schemas.microsoft.com/office/powerpoint/2010/main" val="10754499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" name="Horse jockey harness 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1560"/>
            <a:ext cx="9326880" cy="524637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7EEC95C-44CB-48FC-883F-56BAD261B2B1}"/>
              </a:ext>
            </a:extLst>
          </p:cNvPr>
          <p:cNvSpPr>
            <a:spLocks noGrp="1"/>
          </p:cNvSpPr>
          <p:nvPr/>
        </p:nvSpPr>
        <p:spPr>
          <a:xfrm>
            <a:off x="609905" y="320040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2600" b="1" lang="en-US" dirty="0">
                <a:solidFill>
                  <a:srgbClr val="002B55"/>
                </a:solidFill>
                <a:latin typeface="Bahnschrift"/>
              </a:rPr>
              <a:t>The model is the horse. You are the jockey. The harness is the tool.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52E3E-BD5A-4C46-98E7-0549D3B0988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51141-3EC9-4A04-A2D7-3E747007EB7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C260F8-C4EE-4642-B838-685C2BF0C7BC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19</a:t>
            </a:r>
          </a:p>
        </p:txBody>
      </p:sp>
      <p:cxnSp>
        <p:nvCxnSpPr>
          <p:cNvPr id="910" name="Leader line"/>
          <p:cNvCxnSpPr/>
          <p:nvPr/>
        </p:nvCxnSpPr>
        <p:spPr>
          <a:xfrm>
            <a:off x="3688854" y="1461433"/>
            <a:ext cx="2483346" cy="161627"/>
          </a:xfrm>
          <a:prstGeom prst="line">
            <a:avLst/>
          </a:prstGeom>
          <a:ln w="19050">
            <a:solidFill>
              <a:srgbClr val="F47735"/>
            </a:solidFill>
          </a:ln>
        </p:spPr>
      </p:cxnSp>
      <p:sp>
        <p:nvSpPr>
          <p:cNvPr id="911" name="Leader dot"/>
          <p:cNvSpPr/>
          <p:nvPr/>
        </p:nvSpPr>
        <p:spPr>
          <a:xfrm>
            <a:off x="3624846" y="1397425"/>
            <a:ext cx="128016" cy="128016"/>
          </a:xfrm>
          <a:prstGeom prst="ellipse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912" name="Callout YOU"/>
          <p:cNvSpPr/>
          <p:nvPr/>
        </p:nvSpPr>
        <p:spPr>
          <a:xfrm>
            <a:off x="6172200" y="118872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47735"/>
            </a:solidFill>
          </a:ln>
        </p:spPr>
        <p:txBody>
          <a:bodyPr wrap="square" lIns="109728" rIns="109728" tIns="109728" bIns="109728" anchor="ctr" rtlCol="0"/>
          <a:lstStyle/>
          <a:p>
            <a:pPr algn="l"/>
            <a:r>
              <a:rPr sz="1600" b="1" lang="en-US" dirty="0">
                <a:solidFill>
                  <a:srgbClr val="002B55"/>
                </a:solidFill>
                <a:latin typeface="Bahnschrift"/>
              </a:rPr>
              <a:t>YOU</a:t>
            </a:r>
          </a:p>
          <a:p>
            <a:pPr algn="l"/>
            <a:r>
              <a:rPr sz="1300" b="0" lang="en-US" dirty="0">
                <a:solidFill>
                  <a:srgbClr val="002B55"/>
                </a:solidFill>
                <a:latin typeface="Arial"/>
              </a:rPr>
              <a:t>direction, judgment, final call</a:t>
            </a:r>
          </a:p>
        </p:txBody>
      </p:sp>
      <p:cxnSp>
        <p:nvCxnSpPr>
          <p:cNvPr id="913" name="Leader line"/>
          <p:cNvCxnSpPr/>
          <p:nvPr/>
        </p:nvCxnSpPr>
        <p:spPr>
          <a:xfrm flipH="1">
            <a:off x="4098727" y="2720340"/>
            <a:ext cx="2073473" cy="927080"/>
          </a:xfrm>
          <a:prstGeom prst="line">
            <a:avLst/>
          </a:prstGeom>
          <a:ln w="19050">
            <a:solidFill>
              <a:srgbClr val="F47735"/>
            </a:solidFill>
          </a:ln>
        </p:spPr>
      </p:cxnSp>
      <p:sp>
        <p:nvSpPr>
          <p:cNvPr id="914" name="Leader dot"/>
          <p:cNvSpPr/>
          <p:nvPr/>
        </p:nvSpPr>
        <p:spPr>
          <a:xfrm>
            <a:off x="4034719" y="3583412"/>
            <a:ext cx="128016" cy="128016"/>
          </a:xfrm>
          <a:prstGeom prst="ellipse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915" name="Callout HARNESS"/>
          <p:cNvSpPr/>
          <p:nvPr/>
        </p:nvSpPr>
        <p:spPr>
          <a:xfrm>
            <a:off x="6172200" y="228600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47735"/>
            </a:solidFill>
          </a:ln>
        </p:spPr>
        <p:txBody>
          <a:bodyPr wrap="square" lIns="109728" rIns="109728" tIns="109728" bIns="109728" anchor="ctr" rtlCol="0"/>
          <a:lstStyle/>
          <a:p>
            <a:pPr algn="l"/>
            <a:r>
              <a:rPr sz="1600" b="1" lang="en-US" dirty="0">
                <a:solidFill>
                  <a:srgbClr val="B4501F"/>
                </a:solidFill>
                <a:latin typeface="Bahnschrift"/>
              </a:rPr>
              <a:t>HARNESS</a:t>
            </a:r>
          </a:p>
          <a:p>
            <a:pPr algn="l"/>
            <a:r>
              <a:rPr sz="1300" b="0" lang="en-US" dirty="0">
                <a:solidFill>
                  <a:srgbClr val="002B55"/>
                </a:solidFill>
                <a:latin typeface="Arial"/>
              </a:rPr>
              <a:t>tools, memory, skills, checkpoints</a:t>
            </a:r>
          </a:p>
        </p:txBody>
      </p:sp>
      <p:cxnSp>
        <p:nvCxnSpPr>
          <p:cNvPr id="916" name="Leader line"/>
          <p:cNvCxnSpPr/>
          <p:nvPr/>
        </p:nvCxnSpPr>
        <p:spPr>
          <a:xfrm flipH="1">
            <a:off x="4599682" y="3863340"/>
            <a:ext cx="1572518" cy="57329"/>
          </a:xfrm>
          <a:prstGeom prst="line">
            <a:avLst/>
          </a:prstGeom>
          <a:ln w="19050">
            <a:solidFill>
              <a:srgbClr val="F47735"/>
            </a:solidFill>
          </a:ln>
        </p:spPr>
      </p:cxnSp>
      <p:sp>
        <p:nvSpPr>
          <p:cNvPr id="917" name="Leader dot"/>
          <p:cNvSpPr/>
          <p:nvPr/>
        </p:nvSpPr>
        <p:spPr>
          <a:xfrm>
            <a:off x="4535674" y="3856661"/>
            <a:ext cx="128016" cy="128016"/>
          </a:xfrm>
          <a:prstGeom prst="ellipse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918" name="Callout MODEL"/>
          <p:cNvSpPr/>
          <p:nvPr/>
        </p:nvSpPr>
        <p:spPr>
          <a:xfrm>
            <a:off x="6172200" y="342900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47735"/>
            </a:solidFill>
          </a:ln>
        </p:spPr>
        <p:txBody>
          <a:bodyPr wrap="square" lIns="109728" rIns="109728" tIns="109728" bIns="109728" anchor="ctr" rtlCol="0"/>
          <a:lstStyle/>
          <a:p>
            <a:pPr algn="l"/>
            <a:r>
              <a:rPr sz="1600" b="1" lang="en-US" dirty="0">
                <a:solidFill>
                  <a:srgbClr val="007879"/>
                </a:solidFill>
                <a:latin typeface="Bahnschrift"/>
              </a:rPr>
              <a:t>MODEL</a:t>
            </a:r>
          </a:p>
          <a:p>
            <a:pPr algn="l"/>
            <a:r>
              <a:rPr sz="1300" b="0" lang="en-US" dirty="0">
                <a:solidFill>
                  <a:srgbClr val="002B55"/>
                </a:solidFill>
                <a:latin typeface="Arial"/>
              </a:rPr>
              <a:t>raw power</a:t>
            </a:r>
          </a:p>
        </p:txBody>
      </p:sp>
      <p:sp>
        <p:nvSpPr>
          <p:cNvPr id="930" name="Harnesses panel"/>
          <p:cNvSpPr/>
          <p:nvPr/>
        </p:nvSpPr>
        <p:spPr>
          <a:xfrm>
            <a:off x="8595360" y="1188720"/>
            <a:ext cx="2990088" cy="4480560"/>
          </a:xfrm>
          <a:prstGeom prst="roundRect">
            <a:avLst>
              <a:gd name="adj" fmla="val 5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931" name="Panel head"/>
          <p:cNvSpPr/>
          <p:nvPr/>
        </p:nvSpPr>
        <p:spPr>
          <a:xfrm>
            <a:off x="8778240" y="1261872"/>
            <a:ext cx="2624328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500" b="1" lang="en-US" dirty="0">
                <a:solidFill>
                  <a:srgbClr val="007879"/>
                </a:solidFill>
                <a:latin typeface="Bahnschrift"/>
              </a:rPr>
              <a:t>HARNESSES</a:t>
            </a:r>
          </a:p>
          <a:p>
            <a:pPr algn="l"/>
            <a:r>
              <a:rPr sz="1100" b="0" lang="en-US" dirty="0">
                <a:solidFill>
                  <a:srgbClr val="28455F"/>
                </a:solidFill>
                <a:latin typeface="Arial"/>
              </a:rPr>
              <a:t>the tools you steer the model with</a:t>
            </a:r>
          </a:p>
        </p:txBody>
      </p:sp>
      <p:sp>
        <p:nvSpPr>
          <p:cNvPr id="940" name="Tool tile"/>
          <p:cNvSpPr/>
          <p:nvPr/>
        </p:nvSpPr>
        <p:spPr>
          <a:xfrm>
            <a:off x="8759952" y="1828800"/>
            <a:ext cx="2660904" cy="402336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pic>
        <p:nvPicPr>
          <p:cNvPr id="941" name="Logo Claude Cod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392" y="1874520"/>
            <a:ext cx="310896" cy="310896"/>
          </a:xfrm>
          <a:prstGeom prst="rect">
            <a:avLst/>
          </a:prstGeom>
        </p:spPr>
      </p:pic>
      <p:sp>
        <p:nvSpPr>
          <p:cNvPr id="942" name="Tool name"/>
          <p:cNvSpPr/>
          <p:nvPr/>
        </p:nvSpPr>
        <p:spPr>
          <a:xfrm>
            <a:off x="9253728" y="1828800"/>
            <a:ext cx="2075688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300" b="1" lang="en-US" dirty="0">
                <a:solidFill>
                  <a:srgbClr val="002B55"/>
                </a:solidFill>
                <a:latin typeface="Arial"/>
              </a:rPr>
              <a:t>Claude Code</a:t>
            </a:r>
          </a:p>
        </p:txBody>
      </p:sp>
      <p:sp>
        <p:nvSpPr>
          <p:cNvPr id="943" name="Tool tile"/>
          <p:cNvSpPr/>
          <p:nvPr/>
        </p:nvSpPr>
        <p:spPr>
          <a:xfrm>
            <a:off x="8759952" y="2295144"/>
            <a:ext cx="2660904" cy="402336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pic>
        <p:nvPicPr>
          <p:cNvPr id="944" name="Logo Claude Cowor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1392" y="2340864"/>
            <a:ext cx="310896" cy="310896"/>
          </a:xfrm>
          <a:prstGeom prst="rect">
            <a:avLst/>
          </a:prstGeom>
        </p:spPr>
      </p:pic>
      <p:sp>
        <p:nvSpPr>
          <p:cNvPr id="945" name="Tool name"/>
          <p:cNvSpPr/>
          <p:nvPr/>
        </p:nvSpPr>
        <p:spPr>
          <a:xfrm>
            <a:off x="9253728" y="2295144"/>
            <a:ext cx="2075688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300" b="1" lang="en-US" dirty="0">
                <a:solidFill>
                  <a:srgbClr val="002B55"/>
                </a:solidFill>
                <a:latin typeface="Arial"/>
              </a:rPr>
              <a:t>Claude Cowork</a:t>
            </a:r>
          </a:p>
        </p:txBody>
      </p:sp>
      <p:sp>
        <p:nvSpPr>
          <p:cNvPr id="946" name="Tool tile"/>
          <p:cNvSpPr/>
          <p:nvPr/>
        </p:nvSpPr>
        <p:spPr>
          <a:xfrm>
            <a:off x="8759952" y="2761488"/>
            <a:ext cx="2660904" cy="402336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pic>
        <p:nvPicPr>
          <p:cNvPr id="947" name="Logo Microsoft Copil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1392" y="2807208"/>
            <a:ext cx="310896" cy="310896"/>
          </a:xfrm>
          <a:prstGeom prst="rect">
            <a:avLst/>
          </a:prstGeom>
        </p:spPr>
      </p:pic>
      <p:sp>
        <p:nvSpPr>
          <p:cNvPr id="948" name="Tool name"/>
          <p:cNvSpPr/>
          <p:nvPr/>
        </p:nvSpPr>
        <p:spPr>
          <a:xfrm>
            <a:off x="9253728" y="2761488"/>
            <a:ext cx="2075688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300" b="1" lang="en-US" dirty="0">
                <a:solidFill>
                  <a:srgbClr val="002B55"/>
                </a:solidFill>
                <a:latin typeface="Arial"/>
              </a:rPr>
              <a:t>Microsoft Copilot</a:t>
            </a:r>
          </a:p>
        </p:txBody>
      </p:sp>
      <p:sp>
        <p:nvSpPr>
          <p:cNvPr id="949" name="Tool tile"/>
          <p:cNvSpPr/>
          <p:nvPr/>
        </p:nvSpPr>
        <p:spPr>
          <a:xfrm>
            <a:off x="8759952" y="3227832"/>
            <a:ext cx="2660904" cy="402336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pic>
        <p:nvPicPr>
          <p:cNvPr id="950" name="Logo ChatGPT (agent mode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1392" y="3273552"/>
            <a:ext cx="310896" cy="310896"/>
          </a:xfrm>
          <a:prstGeom prst="rect">
            <a:avLst/>
          </a:prstGeom>
        </p:spPr>
      </p:pic>
      <p:sp>
        <p:nvSpPr>
          <p:cNvPr id="951" name="Tool name"/>
          <p:cNvSpPr/>
          <p:nvPr/>
        </p:nvSpPr>
        <p:spPr>
          <a:xfrm>
            <a:off x="9253728" y="3227832"/>
            <a:ext cx="2075688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300" b="1" lang="en-US" dirty="0">
                <a:solidFill>
                  <a:srgbClr val="002B55"/>
                </a:solidFill>
                <a:latin typeface="Arial"/>
              </a:rPr>
              <a:t>ChatGPT (agent mode)</a:t>
            </a:r>
          </a:p>
        </p:txBody>
      </p:sp>
      <p:sp>
        <p:nvSpPr>
          <p:cNvPr id="952" name="Tool tile"/>
          <p:cNvSpPr/>
          <p:nvPr/>
        </p:nvSpPr>
        <p:spPr>
          <a:xfrm>
            <a:off x="8759952" y="3694176"/>
            <a:ext cx="2660904" cy="402336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pic>
        <p:nvPicPr>
          <p:cNvPr id="953" name="Logo Grok Bo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1392" y="3739896"/>
            <a:ext cx="310896" cy="310896"/>
          </a:xfrm>
          <a:prstGeom prst="rect">
            <a:avLst/>
          </a:prstGeom>
        </p:spPr>
      </p:pic>
      <p:sp>
        <p:nvSpPr>
          <p:cNvPr id="954" name="Tool name"/>
          <p:cNvSpPr/>
          <p:nvPr/>
        </p:nvSpPr>
        <p:spPr>
          <a:xfrm>
            <a:off x="9253728" y="3694176"/>
            <a:ext cx="2075688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300" b="1" lang="en-US" dirty="0">
                <a:solidFill>
                  <a:srgbClr val="002B55"/>
                </a:solidFill>
                <a:latin typeface="Arial"/>
              </a:rPr>
              <a:t>Grok Bot</a:t>
            </a:r>
          </a:p>
        </p:txBody>
      </p:sp>
      <p:sp>
        <p:nvSpPr>
          <p:cNvPr id="955" name="Tool tile"/>
          <p:cNvSpPr/>
          <p:nvPr/>
        </p:nvSpPr>
        <p:spPr>
          <a:xfrm>
            <a:off x="8759952" y="4160520"/>
            <a:ext cx="2660904" cy="402336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957" name="Tool name"/>
          <p:cNvSpPr/>
          <p:nvPr/>
        </p:nvSpPr>
        <p:spPr>
          <a:xfrm>
            <a:off x="9253728" y="4160520"/>
            <a:ext cx="2075688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300" b="1" lang="en-US" dirty="0">
                <a:solidFill>
                  <a:srgbClr val="002B55"/>
                </a:solidFill>
                <a:latin typeface="Arial"/>
              </a:rPr>
              <a:t>Meta Muse</a:t>
            </a:r>
          </a:p>
        </p:txBody>
      </p:sp>
      <p:sp>
        <p:nvSpPr>
          <p:cNvPr id="958" name="Tool tile"/>
          <p:cNvSpPr/>
          <p:nvPr/>
        </p:nvSpPr>
        <p:spPr>
          <a:xfrm>
            <a:off x="8759952" y="4626864"/>
            <a:ext cx="2660904" cy="402336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960" name="Tool name"/>
          <p:cNvSpPr/>
          <p:nvPr/>
        </p:nvSpPr>
        <p:spPr>
          <a:xfrm>
            <a:off x="9253728" y="4626864"/>
            <a:ext cx="2075688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300" b="1" lang="en-US" dirty="0">
                <a:solidFill>
                  <a:srgbClr val="002B55"/>
                </a:solidFill>
                <a:latin typeface="Arial"/>
              </a:rPr>
              <a:t>Cursor</a:t>
            </a:r>
          </a:p>
        </p:txBody>
      </p:sp>
      <p:sp>
        <p:nvSpPr>
          <p:cNvPr id="961" name="Tool tile"/>
          <p:cNvSpPr/>
          <p:nvPr/>
        </p:nvSpPr>
        <p:spPr>
          <a:xfrm>
            <a:off x="8759952" y="5093208"/>
            <a:ext cx="2660904" cy="402336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963" name="Tool name"/>
          <p:cNvSpPr/>
          <p:nvPr/>
        </p:nvSpPr>
        <p:spPr>
          <a:xfrm>
            <a:off x="9253728" y="5093208"/>
            <a:ext cx="2075688" cy="40233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300" b="1" lang="en-US" dirty="0">
                <a:solidFill>
                  <a:srgbClr val="002B55"/>
                </a:solidFill>
                <a:latin typeface="Arial"/>
              </a:rPr>
              <a:t>Gemini</a:t>
            </a:r>
          </a:p>
        </p:txBody>
      </p:sp>
      <p:sp>
        <p:nvSpPr>
          <p:cNvPr id="971" name="Takeaway banner"/>
          <p:cNvSpPr/>
          <p:nvPr/>
        </p:nvSpPr>
        <p:spPr>
          <a:xfrm>
            <a:off x="609905" y="5788152"/>
            <a:ext cx="10972800" cy="530352"/>
          </a:xfrm>
          <a:prstGeom prst="roundRect">
            <a:avLst>
              <a:gd name="adj" fmla="val 12000"/>
            </a:avLst>
          </a:prstGeom>
          <a:solidFill>
            <a:srgbClr val="002B5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ctr"/>
            <a:r>
              <a:rPr sz="1700" b="1" lang="en-US" dirty="0">
                <a:solidFill>
                  <a:srgbClr val="FFFFFF"/>
                </a:solidFill>
                <a:latin typeface="Bahnschrift"/>
              </a:rPr>
              <a:t>Without a harness, even the best model can’t be steered through a long-horizon task.</a:t>
            </a:r>
          </a:p>
        </p:txBody>
      </p:sp>
    </p:spTree>
    <p:extLst>
      <p:ext uri="{BB962C8B-B14F-4D97-AF65-F5344CB8AC3E}">
        <p14:creationId xmlns:p14="http://schemas.microsoft.com/office/powerpoint/2010/main" val="107544999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EEC95C-44CB-48FC-883F-56BAD261B2B1}"/>
              </a:ext>
            </a:extLst>
          </p:cNvPr>
          <p:cNvSpPr>
            <a:spLocks noGrp="1"/>
          </p:cNvSpPr>
          <p:nvPr/>
        </p:nvSpPr>
        <p:spPr>
          <a:xfrm>
            <a:off x="609905" y="1600200"/>
            <a:ext cx="10972800" cy="5486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ctr"/>
            <a:r>
              <a:rPr sz="1800" b="1" lang="en-US" dirty="0">
                <a:solidFill>
                  <a:srgbClr val="007879"/>
                </a:solidFill>
                <a:latin typeface="Bahnschrift"/>
              </a:rPr>
              <a:t>DISCLOSURE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52E3E-BD5A-4C46-98E7-0549D3B0988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51141-3EC9-4A04-A2D7-3E747007EB7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C260F8-C4EE-4642-B838-685C2BF0C7BC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02</a:t>
            </a:r>
          </a:p>
        </p:txBody>
      </p:sp>
      <p:sp>
        <p:nvSpPr>
          <p:cNvPr id="1001" name="Accent rule"/>
          <p:cNvSpPr/>
          <p:nvPr/>
        </p:nvSpPr>
        <p:spPr>
          <a:xfrm>
            <a:off x="5639105" y="2286000"/>
            <a:ext cx="914400" cy="54864"/>
          </a:xfrm>
          <a:prstGeom prst="rect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002" name="Statement"/>
          <p:cNvSpPr/>
          <p:nvPr/>
        </p:nvSpPr>
        <p:spPr>
          <a:xfrm>
            <a:off x="1524305" y="2606040"/>
            <a:ext cx="9144000" cy="173736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3000" b="1" lang="en-US" dirty="0">
                <a:solidFill>
                  <a:srgbClr val="002B55"/>
                </a:solidFill>
                <a:latin typeface="Bahnschrift"/>
              </a:rPr>
              <a:t>The views presented here are my own and do not reflect those of my current employer.</a:t>
            </a:r>
          </a:p>
        </p:txBody>
      </p:sp>
      <p:sp>
        <p:nvSpPr>
          <p:cNvPr id="1003" name="Speaker"/>
          <p:cNvSpPr/>
          <p:nvPr/>
        </p:nvSpPr>
        <p:spPr>
          <a:xfrm>
            <a:off x="1524305" y="4572000"/>
            <a:ext cx="914400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2000" b="1" lang="en-US" dirty="0">
                <a:solidFill>
                  <a:srgbClr val="007879"/>
                </a:solidFill>
                <a:latin typeface="Arial"/>
              </a:rPr>
              <a:t>Vivek Mukhatyar</a:t>
            </a:r>
          </a:p>
        </p:txBody>
      </p:sp>
      <p:sp>
        <p:nvSpPr>
          <p:cNvPr id="1004" name="Teal band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87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</p:spTree>
    <p:extLst>
      <p:ext uri="{BB962C8B-B14F-4D97-AF65-F5344CB8AC3E}">
        <p14:creationId xmlns:p14="http://schemas.microsoft.com/office/powerpoint/2010/main" val="10754499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EEC95C-44CB-48FC-883F-56BAD261B2B1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Responsible use: the non-negotiables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52E3E-BD5A-4C46-98E7-0549D3B0988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51141-3EC9-4A04-A2D7-3E747007EB7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C260F8-C4EE-4642-B838-685C2BF0C7BC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47</a:t>
            </a:r>
          </a:p>
        </p:txBody>
      </p:sp>
      <p:sp>
        <p:nvSpPr>
          <p:cNvPr id="1200" name="Column panel"/>
          <p:cNvSpPr/>
          <p:nvPr/>
        </p:nvSpPr>
        <p:spPr>
          <a:xfrm>
            <a:off x="609905" y="1325880"/>
            <a:ext cx="5349240" cy="4160520"/>
          </a:xfrm>
          <a:prstGeom prst="roundRect">
            <a:avLst>
              <a:gd name="adj" fmla="val 12000"/>
            </a:avLst>
          </a:prstGeom>
          <a:solidFill>
            <a:srgbClr val="E3F1F1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201" name="Column head"/>
          <p:cNvSpPr/>
          <p:nvPr/>
        </p:nvSpPr>
        <p:spPr>
          <a:xfrm>
            <a:off x="609905" y="1325880"/>
            <a:ext cx="5349240" cy="594360"/>
          </a:xfrm>
          <a:prstGeom prst="roundRect">
            <a:avLst>
              <a:gd name="adj" fmla="val 12000"/>
            </a:avLst>
          </a:prstGeom>
          <a:solidFill>
            <a:srgbClr val="007879"/>
          </a:solidFill>
          <a:ln w="12700">
            <a:noFill/>
          </a:ln>
        </p:spPr>
        <p:txBody>
          <a:bodyPr wrap="square" lIns="228600" rIns="228600" tIns="228600" bIns="228600" anchor="ctr" rtlCol="0"/>
          <a:lstStyle/>
          <a:p>
            <a:pPr algn="l"/>
            <a:r>
              <a:rPr sz="2000" b="1" lang="en-US" dirty="0">
                <a:solidFill>
                  <a:srgbClr val="FFFFFF"/>
                </a:solidFill>
                <a:latin typeface="Bahnschrift"/>
              </a:rPr>
              <a:t>ALWAYS</a:t>
            </a:r>
          </a:p>
        </p:txBody>
      </p:sp>
      <p:sp>
        <p:nvSpPr>
          <p:cNvPr id="1202" name="Marker"/>
          <p:cNvSpPr/>
          <p:nvPr/>
        </p:nvSpPr>
        <p:spPr>
          <a:xfrm>
            <a:off x="884225" y="2212848"/>
            <a:ext cx="109728" cy="365760"/>
          </a:xfrm>
          <a:prstGeom prst="rect">
            <a:avLst/>
          </a:prstGeom>
          <a:solidFill>
            <a:srgbClr val="00787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203" name="Item"/>
          <p:cNvSpPr/>
          <p:nvPr/>
        </p:nvSpPr>
        <p:spPr>
          <a:xfrm>
            <a:off x="1158545" y="2103120"/>
            <a:ext cx="4617720" cy="58521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600" b="1" lang="en-US" dirty="0">
                <a:solidFill>
                  <a:srgbClr val="002B55"/>
                </a:solidFill>
                <a:latin typeface="Arial"/>
              </a:rPr>
              <a:t>Use fictional, public or approved data</a:t>
            </a:r>
          </a:p>
        </p:txBody>
      </p:sp>
      <p:sp>
        <p:nvSpPr>
          <p:cNvPr id="1204" name="Marker"/>
          <p:cNvSpPr/>
          <p:nvPr/>
        </p:nvSpPr>
        <p:spPr>
          <a:xfrm>
            <a:off x="884225" y="2871216"/>
            <a:ext cx="109728" cy="365760"/>
          </a:xfrm>
          <a:prstGeom prst="rect">
            <a:avLst/>
          </a:prstGeom>
          <a:solidFill>
            <a:srgbClr val="00787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205" name="Item"/>
          <p:cNvSpPr/>
          <p:nvPr/>
        </p:nvSpPr>
        <p:spPr>
          <a:xfrm>
            <a:off x="1158545" y="2761488"/>
            <a:ext cx="4617720" cy="58521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600" b="1" lang="en-US" dirty="0">
                <a:solidFill>
                  <a:srgbClr val="002B55"/>
                </a:solidFill>
                <a:latin typeface="Arial"/>
              </a:rPr>
              <a:t>Name the human owner and the reviewer</a:t>
            </a:r>
          </a:p>
        </p:txBody>
      </p:sp>
      <p:sp>
        <p:nvSpPr>
          <p:cNvPr id="1206" name="Marker"/>
          <p:cNvSpPr/>
          <p:nvPr/>
        </p:nvSpPr>
        <p:spPr>
          <a:xfrm>
            <a:off x="884225" y="3529584"/>
            <a:ext cx="109728" cy="365760"/>
          </a:xfrm>
          <a:prstGeom prst="rect">
            <a:avLst/>
          </a:prstGeom>
          <a:solidFill>
            <a:srgbClr val="00787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207" name="Item"/>
          <p:cNvSpPr/>
          <p:nvPr/>
        </p:nvSpPr>
        <p:spPr>
          <a:xfrm>
            <a:off x="1158545" y="3419856"/>
            <a:ext cx="4617720" cy="58521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600" b="1" lang="en-US" dirty="0">
                <a:solidFill>
                  <a:srgbClr val="002B55"/>
                </a:solidFill>
                <a:latin typeface="Arial"/>
              </a:rPr>
              <a:t>Check every claim against its source</a:t>
            </a:r>
          </a:p>
        </p:txBody>
      </p:sp>
      <p:sp>
        <p:nvSpPr>
          <p:cNvPr id="1208" name="Marker"/>
          <p:cNvSpPr/>
          <p:nvPr/>
        </p:nvSpPr>
        <p:spPr>
          <a:xfrm>
            <a:off x="884225" y="4187952"/>
            <a:ext cx="109728" cy="365760"/>
          </a:xfrm>
          <a:prstGeom prst="rect">
            <a:avLst/>
          </a:prstGeom>
          <a:solidFill>
            <a:srgbClr val="00787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209" name="Item"/>
          <p:cNvSpPr/>
          <p:nvPr/>
        </p:nvSpPr>
        <p:spPr>
          <a:xfrm>
            <a:off x="1158545" y="4078224"/>
            <a:ext cx="4617720" cy="58521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600" b="1" lang="en-US" dirty="0">
                <a:solidFill>
                  <a:srgbClr val="002B55"/>
                </a:solidFill>
                <a:latin typeface="Arial"/>
              </a:rPr>
              <a:t>Say when a draft is AI-assisted</a:t>
            </a:r>
          </a:p>
        </p:txBody>
      </p:sp>
      <p:sp>
        <p:nvSpPr>
          <p:cNvPr id="1210" name="Marker"/>
          <p:cNvSpPr/>
          <p:nvPr/>
        </p:nvSpPr>
        <p:spPr>
          <a:xfrm>
            <a:off x="884225" y="4846320"/>
            <a:ext cx="109728" cy="365760"/>
          </a:xfrm>
          <a:prstGeom prst="rect">
            <a:avLst/>
          </a:prstGeom>
          <a:solidFill>
            <a:srgbClr val="00787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211" name="Item"/>
          <p:cNvSpPr/>
          <p:nvPr/>
        </p:nvSpPr>
        <p:spPr>
          <a:xfrm>
            <a:off x="1158545" y="4736592"/>
            <a:ext cx="4617720" cy="58521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600" b="1" lang="en-US" dirty="0">
                <a:solidFill>
                  <a:srgbClr val="002B55"/>
                </a:solidFill>
                <a:latin typeface="Arial"/>
              </a:rPr>
              <a:t>Keep a record: sources, prompts, versions</a:t>
            </a:r>
          </a:p>
        </p:txBody>
      </p:sp>
      <p:sp>
        <p:nvSpPr>
          <p:cNvPr id="1220" name="Column panel"/>
          <p:cNvSpPr/>
          <p:nvPr/>
        </p:nvSpPr>
        <p:spPr>
          <a:xfrm>
            <a:off x="6233465" y="1325880"/>
            <a:ext cx="5349240" cy="4160520"/>
          </a:xfrm>
          <a:prstGeom prst="roundRect">
            <a:avLst>
              <a:gd name="adj" fmla="val 12000"/>
            </a:avLst>
          </a:prstGeom>
          <a:solidFill>
            <a:srgbClr val="FDEBE1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221" name="Column head"/>
          <p:cNvSpPr/>
          <p:nvPr/>
        </p:nvSpPr>
        <p:spPr>
          <a:xfrm>
            <a:off x="6233465" y="1325880"/>
            <a:ext cx="5349240" cy="594360"/>
          </a:xfrm>
          <a:prstGeom prst="roundRect">
            <a:avLst>
              <a:gd name="adj" fmla="val 12000"/>
            </a:avLst>
          </a:prstGeom>
          <a:solidFill>
            <a:srgbClr val="B4501F"/>
          </a:solidFill>
          <a:ln w="12700">
            <a:noFill/>
          </a:ln>
        </p:spPr>
        <p:txBody>
          <a:bodyPr wrap="square" lIns="228600" rIns="228600" tIns="228600" bIns="228600" anchor="ctr" rtlCol="0"/>
          <a:lstStyle/>
          <a:p>
            <a:pPr algn="l"/>
            <a:r>
              <a:rPr sz="2000" b="1" lang="en-US" dirty="0">
                <a:solidFill>
                  <a:srgbClr val="FFFFFF"/>
                </a:solidFill>
                <a:latin typeface="Bahnschrift"/>
              </a:rPr>
              <a:t>NEVER</a:t>
            </a:r>
          </a:p>
        </p:txBody>
      </p:sp>
      <p:sp>
        <p:nvSpPr>
          <p:cNvPr id="1222" name="Marker"/>
          <p:cNvSpPr/>
          <p:nvPr/>
        </p:nvSpPr>
        <p:spPr>
          <a:xfrm>
            <a:off x="6507785" y="2212848"/>
            <a:ext cx="109728" cy="365760"/>
          </a:xfrm>
          <a:prstGeom prst="rect">
            <a:avLst/>
          </a:prstGeom>
          <a:solidFill>
            <a:srgbClr val="B4501F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223" name="Item"/>
          <p:cNvSpPr/>
          <p:nvPr/>
        </p:nvSpPr>
        <p:spPr>
          <a:xfrm>
            <a:off x="6782105" y="2103120"/>
            <a:ext cx="4617720" cy="58521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600" b="1" lang="en-US" dirty="0">
                <a:solidFill>
                  <a:srgbClr val="002B55"/>
                </a:solidFill>
                <a:latin typeface="Arial"/>
              </a:rPr>
              <a:t>Put patient or confidential data into unapproved tools</a:t>
            </a:r>
          </a:p>
        </p:txBody>
      </p:sp>
      <p:sp>
        <p:nvSpPr>
          <p:cNvPr id="1224" name="Marker"/>
          <p:cNvSpPr/>
          <p:nvPr/>
        </p:nvSpPr>
        <p:spPr>
          <a:xfrm>
            <a:off x="6507785" y="2871216"/>
            <a:ext cx="109728" cy="365760"/>
          </a:xfrm>
          <a:prstGeom prst="rect">
            <a:avLst/>
          </a:prstGeom>
          <a:solidFill>
            <a:srgbClr val="B4501F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225" name="Item"/>
          <p:cNvSpPr/>
          <p:nvPr/>
        </p:nvSpPr>
        <p:spPr>
          <a:xfrm>
            <a:off x="6782105" y="2761488"/>
            <a:ext cx="4617720" cy="58521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600" b="1" lang="en-US" dirty="0">
                <a:solidFill>
                  <a:srgbClr val="002B55"/>
                </a:solidFill>
                <a:latin typeface="Arial"/>
              </a:rPr>
              <a:t>Let an agent approve, certify or send</a:t>
            </a:r>
          </a:p>
        </p:txBody>
      </p:sp>
      <p:sp>
        <p:nvSpPr>
          <p:cNvPr id="1226" name="Marker"/>
          <p:cNvSpPr/>
          <p:nvPr/>
        </p:nvSpPr>
        <p:spPr>
          <a:xfrm>
            <a:off x="6507785" y="3529584"/>
            <a:ext cx="109728" cy="365760"/>
          </a:xfrm>
          <a:prstGeom prst="rect">
            <a:avLst/>
          </a:prstGeom>
          <a:solidFill>
            <a:srgbClr val="B4501F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227" name="Item"/>
          <p:cNvSpPr/>
          <p:nvPr/>
        </p:nvSpPr>
        <p:spPr>
          <a:xfrm>
            <a:off x="6782105" y="3419856"/>
            <a:ext cx="4617720" cy="58521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600" b="1" lang="en-US" dirty="0">
                <a:solidFill>
                  <a:srgbClr val="002B55"/>
                </a:solidFill>
                <a:latin typeface="Arial"/>
              </a:rPr>
              <a:t>Let it contact HCPs or change CRM records</a:t>
            </a:r>
          </a:p>
        </p:txBody>
      </p:sp>
      <p:sp>
        <p:nvSpPr>
          <p:cNvPr id="1228" name="Marker"/>
          <p:cNvSpPr/>
          <p:nvPr/>
        </p:nvSpPr>
        <p:spPr>
          <a:xfrm>
            <a:off x="6507785" y="4187952"/>
            <a:ext cx="109728" cy="365760"/>
          </a:xfrm>
          <a:prstGeom prst="rect">
            <a:avLst/>
          </a:prstGeom>
          <a:solidFill>
            <a:srgbClr val="B4501F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229" name="Item"/>
          <p:cNvSpPr/>
          <p:nvPr/>
        </p:nvSpPr>
        <p:spPr>
          <a:xfrm>
            <a:off x="6782105" y="4078224"/>
            <a:ext cx="4617720" cy="58521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600" b="1" lang="en-US" dirty="0">
                <a:solidFill>
                  <a:srgbClr val="002B55"/>
                </a:solidFill>
                <a:latin typeface="Arial"/>
              </a:rPr>
              <a:t>Treat its output as medical advice</a:t>
            </a:r>
          </a:p>
        </p:txBody>
      </p:sp>
      <p:sp>
        <p:nvSpPr>
          <p:cNvPr id="1230" name="Marker"/>
          <p:cNvSpPr/>
          <p:nvPr/>
        </p:nvSpPr>
        <p:spPr>
          <a:xfrm>
            <a:off x="6507785" y="4846320"/>
            <a:ext cx="109728" cy="365760"/>
          </a:xfrm>
          <a:prstGeom prst="rect">
            <a:avLst/>
          </a:prstGeom>
          <a:solidFill>
            <a:srgbClr val="B4501F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231" name="Item"/>
          <p:cNvSpPr/>
          <p:nvPr/>
        </p:nvSpPr>
        <p:spPr>
          <a:xfrm>
            <a:off x="6782105" y="4736592"/>
            <a:ext cx="4617720" cy="585216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600" b="1" lang="en-US" dirty="0">
                <a:solidFill>
                  <a:srgbClr val="002B55"/>
                </a:solidFill>
                <a:latin typeface="Arial"/>
              </a:rPr>
              <a:t>Bypass MLR, pharmacovigilance or medical review</a:t>
            </a:r>
          </a:p>
        </p:txBody>
      </p:sp>
      <p:sp>
        <p:nvSpPr>
          <p:cNvPr id="1250" name="Policy banner"/>
          <p:cNvSpPr/>
          <p:nvPr/>
        </p:nvSpPr>
        <p:spPr>
          <a:xfrm>
            <a:off x="609905" y="5669280"/>
            <a:ext cx="10972800" cy="548640"/>
          </a:xfrm>
          <a:prstGeom prst="roundRect">
            <a:avLst>
              <a:gd name="adj" fmla="val 12000"/>
            </a:avLst>
          </a:prstGeom>
          <a:solidFill>
            <a:srgbClr val="002B5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ctr"/>
            <a:r>
              <a:rPr sz="1400" b="1" lang="en-US" dirty="0">
                <a:solidFill>
                  <a:srgbClr val="FFFFFF"/>
                </a:solidFill>
                <a:latin typeface="Arial"/>
              </a:rPr>
              <a:t>Your company’s AI policy, MLR and pharmacovigilance processes come first. Workshop data is fictional; outputs are drafts for qualified review.</a:t>
            </a:r>
          </a:p>
        </p:txBody>
      </p:sp>
    </p:spTree>
    <p:extLst>
      <p:ext uri="{BB962C8B-B14F-4D97-AF65-F5344CB8AC3E}">
        <p14:creationId xmlns:p14="http://schemas.microsoft.com/office/powerpoint/2010/main" val="10754499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EEC95C-44CB-48FC-883F-56BAD261B2B1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Four checks before anything leaves your desk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52E3E-BD5A-4C46-98E7-0549D3B0988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51141-3EC9-4A04-A2D7-3E747007EB7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C260F8-C4EE-4642-B838-685C2BF0C7BC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48</a:t>
            </a:r>
          </a:p>
        </p:txBody>
      </p:sp>
      <p:sp>
        <p:nvSpPr>
          <p:cNvPr id="1300" name="Flow line"/>
          <p:cNvSpPr/>
          <p:nvPr/>
        </p:nvSpPr>
        <p:spPr>
          <a:xfrm>
            <a:off x="1097280" y="2240280"/>
            <a:ext cx="9601200" cy="54864"/>
          </a:xfrm>
          <a:prstGeom prst="rect">
            <a:avLst/>
          </a:prstGeom>
          <a:solidFill>
            <a:srgbClr val="C9D6E3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301" name="Check card"/>
          <p:cNvSpPr/>
          <p:nvPr/>
        </p:nvSpPr>
        <p:spPr>
          <a:xfrm>
            <a:off x="609905" y="160020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302" name="Check num"/>
          <p:cNvSpPr/>
          <p:nvPr/>
        </p:nvSpPr>
        <p:spPr>
          <a:xfrm>
            <a:off x="1341425" y="1828800"/>
            <a:ext cx="640080" cy="640080"/>
          </a:xfrm>
          <a:prstGeom prst="ellipse">
            <a:avLst/>
          </a:prstGeom>
          <a:solidFill>
            <a:srgbClr val="002B55"/>
          </a:solidFill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2200" b="1" lang="en-US" dirty="0">
                <a:solidFill>
                  <a:srgbClr val="FFFFFF"/>
                </a:solidFill>
                <a:latin typeface="Bahnschrift"/>
              </a:rPr>
              <a:t>1</a:t>
            </a:r>
          </a:p>
        </p:txBody>
      </p:sp>
      <p:sp>
        <p:nvSpPr>
          <p:cNvPr id="1303" name="Check head"/>
          <p:cNvSpPr/>
          <p:nvPr/>
        </p:nvSpPr>
        <p:spPr>
          <a:xfrm>
            <a:off x="701345" y="2651760"/>
            <a:ext cx="192024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900" b="1" lang="en-US" dirty="0">
                <a:solidFill>
                  <a:srgbClr val="002B55"/>
                </a:solidFill>
                <a:latin typeface="Bahnschrift"/>
              </a:rPr>
              <a:t>SOURCE</a:t>
            </a:r>
          </a:p>
        </p:txBody>
      </p:sp>
      <p:sp>
        <p:nvSpPr>
          <p:cNvPr id="1304" name="Check text"/>
          <p:cNvSpPr/>
          <p:nvPr/>
        </p:nvSpPr>
        <p:spPr>
          <a:xfrm>
            <a:off x="747065" y="3154680"/>
            <a:ext cx="1828800" cy="1554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ctr"/>
            <a:r>
              <a:rPr sz="1400" b="0" lang="en-US" dirty="0">
                <a:solidFill>
                  <a:srgbClr val="28455F"/>
                </a:solidFill>
                <a:latin typeface="Arial"/>
              </a:rPr>
              <a:t>Every claim traces to a citable source</a:t>
            </a:r>
          </a:p>
        </p:txBody>
      </p:sp>
      <p:sp>
        <p:nvSpPr>
          <p:cNvPr id="1305" name="Check card"/>
          <p:cNvSpPr/>
          <p:nvPr/>
        </p:nvSpPr>
        <p:spPr>
          <a:xfrm>
            <a:off x="2941625" y="160020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306" name="Check num"/>
          <p:cNvSpPr/>
          <p:nvPr/>
        </p:nvSpPr>
        <p:spPr>
          <a:xfrm>
            <a:off x="3673145" y="1828800"/>
            <a:ext cx="640080" cy="640080"/>
          </a:xfrm>
          <a:prstGeom prst="ellipse">
            <a:avLst/>
          </a:prstGeom>
          <a:solidFill>
            <a:srgbClr val="1F5C99"/>
          </a:solidFill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2200" b="1" lang="en-US" dirty="0">
                <a:solidFill>
                  <a:srgbClr val="FFFFFF"/>
                </a:solidFill>
                <a:latin typeface="Bahnschrift"/>
              </a:rPr>
              <a:t>2</a:t>
            </a:r>
          </a:p>
        </p:txBody>
      </p:sp>
      <p:sp>
        <p:nvSpPr>
          <p:cNvPr id="1307" name="Check head"/>
          <p:cNvSpPr/>
          <p:nvPr/>
        </p:nvSpPr>
        <p:spPr>
          <a:xfrm>
            <a:off x="3033065" y="2651760"/>
            <a:ext cx="192024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900" b="1" lang="en-US" dirty="0">
                <a:solidFill>
                  <a:srgbClr val="1F5C99"/>
                </a:solidFill>
                <a:latin typeface="Bahnschrift"/>
              </a:rPr>
              <a:t>SCOPE</a:t>
            </a:r>
          </a:p>
        </p:txBody>
      </p:sp>
      <p:sp>
        <p:nvSpPr>
          <p:cNvPr id="1308" name="Check text"/>
          <p:cNvSpPr/>
          <p:nvPr/>
        </p:nvSpPr>
        <p:spPr>
          <a:xfrm>
            <a:off x="3078785" y="3154680"/>
            <a:ext cx="1828800" cy="1554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ctr"/>
            <a:r>
              <a:rPr sz="1400" b="0" lang="en-US" dirty="0">
                <a:solidFill>
                  <a:srgbClr val="28455F"/>
                </a:solidFill>
                <a:latin typeface="Arial"/>
              </a:rPr>
              <a:t>Right population, on-label, fair balance</a:t>
            </a:r>
          </a:p>
        </p:txBody>
      </p:sp>
      <p:sp>
        <p:nvSpPr>
          <p:cNvPr id="1309" name="Check card"/>
          <p:cNvSpPr/>
          <p:nvPr/>
        </p:nvSpPr>
        <p:spPr>
          <a:xfrm>
            <a:off x="5273345" y="160020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310" name="Check num"/>
          <p:cNvSpPr/>
          <p:nvPr/>
        </p:nvSpPr>
        <p:spPr>
          <a:xfrm>
            <a:off x="6004865" y="1828800"/>
            <a:ext cx="640080" cy="640080"/>
          </a:xfrm>
          <a:prstGeom prst="ellipse">
            <a:avLst/>
          </a:prstGeom>
          <a:solidFill>
            <a:srgbClr val="007879"/>
          </a:solidFill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2200" b="1" lang="en-US" dirty="0">
                <a:solidFill>
                  <a:srgbClr val="FFFFFF"/>
                </a:solidFill>
                <a:latin typeface="Bahnschrift"/>
              </a:rPr>
              <a:t>3</a:t>
            </a:r>
          </a:p>
        </p:txBody>
      </p:sp>
      <p:sp>
        <p:nvSpPr>
          <p:cNvPr id="1311" name="Check head"/>
          <p:cNvSpPr/>
          <p:nvPr/>
        </p:nvSpPr>
        <p:spPr>
          <a:xfrm>
            <a:off x="5364785" y="2651760"/>
            <a:ext cx="192024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900" b="1" lang="en-US" dirty="0">
                <a:solidFill>
                  <a:srgbClr val="007879"/>
                </a:solidFill>
                <a:latin typeface="Bahnschrift"/>
              </a:rPr>
              <a:t>SAFETY</a:t>
            </a:r>
          </a:p>
        </p:txBody>
      </p:sp>
      <p:sp>
        <p:nvSpPr>
          <p:cNvPr id="1312" name="Check text"/>
          <p:cNvSpPr/>
          <p:nvPr/>
        </p:nvSpPr>
        <p:spPr>
          <a:xfrm>
            <a:off x="5410505" y="3154680"/>
            <a:ext cx="1828800" cy="1554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ctr"/>
            <a:r>
              <a:rPr sz="1400" b="0" lang="en-US" dirty="0">
                <a:solidFill>
                  <a:srgbClr val="28455F"/>
                </a:solidFill>
                <a:latin typeface="Arial"/>
              </a:rPr>
              <a:t>Adverse events and complaints go to pharmacovigilance, every time</a:t>
            </a:r>
          </a:p>
        </p:txBody>
      </p:sp>
      <p:sp>
        <p:nvSpPr>
          <p:cNvPr id="1313" name="Check card"/>
          <p:cNvSpPr/>
          <p:nvPr/>
        </p:nvSpPr>
        <p:spPr>
          <a:xfrm>
            <a:off x="7605065" y="1600200"/>
            <a:ext cx="2103120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314" name="Check num"/>
          <p:cNvSpPr/>
          <p:nvPr/>
        </p:nvSpPr>
        <p:spPr>
          <a:xfrm>
            <a:off x="8336585" y="1828800"/>
            <a:ext cx="640080" cy="640080"/>
          </a:xfrm>
          <a:prstGeom prst="ellipse">
            <a:avLst/>
          </a:prstGeom>
          <a:solidFill>
            <a:srgbClr val="2E8B8B"/>
          </a:solidFill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2200" b="1" lang="en-US" dirty="0">
                <a:solidFill>
                  <a:srgbClr val="FFFFFF"/>
                </a:solidFill>
                <a:latin typeface="Bahnschrift"/>
              </a:rPr>
              <a:t>4</a:t>
            </a:r>
          </a:p>
        </p:txBody>
      </p:sp>
      <p:sp>
        <p:nvSpPr>
          <p:cNvPr id="1315" name="Check head"/>
          <p:cNvSpPr/>
          <p:nvPr/>
        </p:nvSpPr>
        <p:spPr>
          <a:xfrm>
            <a:off x="7696505" y="2651760"/>
            <a:ext cx="192024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900" b="1" lang="en-US" dirty="0">
                <a:solidFill>
                  <a:srgbClr val="007879"/>
                </a:solidFill>
                <a:latin typeface="Bahnschrift"/>
              </a:rPr>
              <a:t>SIGN-OFF</a:t>
            </a:r>
          </a:p>
        </p:txBody>
      </p:sp>
      <p:sp>
        <p:nvSpPr>
          <p:cNvPr id="1316" name="Check text"/>
          <p:cNvSpPr/>
          <p:nvPr/>
        </p:nvSpPr>
        <p:spPr>
          <a:xfrm>
            <a:off x="7742225" y="3154680"/>
            <a:ext cx="1828800" cy="15544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ctr"/>
            <a:r>
              <a:rPr sz="1400" b="0" lang="en-US" dirty="0">
                <a:solidFill>
                  <a:srgbClr val="28455F"/>
                </a:solidFill>
                <a:latin typeface="Arial"/>
              </a:rPr>
              <a:t>A named human approves; MLR where required</a:t>
            </a:r>
          </a:p>
        </p:txBody>
      </p:sp>
      <p:sp>
        <p:nvSpPr>
          <p:cNvPr id="1320" name="Arrow"/>
          <p:cNvSpPr/>
          <p:nvPr/>
        </p:nvSpPr>
        <p:spPr>
          <a:xfrm>
            <a:off x="9921240" y="2606040"/>
            <a:ext cx="365760" cy="548640"/>
          </a:xfrm>
          <a:prstGeom prst="rightArrow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321" name="Gate"/>
          <p:cNvSpPr/>
          <p:nvPr/>
        </p:nvSpPr>
        <p:spPr>
          <a:xfrm>
            <a:off x="10332720" y="1600200"/>
            <a:ext cx="1252728" cy="2743200"/>
          </a:xfrm>
          <a:prstGeom prst="roundRect">
            <a:avLst>
              <a:gd name="adj" fmla="val 12000"/>
            </a:avLst>
          </a:prstGeom>
          <a:solidFill>
            <a:srgbClr val="F47735"/>
          </a:solidFill>
          <a:ln w="12700">
            <a:noFill/>
          </a:ln>
        </p:spPr>
        <p:txBody>
          <a:bodyPr wrap="square" lIns="45720" rIns="45720" tIns="45720" bIns="45720" anchor="ctr" rtlCol="0"/>
          <a:lstStyle/>
          <a:p>
            <a:pPr algn="ctr"/>
            <a:r>
              <a:rPr sz="1800" b="1" lang="en-US" dirty="0">
                <a:solidFill>
                  <a:srgbClr val="FFFFFF"/>
                </a:solidFill>
                <a:latin typeface="Bahnschrift"/>
              </a:rPr>
              <a:t>Ready</a:t>
            </a:r>
          </a:p>
          <a:p>
            <a:pPr algn="ctr"/>
            <a:r>
              <a:rPr sz="1400" b="1" lang="en-US" dirty="0">
                <a:solidFill>
                  <a:srgbClr val="FFFFFF"/>
                </a:solidFill>
                <a:latin typeface="Arial"/>
              </a:rPr>
              <a:t>to share</a:t>
            </a:r>
          </a:p>
        </p:txBody>
      </p:sp>
      <p:sp>
        <p:nvSpPr>
          <p:cNvPr id="1322" name="Fail line"/>
          <p:cNvSpPr/>
          <p:nvPr/>
        </p:nvSpPr>
        <p:spPr>
          <a:xfrm>
            <a:off x="609905" y="4709160"/>
            <a:ext cx="1097280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800" b="1" lang="en-US" dirty="0">
                <a:solidFill>
                  <a:srgbClr val="007879"/>
                </a:solidFill>
                <a:latin typeface="Bahnschrift"/>
              </a:rPr>
              <a:t>If any check fails, it goes back to the agent or to an expert, not out the door.</a:t>
            </a:r>
          </a:p>
        </p:txBody>
      </p:sp>
      <p:sp>
        <p:nvSpPr>
          <p:cNvPr id="1323" name="Disclaimer"/>
          <p:cNvSpPr/>
          <p:nvPr/>
        </p:nvSpPr>
        <p:spPr>
          <a:xfrm>
            <a:off x="609905" y="5212080"/>
            <a:ext cx="10972800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100" b="0" lang="en-US" dirty="0">
                <a:solidFill>
                  <a:srgbClr val="28455F"/>
                </a:solidFill>
                <a:latin typeface="Arial"/>
              </a:rPr>
              <a:t>Illustrative checklist. Your company’s SOPs take precedence.</a:t>
            </a:r>
          </a:p>
        </p:txBody>
      </p:sp>
    </p:spTree>
    <p:extLst>
      <p:ext uri="{BB962C8B-B14F-4D97-AF65-F5344CB8AC3E}">
        <p14:creationId xmlns:p14="http://schemas.microsoft.com/office/powerpoint/2010/main" val="107544999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EEC95C-44CB-48FC-883F-56BAD261B2B1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400" b="1" lang="en-US" dirty="0">
                <a:solidFill>
                  <a:srgbClr val="002B55"/>
                </a:solidFill>
                <a:latin typeface="Bahnschrift"/>
              </a:rPr>
              <a:t>It’s not about the tool. It’s about the workflow.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52E3E-BD5A-4C46-98E7-0549D3B0988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51141-3EC9-4A04-A2D7-3E747007EB7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C260F8-C4EE-4642-B838-685C2BF0C7BC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49</a:t>
            </a:r>
          </a:p>
        </p:txBody>
      </p:sp>
      <p:sp>
        <p:nvSpPr>
          <p:cNvPr id="1400" name="Step card"/>
          <p:cNvSpPr/>
          <p:nvPr/>
        </p:nvSpPr>
        <p:spPr>
          <a:xfrm>
            <a:off x="609905" y="1417320"/>
            <a:ext cx="32918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2B55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401" name="Step num"/>
          <p:cNvSpPr/>
          <p:nvPr/>
        </p:nvSpPr>
        <p:spPr>
          <a:xfrm>
            <a:off x="838505" y="1783080"/>
            <a:ext cx="731520" cy="731520"/>
          </a:xfrm>
          <a:prstGeom prst="ellipse">
            <a:avLst/>
          </a:prstGeom>
          <a:solidFill>
            <a:srgbClr val="002B55"/>
          </a:solidFill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2400" b="1" lang="en-US" dirty="0">
                <a:solidFill>
                  <a:srgbClr val="FFFFFF"/>
                </a:solidFill>
                <a:latin typeface="Bahnschrift"/>
              </a:rPr>
              <a:t>1</a:t>
            </a:r>
          </a:p>
        </p:txBody>
      </p:sp>
      <p:sp>
        <p:nvSpPr>
          <p:cNvPr id="1402" name="Step text"/>
          <p:cNvSpPr/>
          <p:nvPr/>
        </p:nvSpPr>
        <p:spPr>
          <a:xfrm>
            <a:off x="1752905" y="1463040"/>
            <a:ext cx="2057400" cy="1417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900" b="1" lang="en-US" dirty="0">
                <a:solidFill>
                  <a:srgbClr val="002B55"/>
                </a:solidFill>
                <a:latin typeface="Bahnschrift"/>
              </a:rPr>
              <a:t>Give it a goal</a:t>
            </a:r>
          </a:p>
          <a:p>
            <a:pPr algn="l">
              <a:spcBef>
                <a:spcPts val="300"/>
              </a:spcBef>
            </a:pPr>
            <a:r>
              <a:rPr sz="1350" b="0" lang="en-US" dirty="0">
                <a:solidFill>
                  <a:srgbClr val="28455F"/>
                </a:solidFill>
                <a:latin typeface="Arial"/>
              </a:rPr>
              <a:t>The outcome, not a question</a:t>
            </a:r>
          </a:p>
        </p:txBody>
      </p:sp>
      <p:sp>
        <p:nvSpPr>
          <p:cNvPr id="1410" name="Step arrow"/>
          <p:cNvSpPr/>
          <p:nvPr/>
        </p:nvSpPr>
        <p:spPr>
          <a:xfrm>
            <a:off x="3993185" y="1892808"/>
            <a:ext cx="365760" cy="548640"/>
          </a:xfrm>
          <a:prstGeom prst="rightArrow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403" name="Step card"/>
          <p:cNvSpPr/>
          <p:nvPr/>
        </p:nvSpPr>
        <p:spPr>
          <a:xfrm>
            <a:off x="4450385" y="1417320"/>
            <a:ext cx="32918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007879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404" name="Step num"/>
          <p:cNvSpPr/>
          <p:nvPr/>
        </p:nvSpPr>
        <p:spPr>
          <a:xfrm>
            <a:off x="4678985" y="1783080"/>
            <a:ext cx="731520" cy="731520"/>
          </a:xfrm>
          <a:prstGeom prst="ellipse">
            <a:avLst/>
          </a:prstGeom>
          <a:solidFill>
            <a:srgbClr val="007879"/>
          </a:solidFill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2400" b="1" lang="en-US" dirty="0">
                <a:solidFill>
                  <a:srgbClr val="FFFFFF"/>
                </a:solidFill>
                <a:latin typeface="Bahnschrift"/>
              </a:rPr>
              <a:t>2</a:t>
            </a:r>
          </a:p>
        </p:txBody>
      </p:sp>
      <p:sp>
        <p:nvSpPr>
          <p:cNvPr id="1405" name="Step text"/>
          <p:cNvSpPr/>
          <p:nvPr/>
        </p:nvSpPr>
        <p:spPr>
          <a:xfrm>
            <a:off x="5593385" y="1463040"/>
            <a:ext cx="2057400" cy="1417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900" b="1" lang="en-US" dirty="0">
                <a:solidFill>
                  <a:srgbClr val="002B55"/>
                </a:solidFill>
                <a:latin typeface="Bahnschrift"/>
              </a:rPr>
              <a:t>Load skills + context</a:t>
            </a:r>
          </a:p>
          <a:p>
            <a:pPr algn="l">
              <a:spcBef>
                <a:spcPts val="300"/>
              </a:spcBef>
            </a:pPr>
            <a:r>
              <a:rPr sz="1350" b="0" lang="en-US" dirty="0">
                <a:solidFill>
                  <a:srgbClr val="28455F"/>
                </a:solidFill>
                <a:latin typeface="Arial"/>
              </a:rPr>
              <a:t>Your library, your house rules</a:t>
            </a:r>
          </a:p>
        </p:txBody>
      </p:sp>
      <p:sp>
        <p:nvSpPr>
          <p:cNvPr id="1411" name="Step arrow"/>
          <p:cNvSpPr/>
          <p:nvPr/>
        </p:nvSpPr>
        <p:spPr>
          <a:xfrm>
            <a:off x="7833665" y="1892808"/>
            <a:ext cx="365760" cy="548640"/>
          </a:xfrm>
          <a:prstGeom prst="rightArrow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406" name="Step card"/>
          <p:cNvSpPr/>
          <p:nvPr/>
        </p:nvSpPr>
        <p:spPr>
          <a:xfrm>
            <a:off x="8290865" y="1417320"/>
            <a:ext cx="329184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47735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407" name="Step num"/>
          <p:cNvSpPr/>
          <p:nvPr/>
        </p:nvSpPr>
        <p:spPr>
          <a:xfrm>
            <a:off x="8519465" y="1783080"/>
            <a:ext cx="731520" cy="731520"/>
          </a:xfrm>
          <a:prstGeom prst="ellipse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2400" b="1" lang="en-US" dirty="0">
                <a:solidFill>
                  <a:srgbClr val="FFFFFF"/>
                </a:solidFill>
                <a:latin typeface="Bahnschrift"/>
              </a:rPr>
              <a:t>3</a:t>
            </a:r>
          </a:p>
        </p:txBody>
      </p:sp>
      <p:sp>
        <p:nvSpPr>
          <p:cNvPr id="1408" name="Step text"/>
          <p:cNvSpPr/>
          <p:nvPr/>
        </p:nvSpPr>
        <p:spPr>
          <a:xfrm>
            <a:off x="9433865" y="1463040"/>
            <a:ext cx="2057400" cy="14173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900" b="1" lang="en-US" dirty="0">
                <a:solidFill>
                  <a:srgbClr val="002B55"/>
                </a:solidFill>
                <a:latin typeface="Bahnschrift"/>
              </a:rPr>
              <a:t>Review and decide</a:t>
            </a:r>
          </a:p>
          <a:p>
            <a:pPr algn="l">
              <a:spcBef>
                <a:spcPts val="300"/>
              </a:spcBef>
            </a:pPr>
            <a:r>
              <a:rPr sz="1350" b="0" lang="en-US" dirty="0">
                <a:solidFill>
                  <a:srgbClr val="28455F"/>
                </a:solidFill>
                <a:latin typeface="Arial"/>
              </a:rPr>
              <a:t>You stay at the helm</a:t>
            </a:r>
          </a:p>
        </p:txBody>
      </p:sp>
      <p:sp>
        <p:nvSpPr>
          <p:cNvPr id="1420" name="Row label"/>
          <p:cNvSpPr/>
          <p:nvPr/>
        </p:nvSpPr>
        <p:spPr>
          <a:xfrm>
            <a:off x="609905" y="3291840"/>
            <a:ext cx="1097280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400" b="1" lang="en-US" dirty="0">
                <a:solidFill>
                  <a:srgbClr val="007879"/>
                </a:solidFill>
                <a:latin typeface="Bahnschrift"/>
              </a:rPr>
              <a:t>RUNS IN ANY CAPABLE HARNESS</a:t>
            </a:r>
          </a:p>
        </p:txBody>
      </p:sp>
      <p:sp>
        <p:nvSpPr>
          <p:cNvPr id="1430" name="Harness tile"/>
          <p:cNvSpPr/>
          <p:nvPr/>
        </p:nvSpPr>
        <p:spPr>
          <a:xfrm>
            <a:off x="609905" y="3749040"/>
            <a:ext cx="1261872" cy="118872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pic>
        <p:nvPicPr>
          <p:cNvPr id="1431" name="Logo Claud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2241" y="3913632"/>
            <a:ext cx="457200" cy="457200"/>
          </a:xfrm>
          <a:prstGeom prst="rect">
            <a:avLst/>
          </a:prstGeom>
        </p:spPr>
      </p:pic>
      <p:sp>
        <p:nvSpPr>
          <p:cNvPr id="1432" name="Tile name"/>
          <p:cNvSpPr/>
          <p:nvPr/>
        </p:nvSpPr>
        <p:spPr>
          <a:xfrm>
            <a:off x="609905" y="4434840"/>
            <a:ext cx="1261872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150" b="1" lang="en-US" dirty="0">
                <a:solidFill>
                  <a:srgbClr val="002B55"/>
                </a:solidFill>
                <a:latin typeface="Arial"/>
              </a:rPr>
              <a:t>Claude</a:t>
            </a:r>
          </a:p>
        </p:txBody>
      </p:sp>
      <p:sp>
        <p:nvSpPr>
          <p:cNvPr id="1433" name="Harness tile"/>
          <p:cNvSpPr/>
          <p:nvPr/>
        </p:nvSpPr>
        <p:spPr>
          <a:xfrm>
            <a:off x="1997050" y="3749040"/>
            <a:ext cx="1261872" cy="118872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pic>
        <p:nvPicPr>
          <p:cNvPr id="1434" name="Logo Microsoft Copilo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99386" y="3913632"/>
            <a:ext cx="457200" cy="457200"/>
          </a:xfrm>
          <a:prstGeom prst="rect">
            <a:avLst/>
          </a:prstGeom>
        </p:spPr>
      </p:pic>
      <p:sp>
        <p:nvSpPr>
          <p:cNvPr id="1435" name="Tile name"/>
          <p:cNvSpPr/>
          <p:nvPr/>
        </p:nvSpPr>
        <p:spPr>
          <a:xfrm>
            <a:off x="1997050" y="4434840"/>
            <a:ext cx="1261872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150" b="1" lang="en-US" dirty="0">
                <a:solidFill>
                  <a:srgbClr val="002B55"/>
                </a:solidFill>
                <a:latin typeface="Arial"/>
              </a:rPr>
              <a:t>Microsoft Copilot</a:t>
            </a:r>
          </a:p>
        </p:txBody>
      </p:sp>
      <p:sp>
        <p:nvSpPr>
          <p:cNvPr id="1436" name="Harness tile"/>
          <p:cNvSpPr/>
          <p:nvPr/>
        </p:nvSpPr>
        <p:spPr>
          <a:xfrm>
            <a:off x="3384194" y="3749040"/>
            <a:ext cx="1261872" cy="118872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pic>
        <p:nvPicPr>
          <p:cNvPr id="1437" name="Logo ChatGP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6530" y="3913632"/>
            <a:ext cx="457200" cy="457200"/>
          </a:xfrm>
          <a:prstGeom prst="rect">
            <a:avLst/>
          </a:prstGeom>
        </p:spPr>
      </p:pic>
      <p:sp>
        <p:nvSpPr>
          <p:cNvPr id="1438" name="Tile name"/>
          <p:cNvSpPr/>
          <p:nvPr/>
        </p:nvSpPr>
        <p:spPr>
          <a:xfrm>
            <a:off x="3384194" y="4434840"/>
            <a:ext cx="1261872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150" b="1" lang="en-US" dirty="0">
                <a:solidFill>
                  <a:srgbClr val="002B55"/>
                </a:solidFill>
                <a:latin typeface="Arial"/>
              </a:rPr>
              <a:t>ChatGPT</a:t>
            </a:r>
          </a:p>
        </p:txBody>
      </p:sp>
      <p:sp>
        <p:nvSpPr>
          <p:cNvPr id="1439" name="Harness tile"/>
          <p:cNvSpPr/>
          <p:nvPr/>
        </p:nvSpPr>
        <p:spPr>
          <a:xfrm>
            <a:off x="4771339" y="3749040"/>
            <a:ext cx="1261872" cy="1188720"/>
          </a:xfrm>
          <a:prstGeom prst="roundRect">
            <a:avLst>
              <a:gd name="adj" fmla="val 12000"/>
            </a:avLst>
          </a:prstGeom>
          <a:solidFill>
            <a:srgbClr val="F4F7F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pic>
        <p:nvPicPr>
          <p:cNvPr id="1440" name="Logo Grok Bo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3675" y="3913632"/>
            <a:ext cx="457200" cy="457200"/>
          </a:xfrm>
          <a:prstGeom prst="rect">
            <a:avLst/>
          </a:prstGeom>
        </p:spPr>
      </p:pic>
      <p:sp>
        <p:nvSpPr>
          <p:cNvPr id="1441" name="Tile name"/>
          <p:cNvSpPr/>
          <p:nvPr/>
        </p:nvSpPr>
        <p:spPr>
          <a:xfrm>
            <a:off x="4771339" y="4434840"/>
            <a:ext cx="1261872" cy="411480"/>
          </a:xfrm>
          <a:prstGeom prst="rect">
            <a:avLst/>
          </a:prstGeom>
          <a:noFill/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150" b="1" lang="en-US" dirty="0">
                <a:solidFill>
                  <a:srgbClr val="002B55"/>
                </a:solidFill>
                <a:latin typeface="Arial"/>
              </a:rPr>
              <a:t>Grok Bot</a:t>
            </a:r>
          </a:p>
        </p:txBody>
      </p:sp>
      <p:sp>
        <p:nvSpPr>
          <p:cNvPr id="1442" name="Harness tile"/>
          <p:cNvSpPr/>
          <p:nvPr/>
        </p:nvSpPr>
        <p:spPr>
          <a:xfrm>
            <a:off x="6158484" y="3749040"/>
            <a:ext cx="1261872" cy="1188720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444" name="Tile name"/>
          <p:cNvSpPr/>
          <p:nvPr/>
        </p:nvSpPr>
        <p:spPr>
          <a:xfrm>
            <a:off x="6158484" y="3749040"/>
            <a:ext cx="1261872" cy="1188720"/>
          </a:xfrm>
          <a:prstGeom prst="rect">
            <a:avLst/>
          </a:prstGeom>
          <a:noFill/>
          <a:ln w="12700">
            <a:noFill/>
          </a:ln>
        </p:spPr>
        <p:txBody>
          <a:bodyPr wrap="square" lIns="45720" rIns="45720" tIns="45720" bIns="45720" anchor="ctr" rtlCol="0"/>
          <a:lstStyle/>
          <a:p>
            <a:pPr algn="ctr"/>
            <a:r>
              <a:rPr sz="1300" b="1" lang="en-US" dirty="0">
                <a:solidFill>
                  <a:srgbClr val="002B55"/>
                </a:solidFill>
                <a:latin typeface="Arial"/>
              </a:rPr>
              <a:t>Meta Muse</a:t>
            </a:r>
          </a:p>
        </p:txBody>
      </p:sp>
      <p:sp>
        <p:nvSpPr>
          <p:cNvPr id="1445" name="Harness tile"/>
          <p:cNvSpPr/>
          <p:nvPr/>
        </p:nvSpPr>
        <p:spPr>
          <a:xfrm>
            <a:off x="7545629" y="3749040"/>
            <a:ext cx="1261872" cy="1188720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447" name="Tile name"/>
          <p:cNvSpPr/>
          <p:nvPr/>
        </p:nvSpPr>
        <p:spPr>
          <a:xfrm>
            <a:off x="7545629" y="3749040"/>
            <a:ext cx="1261872" cy="1188720"/>
          </a:xfrm>
          <a:prstGeom prst="rect">
            <a:avLst/>
          </a:prstGeom>
          <a:noFill/>
          <a:ln w="12700">
            <a:noFill/>
          </a:ln>
        </p:spPr>
        <p:txBody>
          <a:bodyPr wrap="square" lIns="45720" rIns="45720" tIns="45720" bIns="45720" anchor="ctr" rtlCol="0"/>
          <a:lstStyle/>
          <a:p>
            <a:pPr algn="ctr"/>
            <a:r>
              <a:rPr sz="1300" b="1" lang="en-US" dirty="0">
                <a:solidFill>
                  <a:srgbClr val="002B55"/>
                </a:solidFill>
                <a:latin typeface="Arial"/>
              </a:rPr>
              <a:t>Gemini</a:t>
            </a:r>
          </a:p>
        </p:txBody>
      </p:sp>
      <p:sp>
        <p:nvSpPr>
          <p:cNvPr id="1448" name="Harness tile"/>
          <p:cNvSpPr/>
          <p:nvPr/>
        </p:nvSpPr>
        <p:spPr>
          <a:xfrm>
            <a:off x="8932774" y="3749040"/>
            <a:ext cx="1261872" cy="1188720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450" name="Tile name"/>
          <p:cNvSpPr/>
          <p:nvPr/>
        </p:nvSpPr>
        <p:spPr>
          <a:xfrm>
            <a:off x="8932774" y="3749040"/>
            <a:ext cx="1261872" cy="1188720"/>
          </a:xfrm>
          <a:prstGeom prst="rect">
            <a:avLst/>
          </a:prstGeom>
          <a:noFill/>
          <a:ln w="12700">
            <a:noFill/>
          </a:ln>
        </p:spPr>
        <p:txBody>
          <a:bodyPr wrap="square" lIns="45720" rIns="45720" tIns="45720" bIns="45720" anchor="ctr" rtlCol="0"/>
          <a:lstStyle/>
          <a:p>
            <a:pPr algn="ctr"/>
            <a:r>
              <a:rPr sz="1300" b="1" lang="en-US" dirty="0">
                <a:solidFill>
                  <a:srgbClr val="002B55"/>
                </a:solidFill>
                <a:latin typeface="Arial"/>
              </a:rPr>
              <a:t>Cursor</a:t>
            </a:r>
          </a:p>
        </p:txBody>
      </p:sp>
      <p:sp>
        <p:nvSpPr>
          <p:cNvPr id="1451" name="Your tool tile"/>
          <p:cNvSpPr/>
          <p:nvPr/>
        </p:nvSpPr>
        <p:spPr>
          <a:xfrm>
            <a:off x="10319918" y="3749040"/>
            <a:ext cx="1261872" cy="1188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07879"/>
            </a:solidFill>
            <a:prstDash val="dash"/>
          </a:ln>
        </p:spPr>
        <p:txBody>
          <a:bodyPr wrap="square" lIns="45720" rIns="45720" tIns="45720" bIns="45720" anchor="ctr" rtlCol="0"/>
          <a:lstStyle/>
          <a:p>
            <a:pPr algn="ctr"/>
            <a:r>
              <a:rPr sz="2200" b="1" lang="en-US" dirty="0">
                <a:solidFill>
                  <a:srgbClr val="007879"/>
                </a:solidFill>
                <a:latin typeface="Bahnschrift"/>
              </a:rPr>
              <a:t>+</a:t>
            </a:r>
          </a:p>
          <a:p>
            <a:pPr algn="ctr"/>
            <a:r>
              <a:rPr sz="1200" b="1" lang="en-US" dirty="0">
                <a:solidFill>
                  <a:srgbClr val="007879"/>
                </a:solidFill>
                <a:latin typeface="Arial"/>
              </a:rPr>
              <a:t>Your tool here</a:t>
            </a:r>
          </a:p>
        </p:txBody>
      </p:sp>
      <p:sp>
        <p:nvSpPr>
          <p:cNvPr id="1460" name="Bottom line"/>
          <p:cNvSpPr/>
          <p:nvPr/>
        </p:nvSpPr>
        <p:spPr>
          <a:xfrm>
            <a:off x="609905" y="5349240"/>
            <a:ext cx="1097280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800" b="1" lang="en-US" dirty="0">
                <a:solidFill>
                  <a:srgbClr val="002B55"/>
                </a:solidFill>
                <a:latin typeface="Bahnschrift"/>
              </a:rPr>
              <a:t>Same goal, same skills, same checks, whichever harness you use.</a:t>
            </a:r>
          </a:p>
        </p:txBody>
      </p:sp>
    </p:spTree>
    <p:extLst>
      <p:ext uri="{BB962C8B-B14F-4D97-AF65-F5344CB8AC3E}">
        <p14:creationId xmlns:p14="http://schemas.microsoft.com/office/powerpoint/2010/main" val="107544999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EEC95C-44CB-48FC-883F-56BAD261B2B1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Meet Nordvant Biopharma (fictional)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52E3E-BD5A-4C46-98E7-0549D3B0988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51141-3EC9-4A04-A2D7-3E747007EB7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C260F8-C4EE-4642-B838-685C2BF0C7BC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39</a:t>
            </a:r>
          </a:p>
        </p:txBody>
      </p:sp>
      <p:sp>
        <p:nvSpPr>
          <p:cNvPr id="1600" name="Company card"/>
          <p:cNvSpPr/>
          <p:nvPr/>
        </p:nvSpPr>
        <p:spPr>
          <a:xfrm>
            <a:off x="3813048" y="1188720"/>
            <a:ext cx="4572000" cy="868680"/>
          </a:xfrm>
          <a:prstGeom prst="roundRect">
            <a:avLst>
              <a:gd name="adj" fmla="val 12000"/>
            </a:avLst>
          </a:prstGeom>
          <a:solidFill>
            <a:srgbClr val="002B5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ctr"/>
            <a:r>
              <a:rPr sz="2200" b="1" lang="en-US" dirty="0">
                <a:solidFill>
                  <a:srgbClr val="FFFFFF"/>
                </a:solidFill>
                <a:latin typeface="Bahnschrift"/>
              </a:rPr>
              <a:t>Nordvant Biopharma</a:t>
            </a:r>
          </a:p>
          <a:p>
            <a:pPr algn="ctr"/>
            <a:r>
              <a:rPr sz="1200" b="0" lang="en-US" dirty="0">
                <a:solidFill>
                  <a:srgbClr val="CFE3E3"/>
                </a:solidFill>
                <a:latin typeface="Arial"/>
              </a:rPr>
              <a:t>one fictional company · three fictional products</a:t>
            </a:r>
          </a:p>
        </p:txBody>
      </p:sp>
      <p:sp>
        <p:nvSpPr>
          <p:cNvPr id="1601" name="SYNTHETIC stamp"/>
          <p:cNvSpPr/>
          <p:nvPr/>
        </p:nvSpPr>
        <p:spPr>
          <a:xfrm rot="-360000">
            <a:off x="9189720" y="105156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38100">
            <a:solidFill>
              <a:srgbClr val="B4501F"/>
            </a:solidFill>
          </a:ln>
        </p:spPr>
        <p:txBody>
          <a:bodyPr wrap="square" lIns="36576" rIns="36576" tIns="36576" bIns="36576" anchor="ctr" rtlCol="0"/>
          <a:lstStyle/>
          <a:p>
            <a:pPr algn="ctr"/>
            <a:r>
              <a:rPr sz="2600" b="1" lang="en-US" dirty="0">
                <a:solidFill>
                  <a:srgbClr val="B4501F"/>
                </a:solidFill>
                <a:latin typeface="Bahnschrift"/>
              </a:rPr>
              <a:t>SYNTHETIC</a:t>
            </a:r>
          </a:p>
          <a:p>
            <a:pPr algn="ctr"/>
            <a:r>
              <a:rPr sz="1100" b="1" lang="en-US" dirty="0">
                <a:solidFill>
                  <a:srgbClr val="B4501F"/>
                </a:solidFill>
                <a:latin typeface="Arial"/>
              </a:rPr>
              <a:t>fictional · safe to practise</a:t>
            </a:r>
          </a:p>
        </p:txBody>
      </p:sp>
      <p:sp>
        <p:nvSpPr>
          <p:cNvPr id="1602" name="Trunk"/>
          <p:cNvSpPr/>
          <p:nvPr/>
        </p:nvSpPr>
        <p:spPr>
          <a:xfrm>
            <a:off x="6071616" y="2057400"/>
            <a:ext cx="54864" cy="320040"/>
          </a:xfrm>
          <a:prstGeom prst="rect">
            <a:avLst/>
          </a:prstGeom>
          <a:solidFill>
            <a:srgbClr val="8A9BAA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603" name="Bus"/>
          <p:cNvSpPr/>
          <p:nvPr/>
        </p:nvSpPr>
        <p:spPr>
          <a:xfrm>
            <a:off x="2331720" y="2350008"/>
            <a:ext cx="7543800" cy="54864"/>
          </a:xfrm>
          <a:prstGeom prst="rect">
            <a:avLst/>
          </a:prstGeom>
          <a:solidFill>
            <a:srgbClr val="8A9BAA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610" name="Drop"/>
          <p:cNvSpPr/>
          <p:nvPr/>
        </p:nvSpPr>
        <p:spPr>
          <a:xfrm>
            <a:off x="2342693" y="2377440"/>
            <a:ext cx="54864" cy="274320"/>
          </a:xfrm>
          <a:prstGeom prst="rect">
            <a:avLst/>
          </a:prstGeom>
          <a:solidFill>
            <a:srgbClr val="8A9BAA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611" name="Product card"/>
          <p:cNvSpPr/>
          <p:nvPr/>
        </p:nvSpPr>
        <p:spPr>
          <a:xfrm>
            <a:off x="609905" y="265176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612" name="Product head"/>
          <p:cNvSpPr/>
          <p:nvPr/>
        </p:nvSpPr>
        <p:spPr>
          <a:xfrm>
            <a:off x="609905" y="2651760"/>
            <a:ext cx="3520440" cy="713232"/>
          </a:xfrm>
          <a:prstGeom prst="rect">
            <a:avLst/>
          </a:prstGeom>
          <a:solidFill>
            <a:srgbClr val="002B55"/>
          </a:solidFill>
          <a:ln w="12700">
            <a:noFill/>
          </a:ln>
        </p:spPr>
        <p:txBody>
          <a:bodyPr wrap="square" lIns="164592" rIns="164592" tIns="164592" bIns="164592" anchor="ctr" rtlCol="0"/>
          <a:lstStyle/>
          <a:p>
            <a:pPr algn="l"/>
            <a:r>
              <a:rPr sz="1050" b="1" lang="en-US" dirty="0">
                <a:solidFill>
                  <a:srgbClr val="FFFFFF"/>
                </a:solidFill>
                <a:latin typeface="Arial"/>
              </a:rPr>
              <a:t>ONCOLOGY</a:t>
            </a:r>
          </a:p>
          <a:p>
            <a:pPr algn="l"/>
            <a:r>
              <a:rPr sz="2000" b="1" lang="en-US" dirty="0">
                <a:solidFill>
                  <a:srgbClr val="FFFFFF"/>
                </a:solidFill>
                <a:latin typeface="Bahnschrift"/>
              </a:rPr>
              <a:t>NORVANTIB</a:t>
            </a:r>
          </a:p>
        </p:txBody>
      </p:sp>
      <p:sp>
        <p:nvSpPr>
          <p:cNvPr id="1613" name="Indication"/>
          <p:cNvSpPr/>
          <p:nvPr/>
        </p:nvSpPr>
        <p:spPr>
          <a:xfrm>
            <a:off x="774497" y="3429000"/>
            <a:ext cx="3191256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250" b="1" lang="en-US" dirty="0">
                <a:solidFill>
                  <a:srgbClr val="002B55"/>
                </a:solidFill>
                <a:latin typeface="Arial"/>
              </a:rPr>
              <a:t>Relapsed/refractory multiple myeloma</a:t>
            </a:r>
          </a:p>
        </p:txBody>
      </p:sp>
      <p:sp>
        <p:nvSpPr>
          <p:cNvPr id="1614" name="Pack"/>
          <p:cNvSpPr/>
          <p:nvPr/>
        </p:nvSpPr>
        <p:spPr>
          <a:xfrm>
            <a:off x="774497" y="3767328"/>
            <a:ext cx="3191256" cy="10972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000" b="1" lang="en-US" dirty="0">
                <a:solidFill>
                  <a:srgbClr val="002B55"/>
                </a:solidFill>
                <a:latin typeface="Arial"/>
              </a:rPr>
              <a:t>DATA PACK · 31 FILES  </a:t>
            </a:r>
          </a:p>
          <a:p>
            <a:pPr algn="l">
              <a:spcBef>
                <a:spcPts val="200"/>
              </a:spcBef>
            </a:pPr>
            <a:r>
              <a:rPr sz="1150" b="0" lang="en-US" dirty="0">
                <a:solidFill>
                  <a:srgbClr val="28455F"/>
                </a:solidFill>
                <a:latin typeface="Arial"/>
              </a:rPr>
              <a:t>Product profile · evidence landscape · 3 KOL dossiers (one deliberately difficult) · interaction notes · 55 field records (CSV) · congress abstracts · competitor announcements · medical plan · and more</a:t>
            </a:r>
          </a:p>
        </p:txBody>
      </p:sp>
      <p:sp>
        <p:nvSpPr>
          <p:cNvPr id="1616" name="Drop"/>
          <p:cNvSpPr/>
          <p:nvPr/>
        </p:nvSpPr>
        <p:spPr>
          <a:xfrm>
            <a:off x="6068873" y="2377440"/>
            <a:ext cx="54864" cy="274320"/>
          </a:xfrm>
          <a:prstGeom prst="rect">
            <a:avLst/>
          </a:prstGeom>
          <a:solidFill>
            <a:srgbClr val="8A9BAA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617" name="Product card"/>
          <p:cNvSpPr/>
          <p:nvPr/>
        </p:nvSpPr>
        <p:spPr>
          <a:xfrm>
            <a:off x="4336085" y="265176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618" name="Product head"/>
          <p:cNvSpPr/>
          <p:nvPr/>
        </p:nvSpPr>
        <p:spPr>
          <a:xfrm>
            <a:off x="4336085" y="2651760"/>
            <a:ext cx="3520440" cy="713232"/>
          </a:xfrm>
          <a:prstGeom prst="rect">
            <a:avLst/>
          </a:prstGeom>
          <a:solidFill>
            <a:srgbClr val="007879"/>
          </a:solidFill>
          <a:ln w="12700">
            <a:noFill/>
          </a:ln>
        </p:spPr>
        <p:txBody>
          <a:bodyPr wrap="square" lIns="164592" rIns="164592" tIns="164592" bIns="164592" anchor="ctr" rtlCol="0"/>
          <a:lstStyle/>
          <a:p>
            <a:pPr algn="l"/>
            <a:r>
              <a:rPr sz="1050" b="1" lang="en-US" dirty="0">
                <a:solidFill>
                  <a:srgbClr val="FFFFFF"/>
                </a:solidFill>
                <a:latin typeface="Arial"/>
              </a:rPr>
              <a:t>IMMUNOLOGY</a:t>
            </a:r>
          </a:p>
          <a:p>
            <a:pPr algn="l"/>
            <a:r>
              <a:rPr sz="2000" b="1" lang="en-US" dirty="0">
                <a:solidFill>
                  <a:srgbClr val="FFFFFF"/>
                </a:solidFill>
                <a:latin typeface="Bahnschrift"/>
              </a:rPr>
              <a:t>DERMALYX</a:t>
            </a:r>
          </a:p>
        </p:txBody>
      </p:sp>
      <p:sp>
        <p:nvSpPr>
          <p:cNvPr id="1619" name="Indication"/>
          <p:cNvSpPr/>
          <p:nvPr/>
        </p:nvSpPr>
        <p:spPr>
          <a:xfrm>
            <a:off x="4500677" y="3429000"/>
            <a:ext cx="3191256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250" b="1" lang="en-US" dirty="0">
                <a:solidFill>
                  <a:srgbClr val="002B55"/>
                </a:solidFill>
                <a:latin typeface="Arial"/>
              </a:rPr>
              <a:t>Moderate-to-severe atopic dermatitis</a:t>
            </a:r>
          </a:p>
        </p:txBody>
      </p:sp>
      <p:sp>
        <p:nvSpPr>
          <p:cNvPr id="1620" name="Pack"/>
          <p:cNvSpPr/>
          <p:nvPr/>
        </p:nvSpPr>
        <p:spPr>
          <a:xfrm>
            <a:off x="4500677" y="3767328"/>
            <a:ext cx="3191256" cy="10972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000" b="1" lang="en-US" dirty="0">
                <a:solidFill>
                  <a:srgbClr val="007879"/>
                </a:solidFill>
                <a:latin typeface="Arial"/>
              </a:rPr>
              <a:t>DATA PACK · 31 FILES  </a:t>
            </a:r>
          </a:p>
          <a:p>
            <a:pPr algn="l">
              <a:spcBef>
                <a:spcPts val="200"/>
              </a:spcBef>
            </a:pPr>
            <a:r>
              <a:rPr sz="1150" b="0" lang="en-US" dirty="0">
                <a:solidFill>
                  <a:srgbClr val="28455F"/>
                </a:solidFill>
                <a:latin typeface="Arial"/>
              </a:rPr>
              <a:t>Product profile · evidence landscape · 3 KOL dossiers (one deliberately difficult) · interaction notes · 54 field records (CSV) · congress abstracts · competitor announcements · medical plan · and more</a:t>
            </a:r>
          </a:p>
        </p:txBody>
      </p:sp>
      <p:sp>
        <p:nvSpPr>
          <p:cNvPr id="1622" name="Drop"/>
          <p:cNvSpPr/>
          <p:nvPr/>
        </p:nvSpPr>
        <p:spPr>
          <a:xfrm>
            <a:off x="9795053" y="2377440"/>
            <a:ext cx="54864" cy="274320"/>
          </a:xfrm>
          <a:prstGeom prst="rect">
            <a:avLst/>
          </a:prstGeom>
          <a:solidFill>
            <a:srgbClr val="8A9BAA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623" name="Product card"/>
          <p:cNvSpPr/>
          <p:nvPr/>
        </p:nvSpPr>
        <p:spPr>
          <a:xfrm>
            <a:off x="8062265" y="2651760"/>
            <a:ext cx="35204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624" name="Product head"/>
          <p:cNvSpPr/>
          <p:nvPr/>
        </p:nvSpPr>
        <p:spPr>
          <a:xfrm>
            <a:off x="8062265" y="2651760"/>
            <a:ext cx="3520440" cy="713232"/>
          </a:xfrm>
          <a:prstGeom prst="rect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164592" rIns="164592" tIns="164592" bIns="164592" anchor="ctr" rtlCol="0"/>
          <a:lstStyle/>
          <a:p>
            <a:pPr algn="l"/>
            <a:r>
              <a:rPr sz="1050" b="1" lang="en-US" dirty="0">
                <a:solidFill>
                  <a:srgbClr val="FFFFFF"/>
                </a:solidFill>
                <a:latin typeface="Arial"/>
              </a:rPr>
              <a:t>CARDIOMETABOLIC</a:t>
            </a:r>
          </a:p>
          <a:p>
            <a:pPr algn="l"/>
            <a:r>
              <a:rPr sz="2000" b="1" lang="en-US" dirty="0">
                <a:solidFill>
                  <a:srgbClr val="FFFFFF"/>
                </a:solidFill>
                <a:latin typeface="Bahnschrift"/>
              </a:rPr>
              <a:t>ADIPOSYN</a:t>
            </a:r>
          </a:p>
        </p:txBody>
      </p:sp>
      <p:sp>
        <p:nvSpPr>
          <p:cNvPr id="1625" name="Indication"/>
          <p:cNvSpPr/>
          <p:nvPr/>
        </p:nvSpPr>
        <p:spPr>
          <a:xfrm>
            <a:off x="8226857" y="3429000"/>
            <a:ext cx="3191256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250" b="1" lang="en-US" dirty="0">
                <a:solidFill>
                  <a:srgbClr val="002B55"/>
                </a:solidFill>
                <a:latin typeface="Arial"/>
              </a:rPr>
              <a:t>Obesity and weight management</a:t>
            </a:r>
          </a:p>
        </p:txBody>
      </p:sp>
      <p:sp>
        <p:nvSpPr>
          <p:cNvPr id="1626" name="Pack"/>
          <p:cNvSpPr/>
          <p:nvPr/>
        </p:nvSpPr>
        <p:spPr>
          <a:xfrm>
            <a:off x="8226857" y="3767328"/>
            <a:ext cx="3191256" cy="10972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000" b="1" lang="en-US" dirty="0">
                <a:solidFill>
                  <a:srgbClr val="B4501F"/>
                </a:solidFill>
                <a:latin typeface="Arial"/>
              </a:rPr>
              <a:t>DATA PACK · 31 FILES  </a:t>
            </a:r>
          </a:p>
          <a:p>
            <a:pPr algn="l">
              <a:spcBef>
                <a:spcPts val="200"/>
              </a:spcBef>
            </a:pPr>
            <a:r>
              <a:rPr sz="1150" b="0" lang="en-US" dirty="0">
                <a:solidFill>
                  <a:srgbClr val="28455F"/>
                </a:solidFill>
                <a:latin typeface="Arial"/>
              </a:rPr>
              <a:t>Product profile · evidence landscape · 3 KOL dossiers (one deliberately difficult) · interaction notes · 54 field records (CSV) · congress abstracts · competitor announcements · medical plan · and more</a:t>
            </a:r>
          </a:p>
        </p:txBody>
      </p:sp>
      <p:sp>
        <p:nvSpPr>
          <p:cNvPr id="1640" name="CRM card"/>
          <p:cNvSpPr/>
          <p:nvPr/>
        </p:nvSpPr>
        <p:spPr>
          <a:xfrm>
            <a:off x="609905" y="5074920"/>
            <a:ext cx="10972800" cy="1143000"/>
          </a:xfrm>
          <a:prstGeom prst="roundRect">
            <a:avLst>
              <a:gd name="adj" fmla="val 12000"/>
            </a:avLst>
          </a:prstGeom>
          <a:solidFill>
            <a:srgbClr val="E3F1F1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641" name="CRM label"/>
          <p:cNvSpPr/>
          <p:nvPr/>
        </p:nvSpPr>
        <p:spPr>
          <a:xfrm>
            <a:off x="777240" y="5120640"/>
            <a:ext cx="2514600" cy="105156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250" b="1" lang="en-US" dirty="0">
                <a:solidFill>
                  <a:srgbClr val="007879"/>
                </a:solidFill>
                <a:latin typeface="Bahnschrift"/>
              </a:rPr>
              <a:t>CONNECTED PRACTICE CRM</a:t>
            </a:r>
          </a:p>
          <a:p>
            <a:pPr algn="l"/>
            <a:r>
              <a:rPr sz="1100" b="1" lang="en-US" dirty="0">
                <a:solidFill>
                  <a:srgbClr val="002B55"/>
                </a:solidFill>
                <a:latin typeface="Arial"/>
              </a:rPr>
              <a:t>+ content library for Nordvant</a:t>
            </a:r>
          </a:p>
          <a:p>
            <a:pPr algn="l"/>
            <a:r>
              <a:rPr sz="1100" b="0" lang="en-US" dirty="0">
                <a:solidFill>
                  <a:srgbClr val="28455F"/>
                </a:solidFill>
                <a:latin typeface="Arial"/>
              </a:rPr>
              <a:t>CSVs and a SQLite database</a:t>
            </a:r>
          </a:p>
        </p:txBody>
      </p:sp>
      <p:sp>
        <p:nvSpPr>
          <p:cNvPr id="1650" name="CRM chip"/>
          <p:cNvSpPr/>
          <p:nvPr/>
        </p:nvSpPr>
        <p:spPr>
          <a:xfrm>
            <a:off x="3383280" y="5230368"/>
            <a:ext cx="95097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800" b="1" lang="en-US" dirty="0">
                <a:solidFill>
                  <a:srgbClr val="002B55"/>
                </a:solidFill>
                <a:latin typeface="Bahnschrift"/>
              </a:rPr>
              <a:t>24</a:t>
            </a:r>
          </a:p>
          <a:p>
            <a:pPr algn="ctr"/>
            <a:r>
              <a:rPr sz="950" b="1" lang="en-US" dirty="0">
                <a:solidFill>
                  <a:srgbClr val="28455F"/>
                </a:solidFill>
                <a:latin typeface="Arial"/>
              </a:rPr>
              <a:t>accounts</a:t>
            </a:r>
          </a:p>
        </p:txBody>
      </p:sp>
      <p:sp>
        <p:nvSpPr>
          <p:cNvPr id="1651" name="CRM chip"/>
          <p:cNvSpPr/>
          <p:nvPr/>
        </p:nvSpPr>
        <p:spPr>
          <a:xfrm>
            <a:off x="4407408" y="5230368"/>
            <a:ext cx="95097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800" b="1" lang="en-US" dirty="0">
                <a:solidFill>
                  <a:srgbClr val="002B55"/>
                </a:solidFill>
                <a:latin typeface="Bahnschrift"/>
              </a:rPr>
              <a:t>90</a:t>
            </a:r>
          </a:p>
          <a:p>
            <a:pPr algn="ctr"/>
            <a:r>
              <a:rPr sz="950" b="1" lang="en-US" dirty="0">
                <a:solidFill>
                  <a:srgbClr val="28455F"/>
                </a:solidFill>
                <a:latin typeface="Arial"/>
              </a:rPr>
              <a:t>HCPs</a:t>
            </a:r>
          </a:p>
        </p:txBody>
      </p:sp>
      <p:sp>
        <p:nvSpPr>
          <p:cNvPr id="1652" name="CRM chip"/>
          <p:cNvSpPr/>
          <p:nvPr/>
        </p:nvSpPr>
        <p:spPr>
          <a:xfrm>
            <a:off x="5431536" y="5230368"/>
            <a:ext cx="95097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800" b="1" lang="en-US" dirty="0">
                <a:solidFill>
                  <a:srgbClr val="002B55"/>
                </a:solidFill>
                <a:latin typeface="Bahnschrift"/>
              </a:rPr>
              <a:t>163</a:t>
            </a:r>
          </a:p>
          <a:p>
            <a:pPr algn="ctr"/>
            <a:r>
              <a:rPr sz="950" b="1" lang="en-US" dirty="0">
                <a:solidFill>
                  <a:srgbClr val="28455F"/>
                </a:solidFill>
                <a:latin typeface="Arial"/>
              </a:rPr>
              <a:t>interactions</a:t>
            </a:r>
          </a:p>
        </p:txBody>
      </p:sp>
      <p:sp>
        <p:nvSpPr>
          <p:cNvPr id="1653" name="CRM chip"/>
          <p:cNvSpPr/>
          <p:nvPr/>
        </p:nvSpPr>
        <p:spPr>
          <a:xfrm>
            <a:off x="6455664" y="5230368"/>
            <a:ext cx="95097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800" b="1" lang="en-US" dirty="0">
                <a:solidFill>
                  <a:srgbClr val="002B55"/>
                </a:solidFill>
                <a:latin typeface="Bahnschrift"/>
              </a:rPr>
              <a:t>18</a:t>
            </a:r>
          </a:p>
          <a:p>
            <a:pPr algn="ctr"/>
            <a:r>
              <a:rPr sz="950" b="1" lang="en-US" dirty="0">
                <a:solidFill>
                  <a:srgbClr val="28455F"/>
                </a:solidFill>
                <a:latin typeface="Arial"/>
              </a:rPr>
              <a:t>enquiries</a:t>
            </a:r>
          </a:p>
        </p:txBody>
      </p:sp>
      <p:sp>
        <p:nvSpPr>
          <p:cNvPr id="1654" name="CRM chip"/>
          <p:cNvSpPr/>
          <p:nvPr/>
        </p:nvSpPr>
        <p:spPr>
          <a:xfrm>
            <a:off x="7479792" y="5230368"/>
            <a:ext cx="95097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800" b="1" lang="en-US" dirty="0">
                <a:solidFill>
                  <a:srgbClr val="002B55"/>
                </a:solidFill>
                <a:latin typeface="Bahnschrift"/>
              </a:rPr>
              <a:t>36</a:t>
            </a:r>
          </a:p>
          <a:p>
            <a:pPr algn="ctr"/>
            <a:r>
              <a:rPr sz="950" b="1" lang="en-US" dirty="0">
                <a:solidFill>
                  <a:srgbClr val="28455F"/>
                </a:solidFill>
                <a:latin typeface="Arial"/>
              </a:rPr>
              <a:t>content assets</a:t>
            </a:r>
          </a:p>
        </p:txBody>
      </p:sp>
      <p:sp>
        <p:nvSpPr>
          <p:cNvPr id="1655" name="CRM chip"/>
          <p:cNvSpPr/>
          <p:nvPr/>
        </p:nvSpPr>
        <p:spPr>
          <a:xfrm>
            <a:off x="8503920" y="5230368"/>
            <a:ext cx="95097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800" b="1" lang="en-US" dirty="0">
                <a:solidFill>
                  <a:srgbClr val="002B55"/>
                </a:solidFill>
                <a:latin typeface="Bahnschrift"/>
              </a:rPr>
              <a:t>90</a:t>
            </a:r>
          </a:p>
          <a:p>
            <a:pPr algn="ctr"/>
            <a:r>
              <a:rPr sz="950" b="1" lang="en-US" dirty="0">
                <a:solidFill>
                  <a:srgbClr val="28455F"/>
                </a:solidFill>
                <a:latin typeface="Arial"/>
              </a:rPr>
              <a:t>engagement events</a:t>
            </a:r>
          </a:p>
        </p:txBody>
      </p:sp>
      <p:sp>
        <p:nvSpPr>
          <p:cNvPr id="1656" name="CRM chip"/>
          <p:cNvSpPr/>
          <p:nvPr/>
        </p:nvSpPr>
        <p:spPr>
          <a:xfrm>
            <a:off x="9528048" y="5230368"/>
            <a:ext cx="95097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800" b="1" lang="en-US" dirty="0">
                <a:solidFill>
                  <a:srgbClr val="002B55"/>
                </a:solidFill>
                <a:latin typeface="Bahnschrift"/>
              </a:rPr>
              <a:t>12</a:t>
            </a:r>
          </a:p>
          <a:p>
            <a:pPr algn="ctr"/>
            <a:r>
              <a:rPr sz="950" b="1" lang="en-US" dirty="0">
                <a:solidFill>
                  <a:srgbClr val="28455F"/>
                </a:solidFill>
                <a:latin typeface="Arial"/>
              </a:rPr>
              <a:t>patient partnerships</a:t>
            </a:r>
          </a:p>
        </p:txBody>
      </p:sp>
      <p:sp>
        <p:nvSpPr>
          <p:cNvPr id="1657" name="CRM chip"/>
          <p:cNvSpPr/>
          <p:nvPr/>
        </p:nvSpPr>
        <p:spPr>
          <a:xfrm>
            <a:off x="10552176" y="5230368"/>
            <a:ext cx="95097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800" b="1" lang="en-US" dirty="0">
                <a:solidFill>
                  <a:srgbClr val="002B55"/>
                </a:solidFill>
                <a:latin typeface="Bahnschrift"/>
              </a:rPr>
              <a:t>18</a:t>
            </a:r>
          </a:p>
          <a:p>
            <a:pPr algn="ctr"/>
            <a:r>
              <a:rPr sz="950" b="1" lang="en-US" dirty="0">
                <a:solidFill>
                  <a:srgbClr val="28455F"/>
                </a:solidFill>
                <a:latin typeface="Arial"/>
              </a:rPr>
              <a:t>projects</a:t>
            </a:r>
          </a:p>
        </p:txBody>
      </p:sp>
    </p:spTree>
    <p:extLst>
      <p:ext uri="{BB962C8B-B14F-4D97-AF65-F5344CB8AC3E}">
        <p14:creationId xmlns:p14="http://schemas.microsoft.com/office/powerpoint/2010/main" val="10754499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EEC95C-44CB-48FC-883F-56BAD261B2B1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All the data you can use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52E3E-BD5A-4C46-98E7-0549D3B0988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51141-3EC9-4A04-A2D7-3E747007EB7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C260F8-C4EE-4642-B838-685C2BF0C7BC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40</a:t>
            </a:r>
          </a:p>
        </p:txBody>
      </p:sp>
      <p:sp>
        <p:nvSpPr>
          <p:cNvPr id="1700" name="Lane"/>
          <p:cNvSpPr/>
          <p:nvPr/>
        </p:nvSpPr>
        <p:spPr>
          <a:xfrm>
            <a:off x="609905" y="1234440"/>
            <a:ext cx="7315200" cy="2057400"/>
          </a:xfrm>
          <a:prstGeom prst="roundRect">
            <a:avLst>
              <a:gd name="adj" fmla="val 12000"/>
            </a:avLst>
          </a:prstGeom>
          <a:solidFill>
            <a:srgbClr val="E3F1F1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701" name="Lane head"/>
          <p:cNvSpPr/>
          <p:nvPr/>
        </p:nvSpPr>
        <p:spPr>
          <a:xfrm>
            <a:off x="609905" y="1234440"/>
            <a:ext cx="1920240" cy="2057400"/>
          </a:xfrm>
          <a:prstGeom prst="roundRect">
            <a:avLst>
              <a:gd name="adj" fmla="val 12000"/>
            </a:avLst>
          </a:prstGeom>
          <a:solidFill>
            <a:srgbClr val="007879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ctr"/>
            <a:r>
              <a:rPr sz="1700" b="1" lang="en-US" dirty="0">
                <a:solidFill>
                  <a:srgbClr val="FFFFFF"/>
                </a:solidFill>
                <a:latin typeface="Bahnschrift"/>
              </a:rPr>
              <a:t>SYNTHETIC</a:t>
            </a:r>
          </a:p>
          <a:p>
            <a:pPr algn="ctr">
              <a:spcBef>
                <a:spcPts val="300"/>
              </a:spcBef>
            </a:pPr>
            <a:r>
              <a:rPr sz="1100" b="0" lang="en-US" dirty="0">
                <a:solidFill>
                  <a:srgbClr val="FFFFFF"/>
                </a:solidFill>
                <a:latin typeface="Arial"/>
              </a:rPr>
              <a:t>practise freely</a:t>
            </a:r>
          </a:p>
        </p:txBody>
      </p:sp>
      <p:sp>
        <p:nvSpPr>
          <p:cNvPr id="1730" name="Lane"/>
          <p:cNvSpPr/>
          <p:nvPr/>
        </p:nvSpPr>
        <p:spPr>
          <a:xfrm>
            <a:off x="609905" y="3474720"/>
            <a:ext cx="7315200" cy="2057400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1731" name="Lane head"/>
          <p:cNvSpPr/>
          <p:nvPr/>
        </p:nvSpPr>
        <p:spPr>
          <a:xfrm>
            <a:off x="609905" y="3474720"/>
            <a:ext cx="1920240" cy="2057400"/>
          </a:xfrm>
          <a:prstGeom prst="roundRect">
            <a:avLst>
              <a:gd name="adj" fmla="val 12000"/>
            </a:avLst>
          </a:prstGeom>
          <a:solidFill>
            <a:srgbClr val="002B5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ctr"/>
            <a:r>
              <a:rPr sz="1700" b="1" lang="en-US" dirty="0">
                <a:solidFill>
                  <a:srgbClr val="FFFFFF"/>
                </a:solidFill>
                <a:latin typeface="Bahnschrift"/>
              </a:rPr>
              <a:t>PUBLIC</a:t>
            </a:r>
          </a:p>
          <a:p>
            <a:pPr algn="ctr">
              <a:spcBef>
                <a:spcPts val="300"/>
              </a:spcBef>
            </a:pPr>
            <a:r>
              <a:rPr sz="1100" b="0" lang="en-US" dirty="0">
                <a:solidFill>
                  <a:srgbClr val="FFFFFF"/>
                </a:solidFill>
                <a:latin typeface="Arial"/>
              </a:rPr>
              <a:t>real sources · link to the official site</a:t>
            </a:r>
          </a:p>
        </p:txBody>
      </p:sp>
      <p:sp>
        <p:nvSpPr>
          <p:cNvPr id="1710" name="Syn chip"/>
          <p:cNvSpPr/>
          <p:nvPr/>
        </p:nvSpPr>
        <p:spPr>
          <a:xfrm>
            <a:off x="2697480" y="1463040"/>
            <a:ext cx="1609344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4864" rIns="54864" tIns="54864" bIns="54864" anchor="ctr" rtlCol="0"/>
          <a:lstStyle/>
          <a:p>
            <a:pPr algn="ctr"/>
            <a:r>
              <a:rPr sz="1300" b="1" lang="en-US" dirty="0">
                <a:solidFill>
                  <a:srgbClr val="007879"/>
                </a:solidFill>
                <a:latin typeface="Bahnschrift"/>
              </a:rPr>
              <a:t>3 product packs</a:t>
            </a:r>
          </a:p>
          <a:p>
            <a:pPr algn="ctr">
              <a:spcBef>
                <a:spcPts val="200"/>
              </a:spcBef>
            </a:pPr>
            <a:r>
              <a:rPr sz="1050" b="0" lang="en-US" dirty="0">
                <a:solidFill>
                  <a:srgbClr val="28455F"/>
                </a:solidFill>
                <a:latin typeface="Arial"/>
              </a:rPr>
              <a:t>NORVANTIB · DERMALYX · ADIPOSYN</a:t>
            </a:r>
          </a:p>
        </p:txBody>
      </p:sp>
      <p:sp>
        <p:nvSpPr>
          <p:cNvPr id="1711" name="Syn chip"/>
          <p:cNvSpPr/>
          <p:nvPr/>
        </p:nvSpPr>
        <p:spPr>
          <a:xfrm>
            <a:off x="4398264" y="1463040"/>
            <a:ext cx="1609344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4864" rIns="54864" tIns="54864" bIns="54864" anchor="ctr" rtlCol="0"/>
          <a:lstStyle/>
          <a:p>
            <a:pPr algn="ctr"/>
            <a:r>
              <a:rPr sz="1300" b="1" lang="en-US" dirty="0">
                <a:solidFill>
                  <a:srgbClr val="007879"/>
                </a:solidFill>
                <a:latin typeface="Bahnschrift"/>
              </a:rPr>
              <a:t>Connected CRM</a:t>
            </a:r>
          </a:p>
          <a:p>
            <a:pPr algn="ctr">
              <a:spcBef>
                <a:spcPts val="200"/>
              </a:spcBef>
            </a:pPr>
            <a:r>
              <a:rPr sz="1050" b="0" lang="en-US" dirty="0">
                <a:solidFill>
                  <a:srgbClr val="28455F"/>
                </a:solidFill>
                <a:latin typeface="Arial"/>
              </a:rPr>
              <a:t>CSVs + SQLite database</a:t>
            </a:r>
          </a:p>
        </p:txBody>
      </p:sp>
      <p:sp>
        <p:nvSpPr>
          <p:cNvPr id="1712" name="Syn chip"/>
          <p:cNvSpPr/>
          <p:nvPr/>
        </p:nvSpPr>
        <p:spPr>
          <a:xfrm>
            <a:off x="6099048" y="1463040"/>
            <a:ext cx="1609344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54864" rIns="54864" tIns="54864" bIns="54864" anchor="ctr" rtlCol="0"/>
          <a:lstStyle/>
          <a:p>
            <a:pPr algn="ctr"/>
            <a:r>
              <a:rPr sz="1300" b="1" lang="en-US" dirty="0">
                <a:solidFill>
                  <a:srgbClr val="007879"/>
                </a:solidFill>
                <a:latin typeface="Bahnschrift"/>
              </a:rPr>
              <a:t>112 synthetic files</a:t>
            </a:r>
          </a:p>
          <a:p>
            <a:pPr algn="ctr">
              <a:spcBef>
                <a:spcPts val="200"/>
              </a:spcBef>
            </a:pPr>
            <a:r>
              <a:rPr sz="1050" b="0" lang="en-US" dirty="0">
                <a:solidFill>
                  <a:srgbClr val="28455F"/>
                </a:solidFill>
                <a:latin typeface="Arial"/>
              </a:rPr>
              <a:t>all marked SYNTHETIC</a:t>
            </a:r>
          </a:p>
        </p:txBody>
      </p:sp>
      <p:sp>
        <p:nvSpPr>
          <p:cNvPr id="1715" name="Syn tag"/>
          <p:cNvSpPr/>
          <p:nvPr/>
        </p:nvSpPr>
        <p:spPr>
          <a:xfrm>
            <a:off x="2697480" y="2743200"/>
            <a:ext cx="507492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150" b="1" lang="en-US" dirty="0">
                <a:solidFill>
                  <a:srgbClr val="007879"/>
                </a:solidFill>
                <a:latin typeface="Arial"/>
              </a:rPr>
              <a:t>Fictional company, products and experts. Safe to practise on.</a:t>
            </a:r>
          </a:p>
        </p:txBody>
      </p:sp>
      <p:sp>
        <p:nvSpPr>
          <p:cNvPr id="1740" name="Source chip"/>
          <p:cNvSpPr/>
          <p:nvPr/>
        </p:nvSpPr>
        <p:spPr>
          <a:xfrm>
            <a:off x="2697480" y="3657600"/>
            <a:ext cx="12070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050" b="1" lang="en-US" dirty="0">
                <a:solidFill>
                  <a:srgbClr val="002B55"/>
                </a:solidFill>
                <a:latin typeface="Arial"/>
              </a:rPr>
              <a:t>ClinicalTrials.gov</a:t>
            </a:r>
          </a:p>
        </p:txBody>
      </p:sp>
      <p:sp>
        <p:nvSpPr>
          <p:cNvPr id="1741" name="Source chip"/>
          <p:cNvSpPr/>
          <p:nvPr/>
        </p:nvSpPr>
        <p:spPr>
          <a:xfrm>
            <a:off x="3977640" y="3657600"/>
            <a:ext cx="12070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050" b="1" lang="en-US" dirty="0">
                <a:solidFill>
                  <a:srgbClr val="002B55"/>
                </a:solidFill>
                <a:latin typeface="Arial"/>
              </a:rPr>
              <a:t>PubMed</a:t>
            </a:r>
          </a:p>
        </p:txBody>
      </p:sp>
      <p:sp>
        <p:nvSpPr>
          <p:cNvPr id="1742" name="Source chip"/>
          <p:cNvSpPr/>
          <p:nvPr/>
        </p:nvSpPr>
        <p:spPr>
          <a:xfrm>
            <a:off x="5257800" y="3657600"/>
            <a:ext cx="12070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050" b="1" lang="en-US" dirty="0">
                <a:solidFill>
                  <a:srgbClr val="002B55"/>
                </a:solidFill>
                <a:latin typeface="Arial"/>
              </a:rPr>
              <a:t>openFDA</a:t>
            </a:r>
          </a:p>
        </p:txBody>
      </p:sp>
      <p:sp>
        <p:nvSpPr>
          <p:cNvPr id="1743" name="Source chip"/>
          <p:cNvSpPr/>
          <p:nvPr/>
        </p:nvSpPr>
        <p:spPr>
          <a:xfrm>
            <a:off x="6537960" y="3657600"/>
            <a:ext cx="12070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050" b="1" lang="en-US" dirty="0">
                <a:solidFill>
                  <a:srgbClr val="002B55"/>
                </a:solidFill>
                <a:latin typeface="Arial"/>
              </a:rPr>
              <a:t>DailyMed</a:t>
            </a:r>
          </a:p>
        </p:txBody>
      </p:sp>
      <p:sp>
        <p:nvSpPr>
          <p:cNvPr id="1744" name="Source chip"/>
          <p:cNvSpPr/>
          <p:nvPr/>
        </p:nvSpPr>
        <p:spPr>
          <a:xfrm>
            <a:off x="2697480" y="4224528"/>
            <a:ext cx="12070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050" b="1" lang="en-US" dirty="0">
                <a:solidFill>
                  <a:srgbClr val="002B55"/>
                </a:solidFill>
                <a:latin typeface="Arial"/>
              </a:rPr>
              <a:t>Europe PMC</a:t>
            </a:r>
          </a:p>
        </p:txBody>
      </p:sp>
      <p:sp>
        <p:nvSpPr>
          <p:cNvPr id="1745" name="Source chip"/>
          <p:cNvSpPr/>
          <p:nvPr/>
        </p:nvSpPr>
        <p:spPr>
          <a:xfrm>
            <a:off x="3977640" y="4224528"/>
            <a:ext cx="12070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050" b="1" lang="en-US" dirty="0">
                <a:solidFill>
                  <a:srgbClr val="002B55"/>
                </a:solidFill>
                <a:latin typeface="Arial"/>
              </a:rPr>
              <a:t>EMA medicines data</a:t>
            </a:r>
          </a:p>
        </p:txBody>
      </p:sp>
      <p:sp>
        <p:nvSpPr>
          <p:cNvPr id="1746" name="Source chip"/>
          <p:cNvSpPr/>
          <p:nvPr/>
        </p:nvSpPr>
        <p:spPr>
          <a:xfrm>
            <a:off x="5257800" y="4224528"/>
            <a:ext cx="12070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050" b="1" lang="en-US" dirty="0">
                <a:solidFill>
                  <a:srgbClr val="002B55"/>
                </a:solidFill>
                <a:latin typeface="Arial"/>
              </a:rPr>
              <a:t>WHO ICTRP</a:t>
            </a:r>
          </a:p>
        </p:txBody>
      </p:sp>
      <p:sp>
        <p:nvSpPr>
          <p:cNvPr id="1747" name="Source chip"/>
          <p:cNvSpPr/>
          <p:nvPr/>
        </p:nvSpPr>
        <p:spPr>
          <a:xfrm>
            <a:off x="6537960" y="4224528"/>
            <a:ext cx="1207008" cy="4754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noFill/>
          </a:ln>
        </p:spPr>
        <p:txBody>
          <a:bodyPr wrap="square" lIns="27432" rIns="27432" tIns="27432" bIns="27432" anchor="ctr" rtlCol="0"/>
          <a:lstStyle/>
          <a:p>
            <a:pPr algn="ctr"/>
            <a:r>
              <a:rPr sz="1050" b="1" lang="en-US" dirty="0">
                <a:solidFill>
                  <a:srgbClr val="002B55"/>
                </a:solidFill>
                <a:latin typeface="Arial"/>
              </a:rPr>
              <a:t>CMS Open Payments</a:t>
            </a:r>
          </a:p>
        </p:txBody>
      </p:sp>
      <p:sp>
        <p:nvSpPr>
          <p:cNvPr id="1750" name="Pub tag"/>
          <p:cNvSpPr/>
          <p:nvPr/>
        </p:nvSpPr>
        <p:spPr>
          <a:xfrm>
            <a:off x="2697480" y="4846320"/>
            <a:ext cx="512064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300" b="1" lang="en-US" dirty="0">
                <a:solidFill>
                  <a:srgbClr val="002B55"/>
                </a:solidFill>
                <a:latin typeface="Bahnschrift"/>
              </a:rPr>
              <a:t>52 real public sources · licences flagged · 11 link-only</a:t>
            </a:r>
          </a:p>
        </p:txBody>
      </p:sp>
      <p:sp>
        <p:nvSpPr>
          <p:cNvPr id="1760" name="167 callout"/>
          <p:cNvSpPr/>
          <p:nvPr/>
        </p:nvSpPr>
        <p:spPr>
          <a:xfrm>
            <a:off x="8183880" y="1234440"/>
            <a:ext cx="3401568" cy="2514600"/>
          </a:xfrm>
          <a:prstGeom prst="roundRect">
            <a:avLst>
              <a:gd name="adj" fmla="val 12000"/>
            </a:avLst>
          </a:prstGeom>
          <a:solidFill>
            <a:srgbClr val="FDEBE1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ctr"/>
            <a:r>
              <a:rPr sz="6400" b="1" lang="en-US" dirty="0">
                <a:solidFill>
                  <a:srgbClr val="F47735"/>
                </a:solidFill>
                <a:latin typeface="Bahnschrift"/>
              </a:rPr>
              <a:t>167</a:t>
            </a:r>
          </a:p>
          <a:p>
            <a:pPr algn="ctr"/>
            <a:r>
              <a:rPr sz="1500" b="1" lang="en-US" dirty="0">
                <a:solidFill>
                  <a:srgbClr val="002B55"/>
                </a:solidFill>
                <a:latin typeface="Arial"/>
              </a:rPr>
              <a:t>datasets in one manifest</a:t>
            </a:r>
          </a:p>
          <a:p>
            <a:pPr algn="ctr">
              <a:spcBef>
                <a:spcPts val="400"/>
              </a:spcBef>
            </a:pPr>
            <a:r>
              <a:rPr sz="1300" b="1" lang="en-US" dirty="0">
                <a:solidFill>
                  <a:srgbClr val="B4501F"/>
                </a:solidFill>
                <a:latin typeface="Arial"/>
              </a:rPr>
              <a:t>one dataset or everything at once</a:t>
            </a:r>
          </a:p>
        </p:txBody>
      </p:sp>
      <p:sp>
        <p:nvSpPr>
          <p:cNvPr id="1761" name="DL head"/>
          <p:cNvSpPr/>
          <p:nvPr/>
        </p:nvSpPr>
        <p:spPr>
          <a:xfrm>
            <a:off x="8183880" y="3840480"/>
            <a:ext cx="3401568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200" b="1" lang="en-US" dirty="0">
                <a:solidFill>
                  <a:srgbClr val="007879"/>
                </a:solidFill>
                <a:latin typeface="Bahnschrift"/>
              </a:rPr>
              <a:t>TWO WAYS TO DOWNLOAD</a:t>
            </a:r>
          </a:p>
        </p:txBody>
      </p:sp>
      <p:sp>
        <p:nvSpPr>
          <p:cNvPr id="1762" name="Download path"/>
          <p:cNvSpPr/>
          <p:nvPr/>
        </p:nvSpPr>
        <p:spPr>
          <a:xfrm>
            <a:off x="8183880" y="4206240"/>
            <a:ext cx="3401568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109728" rIns="109728" tIns="109728" bIns="109728" anchor="ctr" rtlCol="0"/>
          <a:lstStyle/>
          <a:p>
            <a:pPr algn="l"/>
            <a:r>
              <a:rPr sz="1250" b="1" lang="en-US" dirty="0">
                <a:solidFill>
                  <a:srgbClr val="002B55"/>
                </a:solidFill>
                <a:latin typeface="Arial"/>
              </a:rPr>
              <a:t>GitHub</a:t>
            </a:r>
          </a:p>
          <a:p>
            <a:pPr algn="l"/>
            <a:r>
              <a:rPr sz="1050" b="1" lang="en-US" dirty="0">
                <a:solidFill>
                  <a:srgbClr val="007879"/>
                </a:solidFill>
                <a:latin typeface="Arial"/>
              </a:rPr>
              <a:t>github.com/Open-Medical-Affairs/Data-Sources</a:t>
            </a:r>
          </a:p>
        </p:txBody>
      </p:sp>
      <p:sp>
        <p:nvSpPr>
          <p:cNvPr id="1763" name="Download path"/>
          <p:cNvSpPr/>
          <p:nvPr/>
        </p:nvSpPr>
        <p:spPr>
          <a:xfrm>
            <a:off x="8183880" y="4864608"/>
            <a:ext cx="3401568" cy="58521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6E3"/>
            </a:solidFill>
          </a:ln>
        </p:spPr>
        <p:txBody>
          <a:bodyPr wrap="square" lIns="109728" rIns="109728" tIns="109728" bIns="109728" anchor="ctr" rtlCol="0"/>
          <a:lstStyle/>
          <a:p>
            <a:pPr algn="l"/>
            <a:r>
              <a:rPr sz="1250" b="1" lang="en-US" dirty="0">
                <a:solidFill>
                  <a:srgbClr val="002B55"/>
                </a:solidFill>
                <a:latin typeface="Arial"/>
              </a:rPr>
              <a:t>Website Data page</a:t>
            </a:r>
          </a:p>
          <a:p>
            <a:pPr algn="l"/>
            <a:r>
              <a:rPr sz="1050" b="1" lang="en-US" dirty="0">
                <a:solidFill>
                  <a:srgbClr val="007879"/>
                </a:solidFill>
                <a:latin typeface="Arial"/>
              </a:rPr>
              <a:t>aiinaction.up.railway.app</a:t>
            </a:r>
          </a:p>
        </p:txBody>
      </p:sp>
      <p:sp>
        <p:nvSpPr>
          <p:cNvPr id="1770" name="Bottom line"/>
          <p:cNvSpPr/>
          <p:nvPr/>
        </p:nvSpPr>
        <p:spPr>
          <a:xfrm>
            <a:off x="609905" y="5669280"/>
            <a:ext cx="10972800" cy="50292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350" b="1" lang="en-US" dirty="0">
                <a:solidFill>
                  <a:srgbClr val="002B55"/>
                </a:solidFill>
                <a:latin typeface="Arial"/>
              </a:rPr>
              <a:t>Everything at once: all synthetic data as one ZIP; the full catalog as JSON or CSV. </a:t>
            </a:r>
            <a:r>
              <a:rPr sz="1350" b="1" lang="en-US" dirty="0">
                <a:solidFill>
                  <a:srgbClr val="B4501F"/>
                </a:solidFill>
                <a:latin typeface="Arial"/>
              </a:rPr>
              <a:t>Never put real patient or confidential data in a query.</a:t>
            </a:r>
          </a:p>
        </p:txBody>
      </p:sp>
    </p:spTree>
    <p:extLst>
      <p:ext uri="{BB962C8B-B14F-4D97-AF65-F5344CB8AC3E}">
        <p14:creationId xmlns:p14="http://schemas.microsoft.com/office/powerpoint/2010/main" val="107544999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EEC95C-44CB-48FC-883F-56BAD261B2B1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7772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What is an agent swarm?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52E3E-BD5A-4C46-98E7-0549D3B0988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51141-3EC9-4A04-A2D7-3E747007EB7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C260F8-C4EE-4642-B838-685C2BF0C7BC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28</a:t>
            </a:r>
          </a:p>
        </p:txBody>
      </p:sp>
      <p:sp>
        <p:nvSpPr>
          <p:cNvPr id="1800" name="Definition"/>
          <p:cNvSpPr/>
          <p:nvPr/>
        </p:nvSpPr>
        <p:spPr>
          <a:xfrm>
            <a:off x="609905" y="1143000"/>
            <a:ext cx="10972800" cy="566928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400" b="1" lang="en-US" dirty="0">
                <a:solidFill>
                  <a:srgbClr val="002B55"/>
                </a:solidFill>
                <a:latin typeface="Arial"/>
              </a:rPr>
              <a:t>A team of AI agents, each with its own role, skills and context. </a:t>
            </a:r>
            <a:r>
              <a:rPr sz="1400" b="0" lang="en-US" dirty="0">
                <a:solidFill>
                  <a:srgbClr val="28455F"/>
                </a:solidFill>
                <a:latin typeface="Arial"/>
              </a:rPr>
              <a:t>A lead agent splits the job, hands work between them, merges the results and stops at human checkpoints.</a:t>
            </a:r>
          </a:p>
        </p:txBody>
      </p:sp>
      <p:pic>
        <p:nvPicPr>
          <p:cNvPr id="1900" name="Swarm chariot 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05" y="1810512"/>
            <a:ext cx="6812280" cy="3831908"/>
          </a:xfrm>
          <a:prstGeom prst="roundRect">
            <a:avLst>
              <a:gd name="adj" fmla="val 6000"/>
            </a:avLst>
          </a:prstGeom>
          <a:ln w="12700">
            <a:solidFill>
              <a:srgbClr val="D9E3EA"/>
            </a:solidFill>
          </a:ln>
        </p:spPr>
      </p:pic>
      <p:sp>
        <p:nvSpPr>
          <p:cNvPr id="1911" name="Badge"/>
          <p:cNvSpPr/>
          <p:nvPr/>
        </p:nvSpPr>
        <p:spPr>
          <a:xfrm>
            <a:off x="1216195" y="2283750"/>
            <a:ext cx="384048" cy="384048"/>
          </a:xfrm>
          <a:prstGeom prst="ellipse">
            <a:avLst/>
          </a:prstGeom>
          <a:solidFill>
            <a:srgbClr val="F47735"/>
          </a:solidFill>
          <a:ln w="25400">
            <a:solidFill>
              <a:srgbClr val="FFFFFF"/>
            </a:solidFill>
          </a:ln>
        </p:spPr>
        <p:txBody>
          <a:bodyPr wrap="square" lIns="0" rIns="0" tIns="0" bIns="0" anchor="ctr" rtlCol="0"/>
          <a:lstStyle/>
          <a:p>
            <a:pPr algn="ctr"/>
            <a:r>
              <a:rPr sz="1500" b="1" lang="en-US" dirty="0">
                <a:solidFill>
                  <a:srgbClr val="FFFFFF"/>
                </a:solidFill>
                <a:latin typeface="Bahnschrift"/>
              </a:rPr>
              <a:t>1</a:t>
            </a:r>
          </a:p>
        </p:txBody>
      </p:sp>
      <p:sp>
        <p:nvSpPr>
          <p:cNvPr id="1912" name="Badge"/>
          <p:cNvSpPr/>
          <p:nvPr/>
        </p:nvSpPr>
        <p:spPr>
          <a:xfrm>
            <a:off x="2646508" y="2982275"/>
            <a:ext cx="384048" cy="384048"/>
          </a:xfrm>
          <a:prstGeom prst="ellipse">
            <a:avLst/>
          </a:prstGeom>
          <a:solidFill>
            <a:srgbClr val="F47735"/>
          </a:solidFill>
          <a:ln w="25400">
            <a:solidFill>
              <a:srgbClr val="FFFFFF"/>
            </a:solidFill>
          </a:ln>
        </p:spPr>
        <p:txBody>
          <a:bodyPr wrap="square" lIns="0" rIns="0" tIns="0" bIns="0" anchor="ctr" rtlCol="0"/>
          <a:lstStyle/>
          <a:p>
            <a:pPr algn="ctr"/>
            <a:r>
              <a:rPr sz="1500" b="1" lang="en-US" dirty="0">
                <a:solidFill>
                  <a:srgbClr val="FFFFFF"/>
                </a:solidFill>
                <a:latin typeface="Bahnschrift"/>
              </a:rPr>
              <a:t>2</a:t>
            </a:r>
          </a:p>
        </p:txBody>
      </p:sp>
      <p:sp>
        <p:nvSpPr>
          <p:cNvPr id="1913" name="Badge"/>
          <p:cNvSpPr/>
          <p:nvPr/>
        </p:nvSpPr>
        <p:spPr>
          <a:xfrm>
            <a:off x="4409451" y="2403497"/>
            <a:ext cx="384048" cy="384048"/>
          </a:xfrm>
          <a:prstGeom prst="ellipse">
            <a:avLst/>
          </a:prstGeom>
          <a:solidFill>
            <a:srgbClr val="F47735"/>
          </a:solidFill>
          <a:ln w="25400">
            <a:solidFill>
              <a:srgbClr val="FFFFFF"/>
            </a:solidFill>
          </a:ln>
        </p:spPr>
        <p:txBody>
          <a:bodyPr wrap="square" lIns="0" rIns="0" tIns="0" bIns="0" anchor="ctr" rtlCol="0"/>
          <a:lstStyle/>
          <a:p>
            <a:pPr algn="ctr"/>
            <a:r>
              <a:rPr sz="1500" b="1" lang="en-US" dirty="0">
                <a:solidFill>
                  <a:srgbClr val="FFFFFF"/>
                </a:solidFill>
                <a:latin typeface="Bahnschrift"/>
              </a:rPr>
              <a:t>3</a:t>
            </a:r>
          </a:p>
        </p:txBody>
      </p:sp>
      <p:sp>
        <p:nvSpPr>
          <p:cNvPr id="1914" name="Badge"/>
          <p:cNvSpPr/>
          <p:nvPr/>
        </p:nvSpPr>
        <p:spPr>
          <a:xfrm>
            <a:off x="6105868" y="2403497"/>
            <a:ext cx="384048" cy="384048"/>
          </a:xfrm>
          <a:prstGeom prst="ellipse">
            <a:avLst/>
          </a:prstGeom>
          <a:solidFill>
            <a:srgbClr val="F47735"/>
          </a:solidFill>
          <a:ln w="25400">
            <a:solidFill>
              <a:srgbClr val="FFFFFF"/>
            </a:solidFill>
          </a:ln>
        </p:spPr>
        <p:txBody>
          <a:bodyPr wrap="square" lIns="0" rIns="0" tIns="0" bIns="0" anchor="ctr" rtlCol="0"/>
          <a:lstStyle/>
          <a:p>
            <a:pPr algn="ctr"/>
            <a:r>
              <a:rPr sz="1500" b="1" lang="en-US" dirty="0">
                <a:solidFill>
                  <a:srgbClr val="FFFFFF"/>
                </a:solidFill>
                <a:latin typeface="Bahnschrift"/>
              </a:rPr>
              <a:t>4</a:t>
            </a:r>
          </a:p>
        </p:txBody>
      </p:sp>
      <p:sp>
        <p:nvSpPr>
          <p:cNvPr id="1920" name="Legend head"/>
          <p:cNvSpPr/>
          <p:nvPr/>
        </p:nvSpPr>
        <p:spPr>
          <a:xfrm>
            <a:off x="7726680" y="1810512"/>
            <a:ext cx="3856025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300" b="1" lang="en-US" dirty="0">
                <a:solidFill>
                  <a:srgbClr val="007879"/>
                </a:solidFill>
                <a:latin typeface="Bahnschrift"/>
              </a:rPr>
              <a:t>ONE HUMAN, MANY HORSES</a:t>
            </a:r>
          </a:p>
        </p:txBody>
      </p:sp>
      <p:sp>
        <p:nvSpPr>
          <p:cNvPr id="1930" name="Legend badge"/>
          <p:cNvSpPr/>
          <p:nvPr/>
        </p:nvSpPr>
        <p:spPr>
          <a:xfrm>
            <a:off x="7726680" y="2286000"/>
            <a:ext cx="384048" cy="384048"/>
          </a:xfrm>
          <a:prstGeom prst="ellipse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500" b="1" lang="en-US" dirty="0">
                <a:solidFill>
                  <a:srgbClr val="FFFFFF"/>
                </a:solidFill>
                <a:latin typeface="Bahnschrift"/>
              </a:rPr>
              <a:t>1</a:t>
            </a:r>
          </a:p>
        </p:txBody>
      </p:sp>
      <p:sp>
        <p:nvSpPr>
          <p:cNvPr id="1931" name="Legend text"/>
          <p:cNvSpPr/>
          <p:nvPr/>
        </p:nvSpPr>
        <p:spPr>
          <a:xfrm>
            <a:off x="8229600" y="2212848"/>
            <a:ext cx="3353105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300" b="1" lang="en-US" dirty="0">
                <a:solidFill>
                  <a:srgbClr val="002B55"/>
                </a:solidFill>
                <a:latin typeface="Bahnschrift"/>
              </a:rPr>
              <a:t>Charioteer = you</a:t>
            </a:r>
          </a:p>
          <a:p>
            <a:pPr algn="l"/>
            <a:r>
              <a:rPr sz="1150" b="0" lang="en-US" dirty="0">
                <a:solidFill>
                  <a:srgbClr val="28455F"/>
                </a:solidFill>
                <a:latin typeface="Arial"/>
              </a:rPr>
              <a:t>the human at the helm sets the direction</a:t>
            </a:r>
          </a:p>
        </p:txBody>
      </p:sp>
      <p:sp>
        <p:nvSpPr>
          <p:cNvPr id="1932" name="Legend badge"/>
          <p:cNvSpPr/>
          <p:nvPr/>
        </p:nvSpPr>
        <p:spPr>
          <a:xfrm>
            <a:off x="7726680" y="2999232"/>
            <a:ext cx="384048" cy="384048"/>
          </a:xfrm>
          <a:prstGeom prst="ellipse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500" b="1" lang="en-US" dirty="0">
                <a:solidFill>
                  <a:srgbClr val="FFFFFF"/>
                </a:solidFill>
                <a:latin typeface="Bahnschrift"/>
              </a:rPr>
              <a:t>2</a:t>
            </a:r>
          </a:p>
        </p:txBody>
      </p:sp>
      <p:sp>
        <p:nvSpPr>
          <p:cNvPr id="1933" name="Legend text"/>
          <p:cNvSpPr/>
          <p:nvPr/>
        </p:nvSpPr>
        <p:spPr>
          <a:xfrm>
            <a:off x="8229600" y="2926080"/>
            <a:ext cx="3353105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300" b="1" lang="en-US" dirty="0">
                <a:solidFill>
                  <a:srgbClr val="002B55"/>
                </a:solidFill>
                <a:latin typeface="Bahnschrift"/>
              </a:rPr>
              <a:t>Reins + harness = lead agent + rules</a:t>
            </a:r>
          </a:p>
          <a:p>
            <a:pPr algn="l"/>
            <a:r>
              <a:rPr sz="1150" b="0" lang="en-US" dirty="0">
                <a:solidFill>
                  <a:srgbClr val="28455F"/>
                </a:solidFill>
                <a:latin typeface="Arial"/>
              </a:rPr>
              <a:t>splits the job and hands work along</a:t>
            </a:r>
          </a:p>
        </p:txBody>
      </p:sp>
      <p:sp>
        <p:nvSpPr>
          <p:cNvPr id="1934" name="Legend badge"/>
          <p:cNvSpPr/>
          <p:nvPr/>
        </p:nvSpPr>
        <p:spPr>
          <a:xfrm>
            <a:off x="7726680" y="3712464"/>
            <a:ext cx="384048" cy="384048"/>
          </a:xfrm>
          <a:prstGeom prst="ellipse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500" b="1" lang="en-US" dirty="0">
                <a:solidFill>
                  <a:srgbClr val="FFFFFF"/>
                </a:solidFill>
                <a:latin typeface="Bahnschrift"/>
              </a:rPr>
              <a:t>3</a:t>
            </a:r>
          </a:p>
        </p:txBody>
      </p:sp>
      <p:sp>
        <p:nvSpPr>
          <p:cNvPr id="1935" name="Legend text"/>
          <p:cNvSpPr/>
          <p:nvPr/>
        </p:nvSpPr>
        <p:spPr>
          <a:xfrm>
            <a:off x="8229600" y="3639312"/>
            <a:ext cx="3353105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300" b="1" lang="en-US" dirty="0">
                <a:solidFill>
                  <a:srgbClr val="002B55"/>
                </a:solidFill>
                <a:latin typeface="Bahnschrift"/>
              </a:rPr>
              <a:t>Each horse = a specialist agent</a:t>
            </a:r>
          </a:p>
          <a:p>
            <a:pPr algn="l"/>
            <a:r>
              <a:rPr sz="1150" b="0" lang="en-US" dirty="0">
                <a:solidFill>
                  <a:srgbClr val="28455F"/>
                </a:solidFill>
                <a:latin typeface="Arial"/>
              </a:rPr>
              <a:t>its own skill and context</a:t>
            </a:r>
          </a:p>
        </p:txBody>
      </p:sp>
      <p:sp>
        <p:nvSpPr>
          <p:cNvPr id="1936" name="Legend badge"/>
          <p:cNvSpPr/>
          <p:nvPr/>
        </p:nvSpPr>
        <p:spPr>
          <a:xfrm>
            <a:off x="7726680" y="4425696"/>
            <a:ext cx="384048" cy="384048"/>
          </a:xfrm>
          <a:prstGeom prst="ellipse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500" b="1" lang="en-US" dirty="0">
                <a:solidFill>
                  <a:srgbClr val="FFFFFF"/>
                </a:solidFill>
                <a:latin typeface="Bahnschrift"/>
              </a:rPr>
              <a:t>4</a:t>
            </a:r>
          </a:p>
        </p:txBody>
      </p:sp>
      <p:sp>
        <p:nvSpPr>
          <p:cNvPr id="1937" name="Legend text"/>
          <p:cNvSpPr/>
          <p:nvPr/>
        </p:nvSpPr>
        <p:spPr>
          <a:xfrm>
            <a:off x="8229600" y="4352544"/>
            <a:ext cx="3353105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300" b="1" lang="en-US" dirty="0">
                <a:solidFill>
                  <a:srgbClr val="002B55"/>
                </a:solidFill>
                <a:latin typeface="Bahnschrift"/>
              </a:rPr>
              <a:t>Finish post = human checkpoint</a:t>
            </a:r>
          </a:p>
          <a:p>
            <a:pPr algn="l"/>
            <a:r>
              <a:rPr sz="1150" b="0" lang="en-US" dirty="0">
                <a:solidFill>
                  <a:srgbClr val="28455F"/>
                </a:solidFill>
                <a:latin typeface="Arial"/>
              </a:rPr>
              <a:t>nothing crosses without your decision</a:t>
            </a:r>
          </a:p>
        </p:txBody>
      </p:sp>
      <p:sp>
        <p:nvSpPr>
          <p:cNvPr id="1951" name="Ladder strip"/>
          <p:cNvSpPr/>
          <p:nvPr/>
        </p:nvSpPr>
        <p:spPr>
          <a:xfrm>
            <a:off x="7726680" y="5120640"/>
            <a:ext cx="3856025" cy="658368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 w="12700">
            <a:noFill/>
          </a:ln>
        </p:spPr>
        <p:txBody>
          <a:bodyPr wrap="square" lIns="73152" rIns="73152" tIns="73152" bIns="73152" anchor="ctr" rtlCol="0"/>
          <a:lstStyle/>
          <a:p>
            <a:pPr algn="ctr"/>
            <a:r>
              <a:rPr sz="1150" b="1" lang="en-US" dirty="0">
                <a:solidFill>
                  <a:srgbClr val="2E8B8B"/>
                </a:solidFill>
                <a:latin typeface="Bahnschrift"/>
              </a:rPr>
              <a:t>MODEL </a:t>
            </a:r>
            <a:r>
              <a:rPr sz="1100" b="0" lang="en-US" dirty="0">
                <a:solidFill>
                  <a:srgbClr val="28455F"/>
                </a:solidFill>
                <a:latin typeface="Arial"/>
              </a:rPr>
              <a:t>the horse  →  </a:t>
            </a:r>
            <a:r>
              <a:rPr sz="1150" b="1" lang="en-US" dirty="0">
                <a:solidFill>
                  <a:srgbClr val="007879"/>
                </a:solidFill>
                <a:latin typeface="Bahnschrift"/>
              </a:rPr>
              <a:t>HARNESS </a:t>
            </a:r>
            <a:r>
              <a:rPr sz="1100" b="0" lang="en-US" dirty="0">
                <a:solidFill>
                  <a:srgbClr val="28455F"/>
                </a:solidFill>
                <a:latin typeface="Arial"/>
              </a:rPr>
              <a:t>tools + rules  →</a:t>
            </a:r>
          </a:p>
          <a:p>
            <a:pPr algn="ctr"/>
            <a:r>
              <a:rPr sz="1150" b="1" lang="en-US" dirty="0">
                <a:solidFill>
                  <a:srgbClr val="1F5C99"/>
                </a:solidFill>
                <a:latin typeface="Bahnschrift"/>
              </a:rPr>
              <a:t>AGENT </a:t>
            </a:r>
            <a:r>
              <a:rPr sz="1100" b="0" lang="en-US" dirty="0">
                <a:solidFill>
                  <a:srgbClr val="28455F"/>
                </a:solidFill>
                <a:latin typeface="Arial"/>
              </a:rPr>
              <a:t>+ a job  →  </a:t>
            </a:r>
            <a:r>
              <a:rPr sz="1150" b="1" lang="en-US" dirty="0">
                <a:solidFill>
                  <a:srgbClr val="002B55"/>
                </a:solidFill>
                <a:latin typeface="Bahnschrift"/>
              </a:rPr>
              <a:t>SWARM </a:t>
            </a:r>
            <a:r>
              <a:rPr sz="1100" b="0" lang="en-US" dirty="0">
                <a:solidFill>
                  <a:srgbClr val="28455F"/>
                </a:solidFill>
                <a:latin typeface="Arial"/>
              </a:rPr>
              <a:t>many horses</a:t>
            </a:r>
          </a:p>
        </p:txBody>
      </p:sp>
      <p:sp>
        <p:nvSpPr>
          <p:cNvPr id="1960" name="When line"/>
          <p:cNvSpPr/>
          <p:nvPr/>
        </p:nvSpPr>
        <p:spPr>
          <a:xfrm>
            <a:off x="609905" y="5833872"/>
            <a:ext cx="10972800" cy="475488"/>
          </a:xfrm>
          <a:prstGeom prst="roundRect">
            <a:avLst>
              <a:gd name="adj" fmla="val 12000"/>
            </a:avLst>
          </a:prstGeom>
          <a:solidFill>
            <a:srgbClr val="FDEBE1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ctr"/>
            <a:r>
              <a:rPr sz="1500" b="1" lang="en-US" dirty="0">
                <a:solidFill>
                  <a:srgbClr val="002B55"/>
                </a:solidFill>
                <a:latin typeface="Bahnschrift"/>
              </a:rPr>
              <a:t>One agent </a:t>
            </a:r>
            <a:r>
              <a:rPr sz="1500" b="0" lang="en-US" dirty="0">
                <a:solidFill>
                  <a:srgbClr val="002B55"/>
                </a:solidFill>
                <a:latin typeface="Arial"/>
              </a:rPr>
              <a:t>for a single task.   </a:t>
            </a:r>
            <a:r>
              <a:rPr sz="1500" b="1" lang="en-US" dirty="0">
                <a:solidFill>
                  <a:srgbClr val="B4501F"/>
                </a:solidFill>
                <a:latin typeface="Bahnschrift"/>
              </a:rPr>
              <a:t>A swarm </a:t>
            </a:r>
            <a:r>
              <a:rPr sz="1500" b="0" lang="en-US" dirty="0">
                <a:solidFill>
                  <a:srgbClr val="002B55"/>
                </a:solidFill>
                <a:latin typeface="Arial"/>
              </a:rPr>
              <a:t>for multi-part work with hand-offs, like a launch plan.</a:t>
            </a:r>
          </a:p>
        </p:txBody>
      </p:sp>
    </p:spTree>
    <p:extLst>
      <p:ext uri="{BB962C8B-B14F-4D97-AF65-F5344CB8AC3E}">
        <p14:creationId xmlns:p14="http://schemas.microsoft.com/office/powerpoint/2010/main" val="10754499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EEC95C-44CB-48FC-883F-56BAD261B2B1}"/>
              </a:ext>
            </a:extLst>
          </p:cNvPr>
          <p:cNvSpPr>
            <a:spLocks noGrp="1"/>
          </p:cNvSpPr>
          <p:nvPr/>
        </p:nvSpPr>
        <p:spPr>
          <a:xfrm>
            <a:off x="609905" y="365760"/>
            <a:ext cx="10972800" cy="64008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 b="1">
                <a:solidFill>
                  <a:srgbClr val="002B55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 algn="l"/>
            <a:r>
              <a:rPr sz="3200" b="1" lang="en-US" dirty="0">
                <a:solidFill>
                  <a:srgbClr val="002B55"/>
                </a:solidFill>
                <a:latin typeface="Bahnschrift"/>
              </a:rPr>
              <a:t>170 years of the same org chart</a:t>
            </a:r>
          </a:p>
        </p:txBody>
      </p:sp>
      <p:sp>
        <p:nvSpPr>
          <p:cNvPr id="2301" name="Subtitle"/>
          <p:cNvSpPr/>
          <p:nvPr/>
        </p:nvSpPr>
        <p:spPr>
          <a:xfrm>
            <a:off x="609905" y="1033272"/>
            <a:ext cx="1097280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600" b="0" lang="en-US" dirty="0">
                <a:solidFill>
                  <a:srgbClr val="28455F"/>
                </a:solidFill>
                <a:latin typeface="Arial"/>
              </a:rPr>
              <a:t>Invented in the 1850s, barely changed since. AI agents will change it.</a:t>
            </a:r>
          </a:p>
        </p:txBody>
      </p:sp>
      <p:sp>
        <p:nvSpPr>
          <p:cNvPr id="2310" name="Stage badge"/>
          <p:cNvSpPr/>
          <p:nvPr/>
        </p:nvSpPr>
        <p:spPr>
          <a:xfrm>
            <a:off x="609905" y="1481328"/>
            <a:ext cx="384048" cy="384048"/>
          </a:xfrm>
          <a:prstGeom prst="ellipse">
            <a:avLst/>
          </a:prstGeom>
          <a:solidFill>
            <a:srgbClr val="002B55"/>
          </a:solidFill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500" b="1" lang="en-US" dirty="0">
                <a:solidFill>
                  <a:srgbClr val="FFFFFF"/>
                </a:solidFill>
                <a:latin typeface="Bahnschrift"/>
              </a:rPr>
              <a:t>1</a:t>
            </a:r>
          </a:p>
        </p:txBody>
      </p:sp>
      <p:sp>
        <p:nvSpPr>
          <p:cNvPr id="2311" name="Stage head"/>
          <p:cNvSpPr/>
          <p:nvPr/>
        </p:nvSpPr>
        <p:spPr>
          <a:xfrm>
            <a:off x="1085393" y="1417320"/>
            <a:ext cx="2743200" cy="512064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600" b="1" lang="en-US" dirty="0">
                <a:solidFill>
                  <a:srgbClr val="002B55"/>
                </a:solidFill>
                <a:latin typeface="Bahnschrift"/>
              </a:rPr>
              <a:t>1855: the first org chart</a:t>
            </a:r>
          </a:p>
        </p:txBody>
      </p:sp>
      <p:pic>
        <p:nvPicPr>
          <p:cNvPr id="2312" name="Erie 1855 org char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55" y="1965960"/>
            <a:ext cx="1929379" cy="3429000"/>
          </a:xfrm>
          <a:prstGeom prst="roundRect">
            <a:avLst>
              <a:gd name="adj" fmla="val 6000"/>
            </a:avLst>
          </a:prstGeom>
          <a:ln w="12700">
            <a:solidFill>
              <a:srgbClr val="D9E3EA"/>
            </a:solidFill>
          </a:ln>
        </p:spPr>
      </p:pic>
      <p:sp>
        <p:nvSpPr>
          <p:cNvPr id="2313" name="Erie credit"/>
          <p:cNvSpPr/>
          <p:nvPr/>
        </p:nvSpPr>
        <p:spPr>
          <a:xfrm>
            <a:off x="609905" y="5431536"/>
            <a:ext cx="2926080" cy="347472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ctr"/>
            <a:r>
              <a:rPr sz="900" b="0" lang="en-US" dirty="0">
                <a:solidFill>
                  <a:srgbClr val="28455F"/>
                </a:solidFill>
                <a:latin typeface="Arial"/>
              </a:rPr>
              <a:t>Daniel McCallum, New York &amp; Erie Railroad, 1855 (Library of Congress)</a:t>
            </a:r>
          </a:p>
        </p:txBody>
      </p:sp>
      <p:sp>
        <p:nvSpPr>
          <p:cNvPr id="2314" name="Stage caption"/>
          <p:cNvSpPr/>
          <p:nvPr/>
        </p:nvSpPr>
        <p:spPr>
          <a:xfrm>
            <a:off x="609905" y="5852160"/>
            <a:ext cx="292608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300" b="1" lang="en-US" dirty="0">
                <a:solidFill>
                  <a:srgbClr val="28455F"/>
                </a:solidFill>
                <a:latin typeface="Arial"/>
              </a:rPr>
              <a:t>Tree-shaped. Still how we draw teams today.</a:t>
            </a:r>
          </a:p>
        </p:txBody>
      </p:sp>
      <p:sp>
        <p:nvSpPr>
          <p:cNvPr id="2320" name="Stage arrow"/>
          <p:cNvSpPr/>
          <p:nvPr/>
        </p:nvSpPr>
        <p:spPr>
          <a:xfrm>
            <a:off x="3794760" y="3497580"/>
            <a:ext cx="685800" cy="731520"/>
          </a:xfrm>
          <a:prstGeom prst="rightArrow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91440" rIns="91440" tIns="91440" bIns="91440" anchor="ctr" rtlCol="0"/>
          <a:lstStyle/>
          <a:p>
            <a:pPr algn="l"/>
          </a:p>
        </p:txBody>
      </p:sp>
      <p:sp>
        <p:nvSpPr>
          <p:cNvPr id="2330" name="Stage badge"/>
          <p:cNvSpPr/>
          <p:nvPr/>
        </p:nvSpPr>
        <p:spPr>
          <a:xfrm>
            <a:off x="4727448" y="1481328"/>
            <a:ext cx="384048" cy="384048"/>
          </a:xfrm>
          <a:prstGeom prst="ellipse">
            <a:avLst/>
          </a:prstGeom>
          <a:solidFill>
            <a:srgbClr val="F47735"/>
          </a:solidFill>
          <a:ln w="12700">
            <a:noFill/>
          </a:ln>
        </p:spPr>
        <p:txBody>
          <a:bodyPr wrap="square" lIns="0" rIns="0" tIns="0" bIns="0" anchor="ctr" rtlCol="0"/>
          <a:lstStyle/>
          <a:p>
            <a:pPr algn="ctr"/>
            <a:r>
              <a:rPr sz="1500" b="1" lang="en-US" dirty="0">
                <a:solidFill>
                  <a:srgbClr val="FFFFFF"/>
                </a:solidFill>
                <a:latin typeface="Bahnschrift"/>
              </a:rPr>
              <a:t>2</a:t>
            </a:r>
          </a:p>
        </p:txBody>
      </p:sp>
      <p:sp>
        <p:nvSpPr>
          <p:cNvPr id="2331" name="Stage head"/>
          <p:cNvSpPr/>
          <p:nvPr/>
        </p:nvSpPr>
        <p:spPr>
          <a:xfrm>
            <a:off x="5202936" y="1417320"/>
            <a:ext cx="6270752" cy="512064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ctr" rtlCol="0"/>
          <a:lstStyle/>
          <a:p>
            <a:pPr algn="l"/>
            <a:r>
              <a:rPr sz="1600" b="1" lang="en-US" dirty="0">
                <a:solidFill>
                  <a:srgbClr val="002B55"/>
                </a:solidFill>
                <a:latin typeface="Bahnschrift"/>
              </a:rPr>
              <a:t>Now: each person leads their own team of agents</a:t>
            </a:r>
          </a:p>
        </p:txBody>
      </p:sp>
      <p:pic>
        <p:nvPicPr>
          <p:cNvPr id="2332" name="Network org 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1965960"/>
            <a:ext cx="6746240" cy="3794760"/>
          </a:xfrm>
          <a:prstGeom prst="roundRect">
            <a:avLst>
              <a:gd name="adj" fmla="val 6000"/>
            </a:avLst>
          </a:prstGeom>
          <a:ln w="12700">
            <a:solidFill>
              <a:srgbClr val="D9E3EA"/>
            </a:solidFill>
          </a:ln>
        </p:spPr>
      </p:pic>
      <p:sp>
        <p:nvSpPr>
          <p:cNvPr id="2333" name="Stage caption"/>
          <p:cNvSpPr/>
          <p:nvPr/>
        </p:nvSpPr>
        <p:spPr>
          <a:xfrm>
            <a:off x="4727448" y="5852160"/>
            <a:ext cx="674624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0" rIns="0" tIns="0" bIns="0" anchor="t" rtlCol="0"/>
          <a:lstStyle/>
          <a:p>
            <a:pPr algn="l"/>
            <a:r>
              <a:rPr sz="1300" b="0" lang="en-US" dirty="0">
                <a:solidFill>
                  <a:srgbClr val="28455F"/>
                </a:solidFill>
                <a:latin typeface="Arial"/>
              </a:rPr>
              <a:t>Organized around outcomes, not boxes on a chart. Leading firms are already making this shift.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152E3E-BD5A-4C46-98E7-0549D3B09888}"/>
              </a:ext>
            </a:extLst>
          </p:cNvPr>
          <p:cNvSpPr>
            <a:spLocks noGrp="1"/>
          </p:cNvSpPr>
          <p:nvPr/>
        </p:nvSpPr>
        <p:spPr>
          <a:xfrm>
            <a:off x="609600" y="6438900"/>
            <a:ext cx="5715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050" b="0">
                <a:solidFill>
                  <a:srgbClr val="28455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8455F"/>
                </a:solidFill>
                <a:latin typeface="Arial"/>
                <a:ea typeface="Arial"/>
                <a:cs typeface="Arial"/>
              </a:rPr>
              <a:t>AI IN ACTION / MEDICAL AFFAIRS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51141-3EC9-4A04-A2D7-3E747007EB7D}"/>
              </a:ext>
            </a:extLst>
          </p:cNvPr>
          <p:cNvSpPr>
            <a:spLocks noGrp="1"/>
          </p:cNvSpPr>
          <p:nvPr/>
        </p:nvSpPr>
        <p:spPr>
          <a:xfrm>
            <a:off x="11096625" y="6381750"/>
            <a:ext cx="466725" cy="285750"/>
          </a:xfrm>
          <a:prstGeom prst="rect">
            <a:avLst/>
          </a:prstGeom>
          <a:solidFill>
            <a:srgbClr val="FFFEF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C260F8-C4EE-4642-B838-685C2BF0C7BC}"/>
              </a:ext>
            </a:extLst>
          </p:cNvPr>
          <p:cNvSpPr>
            <a:spLocks noGrp="1"/>
          </p:cNvSpPr>
          <p:nvPr/>
        </p:nvSpPr>
        <p:spPr>
          <a:xfrm>
            <a:off x="11163300" y="6419850"/>
            <a:ext cx="4286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>
            <a:def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defPPr>
          </a:lstStyle>
          <a:p>
            <a:pPr>
              <a:def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defRPr>
            </a:pPr>
            <a:r>
              <a:rPr sz="1275" b="1">
                <a:solidFill>
                  <a:srgbClr val="28455F"/>
                </a:solidFill>
                <a:latin typeface="Bahnschrift"/>
                <a:ea typeface="Bahnschrift"/>
                <a:cs typeface="Bahnschrift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0754499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6833</Words>
  <Application>Microsoft Office PowerPoint</Application>
  <DocSecurity>0</DocSecurity>
  <PresentationFormat>Widescreen</PresentationFormat>
  <Paragraphs>666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Aptos</vt:lpstr>
      <vt:lpstr>Arial</vt:lpstr>
      <vt:lpstr>Bahnschrift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 Action — Vivek's Deck</dc:title>
  <dc:creator>Vivek Mukhatyar</dc:creator>
  <cp:lastModifiedBy>Vivek Mukhatyar</cp:lastModifiedBy>
  <cp:revision>1</cp:revision>
  <dcterms:created xsi:type="dcterms:W3CDTF">2026-10-08T22:58:18Z</dcterms:created>
  <dcterms:modified xsi:type="dcterms:W3CDTF">2026-10-08T23:18:51Z</dcterms:modified>
</cp:coreProperties>
</file>