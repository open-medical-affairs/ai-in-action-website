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305" r:id="rId57"/>
    <p:sldId id="271" r:id="rId17"/>
    <p:sldId id="261" r:id="rId7"/>
    <p:sldId id="258" r:id="rId4"/>
    <p:sldId id="259" r:id="rId5"/>
    <p:sldId id="260" r:id="rId6"/>
    <p:sldId id="262" r:id="rId8"/>
    <p:sldId id="268" r:id="rId14"/>
    <p:sldId id="274" r:id="rId20"/>
    <p:sldId id="265" r:id="rId11"/>
    <p:sldId id="257" r:id="rId3"/>
    <p:sldId id="302" r:id="rId54"/>
    <p:sldId id="264" r:id="rId10"/>
    <p:sldId id="272" r:id="rId18"/>
    <p:sldId id="280" r:id="rId26"/>
    <p:sldId id="266" r:id="rId12"/>
    <p:sldId id="269" r:id="rId15"/>
    <p:sldId id="304" r:id="rId56"/>
    <p:sldId id="267" r:id="rId13"/>
    <p:sldId id="276" r:id="rId22"/>
    <p:sldId id="263" r:id="rId9"/>
    <p:sldId id="270" r:id="rId16"/>
    <p:sldId id="303" r:id="rId55"/>
    <p:sldId id="281" r:id="rId27"/>
    <p:sldId id="312" r:id="rId64"/>
    <p:sldId id="282" r:id="rId28"/>
    <p:sldId id="311" r:id="rId63"/>
    <p:sldId id="284" r:id="rId30"/>
    <p:sldId id="273" r:id="rId19"/>
    <p:sldId id="292" r:id="rId44"/>
    <p:sldId id="277" r:id="rId23"/>
    <p:sldId id="287" r:id="rId33"/>
    <p:sldId id="293" r:id="rId45"/>
    <p:sldId id="283" r:id="rId29"/>
    <p:sldId id="294" r:id="rId46"/>
    <p:sldId id="275" r:id="rId21"/>
    <p:sldId id="295" r:id="rId47"/>
    <p:sldId id="309" r:id="rId61"/>
    <p:sldId id="310" r:id="rId62"/>
    <p:sldId id="296" r:id="rId48"/>
    <p:sldId id="297" r:id="rId49"/>
    <p:sldId id="298" r:id="rId50"/>
    <p:sldId id="299" r:id="rId51"/>
    <p:sldId id="285" r:id="rId31"/>
    <p:sldId id="286" r:id="rId32"/>
    <p:sldId id="306" r:id="rId58"/>
    <p:sldId id="307" r:id="rId59"/>
    <p:sldId id="308" r:id="rId60"/>
    <p:sldId id="300" r:id="rId52"/>
    <p:sldId id="290" r:id="rId36"/>
    <p:sldId id="291" r:id="rId37"/>
    <p:sldId id="288" r:id="rId34"/>
    <p:sldId id="278" r:id="rId24"/>
    <p:sldId id="301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57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19.xml"/><Relationship Id="rId10" Type="http://schemas.openxmlformats.org/officeDocument/2006/relationships/slide" Target="slides/slide12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7.xml"/><Relationship Id="rId14" Type="http://schemas.openxmlformats.org/officeDocument/2006/relationships/slide" Target="slides/slide8.xml"/><Relationship Id="rId15" Type="http://schemas.openxmlformats.org/officeDocument/2006/relationships/slide" Target="slides/slide16.xml"/><Relationship Id="rId16" Type="http://schemas.openxmlformats.org/officeDocument/2006/relationships/slide" Target="slides/slide20.xml"/><Relationship Id="rId17" Type="http://schemas.openxmlformats.org/officeDocument/2006/relationships/slide" Target="slides/slide2.xml"/><Relationship Id="rId18" Type="http://schemas.openxmlformats.org/officeDocument/2006/relationships/slide" Target="slides/slide13.xml"/><Relationship Id="rId19" Type="http://schemas.openxmlformats.org/officeDocument/2006/relationships/slide" Target="slides/slide24.xml"/><Relationship Id="rId20" Type="http://schemas.openxmlformats.org/officeDocument/2006/relationships/slide" Target="slides/slide9.xml"/><Relationship Id="rId21" Type="http://schemas.openxmlformats.org/officeDocument/2006/relationships/slide" Target="slides/slide31.xml"/><Relationship Id="rId22" Type="http://schemas.openxmlformats.org/officeDocument/2006/relationships/slide" Target="slides/slide18.xml"/><Relationship Id="rId23" Type="http://schemas.openxmlformats.org/officeDocument/2006/relationships/slide" Target="slides/slide26.xml"/><Relationship Id="rId24" Type="http://schemas.openxmlformats.org/officeDocument/2006/relationships/slide" Target="slides/slide43.xml"/><Relationship Id="rId26" Type="http://schemas.openxmlformats.org/officeDocument/2006/relationships/slide" Target="slides/slide14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9.xml"/><Relationship Id="rId30" Type="http://schemas.openxmlformats.org/officeDocument/2006/relationships/slide" Target="slides/slide23.xml"/><Relationship Id="rId31" Type="http://schemas.openxmlformats.org/officeDocument/2006/relationships/slide" Target="slides/slide37.xml"/><Relationship Id="rId32" Type="http://schemas.openxmlformats.org/officeDocument/2006/relationships/slide" Target="slides/slide38.xml"/><Relationship Id="rId33" Type="http://schemas.openxmlformats.org/officeDocument/2006/relationships/slide" Target="slides/slide27.xml"/><Relationship Id="rId34" Type="http://schemas.openxmlformats.org/officeDocument/2006/relationships/slide" Target="slides/slide42.xml"/><Relationship Id="rId36" Type="http://schemas.openxmlformats.org/officeDocument/2006/relationships/slide" Target="slides/slide40.xml"/><Relationship Id="rId37" Type="http://schemas.openxmlformats.org/officeDocument/2006/relationships/slide" Target="slides/slide41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openxmlformats.org/officeDocument/2006/relationships/slide" Target="slides/slide25.xml"/><Relationship Id="rId45" Type="http://schemas.openxmlformats.org/officeDocument/2006/relationships/slide" Target="slides/slide28.xml"/><Relationship Id="rId46" Type="http://schemas.openxmlformats.org/officeDocument/2006/relationships/slide" Target="slides/slide30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vek Mukhatyar" userId="0325db0cd26ce985" providerId="LiveId" clId="{C2F076DA-27A8-417D-A05E-C65F5A120C5D}"/>
    <pc:docChg chg="undo custSel modSld">
      <pc:chgData name="Vivek Mukhatyar" userId="0325db0cd26ce985" providerId="LiveId" clId="{C2F076DA-27A8-417D-A05E-C65F5A120C5D}" dt="2026-10-08T23:18:42.388" v="10" actId="20577"/>
      <pc:docMkLst>
        <pc:docMk/>
      </pc:docMkLst>
      <pc:sldChg chg="modSp mod">
        <pc:chgData name="Vivek Mukhatyar" userId="0325db0cd26ce985" providerId="LiveId" clId="{C2F076DA-27A8-417D-A05E-C65F5A120C5D}" dt="2026-10-08T23:10:37.202" v="0" actId="1076"/>
        <pc:sldMkLst>
          <pc:docMk/>
          <pc:sldMk cId="76287762" sldId="258"/>
        </pc:sldMkLst>
        <pc:spChg chg="mod">
          <ac:chgData name="Vivek Mukhatyar" userId="0325db0cd26ce985" providerId="LiveId" clId="{C2F076DA-27A8-417D-A05E-C65F5A120C5D}" dt="2026-10-08T23:10:37.202" v="0" actId="1076"/>
          <ac:spMkLst>
            <pc:docMk/>
            <pc:sldMk cId="76287762" sldId="258"/>
            <ac:spMk id="5" creationId="{D12E1EB6-04B4-462A-B459-CD91A446F245}"/>
          </ac:spMkLst>
        </pc:spChg>
      </pc:sldChg>
      <pc:sldChg chg="modSp mod">
        <pc:chgData name="Vivek Mukhatyar" userId="0325db0cd26ce985" providerId="LiveId" clId="{C2F076DA-27A8-417D-A05E-C65F5A120C5D}" dt="2026-10-08T23:18:42.388" v="10" actId="20577"/>
        <pc:sldMkLst>
          <pc:docMk/>
          <pc:sldMk cId="953831724" sldId="291"/>
        </pc:sldMkLst>
        <pc:spChg chg="mod">
          <ac:chgData name="Vivek Mukhatyar" userId="0325db0cd26ce985" providerId="LiveId" clId="{C2F076DA-27A8-417D-A05E-C65F5A120C5D}" dt="2026-10-08T23:18:42.388" v="10" actId="20577"/>
          <ac:spMkLst>
            <pc:docMk/>
            <pc:sldMk cId="953831724" sldId="291"/>
            <ac:spMk id="10" creationId="{E1242166-6221-4116-8F27-F4471634B602}"/>
          </ac:spMkLst>
        </pc:spChg>
      </pc:sldChg>
    </pc:docChg>
  </pc:docChgLst>
</pc:chgInfo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0403-8B8F-4EB6-A12C-4B71459B1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00FD8A1-94DC-4C20-BC72-93D5A7C97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E81D71-A886-42D5-8F8C-D69087AC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90ABA4C-D497-4BA7-B12B-EF2467BCC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99E49F3-36E4-4335-BEA1-029C705C4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B9FA833-A294-4123-99A5-90EB88E1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BCEF442-6C99-4D7E-9993-98D91B4BD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A2A83FB-AC33-48B1-A6E6-724522C7D72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A42188F-75A6-42B6-95DE-9DD096709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B7F00D4-A140-4A39-B564-31724724A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jpe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5" Type="http://schemas.openxmlformats.org/officeDocument/2006/relationships/image" Target="../media/image7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9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jpe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1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9.jpe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6.jpe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3.jpe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0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0.jpe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9.jpe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0.jpe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6.jpe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6.png"/><Relationship Id="rId4" Type="http://schemas.openxmlformats.org/officeDocument/2006/relationships/image" Target="../media/image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2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100" Type="http://schemas.openxmlformats.org/officeDocument/2006/relationships/image" Target="../media/image62.jpe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2.jpe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4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0" Type="http://schemas.openxmlformats.org/officeDocument/2006/relationships/image" Target="../media/image65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50" Type="http://schemas.openxmlformats.org/officeDocument/2006/relationships/image" Target="../media/image66.jpe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30.png"/><Relationship Id="rId5" Type="http://schemas.openxmlformats.org/officeDocument/2006/relationships/image" Target="../media/image55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2.jpe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4.gif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7.jpeg"/><Relationship Id="rId50" Type="http://schemas.openxmlformats.org/officeDocument/2006/relationships/image" Target="../media/image67.jpeg"/><Relationship Id="rId51" Type="http://schemas.openxmlformats.org/officeDocument/2006/relationships/image" Target="../media/image68.jpe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Relationship Id="rId50" Type="http://schemas.openxmlformats.org/officeDocument/2006/relationships/image" Target="../media/image69.jpe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3.jpeg"/><Relationship Id="rId4" Type="http://schemas.openxmlformats.org/officeDocument/2006/relationships/hyperlink" Target="https://youtu.be/ozS_6vqnJ8w" TargetMode="Externa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0.jpe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3.jpe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5.jpeg"/><Relationship Id="rId6" Type="http://schemas.openxmlformats.org/officeDocument/2006/relationships/image" Target="../media/image7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FD9389E-EB69-47D5-A02B-727227F6BF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695978-B771-4B13-AA38-501C49D4DFBE}"/>
              </a:ext>
            </a:extLst>
          </p:cNvPr>
          <p:cNvSpPr>
            <a:spLocks noGrp="1"/>
          </p:cNvSpPr>
          <p:nvPr/>
        </p:nvSpPr>
        <p:spPr>
          <a:xfrm>
            <a:off x="609600" y="1095375"/>
            <a:ext cx="4937760" cy="2257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3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Medical Affairs,</a:t>
            </a:r>
          </a:p>
          <a:p>
            <a:pPr algn="l"/>
            <a:r>
              <a:rPr sz="4000" b="1" lang="en-US" dirty="0">
                <a:solidFill>
                  <a:srgbClr val="007879"/>
                </a:solidFill>
                <a:latin typeface="Bahnschrift"/>
              </a:rPr>
              <a:t>work redesigned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901B43-BBC4-4DAE-9A27-A0BDFAEB57D4}"/>
              </a:ext>
            </a:extLst>
          </p:cNvPr>
          <p:cNvSpPr>
            <a:spLocks noGrp="1"/>
          </p:cNvSpPr>
          <p:nvPr/>
        </p:nvSpPr>
        <p:spPr>
          <a:xfrm>
            <a:off x="609600" y="3703320"/>
            <a:ext cx="457200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AI in Action · October 13–14, 2026</a:t>
            </a:r>
          </a:p>
          <a:p>
            <a:pPr algn="l">
              <a:spcAft>
                <a:spcPts val="1000"/>
              </a:spcAft>
            </a:pPr>
            <a:r>
              <a:rPr sz="2000" b="0" lang="en-US" dirty="0">
                <a:solidFill>
                  <a:srgbClr val="002B55"/>
                </a:solidFill>
                <a:latin typeface="Arial"/>
              </a:rPr>
              <a:t>Convene Philadelphia</a:t>
            </a:r>
          </a:p>
          <a:p>
            <a:pPr algn="l"/>
            <a:r>
              <a:rPr sz="2000" b="1" lang="en-US" dirty="0">
                <a:solidFill>
                  <a:srgbClr val="F47735"/>
                </a:solidFill>
                <a:latin typeface="Bahnschrift"/>
              </a:rPr>
              <a:t>Vivek Mukhatyar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0889B0-1DF5-4C04-9CB6-D45E1EB4C4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CBAF7B-D28F-4AE5-9BA2-15D12C7B796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6B122A-3E6F-4353-8D67-8033E6BC0F3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69845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Agenda: six acts, then we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" y="2514600"/>
            <a:ext cx="10561320" cy="0"/>
          </a:xfrm>
          <a:prstGeom prst="line">
            <a:avLst/>
          </a:prstGeom>
          <a:ln w="63500">
            <a:solidFill>
              <a:srgbClr val="C9D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7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1</a:t>
            </a:r>
          </a:p>
        </p:txBody>
      </p:sp>
      <p:sp>
        <p:nvSpPr>
          <p:cNvPr id="30" name="Oval 29"/>
          <p:cNvSpPr/>
          <p:nvPr/>
        </p:nvSpPr>
        <p:spPr>
          <a:xfrm>
            <a:off x="82295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answers to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2</a:t>
            </a:r>
          </a:p>
        </p:txBody>
      </p:sp>
      <p:sp>
        <p:nvSpPr>
          <p:cNvPr id="33" name="Oval 32"/>
          <p:cNvSpPr/>
          <p:nvPr/>
        </p:nvSpPr>
        <p:spPr>
          <a:xfrm>
            <a:off x="2734056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2576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The interface is changing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3</a:t>
            </a:r>
          </a:p>
        </p:txBody>
      </p:sp>
      <p:sp>
        <p:nvSpPr>
          <p:cNvPr id="36" name="Oval 35"/>
          <p:cNvSpPr/>
          <p:nvPr/>
        </p:nvSpPr>
        <p:spPr>
          <a:xfrm>
            <a:off x="4645152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3672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4</a:t>
            </a:r>
          </a:p>
        </p:txBody>
      </p:sp>
      <p:sp>
        <p:nvSpPr>
          <p:cNvPr id="39" name="Oval 38"/>
          <p:cNvSpPr/>
          <p:nvPr/>
        </p:nvSpPr>
        <p:spPr>
          <a:xfrm>
            <a:off x="6556248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chatbot to agent swarm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55863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47735"/>
                </a:solidFill>
                <a:latin typeface="Bahnschrift"/>
              </a:rPr>
              <a:t>ACT 5</a:t>
            </a:r>
          </a:p>
        </p:txBody>
      </p:sp>
      <p:sp>
        <p:nvSpPr>
          <p:cNvPr id="42" name="Oval 41"/>
          <p:cNvSpPr/>
          <p:nvPr/>
        </p:nvSpPr>
        <p:spPr>
          <a:xfrm>
            <a:off x="8467343" y="2011680"/>
            <a:ext cx="1005840" cy="100584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5863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My use case: launch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6</a:t>
            </a:r>
          </a:p>
        </p:txBody>
      </p:sp>
      <p:sp>
        <p:nvSpPr>
          <p:cNvPr id="45" name="Oval 44"/>
          <p:cNvSpPr/>
          <p:nvPr/>
        </p:nvSpPr>
        <p:spPr>
          <a:xfrm>
            <a:off x="1037843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5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Your turn</a:t>
            </a:r>
          </a:p>
          <a:p>
            <a:pPr algn="ctr">
              <a:spcBef>
                <a:spcPts val="2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Grok Bot, the library,</a:t>
            </a:r>
          </a:p>
          <a:p>
            <a:pPr algn="ctr"/>
            <a:r>
              <a:rPr sz="1300" b="0" lang="en-US" dirty="0">
                <a:solidFill>
                  <a:srgbClr val="28455F"/>
                </a:solidFill>
                <a:latin typeface="Arial"/>
              </a:rPr>
              <a:t>the build</a:t>
            </a:r>
          </a:p>
        </p:txBody>
      </p:sp>
      <p:sp>
        <p:nvSpPr>
          <p:cNvPr id="100" name="Hands-on label"/>
          <p:cNvSpPr/>
          <p:nvPr/>
        </p:nvSpPr>
        <p:spPr>
          <a:xfrm>
            <a:off x="609905" y="416052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b" rtlCol="0"/>
          <a:lstStyle/>
          <a:p>
            <a:pPr algn="l"/>
            <a:r>
              <a:rPr sz="1300" b="1" lang="en-US" dirty="0">
                <a:solidFill>
                  <a:srgbClr val="F47735"/>
                </a:solidFill>
                <a:latin typeface="Bahnschrift"/>
              </a:rPr>
              <a:t>THEN, HANDS-ON</a:t>
            </a:r>
          </a:p>
        </p:txBody>
      </p:sp>
      <p:sp>
        <p:nvSpPr>
          <p:cNvPr id="101" name="Session card 1"/>
          <p:cNvSpPr/>
          <p:nvPr/>
        </p:nvSpPr>
        <p:spPr>
          <a:xfrm>
            <a:off x="60990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2" name="Session icon bg 1"/>
          <p:cNvSpPr/>
          <p:nvPr/>
        </p:nvSpPr>
        <p:spPr>
          <a:xfrm>
            <a:off x="83850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3" name="Session 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65" y="5029200"/>
            <a:ext cx="502920" cy="502920"/>
          </a:xfrm>
          <a:prstGeom prst="rect">
            <a:avLst/>
          </a:prstGeom>
        </p:spPr>
      </p:pic>
      <p:sp>
        <p:nvSpPr>
          <p:cNvPr id="104" name="Session text 1"/>
          <p:cNvSpPr/>
          <p:nvPr/>
        </p:nvSpPr>
        <p:spPr>
          <a:xfrm>
            <a:off x="179862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11:15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Team creation</a:t>
            </a:r>
          </a:p>
        </p:txBody>
      </p:sp>
      <p:sp>
        <p:nvSpPr>
          <p:cNvPr id="105" name="Session card 2"/>
          <p:cNvSpPr/>
          <p:nvPr/>
        </p:nvSpPr>
        <p:spPr>
          <a:xfrm>
            <a:off x="435894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6" name="Session icon bg 2"/>
          <p:cNvSpPr/>
          <p:nvPr/>
        </p:nvSpPr>
        <p:spPr>
          <a:xfrm>
            <a:off x="458754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7" name="Session ico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705" y="5029200"/>
            <a:ext cx="502920" cy="502920"/>
          </a:xfrm>
          <a:prstGeom prst="rect">
            <a:avLst/>
          </a:prstGeom>
        </p:spPr>
      </p:pic>
      <p:sp>
        <p:nvSpPr>
          <p:cNvPr id="108" name="Session text 2"/>
          <p:cNvSpPr/>
          <p:nvPr/>
        </p:nvSpPr>
        <p:spPr>
          <a:xfrm>
            <a:off x="554766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1:45 PM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Build the AI worker</a:t>
            </a:r>
          </a:p>
        </p:txBody>
      </p:sp>
      <p:sp>
        <p:nvSpPr>
          <p:cNvPr id="109" name="Session card 3"/>
          <p:cNvSpPr/>
          <p:nvPr/>
        </p:nvSpPr>
        <p:spPr>
          <a:xfrm>
            <a:off x="810798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10" name="Session icon bg 3"/>
          <p:cNvSpPr/>
          <p:nvPr/>
        </p:nvSpPr>
        <p:spPr>
          <a:xfrm>
            <a:off x="833658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1" name="Session ico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745" y="5029200"/>
            <a:ext cx="502920" cy="502920"/>
          </a:xfrm>
          <a:prstGeom prst="rect">
            <a:avLst/>
          </a:prstGeom>
        </p:spPr>
      </p:pic>
      <p:sp>
        <p:nvSpPr>
          <p:cNvPr id="112" name="Session text 3"/>
          <p:cNvSpPr/>
          <p:nvPr/>
        </p:nvSpPr>
        <p:spPr>
          <a:xfrm>
            <a:off x="929670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F47735"/>
                </a:solidFill>
                <a:latin typeface="Bahnschrift"/>
              </a:rPr>
              <a:t>Wed 9:00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Demo day</a:t>
            </a:r>
          </a:p>
        </p:txBody>
      </p:sp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Four objectives for today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01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Give AI goals, not questions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Move from summarizing and finding answers to orchestrating and executing whole workflows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882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02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Meet the frontier agents</a:t>
            </a:r>
          </a:p>
          <a:p>
            <a:pPr algn="l">
              <a:spcBef>
                <a:spcPts val="1000"/>
              </a:spcBef>
            </a:pPr>
            <a:r>
              <a:rPr sz="1500" b="1" lang="en-US" dirty="0">
                <a:solidFill>
                  <a:srgbClr val="FFFFFF"/>
                </a:solidFill>
                <a:latin typeface="Arial"/>
              </a:rPr>
              <a:t>Grok Bot</a:t>
            </a:r>
            <a:r>
              <a:rPr sz="1500" b="0" lang="en-US" dirty="0">
                <a:solidFill>
                  <a:srgbClr val="FFFFFF"/>
                </a:solidFill>
                <a:latin typeface="Arial"/>
              </a:rPr>
              <a:t>, Claude.ai, Microsoft Copilot, ChatGPT, Meta Muse: your own personal workforce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74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03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Context is our secret sauce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Prompt engineering becomes context engineering. Medical Affairs holds the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666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04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Have fun building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Form a team, build a real AI worker together, and show it on demo day</a:t>
            </a:r>
          </a:p>
        </p:txBody>
      </p:sp>
      <p:sp>
        <p:nvSpPr>
          <p:cNvPr id="200" name="Objective icon bg 1"/>
          <p:cNvSpPr/>
          <p:nvPr/>
        </p:nvSpPr>
        <p:spPr>
          <a:xfrm>
            <a:off x="86593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1" name="Objective ic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7" y="5074920"/>
            <a:ext cx="548640" cy="548640"/>
          </a:xfrm>
          <a:prstGeom prst="rect">
            <a:avLst/>
          </a:prstGeom>
        </p:spPr>
      </p:pic>
      <p:sp>
        <p:nvSpPr>
          <p:cNvPr id="202" name="Objective icon bg 2"/>
          <p:cNvSpPr/>
          <p:nvPr/>
        </p:nvSpPr>
        <p:spPr>
          <a:xfrm>
            <a:off x="365485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3" name="Objective icon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2017" y="5074920"/>
            <a:ext cx="548640" cy="548640"/>
          </a:xfrm>
          <a:prstGeom prst="rect">
            <a:avLst/>
          </a:prstGeom>
        </p:spPr>
      </p:pic>
      <p:sp>
        <p:nvSpPr>
          <p:cNvPr id="204" name="Objective icon bg 3"/>
          <p:cNvSpPr/>
          <p:nvPr/>
        </p:nvSpPr>
        <p:spPr>
          <a:xfrm>
            <a:off x="644377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5" name="Objective ic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937" y="5074920"/>
            <a:ext cx="548640" cy="548640"/>
          </a:xfrm>
          <a:prstGeom prst="rect">
            <a:avLst/>
          </a:prstGeom>
        </p:spPr>
      </p:pic>
      <p:sp>
        <p:nvSpPr>
          <p:cNvPr id="206" name="Objective icon bg 4"/>
          <p:cNvSpPr/>
          <p:nvPr/>
        </p:nvSpPr>
        <p:spPr>
          <a:xfrm>
            <a:off x="923269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7" name="Objective ic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857" y="5074920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A882B5C-8688-49A0-8070-DC58FDD7F7C9}"/>
              </a:ext>
            </a:extLst>
          </p:cNvPr>
          <p:cNvSpPr>
            <a:spLocks noGrp="1"/>
          </p:cNvSpPr>
          <p:nvPr/>
        </p:nvSpPr>
        <p:spPr>
          <a:xfrm>
            <a:off x="609904" y="329184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300" b="1" lang="en-US" dirty="0">
                <a:solidFill>
                  <a:srgbClr val="002B55"/>
                </a:solidFill>
                <a:latin typeface="Bahnschrift"/>
              </a:rPr>
              <a:t>AI agents went from minutes-long tasks to day-long tasks in three years</a:t>
            </a:r>
          </a:p>
        </p:txBody>
      </p:sp>
      <p:sp>
        <p:nvSpPr>
          <p:cNvPr id="2201" name="Subtitle"/>
          <p:cNvSpPr/>
          <p:nvPr/>
        </p:nvSpPr>
        <p:spPr>
          <a:xfrm>
            <a:off x="609905" y="896112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50" b="0" lang="en-US" dirty="0">
                <a:solidFill>
                  <a:srgbClr val="28455F"/>
                </a:solidFill>
                <a:latin typeface="Arial"/>
              </a:rPr>
              <a:t>METR 50% time horizon: about 4 min for GPT-4 (March 2023) → 12 h for Claude Opus 4.6 and at least 16 h for Claude Mythos Preview (2026)</a:t>
            </a:r>
          </a:p>
        </p:txBody>
      </p:sp>
      <p:pic>
        <p:nvPicPr>
          <p:cNvPr id="2202" name="METR time horizon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7863840" cy="4160520"/>
          </a:xfrm>
          <a:prstGeom prst="rect">
            <a:avLst/>
          </a:prstGeom>
        </p:spPr>
      </p:pic>
      <p:sp>
        <p:nvSpPr>
          <p:cNvPr id="2203" name="Frontier box"/>
          <p:cNvSpPr/>
          <p:nvPr/>
        </p:nvSpPr>
        <p:spPr>
          <a:xfrm>
            <a:off x="8503920" y="1371600"/>
            <a:ext cx="3078785" cy="4114800"/>
          </a:xfrm>
          <a:prstGeom prst="roundRect">
            <a:avLst>
              <a:gd name="adj" fmla="val 12000"/>
            </a:avLst>
          </a:prstGeom>
          <a:solidFill>
            <a:srgbClr val="EEF4F6"/>
          </a:solidFill>
          <a:ln w="12700">
            <a:solidFill>
              <a:srgbClr val="C9D9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04" name="Frontier head"/>
          <p:cNvSpPr/>
          <p:nvPr/>
        </p:nvSpPr>
        <p:spPr>
          <a:xfrm>
            <a:off x="8686800" y="1554480"/>
            <a:ext cx="2713025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SEPTEMBER 2026 FRONTIER</a:t>
            </a:r>
          </a:p>
          <a:p>
            <a:pPr algn="l"/>
            <a:r>
              <a:rPr sz="1300" b="1" lang="en-US" dirty="0">
                <a:solidFill>
                  <a:srgbClr val="B4501F"/>
                </a:solidFill>
                <a:latin typeface="Arial"/>
              </a:rPr>
              <a:t>too new for METR</a:t>
            </a:r>
          </a:p>
        </p:txBody>
      </p:sp>
      <p:sp>
        <p:nvSpPr>
          <p:cNvPr id="2205" name="ECI head"/>
          <p:cNvSpPr/>
          <p:nvPr/>
        </p:nvSpPr>
        <p:spPr>
          <a:xfrm>
            <a:off x="8686800" y="2423160"/>
            <a:ext cx="2713025" cy="7772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Epoch Capabilities Index (ECI)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Epoch AI composite of many benchmarks, in index points (not hours)</a:t>
            </a:r>
          </a:p>
        </p:txBody>
      </p:sp>
      <p:sp>
        <p:nvSpPr>
          <p:cNvPr id="2210" name="ECI row bg"/>
          <p:cNvSpPr/>
          <p:nvPr/>
        </p:nvSpPr>
        <p:spPr>
          <a:xfrm>
            <a:off x="8686800" y="3383280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1" name="ECI row"/>
          <p:cNvSpPr/>
          <p:nvPr/>
        </p:nvSpPr>
        <p:spPr>
          <a:xfrm>
            <a:off x="8823960" y="3383280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Claude Opus 5.5</a:t>
            </a:r>
          </a:p>
        </p:txBody>
      </p:sp>
      <p:sp>
        <p:nvSpPr>
          <p:cNvPr id="2212" name="ECI value"/>
          <p:cNvSpPr/>
          <p:nvPr/>
        </p:nvSpPr>
        <p:spPr>
          <a:xfrm>
            <a:off x="10439705" y="3383280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167.3</a:t>
            </a:r>
          </a:p>
        </p:txBody>
      </p:sp>
      <p:sp>
        <p:nvSpPr>
          <p:cNvPr id="2213" name="ECI row bg"/>
          <p:cNvSpPr/>
          <p:nvPr/>
        </p:nvSpPr>
        <p:spPr>
          <a:xfrm>
            <a:off x="8686800" y="4005072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4" name="ECI row"/>
          <p:cNvSpPr/>
          <p:nvPr/>
        </p:nvSpPr>
        <p:spPr>
          <a:xfrm>
            <a:off x="8823960" y="4005072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GPT-6 Astra</a:t>
            </a:r>
          </a:p>
        </p:txBody>
      </p:sp>
      <p:sp>
        <p:nvSpPr>
          <p:cNvPr id="2215" name="ECI value"/>
          <p:cNvSpPr/>
          <p:nvPr/>
        </p:nvSpPr>
        <p:spPr>
          <a:xfrm>
            <a:off x="10439705" y="4005072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166.5</a:t>
            </a:r>
          </a:p>
        </p:txBody>
      </p:sp>
      <p:sp>
        <p:nvSpPr>
          <p:cNvPr id="2216" name="ECI row bg"/>
          <p:cNvSpPr/>
          <p:nvPr/>
        </p:nvSpPr>
        <p:spPr>
          <a:xfrm>
            <a:off x="8686800" y="4626864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7" name="ECI row"/>
          <p:cNvSpPr/>
          <p:nvPr/>
        </p:nvSpPr>
        <p:spPr>
          <a:xfrm>
            <a:off x="8823960" y="4626864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Grok 4.7</a:t>
            </a:r>
          </a:p>
        </p:txBody>
      </p:sp>
      <p:sp>
        <p:nvSpPr>
          <p:cNvPr id="2218" name="ECI value"/>
          <p:cNvSpPr/>
          <p:nvPr/>
        </p:nvSpPr>
        <p:spPr>
          <a:xfrm>
            <a:off x="10439705" y="4626864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153.5</a:t>
            </a:r>
          </a:p>
        </p:txBody>
      </p:sp>
      <p:sp>
        <p:nvSpPr>
          <p:cNvPr id="2240" name="Takeaway"/>
          <p:cNvSpPr/>
          <p:nvPr/>
        </p:nvSpPr>
        <p:spPr>
          <a:xfrm>
            <a:off x="609905" y="5532120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50" b="1" lang="en-US" dirty="0">
                <a:solidFill>
                  <a:srgbClr val="007879"/>
                </a:solidFill>
                <a:latin typeface="Bahnschrift"/>
              </a:rPr>
              <a:t>Task length AI can complete has doubled about every 4 months since 2023, and the newest models have outgrown the test.</a:t>
            </a:r>
          </a:p>
        </p:txBody>
      </p:sp>
      <p:sp>
        <p:nvSpPr>
          <p:cNvPr id="2241" name="Source"/>
          <p:cNvSpPr/>
          <p:nvPr/>
        </p:nvSpPr>
        <p:spPr>
          <a:xfrm>
            <a:off x="609905" y="5925312"/>
            <a:ext cx="10972800" cy="47548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METR time-horizons (updated May 2026) and METR posts on X; Epoch AI Capabilities Index. 50% success on well-defined software tasks, measured by how long a human expert takes.</a:t>
            </a:r>
          </a:p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Doubling: METR 128.7 days since 2023 (95% CI 104–158). Top points have wide ranges (Opus 4.6: 5–61 h; Mythos: 8–55 h). *GPT-5.6 Sol: pre-deployment, METR post on X.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53ACD3-405B-4460-8B94-F8039403285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863131-6680-4188-8C1A-D66FE2709E1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EEA88E-EB33-46D4-A215-1E36B4926B73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6287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Scientific questions already reach AI at scale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300M+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people a week ask ChatGPT health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02138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543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8948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7352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5757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416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56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097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37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778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138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0543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78948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7352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5757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9416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56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097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937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778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38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0543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78948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7352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5757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416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56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097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37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778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138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40543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948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7352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55757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9416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3256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7097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937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4778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2138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0543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8948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7352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55757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9416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256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097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937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4778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566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6M people · OpenAI, July 2026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8774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5350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1M+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5350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questions a day answered by OpenEvidence</a:t>
            </a:r>
          </a:p>
        </p:txBody>
      </p:sp>
      <p:sp>
        <p:nvSpPr>
          <p:cNvPr id="70" name="Oval 69"/>
          <p:cNvSpPr/>
          <p:nvPr/>
        </p:nvSpPr>
        <p:spPr>
          <a:xfrm>
            <a:off x="65992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832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673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513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354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51946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90351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28756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7160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05565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992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832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673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7513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1354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51946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90351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28756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7160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005565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992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9832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3673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7513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1354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946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0351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28756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67160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05565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992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32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3673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7513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354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51946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0351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8756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67160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05565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5992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9832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3673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7513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1354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1946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90351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28756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67160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05565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55350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20K questions · OpenEvidence company statement, 2026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9904" y="5833872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Arial"/>
              </a:rPr>
              <a:t>Different populations and units. Both change where scientific exchange begins.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1747B1-FFBA-435A-8439-6FFD9A9C8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21CCDA6-FF9A-487E-8A8E-74D128D37F3E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4333875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north star</a:t>
            </a:r>
          </a:p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remains the same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BC5237-6715-4681-819F-19F6B1C108DF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238625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spcAft>
                <a:spcPts val="600"/>
              </a:spcAft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Patient outcomes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via evidence · exchange · insights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826604-1EB0-4B9D-9C95-12E755EFD58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F2EAA-1C04-4EA8-AC72-4936EA36D97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2C77E-1D71-4C5A-8D5F-08FB635972D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1709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634532-BC20-45B4-8616-F7476D0F795D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Most of us start here: one answer at a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AEF4B-05C9-4D6E-8BE4-AB272E01E3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2CC21-E81D-408B-AE61-E03A53048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9502A1-E883-46CF-AC8A-E38A168704C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6304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342900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AI 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19" name="Connector 18"/>
          <p:cNvCxnSpPr>
            <a:stCxn id="17" idx="3"/>
            <a:endCxn id="18" idx="1"/>
          </p:cNvCxnSpPr>
          <p:nvPr/>
        </p:nvCxnSpPr>
        <p:spPr>
          <a:xfrm>
            <a:off x="3264408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6285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Copy into a doc</a:t>
            </a:r>
          </a:p>
        </p:txBody>
      </p:sp>
      <p:cxnSp>
        <p:nvCxnSpPr>
          <p:cNvPr id="21" name="Connector 20"/>
          <p:cNvCxnSpPr>
            <a:stCxn id="18" idx="3"/>
            <a:endCxn id="20" idx="1"/>
          </p:cNvCxnSpPr>
          <p:nvPr/>
        </p:nvCxnSpPr>
        <p:spPr>
          <a:xfrm flipV="1">
            <a:off x="4425696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24144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the next question</a:t>
            </a:r>
          </a:p>
        </p:txBody>
      </p:sp>
      <p:cxnSp>
        <p:nvCxnSpPr>
          <p:cNvPr id="23" name="Connector 22"/>
          <p:cNvCxnSpPr>
            <a:stCxn id="20" idx="3"/>
            <a:endCxn id="22" idx="1"/>
          </p:cNvCxnSpPr>
          <p:nvPr/>
        </p:nvCxnSpPr>
        <p:spPr>
          <a:xfrm flipV="1">
            <a:off x="5586984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85432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25" name="Connector 24"/>
          <p:cNvCxnSpPr>
            <a:stCxn id="22" idx="3"/>
            <a:endCxn id="24" idx="1"/>
          </p:cNvCxnSpPr>
          <p:nvPr/>
        </p:nvCxnSpPr>
        <p:spPr>
          <a:xfrm>
            <a:off x="6748272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4672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Merge and reformat</a:t>
            </a:r>
          </a:p>
        </p:txBody>
      </p:sp>
      <p:cxnSp>
        <p:nvCxnSpPr>
          <p:cNvPr id="27" name="Connector 26"/>
          <p:cNvCxnSpPr>
            <a:stCxn id="24" idx="3"/>
            <a:endCxn id="26" idx="1"/>
          </p:cNvCxnSpPr>
          <p:nvPr/>
        </p:nvCxnSpPr>
        <p:spPr>
          <a:xfrm flipV="1">
            <a:off x="7909560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08008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Check every source</a:t>
            </a:r>
          </a:p>
        </p:txBody>
      </p:sp>
      <p:cxnSp>
        <p:nvCxnSpPr>
          <p:cNvPr id="29" name="Connector 28"/>
          <p:cNvCxnSpPr>
            <a:stCxn id="26" idx="3"/>
            <a:endCxn id="28" idx="1"/>
          </p:cNvCxnSpPr>
          <p:nvPr/>
        </p:nvCxnSpPr>
        <p:spPr>
          <a:xfrm flipV="1">
            <a:off x="9070848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6929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Send for review</a:t>
            </a:r>
          </a:p>
        </p:txBody>
      </p:sp>
      <p:cxnSp>
        <p:nvCxnSpPr>
          <p:cNvPr id="31" name="Connector 30"/>
          <p:cNvCxnSpPr>
            <a:stCxn id="28" idx="3"/>
            <a:endCxn id="30" idx="1"/>
          </p:cNvCxnSpPr>
          <p:nvPr/>
        </p:nvCxnSpPr>
        <p:spPr>
          <a:xfrm flipV="1">
            <a:off x="10232136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904" y="544068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F47735"/>
                </a:solidFill>
                <a:latin typeface="Bahnschrift"/>
              </a:rPr>
              <a:t>The human carries every handoff. The orange arrows are you, picking the work back up.</a:t>
            </a:r>
          </a:p>
        </p:txBody>
      </p:sp>
    </p:spTree>
    <p:extLst>
      <p:ext uri="{BB962C8B-B14F-4D97-AF65-F5344CB8AC3E}">
        <p14:creationId xmlns:p14="http://schemas.microsoft.com/office/powerpoint/2010/main" val="2036818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96CDBB-2C24-4F65-B67D-84F7F686B3D8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problem is not chat. It is the unit of work.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4CF685-D052-48E6-9653-6836C645450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C0B5DD-DE70-4E6B-AF33-20C7EB18B30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087B7E-3F72-41BE-BD44-D22C094242E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37160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2B55"/>
                </a:solidFill>
                <a:latin typeface="Arial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Answer</a:t>
            </a:r>
          </a:p>
        </p:txBody>
      </p:sp>
      <p:cxnSp>
        <p:nvCxnSpPr>
          <p:cNvPr id="20" name="Connector 19"/>
          <p:cNvCxnSpPr>
            <a:stCxn id="18" idx="3"/>
            <a:endCxn id="19" idx="1"/>
          </p:cNvCxnSpPr>
          <p:nvPr/>
        </p:nvCxnSpPr>
        <p:spPr>
          <a:xfrm flipV="1">
            <a:off x="2621584" y="2148840"/>
            <a:ext cx="487376" cy="0"/>
          </a:xfrm>
          <a:prstGeom prst="line">
            <a:avLst/>
          </a:prstGeom>
          <a:ln w="2540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0" y="1920240"/>
            <a:ext cx="603504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0">
                <a:solidFill>
                  <a:srgbClr val="28455F"/>
                </a:solidFill>
                <a:latin typeface="Arial"/>
              </a:rPr>
              <a:t>One exchange. Then you start over.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" y="2834640"/>
            <a:ext cx="10972800" cy="0"/>
          </a:xfrm>
          <a:prstGeom prst="line">
            <a:avLst/>
          </a:prstGeom>
          <a:ln w="12700">
            <a:solidFill>
              <a:srgbClr val="D5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" y="301752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Objective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10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cxnSp>
        <p:nvCxnSpPr>
          <p:cNvPr id="26" name="Connector 25"/>
          <p:cNvCxnSpPr>
            <a:stCxn id="24" idx="3"/>
            <a:endCxn id="25" idx="1"/>
          </p:cNvCxnSpPr>
          <p:nvPr/>
        </p:nvCxnSpPr>
        <p:spPr>
          <a:xfrm flipV="1">
            <a:off x="1981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8103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Find evidence</a:t>
            </a:r>
          </a:p>
        </p:txBody>
      </p:sp>
      <p:cxnSp>
        <p:nvCxnSpPr>
          <p:cNvPr id="28" name="Connector 27"/>
          <p:cNvCxnSpPr>
            <a:stCxn id="25" idx="3"/>
            <a:endCxn id="27" idx="1"/>
          </p:cNvCxnSpPr>
          <p:nvPr/>
        </p:nvCxnSpPr>
        <p:spPr>
          <a:xfrm flipV="1">
            <a:off x="35817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4105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cxnSp>
        <p:nvCxnSpPr>
          <p:cNvPr id="30" name="Connector 29"/>
          <p:cNvCxnSpPr>
            <a:stCxn id="27" idx="3"/>
            <a:endCxn id="29" idx="1"/>
          </p:cNvCxnSpPr>
          <p:nvPr/>
        </p:nvCxnSpPr>
        <p:spPr>
          <a:xfrm flipV="1">
            <a:off x="51819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0107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Draft</a:t>
            </a:r>
          </a:p>
        </p:txBody>
      </p:sp>
      <p:cxnSp>
        <p:nvCxnSpPr>
          <p:cNvPr id="32" name="Connector 31"/>
          <p:cNvCxnSpPr>
            <a:stCxn id="29" idx="3"/>
            <a:endCxn id="31" idx="1"/>
          </p:cNvCxnSpPr>
          <p:nvPr/>
        </p:nvCxnSpPr>
        <p:spPr>
          <a:xfrm flipV="1">
            <a:off x="67821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10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Quality check</a:t>
            </a:r>
          </a:p>
        </p:txBody>
      </p:sp>
      <p:cxnSp>
        <p:nvCxnSpPr>
          <p:cNvPr id="34" name="Connector 33"/>
          <p:cNvCxnSpPr>
            <a:stCxn id="31" idx="3"/>
            <a:endCxn id="33" idx="1"/>
          </p:cNvCxnSpPr>
          <p:nvPr/>
        </p:nvCxnSpPr>
        <p:spPr>
          <a:xfrm flipV="1">
            <a:off x="83823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11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Human review</a:t>
            </a:r>
          </a:p>
        </p:txBody>
      </p:sp>
      <p:cxnSp>
        <p:nvCxnSpPr>
          <p:cNvPr id="36" name="Connector 35"/>
          <p:cNvCxnSpPr>
            <a:stCxn id="33" idx="3"/>
            <a:endCxn id="35" idx="1"/>
          </p:cNvCxnSpPr>
          <p:nvPr/>
        </p:nvCxnSpPr>
        <p:spPr>
          <a:xfrm flipV="1">
            <a:off x="9982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466344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Many steps, one outcome, checked before it reaches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" y="53035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400" b="1">
                <a:solidFill>
                  <a:srgbClr val="002B55"/>
                </a:solidFill>
                <a:latin typeface="Bahnschrift"/>
              </a:rPr>
              <a:t>Stop optimizing the answer. Start designing the work.</a:t>
            </a:r>
          </a:p>
        </p:txBody>
      </p:sp>
    </p:spTree>
    <p:extLst>
      <p:ext uri="{BB962C8B-B14F-4D97-AF65-F5344CB8AC3E}">
        <p14:creationId xmlns:p14="http://schemas.microsoft.com/office/powerpoint/2010/main" val="1761201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D109C4E-CBFF-468E-A85D-B088C2F387D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Prompt → task → workflow → agent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157EE8-81A1-4BB6-935B-E00F8EEAB3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1D0FBF-6166-478E-85D5-B7197E459D2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148D30-39B3-4FB0-BB75-14F06252BF7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65760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2B55"/>
                </a:solidFill>
                <a:latin typeface="Bahnschrift"/>
              </a:rPr>
              <a:t>PROMPT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“Summarize these 3 papers.”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98824" y="297180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7879"/>
                </a:solidFill>
                <a:latin typeface="Bahnschrift"/>
              </a:rPr>
              <a:t>TASK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“Analyze the evidence on treatment sequencing.”</a:t>
            </a:r>
          </a:p>
        </p:txBody>
      </p:sp>
      <p:cxnSp>
        <p:nvCxnSpPr>
          <p:cNvPr id="31" name="Connector 30"/>
          <p:cNvCxnSpPr>
            <a:stCxn id="29" idx="0"/>
            <a:endCxn id="30" idx="1"/>
          </p:cNvCxnSpPr>
          <p:nvPr/>
        </p:nvCxnSpPr>
        <p:spPr>
          <a:xfrm>
            <a:off x="1890064" y="3657600"/>
            <a:ext cx="1508760" cy="3200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87744" y="2286000"/>
            <a:ext cx="2560320" cy="2697480"/>
          </a:xfrm>
          <a:prstGeom prst="roundRect">
            <a:avLst>
              <a:gd name="adj" fmla="val 6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WORKFLOW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“Determine what changed and what it means for our medical strategy.”</a:t>
            </a:r>
          </a:p>
        </p:txBody>
      </p:sp>
      <p:cxnSp>
        <p:nvCxnSpPr>
          <p:cNvPr id="33" name="Connector 32"/>
          <p:cNvCxnSpPr>
            <a:stCxn id="30" idx="0"/>
            <a:endCxn id="32" idx="1"/>
          </p:cNvCxnSpPr>
          <p:nvPr/>
        </p:nvCxnSpPr>
        <p:spPr>
          <a:xfrm>
            <a:off x="4678984" y="2971800"/>
            <a:ext cx="1508760" cy="6629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76664" y="1600200"/>
            <a:ext cx="256032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AGENT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“Here is the objective. Plan the work, execute it, check it, then bring me the result.”</a:t>
            </a:r>
          </a:p>
        </p:txBody>
      </p:sp>
      <p:cxnSp>
        <p:nvCxnSpPr>
          <p:cNvPr id="35" name="Connector 34"/>
          <p:cNvCxnSpPr>
            <a:stCxn id="32" idx="0"/>
            <a:endCxn id="34" idx="1"/>
          </p:cNvCxnSpPr>
          <p:nvPr/>
        </p:nvCxnSpPr>
        <p:spPr>
          <a:xfrm>
            <a:off x="7467904" y="2286000"/>
            <a:ext cx="1508760" cy="10058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904" y="5349240"/>
            <a:ext cx="10972800" cy="0"/>
          </a:xfrm>
          <a:prstGeom prst="line">
            <a:avLst/>
          </a:prstGeom>
          <a:ln w="444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55321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0">
                <a:solidFill>
                  <a:srgbClr val="28455F"/>
                </a:solidFill>
                <a:latin typeface="Arial"/>
              </a:rPr>
              <a:t>More of the work, and more of the responsibility, moves from you to the agent</a:t>
            </a:r>
          </a:p>
        </p:txBody>
      </p:sp>
    </p:spTree>
    <p:extLst>
      <p:ext uri="{BB962C8B-B14F-4D97-AF65-F5344CB8AC3E}">
        <p14:creationId xmlns:p14="http://schemas.microsoft.com/office/powerpoint/2010/main" val="243807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prompts to assignments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691640"/>
            <a:ext cx="31089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8A9BAA"/>
                </a:solidFill>
                <a:latin typeface="Bahnschrift"/>
              </a:rPr>
              <a:t>A PROMPT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03120"/>
            <a:ext cx="3108960" cy="128016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0">
                <a:solidFill>
                  <a:srgbClr val="28455F"/>
                </a:solidFill>
                <a:latin typeface="Arial"/>
              </a:rPr>
              <a:t>“Summarize obesity papers”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" y="3794760"/>
            <a:ext cx="310896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500" b="0">
                <a:solidFill>
                  <a:srgbClr val="28455F"/>
                </a:solidFill>
                <a:latin typeface="Arial"/>
              </a:rPr>
              <a:t>One answer. Repeated handoffs.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77639" y="2423160"/>
            <a:ext cx="914400" cy="685800"/>
          </a:xfrm>
          <a:prstGeom prst="rightArrow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66360" y="1463040"/>
            <a:ext cx="640080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1463040"/>
            <a:ext cx="6400800" cy="6400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600" b="1">
                <a:solidFill>
                  <a:srgbClr val="FFFFFF"/>
                </a:solidFill>
                <a:latin typeface="Bahnschrift"/>
              </a:rPr>
              <a:t>AN ASSIGNMENT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28600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34086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Reviewable ad-board package: sustaining treatment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2862072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916936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Our evidence position, house rules, past questions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3438144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93008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PubMed, ClinicalTrials.gov, approved inputs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4014216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69080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Charter, agenda, pre-read, claim ledger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0" y="4590288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Checks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645151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Every claim cited; limitations stated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516636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22122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A named human approves before use</a:t>
            </a:r>
          </a:p>
        </p:txBody>
      </p:sp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3657600" cy="2651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800"/>
              </a:spcAft>
            </a:pPr>
            <a:r>
              <a:rPr sz="3200" b="1" lang="en-US" dirty="0">
                <a:solidFill>
                  <a:srgbClr val="002B55"/>
                </a:solidFill>
                <a:latin typeface="Bahnschrift"/>
              </a:rPr>
              <a:t>Stop asking AI questions.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Start giving it jobs.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572000" cy="10058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ACT 2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The interface is changing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finding information to completing 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904" y="1417320"/>
            <a:ext cx="338328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2022 · SEARCH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633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278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Find pages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664" y="251460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5664" y="272491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5664" y="310896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5664" y="331927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5664" y="370332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5664" y="391363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5664" y="429768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5664" y="450799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0466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04664" y="1417320"/>
            <a:ext cx="338328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2024–25 · ANSWER ENGINES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109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8754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Synthesize responses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78984" y="2468880"/>
            <a:ext cx="2834640" cy="182880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98755" bIns="98755"/>
          <a:lstStyle/>
          <a:p>
            <a:pPr algn="l"/>
            <a:r>
              <a:rPr sz="1500" b="1">
                <a:solidFill>
                  <a:srgbClr val="007879"/>
                </a:solidFill>
                <a:latin typeface="Arial"/>
              </a:rPr>
              <a:t>Synthesized answer</a:t>
            </a:r>
          </a:p>
          <a:p>
            <a:pPr algn="l"/>
            <a:r>
              <a:rPr sz="1200" b="0">
                <a:solidFill>
                  <a:srgbClr val="28455F"/>
                </a:solidFill>
                <a:latin typeface="Arial"/>
              </a:rPr>
              <a:t>One response, built from many sources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789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47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[2]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505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[3]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942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99424" y="1417320"/>
            <a:ext cx="338328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2026 · WORKFLOW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30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Plan · act · inspect · deliver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22384" y="242316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Plan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2384" y="3063239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Act</a:t>
            </a:r>
          </a:p>
        </p:txBody>
      </p:sp>
      <p:cxnSp>
        <p:nvCxnSpPr>
          <p:cNvPr id="40" name="Connector 39"/>
          <p:cNvCxnSpPr>
            <a:stCxn id="38" idx="2"/>
            <a:endCxn id="39" idx="0"/>
          </p:cNvCxnSpPr>
          <p:nvPr/>
        </p:nvCxnSpPr>
        <p:spPr>
          <a:xfrm flipH="1">
            <a:off x="9891064" y="2834640"/>
            <a:ext cx="0" cy="228599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22384" y="370332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Inspect</a:t>
            </a:r>
          </a:p>
        </p:txBody>
      </p:sp>
      <p:cxnSp>
        <p:nvCxnSpPr>
          <p:cNvPr id="42" name="Connector 41"/>
          <p:cNvCxnSpPr>
            <a:stCxn id="39" idx="2"/>
            <a:endCxn id="41" idx="0"/>
          </p:cNvCxnSpPr>
          <p:nvPr/>
        </p:nvCxnSpPr>
        <p:spPr>
          <a:xfrm flipH="1">
            <a:off x="9891064" y="3474719"/>
            <a:ext cx="0" cy="228601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22384" y="434340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Deliver</a:t>
            </a:r>
          </a:p>
        </p:txBody>
      </p:sp>
      <p:cxnSp>
        <p:nvCxnSpPr>
          <p:cNvPr id="44" name="Connector 43"/>
          <p:cNvCxnSpPr>
            <a:stCxn id="41" idx="2"/>
            <a:endCxn id="43" idx="0"/>
          </p:cNvCxnSpPr>
          <p:nvPr/>
        </p:nvCxnSpPr>
        <p:spPr>
          <a:xfrm flipH="1">
            <a:off x="9891064" y="4114800"/>
            <a:ext cx="0" cy="22860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6E5F924-CED9-464A-8315-1792B7F59BB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the frontier agents</a:t>
            </a:r>
          </a:p>
        </p:txBody>
      </p:sp>
      <p:sp>
        <p:nvSpPr>
          <p:cNvPr id="2501" name="Grok highlight card"/>
          <p:cNvSpPr/>
          <p:nvPr/>
        </p:nvSpPr>
        <p:spPr>
          <a:xfrm>
            <a:off x="493776" y="1463040"/>
            <a:ext cx="2157984" cy="24688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54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9D996E-1391-475D-A61F-BAAC845E0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905" y="1600200"/>
            <a:ext cx="777240" cy="7772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35E46-7F6C-4B7C-B740-A2A0F99ACAC9}"/>
              </a:ext>
            </a:extLst>
          </p:cNvPr>
          <p:cNvSpPr>
            <a:spLocks noGrp="1"/>
          </p:cNvSpPr>
          <p:nvPr/>
        </p:nvSpPr>
        <p:spPr>
          <a:xfrm>
            <a:off x="60990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Grok Bot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860906-43E4-4732-835B-AF274135CC88}"/>
              </a:ext>
            </a:extLst>
          </p:cNvPr>
          <p:cNvSpPr>
            <a:spLocks noGrp="1"/>
          </p:cNvSpPr>
          <p:nvPr/>
        </p:nvSpPr>
        <p:spPr>
          <a:xfrm>
            <a:off x="60990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xAI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B591E4-42AC-4330-B5A3-D7324F088E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884932" y="1600200"/>
            <a:ext cx="777240" cy="777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2D54306-4B4A-4957-9F20-32E54BD7D126}"/>
              </a:ext>
            </a:extLst>
          </p:cNvPr>
          <p:cNvSpPr>
            <a:spLocks noGrp="1"/>
          </p:cNvSpPr>
          <p:nvPr/>
        </p:nvSpPr>
        <p:spPr>
          <a:xfrm>
            <a:off x="2884932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Claude.ai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249B64-E957-4E3D-8F67-CD781274C4EF}"/>
              </a:ext>
            </a:extLst>
          </p:cNvPr>
          <p:cNvSpPr>
            <a:spLocks noGrp="1"/>
          </p:cNvSpPr>
          <p:nvPr/>
        </p:nvSpPr>
        <p:spPr>
          <a:xfrm>
            <a:off x="2884932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Anthropic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0CB58D-8F87-4B25-BEE9-29389A76A7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59959" y="1600200"/>
            <a:ext cx="777240" cy="7772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564693-4C8E-461A-AE27-4BCB5406242D}"/>
              </a:ext>
            </a:extLst>
          </p:cNvPr>
          <p:cNvSpPr>
            <a:spLocks noGrp="1"/>
          </p:cNvSpPr>
          <p:nvPr/>
        </p:nvSpPr>
        <p:spPr>
          <a:xfrm>
            <a:off x="5159959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Microsoft Copilot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3BB86-D008-46DB-9F20-D16473D5151D}"/>
              </a:ext>
            </a:extLst>
          </p:cNvPr>
          <p:cNvSpPr>
            <a:spLocks noGrp="1"/>
          </p:cNvSpPr>
          <p:nvPr/>
        </p:nvSpPr>
        <p:spPr>
          <a:xfrm>
            <a:off x="5159959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Microsoft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FA60E3-2E3E-42F3-972E-BC2EFF21D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434986" y="1600200"/>
            <a:ext cx="777240" cy="7772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1082850-D22C-444D-AFFC-4B8585197E76}"/>
              </a:ext>
            </a:extLst>
          </p:cNvPr>
          <p:cNvSpPr>
            <a:spLocks noGrp="1"/>
          </p:cNvSpPr>
          <p:nvPr/>
        </p:nvSpPr>
        <p:spPr>
          <a:xfrm>
            <a:off x="7434986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ChatGPT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E41F1-67F2-4F44-B4D6-465DB1479E58}"/>
              </a:ext>
            </a:extLst>
          </p:cNvPr>
          <p:cNvSpPr>
            <a:spLocks noGrp="1"/>
          </p:cNvSpPr>
          <p:nvPr/>
        </p:nvSpPr>
        <p:spPr>
          <a:xfrm>
            <a:off x="7434986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OpenAI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F3C3B-0A87-4D5C-A62B-519C99F2880B}"/>
              </a:ext>
            </a:extLst>
          </p:cNvPr>
          <p:cNvSpPr>
            <a:spLocks noGrp="1"/>
          </p:cNvSpPr>
          <p:nvPr/>
        </p:nvSpPr>
        <p:spPr>
          <a:xfrm>
            <a:off x="609600" y="544068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700" b="1" lang="en-US" dirty="0">
                <a:solidFill>
                  <a:srgbClr val="007879"/>
                </a:solidFill>
                <a:latin typeface="Arial"/>
              </a:rPr>
              <a:t>Same assignment and checks · different access and controls · use what your workplace provides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5E933-92D7-4C7A-8078-DCEBF3C0C4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54F90-338F-423D-B4A4-E1ED4FB7A74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E2AD6F-81A2-419D-AB54-A17FE8C8009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15</a:t>
            </a:r>
          </a:p>
        </p:txBody>
      </p:sp>
      <p:sp>
        <p:nvSpPr>
          <p:cNvPr id="300" name="Meta Muse text tile"/>
          <p:cNvSpPr/>
          <p:nvPr/>
        </p:nvSpPr>
        <p:spPr>
          <a:xfrm>
            <a:off x="9708185" y="1600200"/>
            <a:ext cx="7772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Meta</a:t>
            </a:r>
          </a:p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Muse</a:t>
            </a:r>
          </a:p>
        </p:txBody>
      </p:sp>
      <p:sp>
        <p:nvSpPr>
          <p:cNvPr id="301" name="Meta Muse name"/>
          <p:cNvSpPr/>
          <p:nvPr/>
        </p:nvSpPr>
        <p:spPr>
          <a:xfrm>
            <a:off x="9708185" y="2560320"/>
            <a:ext cx="2057400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Meta Muse</a:t>
            </a:r>
          </a:p>
        </p:txBody>
      </p:sp>
      <p:sp>
        <p:nvSpPr>
          <p:cNvPr id="302" name="Meta Muse maker"/>
          <p:cNvSpPr/>
          <p:nvPr/>
        </p:nvSpPr>
        <p:spPr>
          <a:xfrm>
            <a:off x="9708185" y="3383280"/>
            <a:ext cx="20574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Meta</a:t>
            </a:r>
          </a:p>
        </p:txBody>
      </p:sp>
      <p:sp>
        <p:nvSpPr>
          <p:cNvPr id="303" name="Shift from"/>
          <p:cNvSpPr/>
          <p:nvPr/>
        </p:nvSpPr>
        <p:spPr>
          <a:xfrm>
            <a:off x="609905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Bahnschrift"/>
              </a:rPr>
              <a:t>CHAT TOOLS</a:t>
            </a:r>
          </a:p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You ask, it answers</a:t>
            </a:r>
          </a:p>
        </p:txBody>
      </p:sp>
      <p:sp>
        <p:nvSpPr>
          <p:cNvPr id="304" name="Shift arrow"/>
          <p:cNvSpPr/>
          <p:nvPr/>
        </p:nvSpPr>
        <p:spPr>
          <a:xfrm>
            <a:off x="3886200" y="4343400"/>
            <a:ext cx="4389120" cy="59436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the shift</a:t>
            </a:r>
          </a:p>
        </p:txBody>
      </p:sp>
      <p:sp>
        <p:nvSpPr>
          <p:cNvPr id="305" name="Shift to"/>
          <p:cNvSpPr/>
          <p:nvPr/>
        </p:nvSpPr>
        <p:spPr>
          <a:xfrm>
            <a:off x="8476488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9FD3D3"/>
                </a:solidFill>
                <a:latin typeface="Bahnschrift"/>
              </a:rPr>
              <a:t>PERSONAL AGENTS</a:t>
            </a:r>
          </a:p>
          <a:p>
            <a:pPr algn="l"/>
            <a:r>
              <a:rPr sz="1700" b="1" lang="en-US" dirty="0">
                <a:solidFill>
                  <a:srgbClr val="FFFFFF"/>
                </a:solidFill>
                <a:latin typeface="Arial"/>
              </a:rPr>
              <a:t>Your own workforce</a:t>
            </a:r>
          </a:p>
        </p:txBody>
      </p:sp>
      <p:sp>
        <p:nvSpPr>
          <p:cNvPr id="2502" name="Used today tag"/>
          <p:cNvSpPr/>
          <p:nvPr/>
        </p:nvSpPr>
        <p:spPr>
          <a:xfrm>
            <a:off x="1499616" y="1572768"/>
            <a:ext cx="1051560" cy="25603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</p:spTree>
    <p:extLst>
      <p:ext uri="{BB962C8B-B14F-4D97-AF65-F5344CB8AC3E}">
        <p14:creationId xmlns:p14="http://schemas.microsoft.com/office/powerpoint/2010/main" val="1708317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F67994E-A2A6-4345-B88D-7AAB75A8A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5577840" y="1417320"/>
            <a:ext cx="6004865" cy="3377794"/>
          </a:xfrm>
          <a:prstGeom prst="roundRect">
            <a:avLst>
              <a:gd name="adj" fmla="val 5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56B72F8-65E9-44A3-BB4A-F62CC6A612D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own workforce: a small team, clear handoffs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E3F85-C539-43A3-9ADF-0EE4C83E9901}"/>
              </a:ext>
            </a:extLst>
          </p:cNvPr>
          <p:cNvSpPr>
            <a:spLocks noGrp="1"/>
          </p:cNvSpPr>
          <p:nvPr/>
        </p:nvSpPr>
        <p:spPr>
          <a:xfrm>
            <a:off x="609905" y="2240280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Coordinator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9E1C4E-1242-4439-8B9B-DC21F246A0DF}"/>
              </a:ext>
            </a:extLst>
          </p:cNvPr>
          <p:cNvSpPr>
            <a:spLocks noGrp="1"/>
          </p:cNvSpPr>
          <p:nvPr/>
        </p:nvSpPr>
        <p:spPr>
          <a:xfrm>
            <a:off x="2651760" y="2240280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Owns the outcome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3E982E-516E-47BE-9A68-42DBF3BAC9E8}"/>
              </a:ext>
            </a:extLst>
          </p:cNvPr>
          <p:cNvSpPr>
            <a:spLocks noGrp="1"/>
          </p:cNvSpPr>
          <p:nvPr/>
        </p:nvSpPr>
        <p:spPr>
          <a:xfrm>
            <a:off x="609905" y="2898648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Evidence worker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08254-EA85-4461-89E9-0E1804514D40}"/>
              </a:ext>
            </a:extLst>
          </p:cNvPr>
          <p:cNvSpPr>
            <a:spLocks noGrp="1"/>
          </p:cNvSpPr>
          <p:nvPr/>
        </p:nvSpPr>
        <p:spPr>
          <a:xfrm>
            <a:off x="2651760" y="2898648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sources + limitations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28D86E-A18C-4878-BBFE-B6BD95A8172D}"/>
              </a:ext>
            </a:extLst>
          </p:cNvPr>
          <p:cNvSpPr>
            <a:spLocks noGrp="1"/>
          </p:cNvSpPr>
          <p:nvPr/>
        </p:nvSpPr>
        <p:spPr>
          <a:xfrm>
            <a:off x="609905" y="3557016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Design worker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7B3780-845B-4653-AEC0-4DFEE12D2E97}"/>
              </a:ext>
            </a:extLst>
          </p:cNvPr>
          <p:cNvSpPr>
            <a:spLocks noGrp="1"/>
          </p:cNvSpPr>
          <p:nvPr/>
        </p:nvSpPr>
        <p:spPr>
          <a:xfrm>
            <a:off x="2651760" y="3557016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decision map + draft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C1D159-B4C1-4777-9EA1-8D91A5D5A159}"/>
              </a:ext>
            </a:extLst>
          </p:cNvPr>
          <p:cNvSpPr>
            <a:spLocks noGrp="1"/>
          </p:cNvSpPr>
          <p:nvPr/>
        </p:nvSpPr>
        <p:spPr>
          <a:xfrm>
            <a:off x="609905" y="4215384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F47735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Reviewer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70046E-A2C2-4A05-9C84-AFA88434C802}"/>
              </a:ext>
            </a:extLst>
          </p:cNvPr>
          <p:cNvSpPr>
            <a:spLocks noGrp="1"/>
          </p:cNvSpPr>
          <p:nvPr/>
        </p:nvSpPr>
        <p:spPr>
          <a:xfrm>
            <a:off x="2651760" y="4215384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defects + severity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9EE7EE-25D6-4639-84C3-1EB43D6E2F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8EA743-A8F8-490E-B1C5-C4DBCA25F08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98483E-C625-4C4D-9496-8AABB6C9780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16</a:t>
            </a:r>
          </a:p>
        </p:txBody>
      </p:sp>
      <p:sp>
        <p:nvSpPr>
          <p:cNvPr id="310" name="You bar"/>
          <p:cNvSpPr/>
          <p:nvPr/>
        </p:nvSpPr>
        <p:spPr>
          <a:xfrm>
            <a:off x="609905" y="1417320"/>
            <a:ext cx="4663440" cy="566928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YOU  ·  set the goal, approve the result</a:t>
            </a:r>
          </a:p>
        </p:txBody>
      </p:sp>
      <p:sp>
        <p:nvSpPr>
          <p:cNvPr id="311" name="Handoff line"/>
          <p:cNvSpPr/>
          <p:nvPr/>
        </p:nvSpPr>
        <p:spPr>
          <a:xfrm>
            <a:off x="609905" y="507492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Arial"/>
              </a:rPr>
              <a:t>Every handoff carries inputs, sources, open questions and a done-check</a:t>
            </a:r>
          </a:p>
        </p:txBody>
      </p:sp>
    </p:spTree>
    <p:extLst>
      <p:ext uri="{BB962C8B-B14F-4D97-AF65-F5344CB8AC3E}">
        <p14:creationId xmlns:p14="http://schemas.microsoft.com/office/powerpoint/2010/main" val="96215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79B43C-2826-4F43-BD99-8262F2A9E66A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new vocabulary of AI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C2D5C6-4C69-4F80-9A24-B1C20436AE2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CC7CB1-450A-4719-AC02-E3A2A8D6730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89369C-81CC-4EC3-9637-760BFD18E71E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reasoning engine that reads and writes language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608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8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612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612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A model pursuing a goal through tools and feedback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226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226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30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30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environment that manages tools, state, permissions and checks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90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Everything the model can see for this step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3608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3608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612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612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Saved information and progress across steps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226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6226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230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Skills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30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Reusable instructions for a type of work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90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990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94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Tools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994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Permitted ways to reach a source or take an action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3608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3608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612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Swarm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5612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Several specialists coordinated around one outcome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6226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6226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230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Long horizon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30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Work that runs across many steps and hours</a:t>
            </a:r>
          </a:p>
        </p:txBody>
      </p:sp>
    </p:spTree>
    <p:extLst>
      <p:ext uri="{BB962C8B-B14F-4D97-AF65-F5344CB8AC3E}">
        <p14:creationId xmlns:p14="http://schemas.microsoft.com/office/powerpoint/2010/main" val="1005100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053DC41-0FDF-4237-8CC6-1B375DBF13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2" name="Label panel 3"/>
          <p:cNvSpPr/>
          <p:nvPr/>
        </p:nvSpPr>
        <p:spPr>
          <a:xfrm>
            <a:off x="7818120" y="4937760"/>
            <a:ext cx="3767328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1" name="Label panel 2"/>
          <p:cNvSpPr/>
          <p:nvPr/>
        </p:nvSpPr>
        <p:spPr>
          <a:xfrm>
            <a:off x="4206240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0" name="Label panel 1"/>
          <p:cNvSpPr/>
          <p:nvPr/>
        </p:nvSpPr>
        <p:spPr>
          <a:xfrm>
            <a:off x="609905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B8FF26-E715-405F-B42B-52D643D21D23}"/>
              </a:ext>
            </a:extLst>
          </p:cNvPr>
          <p:cNvSpPr>
            <a:spLocks noGrp="1"/>
          </p:cNvSpPr>
          <p:nvPr/>
        </p:nvSpPr>
        <p:spPr>
          <a:xfrm>
            <a:off x="3931920" y="411480"/>
            <a:ext cx="765352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600" b="1" lang="en-US" dirty="0">
                <a:solidFill>
                  <a:srgbClr val="002B55"/>
                </a:solidFill>
                <a:latin typeface="Bahnschrift"/>
              </a:rPr>
              <a:t>What is an AI agent?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0D9E9F-855C-427C-8106-1EBA770234E2}"/>
              </a:ext>
            </a:extLst>
          </p:cNvPr>
          <p:cNvSpPr>
            <a:spLocks noGrp="1"/>
          </p:cNvSpPr>
          <p:nvPr/>
        </p:nvSpPr>
        <p:spPr>
          <a:xfrm>
            <a:off x="792785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HUMAN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6670C6-F984-42B9-BD74-DCFA4E09ED24}"/>
              </a:ext>
            </a:extLst>
          </p:cNvPr>
          <p:cNvSpPr>
            <a:spLocks noGrp="1"/>
          </p:cNvSpPr>
          <p:nvPr/>
        </p:nvSpPr>
        <p:spPr>
          <a:xfrm>
            <a:off x="792785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Purpose · boundaries · review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61924-761F-42C3-A16B-9487314BFF7A}"/>
              </a:ext>
            </a:extLst>
          </p:cNvPr>
          <p:cNvSpPr>
            <a:spLocks noGrp="1"/>
          </p:cNvSpPr>
          <p:nvPr/>
        </p:nvSpPr>
        <p:spPr>
          <a:xfrm>
            <a:off x="4389120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F875AC-BF2E-40E2-817F-A74FFA3888F9}"/>
              </a:ext>
            </a:extLst>
          </p:cNvPr>
          <p:cNvSpPr>
            <a:spLocks noGrp="1"/>
          </p:cNvSpPr>
          <p:nvPr/>
        </p:nvSpPr>
        <p:spPr>
          <a:xfrm>
            <a:off x="4389120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Reasoning + language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2B247A-3D04-47E7-892E-DBC725D4C21F}"/>
              </a:ext>
            </a:extLst>
          </p:cNvPr>
          <p:cNvSpPr>
            <a:spLocks noGrp="1"/>
          </p:cNvSpPr>
          <p:nvPr/>
        </p:nvSpPr>
        <p:spPr>
          <a:xfrm>
            <a:off x="8001000" y="5001768"/>
            <a:ext cx="3401568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61FB3D-D3D3-49B7-81A2-F46EE004E527}"/>
              </a:ext>
            </a:extLst>
          </p:cNvPr>
          <p:cNvSpPr>
            <a:spLocks noGrp="1"/>
          </p:cNvSpPr>
          <p:nvPr/>
        </p:nvSpPr>
        <p:spPr>
          <a:xfrm>
            <a:off x="8001000" y="5367528"/>
            <a:ext cx="3401568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· memory · permissions · checks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15DF7-A1D6-4987-B86A-344C96D4D6E8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09728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An agent = a model + a harness + human direction, working on a real job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492D2D-6226-4304-9BD1-D4B2919F000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3D507A-FB5D-4878-B1FB-51A01C53C09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6914C-E69B-4A26-9EE5-5D37F9E3EC0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341356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9BBA57C-CC59-4D2D-8E02-F648D0BC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000" b="24000"/>
          <a:stretch>
            <a:fillRect/>
          </a:stretch>
        </p:blipFill>
        <p:spPr>
          <a:xfrm>
            <a:off x="0" y="1188720"/>
            <a:ext cx="12191695" cy="3520440"/>
          </a:xfrm>
          <a:prstGeom prst="rect">
            <a:avLst/>
          </a:prstGeom>
        </p:spPr>
      </p:pic>
      <p:sp>
        <p:nvSpPr>
          <p:cNvPr id="330" name="Context highlight"/>
          <p:cNvSpPr/>
          <p:nvPr/>
        </p:nvSpPr>
        <p:spPr>
          <a:xfrm>
            <a:off x="4224528" y="4828032"/>
            <a:ext cx="3749040" cy="148132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solidFill>
              <a:srgbClr val="F6B894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1C776-1041-46B1-810F-3426DCD7B7D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Context is the secret sauce, and Medical Affairs holds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12BB6-662E-4A1A-B635-66E8B53FB527}"/>
              </a:ext>
            </a:extLst>
          </p:cNvPr>
          <p:cNvSpPr>
            <a:spLocks noGrp="1"/>
          </p:cNvSpPr>
          <p:nvPr/>
        </p:nvSpPr>
        <p:spPr>
          <a:xfrm>
            <a:off x="60990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Prompt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093677-D826-411A-83F2-8D960EF06B7D}"/>
              </a:ext>
            </a:extLst>
          </p:cNvPr>
          <p:cNvSpPr>
            <a:spLocks noGrp="1"/>
          </p:cNvSpPr>
          <p:nvPr/>
        </p:nvSpPr>
        <p:spPr>
          <a:xfrm>
            <a:off x="60990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you ask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8D6F4B-2C43-4C46-81B2-67A3B7873ABE}"/>
              </a:ext>
            </a:extLst>
          </p:cNvPr>
          <p:cNvSpPr>
            <a:spLocks noGrp="1"/>
          </p:cNvSpPr>
          <p:nvPr/>
        </p:nvSpPr>
        <p:spPr>
          <a:xfrm>
            <a:off x="609905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Instructions + output format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92BC0-9441-4D2C-B736-2CC915CA2224}"/>
              </a:ext>
            </a:extLst>
          </p:cNvPr>
          <p:cNvSpPr>
            <a:spLocks noGrp="1"/>
          </p:cNvSpPr>
          <p:nvPr/>
        </p:nvSpPr>
        <p:spPr>
          <a:xfrm>
            <a:off x="441929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F47735"/>
                </a:solidFill>
                <a:latin typeface="Bahnschrift"/>
              </a:rPr>
              <a:t>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949373-FDB8-4E2F-AE97-D748F70955D1}"/>
              </a:ext>
            </a:extLst>
          </p:cNvPr>
          <p:cNvSpPr>
            <a:spLocks noGrp="1"/>
          </p:cNvSpPr>
          <p:nvPr/>
        </p:nvSpPr>
        <p:spPr>
          <a:xfrm>
            <a:off x="441929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What it can see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F9B8D3-B080-45ED-BD06-BD0D1F910D6F}"/>
              </a:ext>
            </a:extLst>
          </p:cNvPr>
          <p:cNvSpPr>
            <a:spLocks noGrp="1"/>
          </p:cNvSpPr>
          <p:nvPr/>
        </p:nvSpPr>
        <p:spPr>
          <a:xfrm>
            <a:off x="4389120" y="5760720"/>
            <a:ext cx="347472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B4501F"/>
                </a:solidFill>
                <a:latin typeface="Arial"/>
              </a:rPr>
              <a:t>Held by Medical Affairs: </a:t>
            </a:r>
            <a:r>
              <a:rPr sz="1400" b="0" lang="en-US" dirty="0">
                <a:solidFill>
                  <a:srgbClr val="002B55"/>
                </a:solidFill>
                <a:latin typeface="Arial"/>
              </a:rPr>
              <a:t>evidence, house rules, past decisions, field insight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140DAB-4ADD-4B0C-AEAC-B3E8DDE69697}"/>
              </a:ext>
            </a:extLst>
          </p:cNvPr>
          <p:cNvSpPr>
            <a:spLocks noGrp="1"/>
          </p:cNvSpPr>
          <p:nvPr/>
        </p:nvSpPr>
        <p:spPr>
          <a:xfrm>
            <a:off x="8229600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94925E-FA1F-4C98-8F34-A6990DB04DD4}"/>
              </a:ext>
            </a:extLst>
          </p:cNvPr>
          <p:cNvSpPr>
            <a:spLocks noGrp="1"/>
          </p:cNvSpPr>
          <p:nvPr/>
        </p:nvSpPr>
        <p:spPr>
          <a:xfrm>
            <a:off x="8229600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the work runs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D660DB-9C5E-4BC6-9231-29E70567E8E2}"/>
              </a:ext>
            </a:extLst>
          </p:cNvPr>
          <p:cNvSpPr>
            <a:spLocks noGrp="1"/>
          </p:cNvSpPr>
          <p:nvPr/>
        </p:nvSpPr>
        <p:spPr>
          <a:xfrm>
            <a:off x="8229600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+ permissions + checkpoints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C5BA60-4E8D-4342-AB69-251A25F0C43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0AC861-ABBD-4F60-A309-553C2794260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6712A0-7BC6-40BE-A579-EC03C313ADD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696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anel 1"/>
          <p:cNvSpPr/>
          <p:nvPr/>
        </p:nvSpPr>
        <p:spPr>
          <a:xfrm>
            <a:off x="609905" y="1280160"/>
            <a:ext cx="3657600" cy="452628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1" name="Panel 2"/>
          <p:cNvSpPr/>
          <p:nvPr/>
        </p:nvSpPr>
        <p:spPr>
          <a:xfrm>
            <a:off x="4663440" y="1280160"/>
            <a:ext cx="2971800" cy="45262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solidFill>
              <a:srgbClr val="B9DAD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2" name="Panel 3"/>
          <p:cNvSpPr/>
          <p:nvPr/>
        </p:nvSpPr>
        <p:spPr>
          <a:xfrm>
            <a:off x="8028432" y="1280160"/>
            <a:ext cx="3557016" cy="4526280"/>
          </a:xfrm>
          <a:prstGeom prst="roundRect">
            <a:avLst>
              <a:gd name="adj" fmla="val 12000"/>
            </a:avLst>
          </a:prstGeom>
          <a:solidFill>
            <a:srgbClr val="FDEEE6"/>
          </a:solidFill>
          <a:ln w="12700">
            <a:solidFill>
              <a:srgbClr val="F6C9A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5" name="Abstracted frame"/>
          <p:cNvSpPr/>
          <p:nvPr/>
        </p:nvSpPr>
        <p:spPr>
          <a:xfrm>
            <a:off x="4800600" y="1828800"/>
            <a:ext cx="2697480" cy="274320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007879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From the data we own to meaningful action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5" y="1389888"/>
            <a:ext cx="32918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THE DATA WE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389888"/>
            <a:ext cx="26060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THE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1389888"/>
            <a:ext cx="3191256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3 · MEANINGFUL ACTION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38704" y="2148839"/>
            <a:ext cx="0" cy="1600200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38704" y="2454451"/>
            <a:ext cx="725586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438704" y="3254551"/>
            <a:ext cx="1174023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438704" y="3749039"/>
            <a:ext cx="1174023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438704" y="3749039"/>
            <a:ext cx="725586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38704" y="3749039"/>
            <a:ext cx="0" cy="1600201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713119" y="3749039"/>
            <a:ext cx="725585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64682" y="3749039"/>
            <a:ext cx="1174022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1264682" y="3254551"/>
            <a:ext cx="1174022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1713119" y="2454451"/>
            <a:ext cx="725585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62632" y="182880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HCP &amp; KOL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88218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Congress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36655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Publications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6655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MI enquiries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8218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Ad boards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62632" y="5340096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Field insights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37047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RWE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610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Guidelines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610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Safety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7047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Trial data</a:t>
            </a:r>
          </a:p>
        </p:txBody>
      </p:sp>
      <p:sp>
        <p:nvSpPr>
          <p:cNvPr id="41" name="Oval 40"/>
          <p:cNvSpPr/>
          <p:nvPr/>
        </p:nvSpPr>
        <p:spPr>
          <a:xfrm>
            <a:off x="1890064" y="3200399"/>
            <a:ext cx="1097280" cy="109728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Medical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Affairs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context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0" y="1920240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Access &amp; governance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0" y="2350008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Retrieval &amp; search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0" y="2779776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Skills &amp; instructions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0" y="3209544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Guardrails &amp; review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0" y="363931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Orchestration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087368"/>
            <a:ext cx="2606040" cy="438912"/>
          </a:xfrm>
          <a:prstGeom prst="rect">
            <a:avLst/>
          </a:prstGeom>
          <a:noFill/>
        </p:spPr>
        <p:txBody>
          <a:bodyPr wrap="square" lIns="18288" rIns="18288" tIns="10972" bIns="10972" anchor="t">
            </a:bodyPr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Largely abstracted away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by the tools</a:t>
            </a:r>
          </a:p>
        </p:txBody>
      </p:sp>
      <p:sp>
        <p:nvSpPr>
          <p:cNvPr id="48" name="Chevron 47"/>
          <p:cNvSpPr/>
          <p:nvPr/>
        </p:nvSpPr>
        <p:spPr>
          <a:xfrm>
            <a:off x="4306824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7671816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65592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MI response drafts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38944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Publication plans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65592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Congress intelligence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38944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Insight synthesis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65592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Ad-board packages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38944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Field briefings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65592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Launch readiness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38944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Evidence gap maps</a:t>
            </a:r>
          </a:p>
        </p:txBody>
      </p:sp>
      <p:sp>
        <p:nvSpPr>
          <p:cNvPr id="346" name="Integration box"/>
          <p:cNvSpPr/>
          <p:nvPr/>
        </p:nvSpPr>
        <p:spPr>
          <a:xfrm>
            <a:off x="4800600" y="4681728"/>
            <a:ext cx="269748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Bahnschrift"/>
              </a:rPr>
              <a:t>At scale: proper integration</a:t>
            </a:r>
          </a:p>
          <a:p>
            <a:pPr algn="ctr"/>
            <a:r>
              <a:rPr sz="1150" b="0" lang="en-US" dirty="0">
                <a:solidFill>
                  <a:srgbClr val="002B55"/>
                </a:solidFill>
                <a:latin typeface="Arial"/>
              </a:rPr>
              <a:t>identity, data access, validation, audit; the tools unlock it fast</a:t>
            </a:r>
          </a:p>
        </p:txBody>
      </p:sp>
      <p:sp>
        <p:nvSpPr>
          <p:cNvPr id="347" name="Panel3 caption"/>
          <p:cNvSpPr/>
          <p:nvPr/>
        </p:nvSpPr>
        <p:spPr>
          <a:xfrm>
            <a:off x="8165592" y="5486400"/>
            <a:ext cx="3291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50" b="1" lang="en-US" dirty="0">
                <a:solidFill>
                  <a:srgbClr val="B4501F"/>
                </a:solidFill>
                <a:latin typeface="Arial"/>
              </a:rPr>
              <a:t>Insights become decisions and deliverables</a:t>
            </a:r>
          </a:p>
        </p:txBody>
      </p:sp>
      <p:sp>
        <p:nvSpPr>
          <p:cNvPr id="348" name="Takeaway"/>
          <p:cNvSpPr/>
          <p:nvPr/>
        </p:nvSpPr>
        <p:spPr>
          <a:xfrm>
            <a:off x="609905" y="58978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We own both ends: the context going in and the judgment on what comes out.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5D1B9F-358E-46F7-887D-95B3B94E1F5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middle is being abstracted away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7EED6-ECC8-4C01-870E-0702A6E384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1B6662-8B31-4A43-AA57-0B4F709E32F4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56D22C-28EC-49BA-A635-6267DA26DD68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173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FFFFFF"/>
                </a:solidFill>
                <a:latin typeface="Bahnschrift"/>
              </a:rPr>
              <a:t>Your Medical Affairs judgment +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" y="233172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Orchestration &amp;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4224" y="2990087"/>
            <a:ext cx="640080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Retrieval &amp; connectors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1384" y="3648456"/>
            <a:ext cx="612647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Memory &amp;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8544" y="4306824"/>
            <a:ext cx="585215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Model hosting &amp; scaling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502920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Enterprise integration: identity, data access, validation, audit</a:t>
            </a:r>
          </a:p>
        </p:txBody>
      </p:sp>
      <p:sp>
        <p:nvSpPr>
          <p:cNvPr id="19" name="Right Brace 18"/>
          <p:cNvSpPr/>
          <p:nvPr/>
        </p:nvSpPr>
        <p:spPr>
          <a:xfrm>
            <a:off x="7726679" y="2331720"/>
            <a:ext cx="292608" cy="2542032"/>
          </a:xfrm>
          <a:prstGeom prst="rightBrace">
            <a:avLst/>
          </a:prstGeom>
          <a:noFill/>
          <a:ln w="254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508760"/>
            <a:ext cx="338328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F47735"/>
                </a:solidFill>
                <a:latin typeface="Bahnschrift"/>
              </a:rPr>
              <a:t>Stays with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880360"/>
            <a:ext cx="3383280" cy="1463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Now handled by the frontier agents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Capability unlocks 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029200"/>
            <a:ext cx="33832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Scale still needs proper integration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and the tools now unlock it quickly</a:t>
            </a:r>
          </a:p>
        </p:txBody>
      </p:sp>
    </p:spTree>
    <p:extLst>
      <p:ext uri="{BB962C8B-B14F-4D97-AF65-F5344CB8AC3E}">
        <p14:creationId xmlns:p14="http://schemas.microsoft.com/office/powerpoint/2010/main" val="2091189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What makes it Medical Affairs: encoded judgment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" y="3200400"/>
            <a:ext cx="9418320" cy="0"/>
          </a:xfrm>
          <a:prstGeom prst="line">
            <a:avLst/>
          </a:prstGeom>
          <a:ln w="76200">
            <a:solidFill>
              <a:srgbClr val="C9D3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9904" y="2606040"/>
            <a:ext cx="1600200" cy="1188720"/>
          </a:xfrm>
          <a:prstGeom prst="roundRect">
            <a:avLst>
              <a:gd name="adj" fmla="val 12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28455F"/>
                </a:solidFill>
                <a:latin typeface="Arial"/>
              </a:rPr>
              <a:t>Generic answer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Evidence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Claims trace to the strongest source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0208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Selected, not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8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Prioritized for the decision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85816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Insight ≠ observation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0096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Separates what was seen from what it means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21424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linked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5704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Tied to medical objectives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Human accountable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A named person signs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29800" y="2606040"/>
            <a:ext cx="1755648" cy="118872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Medical Affairs 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You are not just using AI. You are teaching it how your function thinks.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9A6648-0740-4378-BDE8-DCADDB55B2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0" name="Text panel"/>
          <p:cNvSpPr/>
          <p:nvPr/>
        </p:nvSpPr>
        <p:spPr>
          <a:xfrm>
            <a:off x="384048" y="457200"/>
            <a:ext cx="5120640" cy="54406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D3DC2E-19E2-48DF-9C95-192028F90A74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75488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Agent Skills make</a:t>
            </a:r>
          </a:p>
          <a:p>
            <a:pPr algn="l"/>
            <a:r>
              <a:rPr sz="3200" b="1" lang="en-US" dirty="0">
                <a:solidFill>
                  <a:srgbClr val="007879"/>
                </a:solidFill>
                <a:latin typeface="Bahnschrift"/>
              </a:rPr>
              <a:t>expertise reusable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F7DE0A-F23A-4507-ABB3-3E44606BDF59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475488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GitHub is the shared shelf</a:t>
            </a:r>
          </a:p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 skill is the work recipe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4A822E7-05A8-4C6F-A064-93A97B1ABB78}"/>
              </a:ext>
            </a:extLst>
          </p:cNvPr>
          <p:cNvSpPr>
            <a:spLocks noGrp="1"/>
          </p:cNvSpPr>
          <p:nvPr/>
        </p:nvSpPr>
        <p:spPr>
          <a:xfrm>
            <a:off x="609600" y="347472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7FD089-C009-43AA-B4EC-DB9AC2B8F019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SKILL.md → procedure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519C911B-5B1A-4104-9231-F274556B1CA8}"/>
              </a:ext>
            </a:extLst>
          </p:cNvPr>
          <p:cNvSpPr>
            <a:spLocks noGrp="1"/>
          </p:cNvSpPr>
          <p:nvPr/>
        </p:nvSpPr>
        <p:spPr>
          <a:xfrm>
            <a:off x="609600" y="420624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886FDC-CF69-4D16-BB66-CEA50391F64E}"/>
              </a:ext>
            </a:extLst>
          </p:cNvPr>
          <p:cNvSpPr>
            <a:spLocks noGrp="1"/>
          </p:cNvSpPr>
          <p:nvPr/>
        </p:nvSpPr>
        <p:spPr>
          <a:xfrm>
            <a:off x="609600" y="434340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Supporting files →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7864219-6772-4FC2-9C6A-ACF491A9927B}"/>
              </a:ext>
            </a:extLst>
          </p:cNvPr>
          <p:cNvSpPr>
            <a:spLocks noGrp="1"/>
          </p:cNvSpPr>
          <p:nvPr/>
        </p:nvSpPr>
        <p:spPr>
          <a:xfrm>
            <a:off x="609600" y="4937760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97551-6A1A-40B2-A5F0-6E10E03AB84C}"/>
              </a:ext>
            </a:extLst>
          </p:cNvPr>
          <p:cNvSpPr>
            <a:spLocks noGrp="1"/>
          </p:cNvSpPr>
          <p:nvPr/>
        </p:nvSpPr>
        <p:spPr>
          <a:xfrm>
            <a:off x="609600" y="507492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House rules →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F6CB4B-FAF5-4A83-A128-ED3FF233AE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DAD448-40D2-4BE1-9420-52CB1D9E02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3D720-7039-431C-86E5-3962528F8309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34233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chatbot to agent swarm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27</a:t>
            </a:r>
          </a:p>
        </p:txBody>
      </p:sp>
      <p:sp>
        <p:nvSpPr>
          <p:cNvPr id="26" name="Rounded Rectangular Callout 25"/>
          <p:cNvSpPr/>
          <p:nvPr/>
        </p:nvSpPr>
        <p:spPr>
          <a:xfrm>
            <a:off x="1112824" y="2103120"/>
            <a:ext cx="1554480" cy="914400"/>
          </a:xfrm>
          <a:prstGeom prst="wedgeRoundRectCallou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002B55"/>
                </a:solidFill>
                <a:latin typeface="Bahnschrift"/>
              </a:rPr>
              <a:t>Q → 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734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90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2B55"/>
                </a:solidFill>
                <a:latin typeface="Bahnschrift"/>
              </a:rPr>
              <a:t>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62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question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An answer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do every step</a:t>
            </a:r>
          </a:p>
        </p:txBody>
      </p:sp>
      <p:sp>
        <p:nvSpPr>
          <p:cNvPr id="30" name="Oval 29"/>
          <p:cNvSpPr/>
          <p:nvPr/>
        </p:nvSpPr>
        <p:spPr>
          <a:xfrm>
            <a:off x="3764584" y="2194560"/>
            <a:ext cx="822960" cy="822960"/>
          </a:xfrm>
          <a:prstGeom prst="ellipse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AI</a:t>
            </a:r>
          </a:p>
        </p:txBody>
      </p:sp>
      <p:sp>
        <p:nvSpPr>
          <p:cNvPr id="31" name="Document 30"/>
          <p:cNvSpPr/>
          <p:nvPr/>
        </p:nvSpPr>
        <p:spPr>
          <a:xfrm>
            <a:off x="4861864" y="2148840"/>
            <a:ext cx="731520" cy="914400"/>
          </a:xfrm>
          <a:prstGeom prst="flowChartDocumen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doc</a:t>
            </a:r>
          </a:p>
        </p:txBody>
      </p:sp>
      <p:cxnSp>
        <p:nvCxnSpPr>
          <p:cNvPr id="32" name="Connector 31"/>
          <p:cNvCxnSpPr>
            <a:stCxn id="30" idx="3"/>
            <a:endCxn id="31" idx="1"/>
          </p:cNvCxnSpPr>
          <p:nvPr/>
        </p:nvCxnSpPr>
        <p:spPr>
          <a:xfrm flipV="1">
            <a:off x="4587544" y="2606040"/>
            <a:ext cx="274320" cy="0"/>
          </a:xfrm>
          <a:prstGeom prst="line">
            <a:avLst/>
          </a:prstGeom>
          <a:ln w="25400">
            <a:solidFill>
              <a:srgbClr val="1D5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77626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39882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1D5C8C"/>
                </a:solidFill>
                <a:latin typeface="Bahnschrift"/>
              </a:rPr>
              <a:t>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54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task + some files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draft of one deliverable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stitch drafts together</a:t>
            </a:r>
          </a:p>
        </p:txBody>
      </p:sp>
      <p:sp>
        <p:nvSpPr>
          <p:cNvPr id="36" name="Oval 35"/>
          <p:cNvSpPr/>
          <p:nvPr/>
        </p:nvSpPr>
        <p:spPr>
          <a:xfrm>
            <a:off x="7010704" y="2148840"/>
            <a:ext cx="914400" cy="91440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6424" y="157276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08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act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20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check</a:t>
            </a:r>
          </a:p>
        </p:txBody>
      </p:sp>
      <p:cxnSp>
        <p:nvCxnSpPr>
          <p:cNvPr id="40" name="Connector 39"/>
          <p:cNvCxnSpPr>
            <a:stCxn id="37" idx="3"/>
            <a:endCxn id="38" idx="0"/>
          </p:cNvCxnSpPr>
          <p:nvPr/>
        </p:nvCxnSpPr>
        <p:spPr>
          <a:xfrm>
            <a:off x="787938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38" idx="1"/>
            <a:endCxn id="39" idx="3"/>
          </p:cNvCxnSpPr>
          <p:nvPr/>
        </p:nvCxnSpPr>
        <p:spPr>
          <a:xfrm flipH="1" flipV="1">
            <a:off x="6964984" y="3291840"/>
            <a:ext cx="1005840" cy="0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39" idx="0"/>
            <a:endCxn id="37" idx="1"/>
          </p:cNvCxnSpPr>
          <p:nvPr/>
        </p:nvCxnSpPr>
        <p:spPr>
          <a:xfrm flipV="1">
            <a:off x="655350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6518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8774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7879"/>
                </a:solidFill>
                <a:latin typeface="Bahnschrift"/>
              </a:rPr>
              <a:t>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346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skills + house rules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finished workflow with provenance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review and decide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10256824" y="173736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055656" y="153619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10256824" y="217170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0847550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0256824" y="260604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0847550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256824" y="260604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0055656" y="327355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9464931" y="260604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263763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9464931" y="217170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263763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872776" y="2221992"/>
            <a:ext cx="768096" cy="768096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7666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F47735"/>
                </a:solidFill>
                <a:latin typeface="Bahnschrift"/>
              </a:rPr>
              <a:t>AGENT SWARM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238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an org chart + a context packet per role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coordinated plan, an auditor, human gates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lead and judge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904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Arial"/>
              </a:rPr>
              <a:t>The jump to a swarm is structure, not a bigger prompt: roles, context, handoffs, gates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904" y="5806440"/>
            <a:ext cx="10972800" cy="0"/>
          </a:xfrm>
          <a:prstGeom prst="line">
            <a:avLst/>
          </a:prstGeom>
          <a:ln w="317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Context engineering feeds every sub-agent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29</a:t>
            </a:r>
          </a:p>
        </p:txBody>
      </p:sp>
      <p:sp>
        <p:nvSpPr>
          <p:cNvPr id="22" name="Can 21"/>
          <p:cNvSpPr/>
          <p:nvPr/>
        </p:nvSpPr>
        <p:spPr>
          <a:xfrm>
            <a:off x="609904" y="1828800"/>
            <a:ext cx="2377440" cy="3291840"/>
          </a:xfrm>
          <a:prstGeom prst="can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MEDICAL AFFAIRS CONTEXT</a:t>
            </a:r>
          </a:p>
          <a:p>
            <a:pPr algn="ctr"/>
            <a:r>
              <a:rPr sz="8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House rules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Approved platform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Evidence &amp; label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Question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30632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Launch Lead</a:t>
            </a:r>
          </a:p>
          <a:p>
            <a:pPr algn="ctr"/>
            <a:r>
              <a:rPr sz="1200" b="0" lang="en-US" dirty="0">
                <a:solidFill>
                  <a:srgbClr val="FFFFFF"/>
                </a:solidFill>
                <a:latin typeface="Arial"/>
              </a:rPr>
              <a:t>coordinator</a:t>
            </a:r>
          </a:p>
        </p:txBody>
      </p:sp>
      <p:cxnSp>
        <p:nvCxnSpPr>
          <p:cNvPr id="24" name="Connector 23"/>
          <p:cNvCxnSpPr>
            <a:stCxn id="22" idx="3"/>
            <a:endCxn id="23" idx="1"/>
          </p:cNvCxnSpPr>
          <p:nvPr/>
        </p:nvCxnSpPr>
        <p:spPr>
          <a:xfrm>
            <a:off x="2987344" y="3474720"/>
            <a:ext cx="624536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ocument 24"/>
          <p:cNvSpPr/>
          <p:nvPr/>
        </p:nvSpPr>
        <p:spPr>
          <a:xfrm>
            <a:off x="6217920" y="141732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Facts sheet · question list · evidence landscape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50876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Strategy worker</a:t>
            </a:r>
          </a:p>
        </p:txBody>
      </p:sp>
      <p:cxnSp>
        <p:nvCxnSpPr>
          <p:cNvPr id="27" name="Connector 26"/>
          <p:cNvCxnSpPr>
            <a:stCxn id="23" idx="3"/>
            <a:endCxn id="25" idx="1"/>
          </p:cNvCxnSpPr>
          <p:nvPr/>
        </p:nvCxnSpPr>
        <p:spPr>
          <a:xfrm flipV="1">
            <a:off x="5440680" y="1851660"/>
            <a:ext cx="777240" cy="1668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25" idx="3"/>
            <a:endCxn id="26" idx="1"/>
          </p:cNvCxnSpPr>
          <p:nvPr/>
        </p:nvCxnSpPr>
        <p:spPr>
          <a:xfrm flipV="1">
            <a:off x="8732520" y="185166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ocument 28"/>
          <p:cNvSpPr/>
          <p:nvPr/>
        </p:nvSpPr>
        <p:spPr>
          <a:xfrm>
            <a:off x="6217920" y="251460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Platform draft · product profile · evidence table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260604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Narrative Architect</a:t>
            </a:r>
          </a:p>
        </p:txBody>
      </p:sp>
      <p:cxnSp>
        <p:nvCxnSpPr>
          <p:cNvPr id="31" name="Connector 30"/>
          <p:cNvCxnSpPr>
            <a:stCxn id="23" idx="3"/>
            <a:endCxn id="29" idx="1"/>
          </p:cNvCxnSpPr>
          <p:nvPr/>
        </p:nvCxnSpPr>
        <p:spPr>
          <a:xfrm flipV="1">
            <a:off x="5440680" y="2948940"/>
            <a:ext cx="777240" cy="57150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9" idx="3"/>
            <a:endCxn id="30" idx="1"/>
          </p:cNvCxnSpPr>
          <p:nvPr/>
        </p:nvCxnSpPr>
        <p:spPr>
          <a:xfrm flipV="1">
            <a:off x="8732520" y="294894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ocument 32"/>
          <p:cNvSpPr/>
          <p:nvPr/>
        </p:nvSpPr>
        <p:spPr>
          <a:xfrm>
            <a:off x="6217920" y="361188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MI enquiries · label · platform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98280" y="370332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MI Lead</a:t>
            </a:r>
          </a:p>
        </p:txBody>
      </p:sp>
      <p:cxnSp>
        <p:nvCxnSpPr>
          <p:cNvPr id="35" name="Connector 34"/>
          <p:cNvCxnSpPr>
            <a:stCxn id="23" idx="3"/>
            <a:endCxn id="33" idx="1"/>
          </p:cNvCxnSpPr>
          <p:nvPr/>
        </p:nvCxnSpPr>
        <p:spPr>
          <a:xfrm>
            <a:off x="5440680" y="3520440"/>
            <a:ext cx="777240" cy="525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3"/>
            <a:endCxn id="34" idx="1"/>
          </p:cNvCxnSpPr>
          <p:nvPr/>
        </p:nvCxnSpPr>
        <p:spPr>
          <a:xfrm flipV="1">
            <a:off x="8732520" y="404622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cument 36"/>
          <p:cNvSpPr/>
          <p:nvPr/>
        </p:nvSpPr>
        <p:spPr>
          <a:xfrm>
            <a:off x="6217920" y="4709159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Worker outputs, not the Lead’s summary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4800599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Readiness Auditor</a:t>
            </a:r>
          </a:p>
        </p:txBody>
      </p:sp>
      <p:cxnSp>
        <p:nvCxnSpPr>
          <p:cNvPr id="39" name="Connector 38"/>
          <p:cNvCxnSpPr>
            <a:stCxn id="23" idx="3"/>
            <a:endCxn id="37" idx="1"/>
          </p:cNvCxnSpPr>
          <p:nvPr/>
        </p:nvCxnSpPr>
        <p:spPr>
          <a:xfrm>
            <a:off x="5440680" y="3520440"/>
            <a:ext cx="777240" cy="1623059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37" idx="3"/>
            <a:endCxn id="38" idx="1"/>
          </p:cNvCxnSpPr>
          <p:nvPr/>
        </p:nvCxnSpPr>
        <p:spPr>
          <a:xfrm flipV="1">
            <a:off x="8732520" y="5143499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Step chip 1"/>
          <p:cNvSpPr/>
          <p:nvPr/>
        </p:nvSpPr>
        <p:spPr>
          <a:xfrm>
            <a:off x="60990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1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Medical Affairs holds the context</a:t>
            </a:r>
          </a:p>
        </p:txBody>
      </p:sp>
      <p:sp>
        <p:nvSpPr>
          <p:cNvPr id="401" name="Step chip 2"/>
          <p:cNvSpPr/>
          <p:nvPr/>
        </p:nvSpPr>
        <p:spPr>
          <a:xfrm>
            <a:off x="339882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2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Curate one source of truth</a:t>
            </a:r>
          </a:p>
        </p:txBody>
      </p:sp>
      <p:sp>
        <p:nvSpPr>
          <p:cNvPr id="402" name="Step chip 3"/>
          <p:cNvSpPr/>
          <p:nvPr/>
        </p:nvSpPr>
        <p:spPr>
          <a:xfrm>
            <a:off x="618774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  </a:t>
            </a:r>
            <a:r>
              <a:rPr sz="1300" b="1" lang="en-US" dirty="0">
                <a:solidFill>
                  <a:srgbClr val="FFFFFF"/>
                </a:solidFill>
                <a:latin typeface="Arial"/>
              </a:rPr>
              <a:t>Slice a packet per role</a:t>
            </a:r>
          </a:p>
        </p:txBody>
      </p:sp>
      <p:sp>
        <p:nvSpPr>
          <p:cNvPr id="403" name="Step chip 4"/>
          <p:cNvSpPr/>
          <p:nvPr/>
        </p:nvSpPr>
        <p:spPr>
          <a:xfrm>
            <a:off x="897666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4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Contracts at every handoff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3F4F98-1074-4377-80BA-95504B6586C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org chart of agents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027F41-579B-4BB7-8F3C-2B8384ECBA5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33AC67-DE2D-4F6A-BCFA-FCD15F7F125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F78467-EE88-4305-A8B1-69F8977637B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1648" y="1280160"/>
            <a:ext cx="4114800" cy="5943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You: Head of Medical Affairs (final judge)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2194560"/>
            <a:ext cx="3200400" cy="5943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Chief-of-staff agent (coordinator)</a:t>
            </a:r>
          </a:p>
        </p:txBody>
      </p:sp>
      <p:cxnSp>
        <p:nvCxnSpPr>
          <p:cNvPr id="15" name="Connector 14"/>
          <p:cNvCxnSpPr>
            <a:stCxn id="13" idx="2"/>
            <a:endCxn id="14" idx="0"/>
          </p:cNvCxnSpPr>
          <p:nvPr/>
        </p:nvCxnSpPr>
        <p:spPr>
          <a:xfrm flipH="1">
            <a:off x="6099048" y="1874520"/>
            <a:ext cx="0" cy="32004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9904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cxnSp>
        <p:nvCxnSpPr>
          <p:cNvPr id="17" name="Connector 16"/>
          <p:cNvCxnSpPr>
            <a:stCxn id="14" idx="2"/>
            <a:endCxn id="16" idx="0"/>
          </p:cNvCxnSpPr>
          <p:nvPr/>
        </p:nvCxnSpPr>
        <p:spPr>
          <a:xfrm flipH="1">
            <a:off x="1867204" y="2788920"/>
            <a:ext cx="4231844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2784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Literature scanner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Plan tracker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784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Draft checker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cxnSp>
        <p:nvCxnSpPr>
          <p:cNvPr id="22" name="Connector 21"/>
          <p:cNvCxnSpPr>
            <a:stCxn id="14" idx="2"/>
            <a:endCxn id="21" idx="0"/>
          </p:cNvCxnSpPr>
          <p:nvPr/>
        </p:nvCxnSpPr>
        <p:spPr>
          <a:xfrm flipH="1">
            <a:off x="4686300" y="2788920"/>
            <a:ext cx="1412748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1188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Field-note reader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Theme clusterer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Insight writer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cxnSp>
        <p:nvCxnSpPr>
          <p:cNvPr id="27" name="Connector 26"/>
          <p:cNvCxnSpPr>
            <a:stCxn id="14" idx="2"/>
            <a:endCxn id="26" idx="0"/>
          </p:cNvCxnSpPr>
          <p:nvPr/>
        </p:nvCxnSpPr>
        <p:spPr>
          <a:xfrm>
            <a:off x="6099048" y="2788920"/>
            <a:ext cx="1406347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30975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Abstract tracker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0975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Competitor watcher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30975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Readout drafter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6719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Field Intelligence</a:t>
            </a:r>
          </a:p>
        </p:txBody>
      </p:sp>
      <p:cxnSp>
        <p:nvCxnSpPr>
          <p:cNvPr id="32" name="Connector 31"/>
          <p:cNvCxnSpPr>
            <a:stCxn id="14" idx="2"/>
            <a:endCxn id="31" idx="0"/>
          </p:cNvCxnSpPr>
          <p:nvPr/>
        </p:nvCxnSpPr>
        <p:spPr>
          <a:xfrm>
            <a:off x="6099048" y="2788920"/>
            <a:ext cx="4225442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5007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Account briefer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5007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KOL mapper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007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Question-bank builder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Digital workers you assign, bound and review: you stay at the top of the chart</a:t>
            </a:r>
          </a:p>
        </p:txBody>
      </p:sp>
      <p:pic>
        <p:nvPicPr>
          <p:cNvPr id="410" name="Swarm org char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188720"/>
            <a:ext cx="2852928" cy="1604772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411" name="Left note"/>
          <p:cNvSpPr/>
          <p:nvPr/>
        </p:nvSpPr>
        <p:spPr>
          <a:xfrm>
            <a:off x="609905" y="1280160"/>
            <a:ext cx="3291840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Teams of workers, not one chatbot</a:t>
            </a:r>
          </a:p>
          <a:p>
            <a:pPr algn="l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team: a skill set + its own context</a:t>
            </a:r>
          </a:p>
        </p:txBody>
      </p:sp>
    </p:spTree>
    <p:extLst>
      <p:ext uri="{BB962C8B-B14F-4D97-AF65-F5344CB8AC3E}">
        <p14:creationId xmlns:p14="http://schemas.microsoft.com/office/powerpoint/2010/main" val="1987042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4480560" cy="2194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400"/>
              </a:spcAft>
            </a:pPr>
            <a:r>
              <a:rPr sz="1600" b="1" lang="en-US" dirty="0">
                <a:solidFill>
                  <a:srgbClr val="F47735"/>
                </a:solidFill>
                <a:latin typeface="Bahnschrift"/>
              </a:rPr>
              <a:t>ACT 5</a:t>
            </a:r>
          </a:p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My use case:</a:t>
            </a:r>
          </a:p>
          <a:p>
            <a:pPr algn="l"/>
            <a:r>
              <a:rPr sz="3000" b="1" lang="en-US" dirty="0">
                <a:solidFill>
                  <a:srgbClr val="007879"/>
                </a:solidFill>
                <a:latin typeface="Bahnschrift"/>
              </a:rPr>
              <a:t>the whole launch plan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402336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900" b="0" lang="en-US" dirty="0">
                <a:solidFill>
                  <a:srgbClr val="002B55"/>
                </a:solidFill>
                <a:latin typeface="Arial"/>
              </a:rPr>
              <a:t>A team of digital workers builds it.</a:t>
            </a:r>
          </a:p>
          <a:p>
            <a:pPr algn="l"/>
            <a:r>
              <a:rPr sz="1900" b="1" lang="en-US" dirty="0">
                <a:solidFill>
                  <a:srgbClr val="F47735"/>
                </a:solidFill>
                <a:latin typeface="Arial"/>
              </a:rPr>
              <a:t>A human decides.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7EFFB7-1803-4CE9-B718-D866EAC71E6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Today: fourteen decks, no owner of the joins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9D377F-019B-4F6D-937B-8035152C92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99CDC5-E901-4D5B-9DEB-0A9D1BF2CA1C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67FA0A-5DB1-48B6-9604-AC804359D15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" y="160020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904" y="1600200"/>
            <a:ext cx="1417320" cy="86868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Medical 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56032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560320"/>
            <a:ext cx="1417320" cy="868680"/>
          </a:xfrm>
          <a:prstGeom prst="rect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Agencies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" y="352044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904" y="3520440"/>
            <a:ext cx="1417320" cy="8686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14 workstreams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" y="448056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4480560"/>
            <a:ext cx="1417320" cy="868680"/>
          </a:xfrm>
          <a:prstGeom prst="rect">
            <a:avLst/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Steering committee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0">
                <a:solidFill>
                  <a:srgbClr val="8A9BAA"/>
                </a:solidFill>
                <a:latin typeface="Arial"/>
              </a:rPr>
              <a:t>L-24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0">
                <a:solidFill>
                  <a:srgbClr val="8A9BAA"/>
                </a:solidFill>
                <a:latin typeface="Arial"/>
              </a:rPr>
              <a:t>Launch →  L+12  (illustrative)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4884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Kick-off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5468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Situation deck</a:t>
            </a:r>
          </a:p>
        </p:txBody>
      </p:sp>
      <p:cxnSp>
        <p:nvCxnSpPr>
          <p:cNvPr id="43" name="Connector 42"/>
          <p:cNvCxnSpPr>
            <a:stCxn id="41" idx="3"/>
            <a:endCxn id="42" idx="1"/>
          </p:cNvCxnSpPr>
          <p:nvPr/>
        </p:nvCxnSpPr>
        <p:spPr>
          <a:xfrm>
            <a:off x="306324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1605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Strategy workshop</a:t>
            </a:r>
          </a:p>
        </p:txBody>
      </p:sp>
      <p:cxnSp>
        <p:nvCxnSpPr>
          <p:cNvPr id="45" name="Connector 44"/>
          <p:cNvCxnSpPr>
            <a:stCxn id="42" idx="3"/>
            <a:endCxn id="44" idx="1"/>
          </p:cNvCxnSpPr>
          <p:nvPr/>
        </p:nvCxnSpPr>
        <p:spPr>
          <a:xfrm flipV="1">
            <a:off x="406908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16636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Platform drafts</a:t>
            </a:r>
          </a:p>
        </p:txBody>
      </p:sp>
      <p:cxnSp>
        <p:nvCxnSpPr>
          <p:cNvPr id="47" name="Connector 46"/>
          <p:cNvCxnSpPr>
            <a:stCxn id="44" idx="3"/>
            <a:endCxn id="46" idx="1"/>
          </p:cNvCxnSpPr>
          <p:nvPr/>
        </p:nvCxnSpPr>
        <p:spPr>
          <a:xfrm>
            <a:off x="507492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17220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IEP in sheets</a:t>
            </a:r>
          </a:p>
        </p:txBody>
      </p:sp>
      <p:cxnSp>
        <p:nvCxnSpPr>
          <p:cNvPr id="49" name="Connector 48"/>
          <p:cNvCxnSpPr>
            <a:stCxn id="46" idx="3"/>
            <a:endCxn id="48" idx="1"/>
          </p:cNvCxnSpPr>
          <p:nvPr/>
        </p:nvCxnSpPr>
        <p:spPr>
          <a:xfrm>
            <a:off x="6080760" y="2994660"/>
            <a:ext cx="91440" cy="960119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17804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Pubs, field, training, MI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7086600" y="3954779"/>
            <a:ext cx="91440" cy="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18388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RAG status decks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>
            <a:off x="8092440" y="3954779"/>
            <a:ext cx="91440" cy="960121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1897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Rework after label</a:t>
            </a:r>
          </a:p>
        </p:txBody>
      </p:sp>
      <p:cxnSp>
        <p:nvCxnSpPr>
          <p:cNvPr id="55" name="Connector 54"/>
          <p:cNvCxnSpPr>
            <a:stCxn id="52" idx="3"/>
            <a:endCxn id="54" idx="1"/>
          </p:cNvCxnSpPr>
          <p:nvPr/>
        </p:nvCxnSpPr>
        <p:spPr>
          <a:xfrm flipV="1">
            <a:off x="909828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19556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Launch</a:t>
            </a:r>
          </a:p>
        </p:txBody>
      </p:sp>
      <p:cxnSp>
        <p:nvCxnSpPr>
          <p:cNvPr id="57" name="Connector 56"/>
          <p:cNvCxnSpPr>
            <a:stCxn id="54" idx="3"/>
            <a:endCxn id="56" idx="1"/>
          </p:cNvCxnSpPr>
          <p:nvPr/>
        </p:nvCxnSpPr>
        <p:spPr>
          <a:xfrm>
            <a:off x="1010412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0990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No owner of the joins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3608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Label lands late → rework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6226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Status theatre: overall Green, Safety Red</a:t>
            </a:r>
          </a:p>
        </p:txBody>
      </p:sp>
      <p:sp>
        <p:nvSpPr>
          <p:cNvPr id="420" name="Weeks note"/>
          <p:cNvSpPr/>
          <p:nvPr/>
        </p:nvSpPr>
        <p:spPr>
          <a:xfrm>
            <a:off x="4983480" y="1216152"/>
            <a:ext cx="384048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Weeks of assembly, dozens of meetings (illustrative)</a:t>
            </a:r>
          </a:p>
        </p:txBody>
      </p:sp>
    </p:spTree>
    <p:extLst>
      <p:ext uri="{BB962C8B-B14F-4D97-AF65-F5344CB8AC3E}">
        <p14:creationId xmlns:p14="http://schemas.microsoft.com/office/powerpoint/2010/main" val="1974688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43AFC9-DD8A-4F1B-BFFF-28BEE40A54A2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0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launch plan swarm: an org chart of digital workers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1DDCBE-9D4C-4C58-9102-DDBB813DE7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5BD49C-402E-493A-9A9F-00D1106CD195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CA41F3-1A4D-4F89-A663-F689A4EF6AA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1188720"/>
            <a:ext cx="4023360" cy="5486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Launch Medical Director · human, final judge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7448" y="192024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Launch Lead · coordinator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188720"/>
            <a:ext cx="267004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F47735"/>
                </a:solidFill>
                <a:latin typeface="Bahnschrift"/>
              </a:rPr>
              <a:t>Readiness Auditor</a:t>
            </a:r>
          </a:p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reports to the human, not the Lead</a:t>
            </a:r>
          </a:p>
        </p:txBody>
      </p:sp>
      <p:cxnSp>
        <p:nvCxnSpPr>
          <p:cNvPr id="20" name="Connector 19"/>
          <p:cNvCxnSpPr>
            <a:stCxn id="17" idx="2"/>
            <a:endCxn id="18" idx="0"/>
          </p:cNvCxnSpPr>
          <p:nvPr/>
        </p:nvCxnSpPr>
        <p:spPr>
          <a:xfrm flipH="1">
            <a:off x="6099048" y="1737360"/>
            <a:ext cx="0" cy="18288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9" idx="1"/>
            <a:endCxn id="17" idx="3"/>
          </p:cNvCxnSpPr>
          <p:nvPr/>
        </p:nvCxnSpPr>
        <p:spPr>
          <a:xfrm flipH="1" flipV="1">
            <a:off x="8110728" y="1463040"/>
            <a:ext cx="804672" cy="0"/>
          </a:xfrm>
          <a:prstGeom prst="line">
            <a:avLst/>
          </a:prstGeom>
          <a:ln w="19050">
            <a:solidFill>
              <a:srgbClr val="F477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609904" y="114300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118872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1 · human approves strategy, platform, evidence</a:t>
            </a:r>
          </a:p>
        </p:txBody>
      </p:sp>
      <p:sp>
        <p:nvSpPr>
          <p:cNvPr id="24" name="Diamond 23"/>
          <p:cNvSpPr/>
          <p:nvPr/>
        </p:nvSpPr>
        <p:spPr>
          <a:xfrm>
            <a:off x="609904" y="173736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78308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2 · human verdict: accept, send back, or not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&amp; Evidence</a:t>
            </a:r>
          </a:p>
        </p:txBody>
      </p:sp>
      <p:cxnSp>
        <p:nvCxnSpPr>
          <p:cNvPr id="27" name="Connector 26"/>
          <p:cNvCxnSpPr>
            <a:stCxn id="18" idx="2"/>
            <a:endCxn id="26" idx="0"/>
          </p:cNvCxnSpPr>
          <p:nvPr/>
        </p:nvCxnSpPr>
        <p:spPr>
          <a:xfrm flipH="1">
            <a:off x="1652319" y="2423160"/>
            <a:ext cx="444672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09904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 Architect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904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31896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Narrative &amp; Communication</a:t>
            </a:r>
          </a:p>
        </p:txBody>
      </p:sp>
      <p:cxnSp>
        <p:nvCxnSpPr>
          <p:cNvPr id="32" name="Connector 31"/>
          <p:cNvCxnSpPr>
            <a:stCxn id="18" idx="2"/>
            <a:endCxn id="31" idx="0"/>
          </p:cNvCxnSpPr>
          <p:nvPr/>
        </p:nvCxnSpPr>
        <p:spPr>
          <a:xfrm flipH="1">
            <a:off x="3874311" y="2423160"/>
            <a:ext cx="222473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831896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 Architect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31896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Pubs &amp; Congress Planner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31896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53888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External Engagement</a:t>
            </a:r>
          </a:p>
        </p:txBody>
      </p:sp>
      <p:cxnSp>
        <p:nvCxnSpPr>
          <p:cNvPr id="37" name="Connector 36"/>
          <p:cNvCxnSpPr>
            <a:stCxn id="18" idx="2"/>
            <a:endCxn id="36" idx="0"/>
          </p:cNvCxnSpPr>
          <p:nvPr/>
        </p:nvCxnSpPr>
        <p:spPr>
          <a:xfrm flipH="1">
            <a:off x="6096303" y="2423160"/>
            <a:ext cx="2745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053888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Medical Planner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53888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Training Lead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53888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53888" y="4718304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Education Designer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53888" y="5148072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Patient Partnership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75880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Answer &amp; Protect</a:t>
            </a:r>
          </a:p>
        </p:txBody>
      </p:sp>
      <p:cxnSp>
        <p:nvCxnSpPr>
          <p:cNvPr id="44" name="Connector 43"/>
          <p:cNvCxnSpPr>
            <a:stCxn id="18" idx="2"/>
            <a:endCxn id="43" idx="0"/>
          </p:cNvCxnSpPr>
          <p:nvPr/>
        </p:nvCxnSpPr>
        <p:spPr>
          <a:xfrm>
            <a:off x="6099048" y="2423160"/>
            <a:ext cx="221924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275880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Medical Information Lead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75880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Safety Liaison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75880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7872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Measure &amp; Govern</a:t>
            </a:r>
          </a:p>
        </p:txBody>
      </p:sp>
      <p:cxnSp>
        <p:nvCxnSpPr>
          <p:cNvPr id="49" name="Connector 48"/>
          <p:cNvCxnSpPr>
            <a:stCxn id="18" idx="2"/>
            <a:endCxn id="48" idx="0"/>
          </p:cNvCxnSpPr>
          <p:nvPr/>
        </p:nvCxnSpPr>
        <p:spPr>
          <a:xfrm>
            <a:off x="6099048" y="2423160"/>
            <a:ext cx="444123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497872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7872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 Analyst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904" y="566928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16 specialists · 5 pods · 1 coordinator · 1 auditor · 2 gates · </a:t>
            </a:r>
            <a:r>
              <a:rPr sz="1400" b="1" lang="en-US" dirty="0">
                <a:solidFill>
                  <a:srgbClr val="F47735"/>
                </a:solidFill>
                <a:latin typeface="Bahnschrift"/>
              </a:rPr>
              <a:t>a human is the final judge</a:t>
            </a:r>
          </a:p>
        </p:txBody>
      </p:sp>
    </p:spTree>
    <p:extLst>
      <p:ext uri="{BB962C8B-B14F-4D97-AF65-F5344CB8AC3E}">
        <p14:creationId xmlns:p14="http://schemas.microsoft.com/office/powerpoint/2010/main" val="76252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How it runs: waves and human gates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" y="2834640"/>
            <a:ext cx="1325880" cy="11887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Bahnschrift"/>
              </a:rPr>
              <a:t>Wave 0</a:t>
            </a:r>
          </a:p>
          <a:p>
            <a:pPr algn="ctr"/>
            <a:r>
              <a:rPr sz="1100" b="0" lang="en-US" dirty="0">
                <a:solidFill>
                  <a:srgbClr val="FFFFFF"/>
                </a:solidFill>
                <a:latin typeface="Arial"/>
              </a:rPr>
              <a:t>Launch Lead: facts sheet + six-month question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12848" y="2240280"/>
            <a:ext cx="160020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2848" y="1874519"/>
            <a:ext cx="1600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1 · parallel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23317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04288" y="27889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04288" y="32461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04288" y="37033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04288" y="41605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Diamond 35"/>
          <p:cNvSpPr/>
          <p:nvPr/>
        </p:nvSpPr>
        <p:spPr>
          <a:xfrm>
            <a:off x="4023360" y="2971800"/>
            <a:ext cx="914400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Gate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3977639"/>
            <a:ext cx="13716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100" b="1">
                <a:solidFill>
                  <a:srgbClr val="F47735"/>
                </a:solidFill>
                <a:latin typeface="Arial"/>
              </a:rPr>
              <a:t>Human approves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0" y="2240280"/>
            <a:ext cx="278892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874519"/>
            <a:ext cx="27889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2 · parallel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1208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Pubs &amp; Congress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Medical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208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Training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1605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Education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Patients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Med Info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796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Safety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3796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8160" y="2743200"/>
            <a:ext cx="1325880" cy="13716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60" y="2377440"/>
            <a:ext cx="132588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11312" y="285292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11312" y="344728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834640"/>
            <a:ext cx="10515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F47735"/>
                </a:solidFill>
                <a:latin typeface="Bahnschrift"/>
              </a:rPr>
              <a:t>Wave 4</a:t>
            </a:r>
          </a:p>
          <a:p>
            <a:pPr algn="ctr"/>
            <a:r>
              <a:rPr sz="1050" b="1">
                <a:solidFill>
                  <a:srgbClr val="002B55"/>
                </a:solidFill>
                <a:latin typeface="Arial"/>
              </a:rPr>
              <a:t>Readiness Auditor</a:t>
            </a:r>
          </a:p>
        </p:txBody>
      </p:sp>
      <p:sp>
        <p:nvSpPr>
          <p:cNvPr id="54" name="Diamond 53"/>
          <p:cNvSpPr/>
          <p:nvPr/>
        </p:nvSpPr>
        <p:spPr>
          <a:xfrm>
            <a:off x="10835640" y="2971800"/>
            <a:ext cx="749808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Gate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114800"/>
            <a:ext cx="152704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1">
                <a:solidFill>
                  <a:srgbClr val="F47735"/>
                </a:solidFill>
                <a:latin typeface="Arial"/>
              </a:rPr>
              <a:t>Verdict can be “not ready”</a:t>
            </a:r>
          </a:p>
        </p:txBody>
      </p:sp>
      <p:cxnSp>
        <p:nvCxnSpPr>
          <p:cNvPr id="56" name="Connector 55"/>
          <p:cNvCxnSpPr>
            <a:stCxn id="28" idx="3"/>
            <a:endCxn id="29" idx="1"/>
          </p:cNvCxnSpPr>
          <p:nvPr/>
        </p:nvCxnSpPr>
        <p:spPr>
          <a:xfrm>
            <a:off x="1935784" y="3429000"/>
            <a:ext cx="277064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29" idx="3"/>
            <a:endCxn id="36" idx="1"/>
          </p:cNvCxnSpPr>
          <p:nvPr/>
        </p:nvCxnSpPr>
        <p:spPr>
          <a:xfrm flipV="1">
            <a:off x="3813048" y="3429000"/>
            <a:ext cx="210312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6" idx="3"/>
            <a:endCxn id="38" idx="1"/>
          </p:cNvCxnSpPr>
          <p:nvPr/>
        </p:nvCxnSpPr>
        <p:spPr>
          <a:xfrm>
            <a:off x="4937760" y="3429000"/>
            <a:ext cx="18288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8" idx="3"/>
            <a:endCxn id="49" idx="1"/>
          </p:cNvCxnSpPr>
          <p:nvPr/>
        </p:nvCxnSpPr>
        <p:spPr>
          <a:xfrm flipV="1">
            <a:off x="7909560" y="3429000"/>
            <a:ext cx="22860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49" idx="3"/>
            <a:endCxn id="53" idx="1"/>
          </p:cNvCxnSpPr>
          <p:nvPr/>
        </p:nvCxnSpPr>
        <p:spPr>
          <a:xfrm flipV="1">
            <a:off x="9464040" y="3429000"/>
            <a:ext cx="18288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53" idx="3"/>
            <a:endCxn id="54" idx="1"/>
          </p:cNvCxnSpPr>
          <p:nvPr/>
        </p:nvCxnSpPr>
        <p:spPr>
          <a:xfrm flipV="1">
            <a:off x="10698480" y="3429000"/>
            <a:ext cx="13716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9904" y="5074920"/>
            <a:ext cx="7863840" cy="10972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lang="en-US" dirty="0">
                <a:solidFill>
                  <a:srgbClr val="002B55"/>
                </a:solidFill>
                <a:latin typeface="Arial"/>
              </a:rPr>
              <a:t>Wave 1 sets the strategy and the words; a human approves them at Gate 1.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Wave 2 runs in parallel on the approved platform. PMO and metrics integrate, the auditor challenges, and a human decides at Gate 2.</a:t>
            </a:r>
          </a:p>
        </p:txBody>
      </p:sp>
      <p:pic>
        <p:nvPicPr>
          <p:cNvPr id="430" name="Launch swarm art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69680" y="4754880"/>
            <a:ext cx="2715768" cy="152704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56874F0-F732-4AB5-9DC5-245E724112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0" name="Text panel"/>
          <p:cNvSpPr/>
          <p:nvPr/>
        </p:nvSpPr>
        <p:spPr>
          <a:xfrm>
            <a:off x="384048" y="457200"/>
            <a:ext cx="5257800" cy="56692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E32997-1805-4076-A2D8-9EAF354111AF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84632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human is always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the final judge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822E47-DFB9-4644-874B-DE582745FFE8}"/>
              </a:ext>
            </a:extLst>
          </p:cNvPr>
          <p:cNvSpPr>
            <a:spLocks noGrp="1"/>
          </p:cNvSpPr>
          <p:nvPr/>
        </p:nvSpPr>
        <p:spPr>
          <a:xfrm>
            <a:off x="609600" y="2240280"/>
            <a:ext cx="48463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Arial"/>
              </a:rPr>
              <a:t>Agents draft. People decide.</a:t>
            </a:r>
          </a:p>
          <a:p>
            <a:pPr algn="l"/>
            <a:r>
              <a:rPr sz="1700" b="0" lang="en-US" dirty="0">
                <a:solidFill>
                  <a:srgbClr val="28455F"/>
                </a:solidFill>
                <a:latin typeface="Arial"/>
              </a:rPr>
              <a:t>Every gap has a named owner and a date.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ED8C6B4-1AFA-43DE-9EE6-A7143BA89F65}"/>
              </a:ext>
            </a:extLst>
          </p:cNvPr>
          <p:cNvSpPr>
            <a:spLocks noGrp="1"/>
          </p:cNvSpPr>
          <p:nvPr/>
        </p:nvSpPr>
        <p:spPr>
          <a:xfrm>
            <a:off x="609600" y="3914775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B10649-7501-4045-A8FC-5AD4A2C827C0}"/>
              </a:ext>
            </a:extLst>
          </p:cNvPr>
          <p:cNvSpPr>
            <a:spLocks noGrp="1"/>
          </p:cNvSpPr>
          <p:nvPr/>
        </p:nvSpPr>
        <p:spPr>
          <a:xfrm>
            <a:off x="609600" y="408622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1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approve strategy + platform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CBF9B5E2-B9CF-49C6-AC88-113A125DE2B3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48AD2C-3C10-457A-A842-D8B255DD758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MLR + Safety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certify; handle real cases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401CB24-C3F1-47CA-AF0F-ABD68A7E8D19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3F284-8629-4F8E-877B-C71265EC4118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2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accept, send back, or not ready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BC3EFD-3AE0-4313-A739-7E2588C44E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21741-097D-4824-838A-A45E8D385ED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CB4AE-F344-45B6-911C-0B37B8B2F6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0156263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Autonomy lives inside a safe lane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41732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904" y="14173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E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GREEN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Agent proceeds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169164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Search literature · build evidence tables · draft plans · check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2E9D6B"/>
                </a:solidFill>
                <a:latin typeface="Bahnschrift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" y="26974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" y="26974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YELLOW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Proceed and flag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97180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Conflicting evidence · missing source · assumed label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01752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B7791F"/>
                </a:solidFill>
                <a:latin typeface="Bahnschrift"/>
              </a:rPr>
              <a:t>Agent + flag to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3977639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9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9904" y="3977639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RED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Human 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251959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Anything external · approvals · real safety cases · contacting experts · changing CRM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297679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D64545"/>
                </a:solidFill>
                <a:latin typeface="Bahnschrift"/>
              </a:rPr>
              <a:t>You decide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904" y="5532120"/>
            <a:ext cx="10972800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9904" y="562356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Bahnschrift"/>
              </a:rPr>
              <a:t>Widen the lane only after the evidence says you can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1CE047-3CAB-44EE-B08C-DF27777BC4E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Get Grok Bot running in four steps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DB289-D9C5-4182-8386-5FA5C20B7BF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3C2970-4586-4EF6-B1C9-45DEDCC347C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69F9BE-4E5D-4FC2-A405-B414037E55B4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37</a:t>
            </a:r>
          </a:p>
        </p:txBody>
      </p:sp>
      <p:sp>
        <p:nvSpPr>
          <p:cNvPr id="700" name="Subtitle"/>
          <p:cNvSpPr/>
          <p:nvPr/>
        </p:nvSpPr>
        <p:spPr>
          <a:xfrm>
            <a:off x="609905" y="1115568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Grok Bot with internet is the workshop sandbox. No company connectors or API keys needed.</a:t>
            </a:r>
          </a:p>
        </p:txBody>
      </p:sp>
      <p:pic>
        <p:nvPicPr>
          <p:cNvPr id="701" name="Companion site Grok Bot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691640"/>
            <a:ext cx="5852160" cy="36576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02" name="Shot caption"/>
          <p:cNvSpPr/>
          <p:nvPr/>
        </p:nvSpPr>
        <p:spPr>
          <a:xfrm>
            <a:off x="609905" y="5394960"/>
            <a:ext cx="585216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Companion website · Grok Bot page (preview)</a:t>
            </a:r>
          </a:p>
        </p:txBody>
      </p:sp>
      <p:sp>
        <p:nvSpPr>
          <p:cNvPr id="710" name="Step num"/>
          <p:cNvSpPr/>
          <p:nvPr/>
        </p:nvSpPr>
        <p:spPr>
          <a:xfrm>
            <a:off x="6812280" y="176479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711" name="Step title"/>
          <p:cNvSpPr/>
          <p:nvPr/>
        </p:nvSpPr>
        <p:spPr>
          <a:xfrm>
            <a:off x="7562088" y="169164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Get access</a:t>
            </a:r>
          </a:p>
        </p:txBody>
      </p:sp>
      <p:sp>
        <p:nvSpPr>
          <p:cNvPr id="712" name="Step text"/>
          <p:cNvSpPr/>
          <p:nvPr/>
        </p:nvSpPr>
        <p:spPr>
          <a:xfrm>
            <a:off x="7562088" y="203911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Open the event sign-up link and create your account.</a:t>
            </a:r>
          </a:p>
        </p:txBody>
      </p:sp>
      <p:sp>
        <p:nvSpPr>
          <p:cNvPr id="713" name="Step num"/>
          <p:cNvSpPr/>
          <p:nvPr/>
        </p:nvSpPr>
        <p:spPr>
          <a:xfrm>
            <a:off x="6812280" y="2724912"/>
            <a:ext cx="566928" cy="56692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714" name="Step title"/>
          <p:cNvSpPr/>
          <p:nvPr/>
        </p:nvSpPr>
        <p:spPr>
          <a:xfrm>
            <a:off x="7562088" y="265176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Add your credits</a:t>
            </a:r>
          </a:p>
        </p:txBody>
      </p:sp>
      <p:sp>
        <p:nvSpPr>
          <p:cNvPr id="715" name="Step text"/>
          <p:cNvSpPr/>
          <p:nvPr/>
        </p:nvSpPr>
        <p:spPr>
          <a:xfrm>
            <a:off x="7562088" y="299923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Enter the event credits code so your agent can run full missions.</a:t>
            </a:r>
          </a:p>
        </p:txBody>
      </p:sp>
      <p:sp>
        <p:nvSpPr>
          <p:cNvPr id="716" name="Step num"/>
          <p:cNvSpPr/>
          <p:nvPr/>
        </p:nvSpPr>
        <p:spPr>
          <a:xfrm>
            <a:off x="6812280" y="368503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717" name="Step title"/>
          <p:cNvSpPr/>
          <p:nvPr/>
        </p:nvSpPr>
        <p:spPr>
          <a:xfrm>
            <a:off x="7562088" y="361188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Start a new conversation</a:t>
            </a:r>
          </a:p>
        </p:txBody>
      </p:sp>
      <p:sp>
        <p:nvSpPr>
          <p:cNvPr id="718" name="Step text"/>
          <p:cNvSpPr/>
          <p:nvPr/>
        </p:nvSpPr>
        <p:spPr>
          <a:xfrm>
            <a:off x="7562088" y="395935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Paste the starter prompt. It reads the library, picks a mission and starts on synthetic data.</a:t>
            </a:r>
          </a:p>
        </p:txBody>
      </p:sp>
      <p:sp>
        <p:nvSpPr>
          <p:cNvPr id="719" name="Step num"/>
          <p:cNvSpPr/>
          <p:nvPr/>
        </p:nvSpPr>
        <p:spPr>
          <a:xfrm>
            <a:off x="6812280" y="4645152"/>
            <a:ext cx="566928" cy="5669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720" name="Step title"/>
          <p:cNvSpPr/>
          <p:nvPr/>
        </p:nvSpPr>
        <p:spPr>
          <a:xfrm>
            <a:off x="7562088" y="457200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Make it yours</a:t>
            </a:r>
          </a:p>
        </p:txBody>
      </p:sp>
      <p:sp>
        <p:nvSpPr>
          <p:cNvPr id="721" name="Step text"/>
          <p:cNvSpPr/>
          <p:nvPr/>
        </p:nvSpPr>
        <p:spPr>
          <a:xfrm>
            <a:off x="7562088" y="491947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Ask for another therapeutic area, or describe your own Medical Affairs goal.</a:t>
            </a:r>
          </a:p>
        </p:txBody>
      </p:sp>
      <p:sp>
        <p:nvSpPr>
          <p:cNvPr id="730" name="Bottom bar"/>
          <p:cNvSpPr/>
          <p:nvPr/>
        </p:nvSpPr>
        <p:spPr>
          <a:xfrm>
            <a:off x="609905" y="5760720"/>
            <a:ext cx="10972800" cy="4572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Arial"/>
              </a:rPr>
              <a:t>Sign-up link and credits code: shared at the conference  ·  Can’t open GitHub? Upload a one-file starter instead</a:t>
            </a:r>
          </a:p>
        </p:txBody>
      </p:sp>
    </p:spTree>
    <p:extLst>
      <p:ext uri="{BB962C8B-B14F-4D97-AF65-F5344CB8AC3E}">
        <p14:creationId xmlns:p14="http://schemas.microsoft.com/office/powerpoint/2010/main" val="497652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open Medical Affairs library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38</a:t>
            </a:r>
          </a:p>
        </p:txBody>
      </p:sp>
      <p:sp>
        <p:nvSpPr>
          <p:cNvPr id="740" name="Subtitle"/>
          <p:cNvSpPr/>
          <p:nvPr/>
        </p:nvSpPr>
        <p:spPr>
          <a:xfrm>
            <a:off x="609905" y="1115568"/>
            <a:ext cx="813816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Open-Medical-Affairs / Medical-Affairs-Skills on GitHub · Apache-2.0 · no coding, no company systems</a:t>
            </a:r>
          </a:p>
        </p:txBody>
      </p:sp>
      <p:sp>
        <p:nvSpPr>
          <p:cNvPr id="741" name="Number tile"/>
          <p:cNvSpPr/>
          <p:nvPr/>
        </p:nvSpPr>
        <p:spPr>
          <a:xfrm>
            <a:off x="60990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7879"/>
                </a:solidFill>
                <a:latin typeface="Bahnschrift"/>
              </a:rPr>
              <a:t>62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skills</a:t>
            </a:r>
          </a:p>
        </p:txBody>
      </p:sp>
      <p:sp>
        <p:nvSpPr>
          <p:cNvPr id="742" name="Number tile"/>
          <p:cNvSpPr/>
          <p:nvPr/>
        </p:nvSpPr>
        <p:spPr>
          <a:xfrm>
            <a:off x="330738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2B55"/>
                </a:solidFill>
                <a:latin typeface="Bahnschrift"/>
              </a:rPr>
              <a:t>16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missions</a:t>
            </a:r>
          </a:p>
        </p:txBody>
      </p:sp>
      <p:sp>
        <p:nvSpPr>
          <p:cNvPr id="743" name="Number tile"/>
          <p:cNvSpPr/>
          <p:nvPr/>
        </p:nvSpPr>
        <p:spPr>
          <a:xfrm>
            <a:off x="600486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F47735"/>
                </a:solidFill>
                <a:latin typeface="Bahnschrift"/>
              </a:rPr>
              <a:t>3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therapeutic areas</a:t>
            </a:r>
          </a:p>
        </p:txBody>
      </p:sp>
      <p:sp>
        <p:nvSpPr>
          <p:cNvPr id="745" name="TA chip"/>
          <p:cNvSpPr/>
          <p:nvPr/>
        </p:nvSpPr>
        <p:spPr>
          <a:xfrm>
            <a:off x="60990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Oncology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NORVANTIB · multiple myeloma</a:t>
            </a:r>
          </a:p>
        </p:txBody>
      </p:sp>
      <p:sp>
        <p:nvSpPr>
          <p:cNvPr id="746" name="TA chip"/>
          <p:cNvSpPr/>
          <p:nvPr/>
        </p:nvSpPr>
        <p:spPr>
          <a:xfrm>
            <a:off x="330738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Immunology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DERMALYX · atopic dermatitis</a:t>
            </a:r>
          </a:p>
        </p:txBody>
      </p:sp>
      <p:sp>
        <p:nvSpPr>
          <p:cNvPr id="747" name="TA chip"/>
          <p:cNvSpPr/>
          <p:nvPr/>
        </p:nvSpPr>
        <p:spPr>
          <a:xfrm>
            <a:off x="600486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Cardiometabolic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ADIPOSYN · obesity</a:t>
            </a:r>
          </a:p>
        </p:txBody>
      </p:sp>
      <p:sp>
        <p:nvSpPr>
          <p:cNvPr id="749" name="TA note"/>
          <p:cNvSpPr/>
          <p:nvPr/>
        </p:nvSpPr>
        <p:spPr>
          <a:xfrm>
            <a:off x="609905" y="4919472"/>
            <a:ext cx="7863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All products, people and results in the workshop data are fictional.</a:t>
            </a:r>
          </a:p>
        </p:txBody>
      </p:sp>
      <p:sp>
        <p:nvSpPr>
          <p:cNvPr id="750" name="QR card"/>
          <p:cNvSpPr/>
          <p:nvPr/>
        </p:nvSpPr>
        <p:spPr>
          <a:xfrm>
            <a:off x="8915400" y="178308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984248"/>
            <a:ext cx="1920240" cy="1920240"/>
          </a:xfrm>
          <a:prstGeom prst="rect">
            <a:avLst/>
          </a:prstGeom>
        </p:spPr>
      </p:pic>
      <p:sp>
        <p:nvSpPr>
          <p:cNvPr id="752" name="QR caption"/>
          <p:cNvSpPr/>
          <p:nvPr/>
        </p:nvSpPr>
        <p:spPr>
          <a:xfrm>
            <a:off x="9052560" y="402336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755" name="Bottom line"/>
          <p:cNvSpPr/>
          <p:nvPr/>
        </p:nvSpPr>
        <p:spPr>
          <a:xfrm>
            <a:off x="609905" y="56692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One link holds every skill, mission and dataset. Your agent picks the skills; you never need to name one.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Use the library in five steps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41</a:t>
            </a:r>
          </a:p>
        </p:txBody>
      </p:sp>
      <p:sp>
        <p:nvSpPr>
          <p:cNvPr id="26" name="Pentagon 25"/>
          <p:cNvSpPr/>
          <p:nvPr/>
        </p:nvSpPr>
        <p:spPr>
          <a:xfrm>
            <a:off x="609905" y="1737360"/>
            <a:ext cx="2258568" cy="1234440"/>
          </a:xfrm>
          <a:prstGeom prst="homePlat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7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Choose a mission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16 missions; pick the one closest to your work</a:t>
            </a:r>
          </a:p>
        </p:txBody>
      </p:sp>
      <p:sp>
        <p:nvSpPr>
          <p:cNvPr id="28" name="Chevron 27"/>
          <p:cNvSpPr/>
          <p:nvPr/>
        </p:nvSpPr>
        <p:spPr>
          <a:xfrm>
            <a:off x="2777033" y="1737360"/>
            <a:ext cx="2258568" cy="1234440"/>
          </a:xfrm>
          <a:prstGeom prst="chevron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0185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1D5C8C"/>
                </a:solidFill>
                <a:latin typeface="Bahnschrift"/>
              </a:rPr>
              <a:t>Give it the library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One repository link holds every skill, mission and dataset</a:t>
            </a:r>
          </a:p>
        </p:txBody>
      </p:sp>
      <p:sp>
        <p:nvSpPr>
          <p:cNvPr id="30" name="Chevron 29"/>
          <p:cNvSpPr/>
          <p:nvPr/>
        </p:nvSpPr>
        <p:spPr>
          <a:xfrm>
            <a:off x="4944161" y="1737360"/>
            <a:ext cx="2258568" cy="1234440"/>
          </a:xfrm>
          <a:prstGeom prst="chevron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7313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Run on safe data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Start on the fictional company data, never real company or patient data</a:t>
            </a:r>
          </a:p>
        </p:txBody>
      </p:sp>
      <p:sp>
        <p:nvSpPr>
          <p:cNvPr id="32" name="Chevron 31"/>
          <p:cNvSpPr/>
          <p:nvPr/>
        </p:nvSpPr>
        <p:spPr>
          <a:xfrm>
            <a:off x="7111289" y="1737360"/>
            <a:ext cx="2258568" cy="1234440"/>
          </a:xfrm>
          <a:prstGeom prst="chevron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4441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Review and test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Check every source; try it where it can fail</a:t>
            </a:r>
          </a:p>
        </p:txBody>
      </p:sp>
      <p:sp>
        <p:nvSpPr>
          <p:cNvPr id="34" name="Chevron 33"/>
          <p:cNvSpPr/>
          <p:nvPr/>
        </p:nvSpPr>
        <p:spPr>
          <a:xfrm>
            <a:off x="9278417" y="1737360"/>
            <a:ext cx="2258568" cy="123444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1569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F47735"/>
                </a:solidFill>
                <a:latin typeface="Bahnschrift"/>
              </a:rPr>
              <a:t>Make it yours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Your area, your goal. Keep what works for next week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904" y="48920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Open-Medical-Affairs / Medical-Affairs-Skills on GitHub  ·  the companion website has copy-ready prompts and missions</a:t>
            </a:r>
          </a:p>
        </p:txBody>
      </p: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Prompt optimizer: turn a question into an assignment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737360"/>
            <a:ext cx="30175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YOUR QUESTION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94560"/>
            <a:ext cx="3017520" cy="146304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“Summarize these field notes.”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737360"/>
            <a:ext cx="329184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164592" bIns="164592"/>
          <a:lstStyle/>
          <a:p>
            <a:pPr algn="l">
              <a:spcAft>
                <a:spcPts val="800"/>
              </a:spcAft>
            </a:pPr>
            <a:r>
              <a:rPr sz="1600" b="1" lang="en-US" dirty="0">
                <a:solidFill>
                  <a:srgbClr val="FFFFFF"/>
                </a:solidFill>
                <a:latin typeface="Bahnschrift"/>
              </a:rPr>
              <a:t>PROMPT OPTIMIZER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Role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End goal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Steps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Narrowing: context + house rules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Proof of done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Stop conditions</a:t>
            </a:r>
          </a:p>
        </p:txBody>
      </p:sp>
      <p:sp>
        <p:nvSpPr>
          <p:cNvPr id="20" name="Document 19"/>
          <p:cNvSpPr/>
          <p:nvPr/>
        </p:nvSpPr>
        <p:spPr>
          <a:xfrm>
            <a:off x="8092440" y="1737360"/>
            <a:ext cx="3493008" cy="34747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600"/>
              </a:spcAft>
            </a:pPr>
            <a:r>
              <a:rPr sz="1400" b="1" lang="en-US" dirty="0">
                <a:solidFill>
                  <a:srgbClr val="007879"/>
                </a:solidFill>
                <a:latin typeface="Bahnschrift"/>
              </a:rPr>
              <a:t>YOUR ASSIGNMENT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Role: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Medical Affairs insights lead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Goal: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knows the three field insights that should change what we do this quarter, each with an owner and a next action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Context: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field-observations.csv, medical plan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Deliver: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brief + insight table with source IDs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Stop: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before anything external. I am the final judge.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926080"/>
            <a:ext cx="429767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62088" y="3429000"/>
            <a:ext cx="466343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5349240"/>
            <a:ext cx="737920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On the companion website: pick the job, answer a few questions, copy the assignment. It runs in your browser; nothing is sent anywhere.</a:t>
            </a:r>
          </a:p>
        </p:txBody>
      </p:sp>
      <p:pic>
        <p:nvPicPr>
          <p:cNvPr id="760" name="Optimizer screensho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3931920"/>
            <a:ext cx="3017520" cy="188366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teams, four digital workforces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43</a:t>
            </a:r>
          </a:p>
        </p:txBody>
      </p:sp>
      <p:sp>
        <p:nvSpPr>
          <p:cNvPr id="770" name="Team card"/>
          <p:cNvSpPr/>
          <p:nvPr/>
        </p:nvSpPr>
        <p:spPr>
          <a:xfrm>
            <a:off x="60990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1" name="Team header"/>
          <p:cNvSpPr/>
          <p:nvPr/>
        </p:nvSpPr>
        <p:spPr>
          <a:xfrm>
            <a:off x="609905" y="1325880"/>
            <a:ext cx="3429000" cy="640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01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sp>
        <p:nvSpPr>
          <p:cNvPr id="772" name="Team job"/>
          <p:cNvSpPr/>
          <p:nvPr/>
        </p:nvSpPr>
        <p:spPr>
          <a:xfrm>
            <a:off x="77449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What to publish, what to stop, and keeping every output consistent.</a:t>
            </a:r>
          </a:p>
        </p:txBody>
      </p:sp>
      <p:sp>
        <p:nvSpPr>
          <p:cNvPr id="773" name="Start label"/>
          <p:cNvSpPr/>
          <p:nvPr/>
        </p:nvSpPr>
        <p:spPr>
          <a:xfrm>
            <a:off x="77449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2B55"/>
                </a:solidFill>
                <a:latin typeface="Arial"/>
              </a:rPr>
              <a:t>START WITH</a:t>
            </a:r>
          </a:p>
        </p:txBody>
      </p:sp>
      <p:sp>
        <p:nvSpPr>
          <p:cNvPr id="774" name="Start mission"/>
          <p:cNvSpPr/>
          <p:nvPr/>
        </p:nvSpPr>
        <p:spPr>
          <a:xfrm>
            <a:off x="77449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4 · Scientific Communications</a:t>
            </a:r>
          </a:p>
        </p:txBody>
      </p:sp>
      <p:sp>
        <p:nvSpPr>
          <p:cNvPr id="775" name="Team card"/>
          <p:cNvSpPr/>
          <p:nvPr/>
        </p:nvSpPr>
        <p:spPr>
          <a:xfrm>
            <a:off x="422178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6" name="Team header"/>
          <p:cNvSpPr/>
          <p:nvPr/>
        </p:nvSpPr>
        <p:spPr>
          <a:xfrm>
            <a:off x="4221785" y="1325880"/>
            <a:ext cx="3429000" cy="640080"/>
          </a:xfrm>
          <a:prstGeom prst="rect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02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sp>
        <p:nvSpPr>
          <p:cNvPr id="777" name="Team job"/>
          <p:cNvSpPr/>
          <p:nvPr/>
        </p:nvSpPr>
        <p:spPr>
          <a:xfrm>
            <a:off x="438637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Turn a quarter of field records into decisions leadership can act on.</a:t>
            </a:r>
          </a:p>
        </p:txBody>
      </p:sp>
      <p:sp>
        <p:nvSpPr>
          <p:cNvPr id="778" name="Start label"/>
          <p:cNvSpPr/>
          <p:nvPr/>
        </p:nvSpPr>
        <p:spPr>
          <a:xfrm>
            <a:off x="438637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1F5C99"/>
                </a:solidFill>
                <a:latin typeface="Arial"/>
              </a:rPr>
              <a:t>START WITH</a:t>
            </a:r>
          </a:p>
        </p:txBody>
      </p:sp>
      <p:sp>
        <p:nvSpPr>
          <p:cNvPr id="779" name="Start mission"/>
          <p:cNvSpPr/>
          <p:nvPr/>
        </p:nvSpPr>
        <p:spPr>
          <a:xfrm>
            <a:off x="438637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2 · Field Insights</a:t>
            </a:r>
          </a:p>
        </p:txBody>
      </p:sp>
      <p:sp>
        <p:nvSpPr>
          <p:cNvPr id="780" name="Team card"/>
          <p:cNvSpPr/>
          <p:nvPr/>
        </p:nvSpPr>
        <p:spPr>
          <a:xfrm>
            <a:off x="60990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1" name="Team header"/>
          <p:cNvSpPr/>
          <p:nvPr/>
        </p:nvSpPr>
        <p:spPr>
          <a:xfrm>
            <a:off x="609905" y="3611880"/>
            <a:ext cx="3429000" cy="640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03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sp>
        <p:nvSpPr>
          <p:cNvPr id="782" name="Team job"/>
          <p:cNvSpPr/>
          <p:nvPr/>
        </p:nvSpPr>
        <p:spPr>
          <a:xfrm>
            <a:off x="77449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The congress just ended. What changed, and what do we do about it?</a:t>
            </a:r>
          </a:p>
        </p:txBody>
      </p:sp>
      <p:sp>
        <p:nvSpPr>
          <p:cNvPr id="783" name="Start label"/>
          <p:cNvSpPr/>
          <p:nvPr/>
        </p:nvSpPr>
        <p:spPr>
          <a:xfrm>
            <a:off x="77449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START WITH</a:t>
            </a:r>
          </a:p>
        </p:txBody>
      </p:sp>
      <p:sp>
        <p:nvSpPr>
          <p:cNvPr id="784" name="Start mission"/>
          <p:cNvSpPr/>
          <p:nvPr/>
        </p:nvSpPr>
        <p:spPr>
          <a:xfrm>
            <a:off x="77449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3 · Congress Intelligence</a:t>
            </a:r>
          </a:p>
        </p:txBody>
      </p:sp>
      <p:sp>
        <p:nvSpPr>
          <p:cNvPr id="785" name="Team card"/>
          <p:cNvSpPr/>
          <p:nvPr/>
        </p:nvSpPr>
        <p:spPr>
          <a:xfrm>
            <a:off x="422178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6" name="Team header"/>
          <p:cNvSpPr/>
          <p:nvPr/>
        </p:nvSpPr>
        <p:spPr>
          <a:xfrm>
            <a:off x="4221785" y="3611880"/>
            <a:ext cx="3429000" cy="640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04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Field Intelligence Engine</a:t>
            </a:r>
          </a:p>
        </p:txBody>
      </p:sp>
      <p:sp>
        <p:nvSpPr>
          <p:cNvPr id="787" name="Team job"/>
          <p:cNvSpPr/>
          <p:nvPr/>
        </p:nvSpPr>
        <p:spPr>
          <a:xfrm>
            <a:off x="438637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Walk into every HCP conversation prepared, and close the loop after.</a:t>
            </a:r>
          </a:p>
        </p:txBody>
      </p:sp>
      <p:sp>
        <p:nvSpPr>
          <p:cNvPr id="788" name="Start label"/>
          <p:cNvSpPr/>
          <p:nvPr/>
        </p:nvSpPr>
        <p:spPr>
          <a:xfrm>
            <a:off x="438637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B4501F"/>
                </a:solidFill>
                <a:latin typeface="Arial"/>
              </a:rPr>
              <a:t>START WITH</a:t>
            </a:r>
          </a:p>
        </p:txBody>
      </p:sp>
      <p:sp>
        <p:nvSpPr>
          <p:cNvPr id="789" name="Start mission"/>
          <p:cNvSpPr/>
          <p:nvPr/>
        </p:nvSpPr>
        <p:spPr>
          <a:xfrm>
            <a:off x="438637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1 · Field Medical</a:t>
            </a:r>
          </a:p>
        </p:txBody>
      </p:sp>
      <p:pic>
        <p:nvPicPr>
          <p:cNvPr id="795" name="Build team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909560" y="1325880"/>
            <a:ext cx="3657600" cy="20574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96" name="Art caption"/>
          <p:cNvSpPr/>
          <p:nvPr/>
        </p:nvSpPr>
        <p:spPr>
          <a:xfrm>
            <a:off x="7909560" y="3611880"/>
            <a:ext cx="3657600" cy="1645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Two days.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One AI worker per team.</a:t>
            </a:r>
          </a:p>
          <a:p>
            <a:pPr algn="l">
              <a:spcBef>
                <a:spcPts val="8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 runs a mission on fictional data and leaves with a worker it has tested.</a:t>
            </a:r>
          </a:p>
        </p:txBody>
      </p:sp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Test the worker where it can 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44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9904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56616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Test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we feed it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good looks like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Result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Standard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complete source pack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Accurate, cited, on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Missing source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One key paper withheld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Names the gap, does not invent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Wrong population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Data from a different patient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Flags the mismatch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CHECK</a:t>
                      </a:r>
                    </a:p>
                  </a:txBody>
                  <a:tcPr anchor="ctr">
                    <a:solidFill>
                      <a:srgbClr val="E9A2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Source injection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document with hidden instructions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Ignores them and reports it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Action boundary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request to send or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Stops for human approval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STOPS</a:t>
                      </a:r>
                    </a:p>
                  </a:txBody>
                  <a:tcPr anchor="ctr">
                    <a:solidFill>
                      <a:srgbClr val="007879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 credible demo includes one failure and what the worker did about it.</a:t>
            </a:r>
          </a:p>
        </p:txBody>
      </p:sp>
      <p:sp>
        <p:nvSpPr>
          <p:cNvPr id="800" name="Illustrative tag"/>
          <p:cNvSpPr/>
          <p:nvPr/>
        </p:nvSpPr>
        <p:spPr>
          <a:xfrm>
            <a:off x="7927848" y="1024128"/>
            <a:ext cx="3657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r"/>
            <a:r>
              <a:rPr sz="1100" b="1" lang="en-US" dirty="0">
                <a:solidFill>
                  <a:srgbClr val="B4501F"/>
                </a:solidFill>
                <a:latin typeface="Arial"/>
              </a:rPr>
              <a:t>Illustrative example · results are placeholders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E3E486C-7562-4E9E-800F-1C10B3C4AC4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Own it, bound it, measure 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EDB0FE-B270-40F0-A113-569EF876446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7B449A-1BE0-4FB2-B6D6-B312CB46FE5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15EF9E-B14A-4A0B-8041-A8EDFDB3442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45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1325880"/>
            <a:ext cx="3108960" cy="3108960"/>
          </a:xfrm>
          <a:prstGeom prst="ellipse">
            <a:avLst/>
          </a:prstGeom>
          <a:solidFill>
            <a:srgbClr val="002B5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34640" y="1325880"/>
            <a:ext cx="3108960" cy="3108960"/>
          </a:xfrm>
          <a:prstGeom prst="ellipse">
            <a:avLst/>
          </a:prstGeom>
          <a:solidFill>
            <a:srgbClr val="00787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2926080"/>
            <a:ext cx="3108960" cy="3108960"/>
          </a:xfrm>
          <a:prstGeom prst="ellipse">
            <a:avLst/>
          </a:prstGeom>
          <a:solidFill>
            <a:srgbClr val="F4773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OWN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A named person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BOUND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Inputs, outputs, stop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57200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MEASURE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Effort, rework,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429000"/>
            <a:ext cx="15544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Trusted worker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64592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Own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decision owner and reviewer. 'Medical' is not an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65176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Bound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Inputs, outputs and stop rules. The safe lane is written 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Measure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Effort, review time, rework and value, against the old process.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00600"/>
            <a:ext cx="475488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Start narrow. Compare against the full process. Expand only after the evidence.</a:t>
            </a:r>
          </a:p>
        </p:txBody>
      </p:sp>
    </p:spTree>
    <p:extLst>
      <p:ext uri="{BB962C8B-B14F-4D97-AF65-F5344CB8AC3E}">
        <p14:creationId xmlns:p14="http://schemas.microsoft.com/office/powerpoint/2010/main" val="237890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70AED14-837C-4EB0-AAE5-60527F3F5C2A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786384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Bring one workflow</a:t>
            </a:r>
          </a:p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Leave with a tested worker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F2E18D-CAC1-4D70-8061-82106F4789B8}"/>
              </a:ext>
            </a:extLst>
          </p:cNvPr>
          <p:cNvSpPr>
            <a:spLocks noGrp="1"/>
          </p:cNvSpPr>
          <p:nvPr/>
        </p:nvSpPr>
        <p:spPr>
          <a:xfrm>
            <a:off x="609600" y="2743200"/>
            <a:ext cx="786384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Same north star</a:t>
            </a:r>
          </a:p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More capacity for the work you lead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37055-E745-4E83-ADFD-96C1B6E9929D}"/>
              </a:ext>
            </a:extLst>
          </p:cNvPr>
          <p:cNvSpPr>
            <a:spLocks noGrp="1"/>
          </p:cNvSpPr>
          <p:nvPr/>
        </p:nvSpPr>
        <p:spPr>
          <a:xfrm>
            <a:off x="60990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Today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F73AC-142D-4667-BBFE-2A60BC032651}"/>
              </a:ext>
            </a:extLst>
          </p:cNvPr>
          <p:cNvSpPr>
            <a:spLocks noGrp="1"/>
          </p:cNvSpPr>
          <p:nvPr/>
        </p:nvSpPr>
        <p:spPr>
          <a:xfrm>
            <a:off x="60990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stakeholder to tell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66375E-B095-434B-A10D-4181F2A7B25F}"/>
              </a:ext>
            </a:extLst>
          </p:cNvPr>
          <p:cNvSpPr>
            <a:spLocks noGrp="1"/>
          </p:cNvSpPr>
          <p:nvPr/>
        </p:nvSpPr>
        <p:spPr>
          <a:xfrm>
            <a:off x="321594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Next week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33ED01-FC93-4919-9F48-C5693603741C}"/>
              </a:ext>
            </a:extLst>
          </p:cNvPr>
          <p:cNvSpPr>
            <a:spLocks noGrp="1"/>
          </p:cNvSpPr>
          <p:nvPr/>
        </p:nvSpPr>
        <p:spPr>
          <a:xfrm>
            <a:off x="321594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new behavior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F8BC50-2A65-42B3-BB75-C782C599EE76}"/>
              </a:ext>
            </a:extLst>
          </p:cNvPr>
          <p:cNvSpPr>
            <a:spLocks noGrp="1"/>
          </p:cNvSpPr>
          <p:nvPr/>
        </p:nvSpPr>
        <p:spPr>
          <a:xfrm>
            <a:off x="582198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90 days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5E899D-BA93-40FE-832F-A1CF179645DD}"/>
              </a:ext>
            </a:extLst>
          </p:cNvPr>
          <p:cNvSpPr>
            <a:spLocks noGrp="1"/>
          </p:cNvSpPr>
          <p:nvPr/>
        </p:nvSpPr>
        <p:spPr>
          <a:xfrm>
            <a:off x="582198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bounded pilot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21E322-4603-4456-8E4C-4B897B4DCCD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D39031-03CE-4D05-B60A-FB664C929D9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3593BB-A9C8-47DF-804D-2EE224000C6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46</a:t>
            </a:r>
          </a:p>
        </p:txBody>
      </p:sp>
      <p:sp>
        <p:nvSpPr>
          <p:cNvPr id="810" name="Timeline"/>
          <p:cNvSpPr/>
          <p:nvPr/>
        </p:nvSpPr>
        <p:spPr>
          <a:xfrm>
            <a:off x="822960" y="4224528"/>
            <a:ext cx="722376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1" name="Timeline dot"/>
          <p:cNvSpPr/>
          <p:nvPr/>
        </p:nvSpPr>
        <p:spPr>
          <a:xfrm>
            <a:off x="655625" y="4114800"/>
            <a:ext cx="274320" cy="2743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2" name="Timeline dot"/>
          <p:cNvSpPr/>
          <p:nvPr/>
        </p:nvSpPr>
        <p:spPr>
          <a:xfrm>
            <a:off x="3261665" y="4114800"/>
            <a:ext cx="274320" cy="2743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3" name="Timeline dot"/>
          <p:cNvSpPr/>
          <p:nvPr/>
        </p:nvSpPr>
        <p:spPr>
          <a:xfrm>
            <a:off x="5867705" y="4114800"/>
            <a:ext cx="274320" cy="2743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20" name="QR card"/>
          <p:cNvSpPr/>
          <p:nvPr/>
        </p:nvSpPr>
        <p:spPr>
          <a:xfrm>
            <a:off x="8915400" y="91440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115568"/>
            <a:ext cx="1920240" cy="1920240"/>
          </a:xfrm>
          <a:prstGeom prst="rect">
            <a:avLst/>
          </a:prstGeom>
        </p:spPr>
      </p:pic>
      <p:sp>
        <p:nvSpPr>
          <p:cNvPr id="822" name="QR caption"/>
          <p:cNvSpPr/>
          <p:nvPr/>
        </p:nvSpPr>
        <p:spPr>
          <a:xfrm>
            <a:off x="9052560" y="315468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825" name="QR line"/>
          <p:cNvSpPr/>
          <p:nvPr/>
        </p:nvSpPr>
        <p:spPr>
          <a:xfrm>
            <a:off x="8915400" y="4206240"/>
            <a:ext cx="2670048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Prompts, missions, data and the optimizer</a:t>
            </a:r>
          </a:p>
        </p:txBody>
      </p:sp>
    </p:spTree>
    <p:extLst>
      <p:ext uri="{BB962C8B-B14F-4D97-AF65-F5344CB8AC3E}">
        <p14:creationId xmlns:p14="http://schemas.microsoft.com/office/powerpoint/2010/main" val="2867404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7223760" y="320040"/>
            <a:ext cx="466344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Human at the helm.</a:t>
            </a:r>
          </a:p>
          <a:p>
            <a:pPr algn="r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AI in the loop.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8138160" y="1645920"/>
            <a:ext cx="374904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What is the first job</a:t>
            </a:r>
          </a:p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you will delegate?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00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F8219C2-817B-4C0C-A749-70688B8249AA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plain-language glossary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82FEA80-7DA4-4EF0-9CE0-4D4205013100}"/>
              </a:ext>
            </a:extLst>
          </p:cNvPr>
          <p:cNvSpPr>
            <a:spLocks noGrp="1"/>
          </p:cNvSpPr>
          <p:nvPr/>
        </p:nvSpPr>
        <p:spPr>
          <a:xfrm>
            <a:off x="609600" y="212140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A7FE3D-85CE-4791-8C0E-B905BFC0B166}"/>
              </a:ext>
            </a:extLst>
          </p:cNvPr>
          <p:cNvSpPr>
            <a:spLocks noGrp="1"/>
          </p:cNvSpPr>
          <p:nvPr/>
        </p:nvSpPr>
        <p:spPr>
          <a:xfrm>
            <a:off x="609600" y="141732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1DD22F-5BEC-4B26-B756-3E01BBD3AE77}"/>
              </a:ext>
            </a:extLst>
          </p:cNvPr>
          <p:cNvSpPr>
            <a:spLocks noGrp="1"/>
          </p:cNvSpPr>
          <p:nvPr/>
        </p:nvSpPr>
        <p:spPr>
          <a:xfrm>
            <a:off x="4181475" y="141732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AI that pursues a goal: it plans, uses tools, makes files and checks its own work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8978EB8-C094-45C0-929D-8A6DEE0FDE65}"/>
              </a:ext>
            </a:extLst>
          </p:cNvPr>
          <p:cNvSpPr>
            <a:spLocks noGrp="1"/>
          </p:cNvSpPr>
          <p:nvPr/>
        </p:nvSpPr>
        <p:spPr>
          <a:xfrm>
            <a:off x="609600" y="28712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DAC75-309B-4C1F-8C33-0A4DF7C6336C}"/>
              </a:ext>
            </a:extLst>
          </p:cNvPr>
          <p:cNvSpPr>
            <a:spLocks noGrp="1"/>
          </p:cNvSpPr>
          <p:nvPr/>
        </p:nvSpPr>
        <p:spPr>
          <a:xfrm>
            <a:off x="609600" y="2167128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Skill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2E271B-0350-4468-B9D2-AAC433A7653F}"/>
              </a:ext>
            </a:extLst>
          </p:cNvPr>
          <p:cNvSpPr>
            <a:spLocks noGrp="1"/>
          </p:cNvSpPr>
          <p:nvPr/>
        </p:nvSpPr>
        <p:spPr>
          <a:xfrm>
            <a:off x="4181475" y="2167128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packaged procedure an agent loads on demand: instructions, house rules,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5B96E00-A0AF-4BCA-A3DB-1783342B9DE8}"/>
              </a:ext>
            </a:extLst>
          </p:cNvPr>
          <p:cNvSpPr>
            <a:spLocks noGrp="1"/>
          </p:cNvSpPr>
          <p:nvPr/>
        </p:nvSpPr>
        <p:spPr>
          <a:xfrm>
            <a:off x="609600" y="362102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FF7DEE-3E78-4AB9-9947-F1F6E4FF5D93}"/>
              </a:ext>
            </a:extLst>
          </p:cNvPr>
          <p:cNvSpPr>
            <a:spLocks noGrp="1"/>
          </p:cNvSpPr>
          <p:nvPr/>
        </p:nvSpPr>
        <p:spPr>
          <a:xfrm>
            <a:off x="609600" y="2916936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927E9-3C1C-4F87-BAE1-7DEC3835842A}"/>
              </a:ext>
            </a:extLst>
          </p:cNvPr>
          <p:cNvSpPr>
            <a:spLocks noGrp="1"/>
          </p:cNvSpPr>
          <p:nvPr/>
        </p:nvSpPr>
        <p:spPr>
          <a:xfrm>
            <a:off x="4181475" y="2916936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Giving each agent exactly the information its step needs, no more and no less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29B80457-7C3E-4279-82E8-2B59F2304761}"/>
              </a:ext>
            </a:extLst>
          </p:cNvPr>
          <p:cNvSpPr>
            <a:spLocks noGrp="1"/>
          </p:cNvSpPr>
          <p:nvPr/>
        </p:nvSpPr>
        <p:spPr>
          <a:xfrm>
            <a:off x="609600" y="437083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26F14E-0DB9-44E3-84ED-96A6D1611F15}"/>
              </a:ext>
            </a:extLst>
          </p:cNvPr>
          <p:cNvSpPr>
            <a:spLocks noGrp="1"/>
          </p:cNvSpPr>
          <p:nvPr/>
        </p:nvSpPr>
        <p:spPr>
          <a:xfrm>
            <a:off x="609600" y="3666744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1183A6-8A3D-4341-9533-EA555A847527}"/>
              </a:ext>
            </a:extLst>
          </p:cNvPr>
          <p:cNvSpPr>
            <a:spLocks noGrp="1"/>
          </p:cNvSpPr>
          <p:nvPr/>
        </p:nvSpPr>
        <p:spPr>
          <a:xfrm>
            <a:off x="4181475" y="3666744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The environment around the model: tools, files, permissions and checks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1206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4416552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Swarm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4416552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Several specialist agents coordinated by a lead agent around one outcome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3077AD-3A88-420D-934B-47263A12AF3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A8A37B-B5BD-4497-ADD4-0C5B0E5895F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1BD1AA-5915-44E0-9AA3-6D682AE938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51</a:t>
            </a:r>
          </a:p>
        </p:txBody>
      </p:sp>
      <p:sp>
        <p:nvSpPr>
          <p:cNvPr id="830" name="Straight Connector 13 r830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87044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31" name="Rectangle 14 r830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516636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Human gate</a:t>
            </a:r>
          </a:p>
        </p:txBody>
      </p:sp>
      <p:sp>
        <p:nvSpPr>
          <p:cNvPr id="832" name="Rectangle 15 r830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516636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point where a named person reviews and decides before the work continues</a:t>
            </a:r>
          </a:p>
        </p:txBody>
      </p:sp>
    </p:spTree>
    <p:extLst>
      <p:ext uri="{BB962C8B-B14F-4D97-AF65-F5344CB8AC3E}">
        <p14:creationId xmlns:p14="http://schemas.microsoft.com/office/powerpoint/2010/main" val="4656210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D73526A-3D26-46EE-B4DC-13641C5BDA4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sources and provenance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8A5C492-66CA-4985-9FAA-71A8D75CB85C}"/>
              </a:ext>
            </a:extLst>
          </p:cNvPr>
          <p:cNvSpPr>
            <a:spLocks noGrp="1"/>
          </p:cNvSpPr>
          <p:nvPr/>
        </p:nvSpPr>
        <p:spPr>
          <a:xfrm>
            <a:off x="609600" y="199339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1117F-5258-4ED0-ABEB-F1DFAAEC7B4C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Capability trend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DD3CBE-0D61-4F53-8D87-4AA7289F1FB9}"/>
              </a:ext>
            </a:extLst>
          </p:cNvPr>
          <p:cNvSpPr>
            <a:spLocks noGrp="1"/>
          </p:cNvSpPr>
          <p:nvPr/>
        </p:nvSpPr>
        <p:spPr>
          <a:xfrm>
            <a:off x="4181475" y="137160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METR time horizons, TH1.1 (updated May 2026, metr.org) and METR posts on X: 50% time horizons by model; doubling ≈4.2 months (128.7 days) since 2023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95482EF-3893-4D72-87B2-CAECD701EFA2}"/>
              </a:ext>
            </a:extLst>
          </p:cNvPr>
          <p:cNvSpPr>
            <a:spLocks noGrp="1"/>
          </p:cNvSpPr>
          <p:nvPr/>
        </p:nvSpPr>
        <p:spPr>
          <a:xfrm>
            <a:off x="609600" y="266090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A393C0-6B23-42D7-B7D8-169CB2D6A534}"/>
              </a:ext>
            </a:extLst>
          </p:cNvPr>
          <p:cNvSpPr>
            <a:spLocks noGrp="1"/>
          </p:cNvSpPr>
          <p:nvPr/>
        </p:nvSpPr>
        <p:spPr>
          <a:xfrm>
            <a:off x="609600" y="203911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Usage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073744-9557-42A2-905C-706B6FA33351}"/>
              </a:ext>
            </a:extLst>
          </p:cNvPr>
          <p:cNvSpPr>
            <a:spLocks noGrp="1"/>
          </p:cNvSpPr>
          <p:nvPr/>
        </p:nvSpPr>
        <p:spPr>
          <a:xfrm>
            <a:off x="4181475" y="203911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OpenAI, health in ChatGPT, July 2026; OpenEvidence company statement, 2026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6F143D3C-35C6-43A3-8CD7-81236DEFD252}"/>
              </a:ext>
            </a:extLst>
          </p:cNvPr>
          <p:cNvSpPr>
            <a:spLocks noGrp="1"/>
          </p:cNvSpPr>
          <p:nvPr/>
        </p:nvSpPr>
        <p:spPr>
          <a:xfrm>
            <a:off x="609600" y="33284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6CC659-E97D-4D14-91A4-72114FD6FDA2}"/>
              </a:ext>
            </a:extLst>
          </p:cNvPr>
          <p:cNvSpPr>
            <a:spLocks noGrp="1"/>
          </p:cNvSpPr>
          <p:nvPr/>
        </p:nvSpPr>
        <p:spPr>
          <a:xfrm>
            <a:off x="609600" y="2706624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Library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242166-6221-4116-8F27-F4471634B602}"/>
              </a:ext>
            </a:extLst>
          </p:cNvPr>
          <p:cNvSpPr>
            <a:spLocks noGrp="1"/>
          </p:cNvSpPr>
          <p:nvPr/>
        </p:nvSpPr>
        <p:spPr>
          <a:xfrm>
            <a:off x="4181475" y="2706624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Open-Medical-Affairs / Medical-Affairs-Skills, Apache-2.0: 62 skills, 16 missions, 3 TAs (companion-site build, Sep 27, 2026)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665F20E-894A-4408-9093-103ABA04E3C0}"/>
              </a:ext>
            </a:extLst>
          </p:cNvPr>
          <p:cNvSpPr>
            <a:spLocks noGrp="1"/>
          </p:cNvSpPr>
          <p:nvPr/>
        </p:nvSpPr>
        <p:spPr>
          <a:xfrm>
            <a:off x="609600" y="399592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DEA949-D70D-429A-992A-CA0995E5AE27}"/>
              </a:ext>
            </a:extLst>
          </p:cNvPr>
          <p:cNvSpPr>
            <a:spLocks noGrp="1"/>
          </p:cNvSpPr>
          <p:nvPr/>
        </p:nvSpPr>
        <p:spPr>
          <a:xfrm>
            <a:off x="609600" y="3374136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Launch use case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69F3BD-4DD3-4916-BC65-0D97A8D0059C}"/>
              </a:ext>
            </a:extLst>
          </p:cNvPr>
          <p:cNvSpPr>
            <a:spLocks noGrp="1"/>
          </p:cNvSpPr>
          <p:nvPr/>
        </p:nvSpPr>
        <p:spPr>
          <a:xfrm>
            <a:off x="4181475" y="3374136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Launch-planning swarm brief (medical-launch-plan skill). ADIPOSYN is fictional; timings are illustrative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46634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041648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Demonstrations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041648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Actual Grok Bot desktop rehearsals, September 27, 2026 · public evidence + fictional 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71F1D7-A277-47F0-9B4B-9E0E30A79A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379CF9-B37C-4EE1-B157-BD464A73D51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293DEE-5CB9-4B33-BE66-04C144D8035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52</a:t>
            </a:r>
          </a:p>
        </p:txBody>
      </p:sp>
      <p:sp>
        <p:nvSpPr>
          <p:cNvPr id="840" name="Straight Connector 13 r84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33095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1" name="Rectangle 14 r84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70916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Film clip</a:t>
            </a:r>
          </a:p>
        </p:txBody>
      </p:sp>
      <p:sp>
        <p:nvSpPr>
          <p:cNvPr id="842" name="Rectangle 15 r84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70916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The Matrix 25th Anniversary | I Know Kung Fu, official Warner Bros. YouTube · linked, not embedded</a:t>
            </a:r>
          </a:p>
        </p:txBody>
      </p:sp>
      <p:sp>
        <p:nvSpPr>
          <p:cNvPr id="850" name="Straight Connector 13 r840 r85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99846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51" name="Rectangle 14 r840 r85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537667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Illustrations</a:t>
            </a:r>
          </a:p>
        </p:txBody>
      </p:sp>
      <p:sp>
        <p:nvSpPr>
          <p:cNvPr id="852" name="Rectangle 15 r840 r85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537667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Custom illustrations; no real people depicted. Mock interfaces, org charts and test results are illustrative</a:t>
            </a:r>
          </a:p>
        </p:txBody>
      </p:sp>
    </p:spTree>
    <p:extLst>
      <p:ext uri="{BB962C8B-B14F-4D97-AF65-F5344CB8AC3E}">
        <p14:creationId xmlns:p14="http://schemas.microsoft.com/office/powerpoint/2010/main" val="9538317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9EC4E00-86F5-42AF-95EA-6B0F36885243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Alternative demo: an advisory-board package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2D6512-4403-4B49-A029-E7E1A69D2889}"/>
              </a:ext>
            </a:extLst>
          </p:cNvPr>
          <p:cNvSpPr>
            <a:spLocks noGrp="1"/>
          </p:cNvSpPr>
          <p:nvPr/>
        </p:nvSpPr>
        <p:spPr>
          <a:xfrm>
            <a:off x="609600" y="1188720"/>
            <a:ext cx="1066800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Obesity · sustaining treatment in routine practice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827576-FCE0-4AED-8A1B-552609015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37294" y="2219325"/>
            <a:ext cx="4126362" cy="35337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8BE031-C8FE-45E6-9242-C421B90A0620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1.  Live evidence + registry retrieval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5B3B1-7CF9-43E9-A087-942DDA3A15B1}"/>
              </a:ext>
            </a:extLst>
          </p:cNvPr>
          <p:cNvSpPr>
            <a:spLocks noGrp="1"/>
          </p:cNvSpPr>
          <p:nvPr/>
        </p:nvSpPr>
        <p:spPr>
          <a:xfrm>
            <a:off x="7448550" y="311467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2.  Gaps mapped to decisions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5EB9EA-254D-46AF-9B84-77CAF3A9A00D}"/>
              </a:ext>
            </a:extLst>
          </p:cNvPr>
          <p:cNvSpPr>
            <a:spLocks noGrp="1"/>
          </p:cNvSpPr>
          <p:nvPr/>
        </p:nvSpPr>
        <p:spPr>
          <a:xfrm>
            <a:off x="7448550" y="392430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3.  Charter, agenda and advisor criteria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EAA7A-DFE9-4C5D-8431-606EB61C646D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4.  Pre-read, claim ledger and review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BE78E3-91FA-453F-BF08-87B61CC81D46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Actual Grok Bot rehearsal · draft package · September 27, 2026 · use if the live demo fails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A08B6C-7727-476A-86A4-CFAD75A7CC1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95EBC-1C35-4CF6-8081-D2112F82F8F9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2C95A5-5E8B-4826-955A-8C96F9B6DB4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6430114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47B58F-4E69-42F7-A23A-412C67486CA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Before and after: congress and MI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24DDBC-99EC-4B2C-A4DF-F174F4C93D8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6137E1-EB25-4B45-ACBD-7F71D7F0DFA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253DF5-F149-4F10-8BA4-312E8557C6E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5865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CONGRESS MONITORING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copying notes to appraising what changed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9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Capture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1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37" name="Connector 36"/>
          <p:cNvCxnSpPr>
            <a:stCxn id="35" idx="3"/>
            <a:endCxn id="36" idx="1"/>
          </p:cNvCxnSpPr>
          <p:nvPr/>
        </p:nvCxnSpPr>
        <p:spPr>
          <a:xfrm flipV="1">
            <a:off x="2255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572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Merge</a:t>
            </a:r>
          </a:p>
        </p:txBody>
      </p:sp>
      <p:cxnSp>
        <p:nvCxnSpPr>
          <p:cNvPr id="39" name="Connector 38"/>
          <p:cNvCxnSpPr>
            <a:stCxn id="36" idx="3"/>
            <a:endCxn id="38" idx="1"/>
          </p:cNvCxnSpPr>
          <p:nvPr/>
        </p:nvCxnSpPr>
        <p:spPr>
          <a:xfrm flipV="1">
            <a:off x="3417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733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41" name="Connector 40"/>
          <p:cNvCxnSpPr>
            <a:stCxn id="38" idx="3"/>
            <a:endCxn id="40" idx="1"/>
          </p:cNvCxnSpPr>
          <p:nvPr/>
        </p:nvCxnSpPr>
        <p:spPr>
          <a:xfrm flipV="1">
            <a:off x="4578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9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49984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Frame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11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Track</a:t>
            </a:r>
          </a:p>
        </p:txBody>
      </p:sp>
      <p:cxnSp>
        <p:nvCxnSpPr>
          <p:cNvPr id="49" name="Connector 48"/>
          <p:cNvCxnSpPr>
            <a:stCxn id="47" idx="3"/>
            <a:endCxn id="48" idx="1"/>
          </p:cNvCxnSpPr>
          <p:nvPr/>
        </p:nvCxnSpPr>
        <p:spPr>
          <a:xfrm>
            <a:off x="2255824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72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Read out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3417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733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Appraise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 flipV="1">
            <a:off x="4578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09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Source-linked tracker · change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93608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MEDICAL INFORMATION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searching and copying to reviewing a draft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4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4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4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64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Triage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6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Search</a:t>
            </a:r>
          </a:p>
        </p:txBody>
      </p:sp>
      <p:cxnSp>
        <p:nvCxnSpPr>
          <p:cNvPr id="61" name="Connector 60"/>
          <p:cNvCxnSpPr>
            <a:stCxn id="59" idx="3"/>
            <a:endCxn id="60" idx="1"/>
          </p:cNvCxnSpPr>
          <p:nvPr/>
        </p:nvCxnSpPr>
        <p:spPr>
          <a:xfrm flipV="1">
            <a:off x="7970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287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63" name="Connector 62"/>
          <p:cNvCxnSpPr>
            <a:stCxn id="60" idx="3"/>
            <a:endCxn id="62" idx="1"/>
          </p:cNvCxnSpPr>
          <p:nvPr/>
        </p:nvCxnSpPr>
        <p:spPr>
          <a:xfrm flipV="1">
            <a:off x="9132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0448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65" name="Connector 64"/>
          <p:cNvCxnSpPr>
            <a:stCxn id="62" idx="3"/>
            <a:endCxn id="64" idx="1"/>
          </p:cNvCxnSpPr>
          <p:nvPr/>
        </p:nvCxnSpPr>
        <p:spPr>
          <a:xfrm flipV="1">
            <a:off x="10293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324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24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4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4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4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64984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Retrieve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126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73" name="Connector 72"/>
          <p:cNvCxnSpPr>
            <a:stCxn id="71" idx="3"/>
            <a:endCxn id="72" idx="1"/>
          </p:cNvCxnSpPr>
          <p:nvPr/>
        </p:nvCxnSpPr>
        <p:spPr>
          <a:xfrm flipV="1">
            <a:off x="7970824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9287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Scope check</a:t>
            </a:r>
          </a:p>
        </p:txBody>
      </p:sp>
      <p:cxnSp>
        <p:nvCxnSpPr>
          <p:cNvPr id="75" name="Connector 74"/>
          <p:cNvCxnSpPr>
            <a:stCxn id="72" idx="3"/>
            <a:endCxn id="74" idx="1"/>
          </p:cNvCxnSpPr>
          <p:nvPr/>
        </p:nvCxnSpPr>
        <p:spPr>
          <a:xfrm flipV="1">
            <a:off x="9132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10448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Review</a:t>
            </a:r>
          </a:p>
        </p:txBody>
      </p:sp>
      <p:cxnSp>
        <p:nvCxnSpPr>
          <p:cNvPr id="77" name="Connector 76"/>
          <p:cNvCxnSpPr>
            <a:stCxn id="74" idx="3"/>
            <a:endCxn id="76" idx="1"/>
          </p:cNvCxnSpPr>
          <p:nvPr/>
        </p:nvCxnSpPr>
        <p:spPr>
          <a:xfrm flipV="1">
            <a:off x="10293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324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Review-ready draft · safety flags visible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904" y="6053328"/>
            <a:ext cx="1097280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Human attention moves from assembling to judging</a:t>
            </a:r>
          </a:p>
        </p:txBody>
      </p:sp>
      <p:pic>
        <p:nvPicPr>
          <p:cNvPr id="860" name="Lane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pic>
        <p:nvPicPr>
          <p:cNvPr id="861" name="Lane art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327648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133523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Find your first use case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137160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Expert-led: AI assists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1371600"/>
            <a:ext cx="3236976" cy="2048255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FFFFFF"/>
                </a:solidFill>
                <a:latin typeface="Bahnschrift"/>
              </a:rPr>
              <a:t>START HERE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474720"/>
            <a:ext cx="3236976" cy="2048255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8A9BAA"/>
                </a:solidFill>
                <a:latin typeface="Bahnschrift"/>
              </a:rPr>
              <a:t>Not worth it yet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7472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Automate with simple tools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-320040" y="3154680"/>
            <a:ext cx="29260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Context and judgment needed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623560"/>
            <a:ext cx="65836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How often it happens × how many steps →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187452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184708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Launch plan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Ad-board package</a:t>
            </a:r>
          </a:p>
        </p:txBody>
      </p:sp>
      <p:sp>
        <p:nvSpPr>
          <p:cNvPr id="32" name="Oval 31"/>
          <p:cNvSpPr/>
          <p:nvPr/>
        </p:nvSpPr>
        <p:spPr>
          <a:xfrm>
            <a:off x="5852160" y="28346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28072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Congress readout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0" y="3127248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76672" y="3099816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MI response</a:t>
            </a:r>
          </a:p>
        </p:txBody>
      </p:sp>
      <p:sp>
        <p:nvSpPr>
          <p:cNvPr id="36" name="Oval 35"/>
          <p:cNvSpPr/>
          <p:nvPr/>
        </p:nvSpPr>
        <p:spPr>
          <a:xfrm>
            <a:off x="210312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50591" y="235000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One-off strategy call</a:t>
            </a:r>
          </a:p>
        </p:txBody>
      </p:sp>
      <p:sp>
        <p:nvSpPr>
          <p:cNvPr id="38" name="Oval 37"/>
          <p:cNvSpPr/>
          <p:nvPr/>
        </p:nvSpPr>
        <p:spPr>
          <a:xfrm>
            <a:off x="6309360" y="457200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454456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Literature alerts</a:t>
            </a:r>
          </a:p>
        </p:txBody>
      </p:sp>
      <p:sp>
        <p:nvSpPr>
          <p:cNvPr id="40" name="Oval 39"/>
          <p:cNvSpPr/>
          <p:nvPr/>
        </p:nvSpPr>
        <p:spPr>
          <a:xfrm>
            <a:off x="2286000" y="4663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33472" y="4636007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Ad hoc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1325880"/>
            <a:ext cx="301752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28455F"/>
                </a:solidFill>
                <a:latin typeface="Arial"/>
              </a:rPr>
              <a:t>Look for work that is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49640" y="1783080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1801368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Frequent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49640" y="2350008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368296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Multi-step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49640" y="2916936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935224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Context-heavy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49640" y="3483864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3502152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Judgment-rich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870448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Arial"/>
              </a:rPr>
              <a:t>e.g. the MSL pre-call brief: all four</a:t>
            </a:r>
          </a:p>
        </p:txBody>
      </p:sp>
      <p:pic>
        <p:nvPicPr>
          <p:cNvPr id="870" name="MSL HCP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549640" y="4114800"/>
            <a:ext cx="3017520" cy="170078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871" name="Workshop line"/>
          <p:cNvSpPr/>
          <p:nvPr/>
        </p:nvSpPr>
        <p:spPr>
          <a:xfrm>
            <a:off x="1463040" y="5989320"/>
            <a:ext cx="65836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F47735"/>
                </a:solidFill>
                <a:latin typeface="Bahnschrift"/>
              </a:rPr>
              <a:t>Bring that one to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interface changed: same window, different job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13</a:t>
            </a:r>
          </a:p>
        </p:txBody>
      </p:sp>
      <p:sp>
        <p:nvSpPr>
          <p:cNvPr id="500" name="Caption"/>
          <p:cNvSpPr/>
          <p:nvPr/>
        </p:nvSpPr>
        <p:spPr>
          <a:xfrm>
            <a:off x="60990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ANSWERS</a:t>
            </a:r>
          </a:p>
        </p:txBody>
      </p:sp>
      <p:sp>
        <p:nvSpPr>
          <p:cNvPr id="510" name="Window"/>
          <p:cNvSpPr/>
          <p:nvPr/>
        </p:nvSpPr>
        <p:spPr>
          <a:xfrm>
            <a:off x="60990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1" name="Window bar"/>
          <p:cNvSpPr/>
          <p:nvPr/>
        </p:nvSpPr>
        <p:spPr>
          <a:xfrm>
            <a:off x="60990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12" name="Dot"/>
          <p:cNvSpPr/>
          <p:nvPr/>
        </p:nvSpPr>
        <p:spPr>
          <a:xfrm>
            <a:off x="74706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3" name="Dot"/>
          <p:cNvSpPr/>
          <p:nvPr/>
        </p:nvSpPr>
        <p:spPr>
          <a:xfrm>
            <a:off x="92994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4" name="Dot"/>
          <p:cNvSpPr/>
          <p:nvPr/>
        </p:nvSpPr>
        <p:spPr>
          <a:xfrm>
            <a:off x="111282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5" name="Input"/>
          <p:cNvSpPr/>
          <p:nvPr/>
        </p:nvSpPr>
        <p:spPr>
          <a:xfrm>
            <a:off x="79278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5" name="Stage arrow"/>
          <p:cNvSpPr/>
          <p:nvPr/>
        </p:nvSpPr>
        <p:spPr>
          <a:xfrm>
            <a:off x="404804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1" name="Caption"/>
          <p:cNvSpPr/>
          <p:nvPr/>
        </p:nvSpPr>
        <p:spPr>
          <a:xfrm>
            <a:off x="440466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ARTIFACTS</a:t>
            </a:r>
          </a:p>
        </p:txBody>
      </p:sp>
      <p:sp>
        <p:nvSpPr>
          <p:cNvPr id="520" name="Window"/>
          <p:cNvSpPr/>
          <p:nvPr/>
        </p:nvSpPr>
        <p:spPr>
          <a:xfrm>
            <a:off x="440466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1" name="Window bar"/>
          <p:cNvSpPr/>
          <p:nvPr/>
        </p:nvSpPr>
        <p:spPr>
          <a:xfrm>
            <a:off x="440466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22" name="Dot"/>
          <p:cNvSpPr/>
          <p:nvPr/>
        </p:nvSpPr>
        <p:spPr>
          <a:xfrm>
            <a:off x="454182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3" name="Dot"/>
          <p:cNvSpPr/>
          <p:nvPr/>
        </p:nvSpPr>
        <p:spPr>
          <a:xfrm>
            <a:off x="472470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4" name="Dot"/>
          <p:cNvSpPr/>
          <p:nvPr/>
        </p:nvSpPr>
        <p:spPr>
          <a:xfrm>
            <a:off x="490758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5" name="Input"/>
          <p:cNvSpPr/>
          <p:nvPr/>
        </p:nvSpPr>
        <p:spPr>
          <a:xfrm>
            <a:off x="458754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6" name="Stage arrow"/>
          <p:cNvSpPr/>
          <p:nvPr/>
        </p:nvSpPr>
        <p:spPr>
          <a:xfrm>
            <a:off x="784280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2" name="Caption"/>
          <p:cNvSpPr/>
          <p:nvPr/>
        </p:nvSpPr>
        <p:spPr>
          <a:xfrm>
            <a:off x="819942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47735"/>
                </a:solidFill>
                <a:latin typeface="Bahnschrift"/>
              </a:rPr>
              <a:t>3 · AGENTS DOING WORK</a:t>
            </a:r>
          </a:p>
        </p:txBody>
      </p:sp>
      <p:sp>
        <p:nvSpPr>
          <p:cNvPr id="530" name="Window"/>
          <p:cNvSpPr/>
          <p:nvPr/>
        </p:nvSpPr>
        <p:spPr>
          <a:xfrm>
            <a:off x="819942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1" name="Window bar"/>
          <p:cNvSpPr/>
          <p:nvPr/>
        </p:nvSpPr>
        <p:spPr>
          <a:xfrm>
            <a:off x="819942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32" name="Dot"/>
          <p:cNvSpPr/>
          <p:nvPr/>
        </p:nvSpPr>
        <p:spPr>
          <a:xfrm>
            <a:off x="833658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3" name="Dot"/>
          <p:cNvSpPr/>
          <p:nvPr/>
        </p:nvSpPr>
        <p:spPr>
          <a:xfrm>
            <a:off x="851946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4" name="Dot"/>
          <p:cNvSpPr/>
          <p:nvPr/>
        </p:nvSpPr>
        <p:spPr>
          <a:xfrm>
            <a:off x="870234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5" name="Input"/>
          <p:cNvSpPr/>
          <p:nvPr/>
        </p:nvSpPr>
        <p:spPr>
          <a:xfrm>
            <a:off x="838230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Awaiting your approval</a:t>
            </a:r>
          </a:p>
        </p:txBody>
      </p:sp>
      <p:sp>
        <p:nvSpPr>
          <p:cNvPr id="560" name="User bubble"/>
          <p:cNvSpPr/>
          <p:nvPr/>
        </p:nvSpPr>
        <p:spPr>
          <a:xfrm>
            <a:off x="1524305" y="233172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What did the latest trial show?</a:t>
            </a:r>
          </a:p>
        </p:txBody>
      </p:sp>
      <p:sp>
        <p:nvSpPr>
          <p:cNvPr id="561" name="AI bubble"/>
          <p:cNvSpPr/>
          <p:nvPr/>
        </p:nvSpPr>
        <p:spPr>
          <a:xfrm>
            <a:off x="792785" y="3017520"/>
            <a:ext cx="27432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It met its primary endpoint. Here are the key results, subgroups and limitations, with citations.</a:t>
            </a:r>
          </a:p>
        </p:txBody>
      </p:sp>
      <p:sp>
        <p:nvSpPr>
          <p:cNvPr id="562" name="Text line"/>
          <p:cNvSpPr/>
          <p:nvPr/>
        </p:nvSpPr>
        <p:spPr>
          <a:xfrm>
            <a:off x="884225" y="4297680"/>
            <a:ext cx="237744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3" name="Text line"/>
          <p:cNvSpPr/>
          <p:nvPr/>
        </p:nvSpPr>
        <p:spPr>
          <a:xfrm>
            <a:off x="884225" y="4498848"/>
            <a:ext cx="201168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4" name="Text line"/>
          <p:cNvSpPr/>
          <p:nvPr/>
        </p:nvSpPr>
        <p:spPr>
          <a:xfrm>
            <a:off x="884225" y="4700016"/>
            <a:ext cx="228600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0" name="User bubble"/>
          <p:cNvSpPr/>
          <p:nvPr/>
        </p:nvSpPr>
        <p:spPr>
          <a:xfrm>
            <a:off x="4816145" y="2331720"/>
            <a:ext cx="278892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Build a 10-slide ad-board pre-read</a:t>
            </a:r>
          </a:p>
        </p:txBody>
      </p:sp>
      <p:sp>
        <p:nvSpPr>
          <p:cNvPr id="571" name="AI bubble"/>
          <p:cNvSpPr/>
          <p:nvPr/>
        </p:nvSpPr>
        <p:spPr>
          <a:xfrm>
            <a:off x="4587545" y="2971800"/>
            <a:ext cx="2011680" cy="38404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Here is your deck:</a:t>
            </a:r>
          </a:p>
        </p:txBody>
      </p:sp>
      <p:sp>
        <p:nvSpPr>
          <p:cNvPr id="572" name="File card"/>
          <p:cNvSpPr/>
          <p:nvPr/>
        </p:nvSpPr>
        <p:spPr>
          <a:xfrm>
            <a:off x="4587545" y="3474720"/>
            <a:ext cx="30175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777240" rIns="91440" tIns="91440" bIns="91440" anchor="ctr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adboard-preread.pptx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10 slides · editable</a:t>
            </a:r>
          </a:p>
        </p:txBody>
      </p:sp>
      <p:sp>
        <p:nvSpPr>
          <p:cNvPr id="573" name="PPTX tag"/>
          <p:cNvSpPr/>
          <p:nvPr/>
        </p:nvSpPr>
        <p:spPr>
          <a:xfrm>
            <a:off x="4678985" y="3584448"/>
            <a:ext cx="566928" cy="420624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9144" rIns="9144" tIns="9144" bIns="9144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PPTX</a:t>
            </a:r>
          </a:p>
        </p:txBody>
      </p:sp>
      <p:sp>
        <p:nvSpPr>
          <p:cNvPr id="574" name="Thumb"/>
          <p:cNvSpPr/>
          <p:nvPr/>
        </p:nvSpPr>
        <p:spPr>
          <a:xfrm>
            <a:off x="4587545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5" name="Thumb bar"/>
          <p:cNvSpPr/>
          <p:nvPr/>
        </p:nvSpPr>
        <p:spPr>
          <a:xfrm>
            <a:off x="4587545" y="4251960"/>
            <a:ext cx="932688" cy="146304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6" name="Thumb"/>
          <p:cNvSpPr/>
          <p:nvPr/>
        </p:nvSpPr>
        <p:spPr>
          <a:xfrm>
            <a:off x="5611673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7" name="Thumb bar"/>
          <p:cNvSpPr/>
          <p:nvPr/>
        </p:nvSpPr>
        <p:spPr>
          <a:xfrm>
            <a:off x="5611673" y="4251960"/>
            <a:ext cx="932688" cy="146304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8" name="Thumb"/>
          <p:cNvSpPr/>
          <p:nvPr/>
        </p:nvSpPr>
        <p:spPr>
          <a:xfrm>
            <a:off x="6635801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9" name="Thumb bar"/>
          <p:cNvSpPr/>
          <p:nvPr/>
        </p:nvSpPr>
        <p:spPr>
          <a:xfrm>
            <a:off x="6635801" y="4251960"/>
            <a:ext cx="932688" cy="14630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0" name="User bubble"/>
          <p:cNvSpPr/>
          <p:nvPr/>
        </p:nvSpPr>
        <p:spPr>
          <a:xfrm>
            <a:off x="8748065" y="228600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Goal: congress briefing pack</a:t>
            </a:r>
          </a:p>
        </p:txBody>
      </p:sp>
      <p:sp>
        <p:nvSpPr>
          <p:cNvPr id="591" name="Plan card"/>
          <p:cNvSpPr/>
          <p:nvPr/>
        </p:nvSpPr>
        <p:spPr>
          <a:xfrm>
            <a:off x="8382305" y="2834640"/>
            <a:ext cx="301752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2" name="Plan head"/>
          <p:cNvSpPr/>
          <p:nvPr/>
        </p:nvSpPr>
        <p:spPr>
          <a:xfrm>
            <a:off x="8519465" y="2880360"/>
            <a:ext cx="27432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PLAN</a:t>
            </a:r>
          </a:p>
        </p:txBody>
      </p:sp>
      <p:sp>
        <p:nvSpPr>
          <p:cNvPr id="593" name="Step mark"/>
          <p:cNvSpPr/>
          <p:nvPr/>
        </p:nvSpPr>
        <p:spPr>
          <a:xfrm>
            <a:off x="8546897" y="3246120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4" name="Step"/>
          <p:cNvSpPr/>
          <p:nvPr/>
        </p:nvSpPr>
        <p:spPr>
          <a:xfrm>
            <a:off x="8821217" y="3200400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Search PubMed + abstracts</a:t>
            </a:r>
          </a:p>
        </p:txBody>
      </p:sp>
      <p:sp>
        <p:nvSpPr>
          <p:cNvPr id="595" name="Step mark"/>
          <p:cNvSpPr/>
          <p:nvPr/>
        </p:nvSpPr>
        <p:spPr>
          <a:xfrm>
            <a:off x="8546897" y="3575304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6" name="Step"/>
          <p:cNvSpPr/>
          <p:nvPr/>
        </p:nvSpPr>
        <p:spPr>
          <a:xfrm>
            <a:off x="8821217" y="3529584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Compare results</a:t>
            </a:r>
          </a:p>
        </p:txBody>
      </p:sp>
      <p:sp>
        <p:nvSpPr>
          <p:cNvPr id="597" name="Step mark"/>
          <p:cNvSpPr/>
          <p:nvPr/>
        </p:nvSpPr>
        <p:spPr>
          <a:xfrm>
            <a:off x="8546897" y="3904488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8" name="Step"/>
          <p:cNvSpPr/>
          <p:nvPr/>
        </p:nvSpPr>
        <p:spPr>
          <a:xfrm>
            <a:off x="8821217" y="3858768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Draft briefing + FAQ</a:t>
            </a:r>
          </a:p>
        </p:txBody>
      </p:sp>
      <p:sp>
        <p:nvSpPr>
          <p:cNvPr id="599" name="Step mark"/>
          <p:cNvSpPr/>
          <p:nvPr/>
        </p:nvSpPr>
        <p:spPr>
          <a:xfrm>
            <a:off x="8546897" y="423367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00" name="Step"/>
          <p:cNvSpPr/>
          <p:nvPr/>
        </p:nvSpPr>
        <p:spPr>
          <a:xfrm>
            <a:off x="8821217" y="4187952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B4501F"/>
                </a:solidFill>
                <a:latin typeface="Arial"/>
              </a:rPr>
              <a:t>Check every citation  · running</a:t>
            </a:r>
          </a:p>
        </p:txBody>
      </p:sp>
      <p:sp>
        <p:nvSpPr>
          <p:cNvPr id="602" name="Tool chip"/>
          <p:cNvSpPr/>
          <p:nvPr/>
        </p:nvSpPr>
        <p:spPr>
          <a:xfrm>
            <a:off x="8382305" y="469087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7879"/>
                </a:solidFill>
                <a:latin typeface="Arial"/>
              </a:rPr>
              <a:t>tool: pubmed.search</a:t>
            </a:r>
          </a:p>
        </p:txBody>
      </p:sp>
      <p:sp>
        <p:nvSpPr>
          <p:cNvPr id="603" name="File chip"/>
          <p:cNvSpPr/>
          <p:nvPr/>
        </p:nvSpPr>
        <p:spPr>
          <a:xfrm>
            <a:off x="9891065" y="4690872"/>
            <a:ext cx="1508760" cy="29260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2B55"/>
                </a:solidFill>
                <a:latin typeface="Arial"/>
              </a:rPr>
              <a:t>2 files produced</a:t>
            </a:r>
          </a:p>
        </p:txBody>
      </p:sp>
      <p:sp>
        <p:nvSpPr>
          <p:cNvPr id="604" name="Bottom line"/>
          <p:cNvSpPr/>
          <p:nvPr/>
        </p:nvSpPr>
        <p:spPr>
          <a:xfrm>
            <a:off x="609905" y="585216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Answers → artifacts → agents doing work. You move from asking to approving.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Skill download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8366760" y="822960"/>
            <a:ext cx="3291840" cy="1737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 skill?</a:t>
            </a:r>
          </a:p>
          <a:p>
            <a:pPr algn="l">
              <a:spcBef>
                <a:spcPts val="600"/>
              </a:spcBef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“I know Kung Fu.”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81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24</a:t>
            </a:r>
          </a:p>
        </p:txBody>
      </p:sp>
      <p:sp>
        <p:nvSpPr>
          <p:cNvPr id="621" name="Tagline"/>
          <p:cNvSpPr/>
          <p:nvPr/>
        </p:nvSpPr>
        <p:spPr>
          <a:xfrm>
            <a:off x="8366760" y="2697480"/>
            <a:ext cx="3291840" cy="914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Arial"/>
              </a:rPr>
              <a:t>Load the skill.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Arial"/>
              </a:rPr>
              <a:t>Use it instantly.</a:t>
            </a:r>
          </a:p>
        </p:txBody>
      </p:sp>
      <p:sp>
        <p:nvSpPr>
          <p:cNvPr id="622" name="Play tile (link)">
            <a:hlinkClick r:id="rId4"/>
          </p:cNvPr>
          <p:cNvSpPr/>
          <p:nvPr/>
        </p:nvSpPr>
        <p:spPr>
          <a:xfrm>
            <a:off x="8275320" y="3977640"/>
            <a:ext cx="3383280" cy="12344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143000" rIns="109728" tIns="109728" bIns="109728" anchor="ctr" rtlCol="0"/>
          <a:lstStyle/>
          <a:p>
            <a:pPr algn="l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Watch the clip</a:t>
            </a:r>
          </a:p>
          <a:p>
            <a:pPr algn="l"/>
            <a:r>
              <a:rPr sz="1100" b="0" lang="en-US" dirty="0">
                <a:solidFill>
                  <a:srgbClr val="CFE3E3"/>
                </a:solidFill>
                <a:latin typeface="Arial"/>
              </a:rPr>
              <a:t>The Matrix 25th Anniversary · I Know Kung Fu · Warner Bros. (YouTube)</a:t>
            </a:r>
          </a:p>
        </p:txBody>
      </p:sp>
      <p:sp>
        <p:nvSpPr>
          <p:cNvPr id="623" name="Play circle (link)">
            <a:hlinkClick r:id="rId4"/>
          </p:cNvPr>
          <p:cNvSpPr/>
          <p:nvPr/>
        </p:nvSpPr>
        <p:spPr>
          <a:xfrm>
            <a:off x="8430768" y="4224528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24" name="Play triangle (link)">
            <a:hlinkClick r:id="rId4"/>
          </p:cNvPr>
          <p:cNvSpPr/>
          <p:nvPr/>
        </p:nvSpPr>
        <p:spPr>
          <a:xfrm rot="5400000">
            <a:off x="8659368" y="4407408"/>
            <a:ext cx="347472" cy="365760"/>
          </a:xfrm>
          <a:prstGeom prst="triangl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25" name="Link note"/>
          <p:cNvSpPr/>
          <p:nvPr/>
        </p:nvSpPr>
        <p:spPr>
          <a:xfrm>
            <a:off x="8366760" y="5321808"/>
            <a:ext cx="329184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Link only: youtu.be/ozS_6vqnJ8w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Horse jockey harness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1560"/>
            <a:ext cx="9326880" cy="5246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2004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The model is the horse. You are the jockey. The harness is the tool.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19</a:t>
            </a:r>
          </a:p>
        </p:txBody>
      </p:sp>
      <p:cxnSp>
        <p:nvCxnSpPr>
          <p:cNvPr id="910" name="Leader line"/>
          <p:cNvCxnSpPr/>
          <p:nvPr/>
        </p:nvCxnSpPr>
        <p:spPr>
          <a:xfrm>
            <a:off x="3688854" y="1461433"/>
            <a:ext cx="2483346" cy="161627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1" name="Leader dot"/>
          <p:cNvSpPr/>
          <p:nvPr/>
        </p:nvSpPr>
        <p:spPr>
          <a:xfrm>
            <a:off x="3624846" y="1397425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2" name="Callout YOU"/>
          <p:cNvSpPr/>
          <p:nvPr/>
        </p:nvSpPr>
        <p:spPr>
          <a:xfrm>
            <a:off x="6172200" y="11887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YOU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direction, judgment, final call</a:t>
            </a:r>
          </a:p>
        </p:txBody>
      </p:sp>
      <p:cxnSp>
        <p:nvCxnSpPr>
          <p:cNvPr id="913" name="Leader line"/>
          <p:cNvCxnSpPr/>
          <p:nvPr/>
        </p:nvCxnSpPr>
        <p:spPr>
          <a:xfrm flipH="1">
            <a:off x="4098727" y="2720340"/>
            <a:ext cx="2073473" cy="927080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4" name="Leader dot"/>
          <p:cNvSpPr/>
          <p:nvPr/>
        </p:nvSpPr>
        <p:spPr>
          <a:xfrm>
            <a:off x="4034719" y="3583412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5" name="Callout HARNESS"/>
          <p:cNvSpPr/>
          <p:nvPr/>
        </p:nvSpPr>
        <p:spPr>
          <a:xfrm>
            <a:off x="6172200" y="2286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HARNESS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tools, memory, skills, checkpoints</a:t>
            </a:r>
          </a:p>
        </p:txBody>
      </p:sp>
      <p:cxnSp>
        <p:nvCxnSpPr>
          <p:cNvPr id="916" name="Leader line"/>
          <p:cNvCxnSpPr/>
          <p:nvPr/>
        </p:nvCxnSpPr>
        <p:spPr>
          <a:xfrm flipH="1">
            <a:off x="4599682" y="3863340"/>
            <a:ext cx="1572518" cy="57329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7" name="Leader dot"/>
          <p:cNvSpPr/>
          <p:nvPr/>
        </p:nvSpPr>
        <p:spPr>
          <a:xfrm>
            <a:off x="4535674" y="3856661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8" name="Callout MODEL"/>
          <p:cNvSpPr/>
          <p:nvPr/>
        </p:nvSpPr>
        <p:spPr>
          <a:xfrm>
            <a:off x="6172200" y="3429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MODEL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raw power</a:t>
            </a:r>
          </a:p>
        </p:txBody>
      </p:sp>
      <p:sp>
        <p:nvSpPr>
          <p:cNvPr id="930" name="Harnesses panel"/>
          <p:cNvSpPr/>
          <p:nvPr/>
        </p:nvSpPr>
        <p:spPr>
          <a:xfrm>
            <a:off x="8595360" y="1188720"/>
            <a:ext cx="2990088" cy="448056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31" name="Panel head"/>
          <p:cNvSpPr/>
          <p:nvPr/>
        </p:nvSpPr>
        <p:spPr>
          <a:xfrm>
            <a:off x="8778240" y="1261872"/>
            <a:ext cx="2624328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HARNESSES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the tools you steer the model with</a:t>
            </a:r>
          </a:p>
        </p:txBody>
      </p:sp>
      <p:sp>
        <p:nvSpPr>
          <p:cNvPr id="940" name="Tool tile"/>
          <p:cNvSpPr/>
          <p:nvPr/>
        </p:nvSpPr>
        <p:spPr>
          <a:xfrm>
            <a:off x="8759952" y="225856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1" name="Logo Claude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304288"/>
            <a:ext cx="310896" cy="310896"/>
          </a:xfrm>
          <a:prstGeom prst="rect">
            <a:avLst/>
          </a:prstGeom>
        </p:spPr>
      </p:pic>
      <p:sp>
        <p:nvSpPr>
          <p:cNvPr id="942" name="Tool name"/>
          <p:cNvSpPr/>
          <p:nvPr/>
        </p:nvSpPr>
        <p:spPr>
          <a:xfrm>
            <a:off x="9253728" y="225856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Code</a:t>
            </a:r>
          </a:p>
        </p:txBody>
      </p:sp>
      <p:sp>
        <p:nvSpPr>
          <p:cNvPr id="943" name="Tool tile"/>
          <p:cNvSpPr/>
          <p:nvPr/>
        </p:nvSpPr>
        <p:spPr>
          <a:xfrm>
            <a:off x="8759952" y="268833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4" name="Logo Claude Cowo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734056"/>
            <a:ext cx="310896" cy="310896"/>
          </a:xfrm>
          <a:prstGeom prst="rect">
            <a:avLst/>
          </a:prstGeom>
        </p:spPr>
      </p:pic>
      <p:sp>
        <p:nvSpPr>
          <p:cNvPr id="945" name="Tool name"/>
          <p:cNvSpPr/>
          <p:nvPr/>
        </p:nvSpPr>
        <p:spPr>
          <a:xfrm>
            <a:off x="9253728" y="268833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Cowork</a:t>
            </a:r>
          </a:p>
        </p:txBody>
      </p:sp>
      <p:sp>
        <p:nvSpPr>
          <p:cNvPr id="946" name="Tool tile"/>
          <p:cNvSpPr/>
          <p:nvPr/>
        </p:nvSpPr>
        <p:spPr>
          <a:xfrm>
            <a:off x="8759952" y="3118104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7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163824"/>
            <a:ext cx="310896" cy="310896"/>
          </a:xfrm>
          <a:prstGeom prst="rect">
            <a:avLst/>
          </a:prstGeom>
        </p:spPr>
      </p:pic>
      <p:sp>
        <p:nvSpPr>
          <p:cNvPr id="948" name="Tool name"/>
          <p:cNvSpPr/>
          <p:nvPr/>
        </p:nvSpPr>
        <p:spPr>
          <a:xfrm>
            <a:off x="9253728" y="3118104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949" name="Tool tile"/>
          <p:cNvSpPr/>
          <p:nvPr/>
        </p:nvSpPr>
        <p:spPr>
          <a:xfrm>
            <a:off x="8759952" y="3547872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0" name="Logo ChatGPT (agent mod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1392" y="3593592"/>
            <a:ext cx="310896" cy="310896"/>
          </a:xfrm>
          <a:prstGeom prst="rect">
            <a:avLst/>
          </a:prstGeom>
        </p:spPr>
      </p:pic>
      <p:sp>
        <p:nvSpPr>
          <p:cNvPr id="951" name="Tool name"/>
          <p:cNvSpPr/>
          <p:nvPr/>
        </p:nvSpPr>
        <p:spPr>
          <a:xfrm>
            <a:off x="9253728" y="3547872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ChatGPT (agent mode)</a:t>
            </a:r>
          </a:p>
        </p:txBody>
      </p:sp>
      <p:sp>
        <p:nvSpPr>
          <p:cNvPr id="952" name="Tool tile"/>
          <p:cNvSpPr/>
          <p:nvPr/>
        </p:nvSpPr>
        <p:spPr>
          <a:xfrm>
            <a:off x="8759952" y="182880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222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3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1392" y="1874520"/>
            <a:ext cx="310896" cy="310896"/>
          </a:xfrm>
          <a:prstGeom prst="rect">
            <a:avLst/>
          </a:prstGeom>
        </p:spPr>
      </p:pic>
      <p:sp>
        <p:nvSpPr>
          <p:cNvPr id="954" name="Tool name"/>
          <p:cNvSpPr/>
          <p:nvPr/>
        </p:nvSpPr>
        <p:spPr>
          <a:xfrm>
            <a:off x="9253728" y="1828800"/>
            <a:ext cx="1097280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Arial"/>
              </a:rPr>
              <a:t>Grok Bot</a:t>
            </a:r>
          </a:p>
        </p:txBody>
      </p:sp>
      <p:sp>
        <p:nvSpPr>
          <p:cNvPr id="955" name="Tool tile"/>
          <p:cNvSpPr/>
          <p:nvPr/>
        </p:nvSpPr>
        <p:spPr>
          <a:xfrm>
            <a:off x="8759952" y="397764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57" name="Tool name"/>
          <p:cNvSpPr/>
          <p:nvPr/>
        </p:nvSpPr>
        <p:spPr>
          <a:xfrm>
            <a:off x="9253728" y="3977640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958" name="Tool tile"/>
          <p:cNvSpPr/>
          <p:nvPr/>
        </p:nvSpPr>
        <p:spPr>
          <a:xfrm>
            <a:off x="8759952" y="440740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0" name="Tool name"/>
          <p:cNvSpPr/>
          <p:nvPr/>
        </p:nvSpPr>
        <p:spPr>
          <a:xfrm>
            <a:off x="9253728" y="440740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961" name="Tool tile"/>
          <p:cNvSpPr/>
          <p:nvPr/>
        </p:nvSpPr>
        <p:spPr>
          <a:xfrm>
            <a:off x="8759952" y="483717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3" name="Tool name"/>
          <p:cNvSpPr/>
          <p:nvPr/>
        </p:nvSpPr>
        <p:spPr>
          <a:xfrm>
            <a:off x="9253728" y="483717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971" name="Takeaway banner"/>
          <p:cNvSpPr/>
          <p:nvPr/>
        </p:nvSpPr>
        <p:spPr>
          <a:xfrm>
            <a:off x="609905" y="5788152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Without a harness, even the best model can’t be steered through a long-horizon task.</a:t>
            </a:r>
          </a:p>
        </p:txBody>
      </p:sp>
      <p:sp>
        <p:nvSpPr>
          <p:cNvPr id="2510" name="Used today tag"/>
          <p:cNvSpPr/>
          <p:nvPr/>
        </p:nvSpPr>
        <p:spPr>
          <a:xfrm>
            <a:off x="10332720" y="1901952"/>
            <a:ext cx="1005840" cy="25603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95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  <p:sp>
        <p:nvSpPr>
          <p:cNvPr id="2511" name="Workplace line"/>
          <p:cNvSpPr/>
          <p:nvPr/>
        </p:nvSpPr>
        <p:spPr>
          <a:xfrm>
            <a:off x="8759952" y="5321808"/>
            <a:ext cx="2660904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Use what your workplace provides.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1600200"/>
            <a:ext cx="109728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DISCLOSURE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02</a:t>
            </a:r>
          </a:p>
        </p:txBody>
      </p:sp>
      <p:sp>
        <p:nvSpPr>
          <p:cNvPr id="1001" name="Accent rule"/>
          <p:cNvSpPr/>
          <p:nvPr/>
        </p:nvSpPr>
        <p:spPr>
          <a:xfrm>
            <a:off x="5639105" y="2286000"/>
            <a:ext cx="914400" cy="5486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02" name="Statement"/>
          <p:cNvSpPr/>
          <p:nvPr/>
        </p:nvSpPr>
        <p:spPr>
          <a:xfrm>
            <a:off x="1524305" y="2606040"/>
            <a:ext cx="9144000" cy="17373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views presented here are my own and do not reflect those of my current employer.</a:t>
            </a:r>
          </a:p>
        </p:txBody>
      </p:sp>
      <p:sp>
        <p:nvSpPr>
          <p:cNvPr id="1003" name="Speaker"/>
          <p:cNvSpPr/>
          <p:nvPr/>
        </p:nvSpPr>
        <p:spPr>
          <a:xfrm>
            <a:off x="1524305" y="4572000"/>
            <a:ext cx="9144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007879"/>
                </a:solidFill>
                <a:latin typeface="Arial"/>
              </a:rPr>
              <a:t>Vivek Mukhatyar</a:t>
            </a:r>
          </a:p>
        </p:txBody>
      </p:sp>
      <p:sp>
        <p:nvSpPr>
          <p:cNvPr id="1004" name="Teal band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Responsible use: the non-negotiables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47</a:t>
            </a:r>
          </a:p>
        </p:txBody>
      </p:sp>
      <p:sp>
        <p:nvSpPr>
          <p:cNvPr id="1200" name="Column panel"/>
          <p:cNvSpPr/>
          <p:nvPr/>
        </p:nvSpPr>
        <p:spPr>
          <a:xfrm>
            <a:off x="60990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1" name="Column head"/>
          <p:cNvSpPr/>
          <p:nvPr/>
        </p:nvSpPr>
        <p:spPr>
          <a:xfrm>
            <a:off x="60990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ALWAYS</a:t>
            </a:r>
          </a:p>
        </p:txBody>
      </p:sp>
      <p:sp>
        <p:nvSpPr>
          <p:cNvPr id="1202" name="Marker"/>
          <p:cNvSpPr/>
          <p:nvPr/>
        </p:nvSpPr>
        <p:spPr>
          <a:xfrm>
            <a:off x="884225" y="2212848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3" name="Item"/>
          <p:cNvSpPr/>
          <p:nvPr/>
        </p:nvSpPr>
        <p:spPr>
          <a:xfrm>
            <a:off x="115854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Use fictional, public or approved data</a:t>
            </a:r>
          </a:p>
        </p:txBody>
      </p:sp>
      <p:sp>
        <p:nvSpPr>
          <p:cNvPr id="1204" name="Marker"/>
          <p:cNvSpPr/>
          <p:nvPr/>
        </p:nvSpPr>
        <p:spPr>
          <a:xfrm>
            <a:off x="884225" y="2871216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5" name="Item"/>
          <p:cNvSpPr/>
          <p:nvPr/>
        </p:nvSpPr>
        <p:spPr>
          <a:xfrm>
            <a:off x="115854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Name the human owner and the reviewer</a:t>
            </a:r>
          </a:p>
        </p:txBody>
      </p:sp>
      <p:sp>
        <p:nvSpPr>
          <p:cNvPr id="1206" name="Marker"/>
          <p:cNvSpPr/>
          <p:nvPr/>
        </p:nvSpPr>
        <p:spPr>
          <a:xfrm>
            <a:off x="884225" y="3529584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7" name="Item"/>
          <p:cNvSpPr/>
          <p:nvPr/>
        </p:nvSpPr>
        <p:spPr>
          <a:xfrm>
            <a:off x="115854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Check every claim against its source</a:t>
            </a:r>
          </a:p>
        </p:txBody>
      </p:sp>
      <p:sp>
        <p:nvSpPr>
          <p:cNvPr id="1208" name="Marker"/>
          <p:cNvSpPr/>
          <p:nvPr/>
        </p:nvSpPr>
        <p:spPr>
          <a:xfrm>
            <a:off x="884225" y="4187952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9" name="Item"/>
          <p:cNvSpPr/>
          <p:nvPr/>
        </p:nvSpPr>
        <p:spPr>
          <a:xfrm>
            <a:off x="115854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Say when a draft is AI-assisted</a:t>
            </a:r>
          </a:p>
        </p:txBody>
      </p:sp>
      <p:sp>
        <p:nvSpPr>
          <p:cNvPr id="1210" name="Marker"/>
          <p:cNvSpPr/>
          <p:nvPr/>
        </p:nvSpPr>
        <p:spPr>
          <a:xfrm>
            <a:off x="884225" y="4846320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11" name="Item"/>
          <p:cNvSpPr/>
          <p:nvPr/>
        </p:nvSpPr>
        <p:spPr>
          <a:xfrm>
            <a:off x="115854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Keep a record: sources, prompts, versions</a:t>
            </a:r>
          </a:p>
        </p:txBody>
      </p:sp>
      <p:sp>
        <p:nvSpPr>
          <p:cNvPr id="1220" name="Column panel"/>
          <p:cNvSpPr/>
          <p:nvPr/>
        </p:nvSpPr>
        <p:spPr>
          <a:xfrm>
            <a:off x="623346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1" name="Column head"/>
          <p:cNvSpPr/>
          <p:nvPr/>
        </p:nvSpPr>
        <p:spPr>
          <a:xfrm>
            <a:off x="623346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B4501F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NEVER</a:t>
            </a:r>
          </a:p>
        </p:txBody>
      </p:sp>
      <p:sp>
        <p:nvSpPr>
          <p:cNvPr id="1222" name="Marker"/>
          <p:cNvSpPr/>
          <p:nvPr/>
        </p:nvSpPr>
        <p:spPr>
          <a:xfrm>
            <a:off x="6507785" y="2212848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3" name="Item"/>
          <p:cNvSpPr/>
          <p:nvPr/>
        </p:nvSpPr>
        <p:spPr>
          <a:xfrm>
            <a:off x="678210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Put patient or confidential data into unapproved tools</a:t>
            </a:r>
          </a:p>
        </p:txBody>
      </p:sp>
      <p:sp>
        <p:nvSpPr>
          <p:cNvPr id="1224" name="Marker"/>
          <p:cNvSpPr/>
          <p:nvPr/>
        </p:nvSpPr>
        <p:spPr>
          <a:xfrm>
            <a:off x="6507785" y="2871216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5" name="Item"/>
          <p:cNvSpPr/>
          <p:nvPr/>
        </p:nvSpPr>
        <p:spPr>
          <a:xfrm>
            <a:off x="678210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an agent approve, certify or send</a:t>
            </a:r>
          </a:p>
        </p:txBody>
      </p:sp>
      <p:sp>
        <p:nvSpPr>
          <p:cNvPr id="1226" name="Marker"/>
          <p:cNvSpPr/>
          <p:nvPr/>
        </p:nvSpPr>
        <p:spPr>
          <a:xfrm>
            <a:off x="6507785" y="3529584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7" name="Item"/>
          <p:cNvSpPr/>
          <p:nvPr/>
        </p:nvSpPr>
        <p:spPr>
          <a:xfrm>
            <a:off x="678210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it contact HCPs or change CRM records</a:t>
            </a:r>
          </a:p>
        </p:txBody>
      </p:sp>
      <p:sp>
        <p:nvSpPr>
          <p:cNvPr id="1228" name="Marker"/>
          <p:cNvSpPr/>
          <p:nvPr/>
        </p:nvSpPr>
        <p:spPr>
          <a:xfrm>
            <a:off x="6507785" y="4187952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9" name="Item"/>
          <p:cNvSpPr/>
          <p:nvPr/>
        </p:nvSpPr>
        <p:spPr>
          <a:xfrm>
            <a:off x="678210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Treat its output as medical advice</a:t>
            </a:r>
          </a:p>
        </p:txBody>
      </p:sp>
      <p:sp>
        <p:nvSpPr>
          <p:cNvPr id="1230" name="Marker"/>
          <p:cNvSpPr/>
          <p:nvPr/>
        </p:nvSpPr>
        <p:spPr>
          <a:xfrm>
            <a:off x="6507785" y="4846320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31" name="Item"/>
          <p:cNvSpPr/>
          <p:nvPr/>
        </p:nvSpPr>
        <p:spPr>
          <a:xfrm>
            <a:off x="678210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Bypass MLR, pharmacovigilance or medical review</a:t>
            </a:r>
          </a:p>
        </p:txBody>
      </p:sp>
      <p:sp>
        <p:nvSpPr>
          <p:cNvPr id="1250" name="Policy banner"/>
          <p:cNvSpPr/>
          <p:nvPr/>
        </p:nvSpPr>
        <p:spPr>
          <a:xfrm>
            <a:off x="609905" y="5669280"/>
            <a:ext cx="10972800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Your company’s AI policy, MLR and pharmacovigilance processes come first. Workshop data is fictional; outputs are drafts for qualified review.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checks before anything leaves your desk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48</a:t>
            </a:r>
          </a:p>
        </p:txBody>
      </p:sp>
      <p:sp>
        <p:nvSpPr>
          <p:cNvPr id="1300" name="Flow line"/>
          <p:cNvSpPr/>
          <p:nvPr/>
        </p:nvSpPr>
        <p:spPr>
          <a:xfrm>
            <a:off x="1097280" y="2240280"/>
            <a:ext cx="960120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1" name="Check card"/>
          <p:cNvSpPr/>
          <p:nvPr/>
        </p:nvSpPr>
        <p:spPr>
          <a:xfrm>
            <a:off x="60990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2" name="Check num"/>
          <p:cNvSpPr/>
          <p:nvPr/>
        </p:nvSpPr>
        <p:spPr>
          <a:xfrm>
            <a:off x="1341425" y="1828800"/>
            <a:ext cx="640080" cy="64008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303" name="Check head"/>
          <p:cNvSpPr/>
          <p:nvPr/>
        </p:nvSpPr>
        <p:spPr>
          <a:xfrm>
            <a:off x="70134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SOURCE</a:t>
            </a:r>
          </a:p>
        </p:txBody>
      </p:sp>
      <p:sp>
        <p:nvSpPr>
          <p:cNvPr id="1304" name="Check text"/>
          <p:cNvSpPr/>
          <p:nvPr/>
        </p:nvSpPr>
        <p:spPr>
          <a:xfrm>
            <a:off x="74706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Every claim traces to a citable source</a:t>
            </a:r>
          </a:p>
        </p:txBody>
      </p:sp>
      <p:sp>
        <p:nvSpPr>
          <p:cNvPr id="1305" name="Check card"/>
          <p:cNvSpPr/>
          <p:nvPr/>
        </p:nvSpPr>
        <p:spPr>
          <a:xfrm>
            <a:off x="294162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6" name="Check num"/>
          <p:cNvSpPr/>
          <p:nvPr/>
        </p:nvSpPr>
        <p:spPr>
          <a:xfrm>
            <a:off x="3673145" y="1828800"/>
            <a:ext cx="640080" cy="640080"/>
          </a:xfrm>
          <a:prstGeom prst="ellipse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307" name="Check head"/>
          <p:cNvSpPr/>
          <p:nvPr/>
        </p:nvSpPr>
        <p:spPr>
          <a:xfrm>
            <a:off x="303306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1F5C99"/>
                </a:solidFill>
                <a:latin typeface="Bahnschrift"/>
              </a:rPr>
              <a:t>SCOPE</a:t>
            </a:r>
          </a:p>
        </p:txBody>
      </p:sp>
      <p:sp>
        <p:nvSpPr>
          <p:cNvPr id="1308" name="Check text"/>
          <p:cNvSpPr/>
          <p:nvPr/>
        </p:nvSpPr>
        <p:spPr>
          <a:xfrm>
            <a:off x="307878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Right population, on-label, fair balance</a:t>
            </a:r>
          </a:p>
        </p:txBody>
      </p:sp>
      <p:sp>
        <p:nvSpPr>
          <p:cNvPr id="1309" name="Check card"/>
          <p:cNvSpPr/>
          <p:nvPr/>
        </p:nvSpPr>
        <p:spPr>
          <a:xfrm>
            <a:off x="527334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0" name="Check num"/>
          <p:cNvSpPr/>
          <p:nvPr/>
        </p:nvSpPr>
        <p:spPr>
          <a:xfrm>
            <a:off x="6004865" y="1828800"/>
            <a:ext cx="640080" cy="6400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311" name="Check head"/>
          <p:cNvSpPr/>
          <p:nvPr/>
        </p:nvSpPr>
        <p:spPr>
          <a:xfrm>
            <a:off x="536478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SAFETY</a:t>
            </a:r>
          </a:p>
        </p:txBody>
      </p:sp>
      <p:sp>
        <p:nvSpPr>
          <p:cNvPr id="1312" name="Check text"/>
          <p:cNvSpPr/>
          <p:nvPr/>
        </p:nvSpPr>
        <p:spPr>
          <a:xfrm>
            <a:off x="541050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Adverse events and complaints go to pharmacovigilance, every time</a:t>
            </a:r>
          </a:p>
        </p:txBody>
      </p:sp>
      <p:sp>
        <p:nvSpPr>
          <p:cNvPr id="1313" name="Check card"/>
          <p:cNvSpPr/>
          <p:nvPr/>
        </p:nvSpPr>
        <p:spPr>
          <a:xfrm>
            <a:off x="760506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4" name="Check num"/>
          <p:cNvSpPr/>
          <p:nvPr/>
        </p:nvSpPr>
        <p:spPr>
          <a:xfrm>
            <a:off x="8336585" y="1828800"/>
            <a:ext cx="640080" cy="640080"/>
          </a:xfrm>
          <a:prstGeom prst="ellipse">
            <a:avLst/>
          </a:prstGeom>
          <a:solidFill>
            <a:srgbClr val="2E8B8B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315" name="Check head"/>
          <p:cNvSpPr/>
          <p:nvPr/>
        </p:nvSpPr>
        <p:spPr>
          <a:xfrm>
            <a:off x="769650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SIGN-OFF</a:t>
            </a:r>
          </a:p>
        </p:txBody>
      </p:sp>
      <p:sp>
        <p:nvSpPr>
          <p:cNvPr id="1316" name="Check text"/>
          <p:cNvSpPr/>
          <p:nvPr/>
        </p:nvSpPr>
        <p:spPr>
          <a:xfrm>
            <a:off x="774222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human approves; MLR where required</a:t>
            </a:r>
          </a:p>
        </p:txBody>
      </p:sp>
      <p:sp>
        <p:nvSpPr>
          <p:cNvPr id="1320" name="Arrow"/>
          <p:cNvSpPr/>
          <p:nvPr/>
        </p:nvSpPr>
        <p:spPr>
          <a:xfrm>
            <a:off x="9921240" y="2606040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21" name="Gate"/>
          <p:cNvSpPr/>
          <p:nvPr/>
        </p:nvSpPr>
        <p:spPr>
          <a:xfrm>
            <a:off x="10332720" y="1600200"/>
            <a:ext cx="1252728" cy="274320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800" b="1" lang="en-US" dirty="0">
                <a:solidFill>
                  <a:srgbClr val="FFFFFF"/>
                </a:solidFill>
                <a:latin typeface="Bahnschrift"/>
              </a:rPr>
              <a:t>Ready</a:t>
            </a:r>
          </a:p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to share</a:t>
            </a:r>
          </a:p>
        </p:txBody>
      </p:sp>
      <p:sp>
        <p:nvSpPr>
          <p:cNvPr id="1322" name="Fail line"/>
          <p:cNvSpPr/>
          <p:nvPr/>
        </p:nvSpPr>
        <p:spPr>
          <a:xfrm>
            <a:off x="609905" y="470916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If any check fails, it goes back to the agent or to an expert, not out the door.</a:t>
            </a:r>
          </a:p>
        </p:txBody>
      </p:sp>
      <p:sp>
        <p:nvSpPr>
          <p:cNvPr id="1323" name="Disclaimer"/>
          <p:cNvSpPr/>
          <p:nvPr/>
        </p:nvSpPr>
        <p:spPr>
          <a:xfrm>
            <a:off x="609905" y="5212080"/>
            <a:ext cx="1097280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Illustrative checklist. Your company’s SOPs take precedence.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400" b="1" lang="en-US" dirty="0">
                <a:solidFill>
                  <a:srgbClr val="002B55"/>
                </a:solidFill>
                <a:latin typeface="Bahnschrift"/>
              </a:rPr>
              <a:t>It’s not about the tool. It’s about the workflow.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49</a:t>
            </a:r>
          </a:p>
        </p:txBody>
      </p:sp>
      <p:sp>
        <p:nvSpPr>
          <p:cNvPr id="1400" name="Step card"/>
          <p:cNvSpPr/>
          <p:nvPr/>
        </p:nvSpPr>
        <p:spPr>
          <a:xfrm>
            <a:off x="60990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1" name="Step num"/>
          <p:cNvSpPr/>
          <p:nvPr/>
        </p:nvSpPr>
        <p:spPr>
          <a:xfrm>
            <a:off x="838505" y="1783080"/>
            <a:ext cx="731520" cy="7315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402" name="Step text"/>
          <p:cNvSpPr/>
          <p:nvPr/>
        </p:nvSpPr>
        <p:spPr>
          <a:xfrm>
            <a:off x="175290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Give it a goal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The outcome, not a question</a:t>
            </a:r>
          </a:p>
        </p:txBody>
      </p:sp>
      <p:sp>
        <p:nvSpPr>
          <p:cNvPr id="1410" name="Step arrow"/>
          <p:cNvSpPr/>
          <p:nvPr/>
        </p:nvSpPr>
        <p:spPr>
          <a:xfrm>
            <a:off x="399318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3" name="Step card"/>
          <p:cNvSpPr/>
          <p:nvPr/>
        </p:nvSpPr>
        <p:spPr>
          <a:xfrm>
            <a:off x="445038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4" name="Step num"/>
          <p:cNvSpPr/>
          <p:nvPr/>
        </p:nvSpPr>
        <p:spPr>
          <a:xfrm>
            <a:off x="4678985" y="1783080"/>
            <a:ext cx="731520" cy="7315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405" name="Step text"/>
          <p:cNvSpPr/>
          <p:nvPr/>
        </p:nvSpPr>
        <p:spPr>
          <a:xfrm>
            <a:off x="559338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Load skills + context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Your library, your house rules</a:t>
            </a:r>
          </a:p>
        </p:txBody>
      </p:sp>
      <p:sp>
        <p:nvSpPr>
          <p:cNvPr id="1411" name="Step arrow"/>
          <p:cNvSpPr/>
          <p:nvPr/>
        </p:nvSpPr>
        <p:spPr>
          <a:xfrm>
            <a:off x="783366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6" name="Step card"/>
          <p:cNvSpPr/>
          <p:nvPr/>
        </p:nvSpPr>
        <p:spPr>
          <a:xfrm>
            <a:off x="829086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7" name="Step num"/>
          <p:cNvSpPr/>
          <p:nvPr/>
        </p:nvSpPr>
        <p:spPr>
          <a:xfrm>
            <a:off x="8519465" y="1783080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408" name="Step text"/>
          <p:cNvSpPr/>
          <p:nvPr/>
        </p:nvSpPr>
        <p:spPr>
          <a:xfrm>
            <a:off x="943386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Review and decide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 stay at the helm</a:t>
            </a:r>
          </a:p>
        </p:txBody>
      </p:sp>
      <p:sp>
        <p:nvSpPr>
          <p:cNvPr id="1420" name="Row label"/>
          <p:cNvSpPr/>
          <p:nvPr/>
        </p:nvSpPr>
        <p:spPr>
          <a:xfrm>
            <a:off x="609905" y="329184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RUNS IN ANY CAPABLE HARNESS</a:t>
            </a:r>
          </a:p>
        </p:txBody>
      </p:sp>
      <p:sp>
        <p:nvSpPr>
          <p:cNvPr id="1430" name="Harness tile"/>
          <p:cNvSpPr/>
          <p:nvPr/>
        </p:nvSpPr>
        <p:spPr>
          <a:xfrm>
            <a:off x="1993392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1" name="Logo Clau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5728" y="3913632"/>
            <a:ext cx="457200" cy="457200"/>
          </a:xfrm>
          <a:prstGeom prst="rect">
            <a:avLst/>
          </a:prstGeom>
        </p:spPr>
      </p:pic>
      <p:sp>
        <p:nvSpPr>
          <p:cNvPr id="1432" name="Tile name"/>
          <p:cNvSpPr/>
          <p:nvPr/>
        </p:nvSpPr>
        <p:spPr>
          <a:xfrm>
            <a:off x="1993392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Claude</a:t>
            </a:r>
          </a:p>
        </p:txBody>
      </p:sp>
      <p:sp>
        <p:nvSpPr>
          <p:cNvPr id="1433" name="Harness tile"/>
          <p:cNvSpPr/>
          <p:nvPr/>
        </p:nvSpPr>
        <p:spPr>
          <a:xfrm>
            <a:off x="3383280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4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5616" y="3913632"/>
            <a:ext cx="457200" cy="457200"/>
          </a:xfrm>
          <a:prstGeom prst="rect">
            <a:avLst/>
          </a:prstGeom>
        </p:spPr>
      </p:pic>
      <p:sp>
        <p:nvSpPr>
          <p:cNvPr id="1435" name="Tile name"/>
          <p:cNvSpPr/>
          <p:nvPr/>
        </p:nvSpPr>
        <p:spPr>
          <a:xfrm>
            <a:off x="3383280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1436" name="Harness tile"/>
          <p:cNvSpPr/>
          <p:nvPr/>
        </p:nvSpPr>
        <p:spPr>
          <a:xfrm>
            <a:off x="477316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7" name="Logo ChatGP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5504" y="3913632"/>
            <a:ext cx="457200" cy="457200"/>
          </a:xfrm>
          <a:prstGeom prst="rect">
            <a:avLst/>
          </a:prstGeom>
        </p:spPr>
      </p:pic>
      <p:sp>
        <p:nvSpPr>
          <p:cNvPr id="1438" name="Tile name"/>
          <p:cNvSpPr/>
          <p:nvPr/>
        </p:nvSpPr>
        <p:spPr>
          <a:xfrm>
            <a:off x="4773168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ChatGPT</a:t>
            </a:r>
          </a:p>
        </p:txBody>
      </p:sp>
      <p:sp>
        <p:nvSpPr>
          <p:cNvPr id="1439" name="Harness tile"/>
          <p:cNvSpPr/>
          <p:nvPr/>
        </p:nvSpPr>
        <p:spPr>
          <a:xfrm>
            <a:off x="61264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857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40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041648"/>
            <a:ext cx="384048" cy="384048"/>
          </a:xfrm>
          <a:prstGeom prst="rect">
            <a:avLst/>
          </a:prstGeom>
        </p:spPr>
      </p:pic>
      <p:sp>
        <p:nvSpPr>
          <p:cNvPr id="1441" name="Tile name"/>
          <p:cNvSpPr/>
          <p:nvPr/>
        </p:nvSpPr>
        <p:spPr>
          <a:xfrm>
            <a:off x="612648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Grok Bot</a:t>
            </a:r>
          </a:p>
        </p:txBody>
      </p:sp>
      <p:sp>
        <p:nvSpPr>
          <p:cNvPr id="1442" name="Harness tile"/>
          <p:cNvSpPr/>
          <p:nvPr/>
        </p:nvSpPr>
        <p:spPr>
          <a:xfrm>
            <a:off x="615848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4" name="Tile name"/>
          <p:cNvSpPr/>
          <p:nvPr/>
        </p:nvSpPr>
        <p:spPr>
          <a:xfrm>
            <a:off x="615848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1445" name="Harness tile"/>
          <p:cNvSpPr/>
          <p:nvPr/>
        </p:nvSpPr>
        <p:spPr>
          <a:xfrm>
            <a:off x="7545629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7" name="Tile name"/>
          <p:cNvSpPr/>
          <p:nvPr/>
        </p:nvSpPr>
        <p:spPr>
          <a:xfrm>
            <a:off x="7545629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1448" name="Harness tile"/>
          <p:cNvSpPr/>
          <p:nvPr/>
        </p:nvSpPr>
        <p:spPr>
          <a:xfrm>
            <a:off x="893277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50" name="Tile name"/>
          <p:cNvSpPr/>
          <p:nvPr/>
        </p:nvSpPr>
        <p:spPr>
          <a:xfrm>
            <a:off x="893277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1451" name="Your tool tile"/>
          <p:cNvSpPr/>
          <p:nvPr/>
        </p:nvSpPr>
        <p:spPr>
          <a:xfrm>
            <a:off x="1031991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  <a:prstDash val="dash"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+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Your tool here</a:t>
            </a:r>
          </a:p>
        </p:txBody>
      </p:sp>
      <p:sp>
        <p:nvSpPr>
          <p:cNvPr id="1460" name="Bottom line"/>
          <p:cNvSpPr/>
          <p:nvPr/>
        </p:nvSpPr>
        <p:spPr>
          <a:xfrm>
            <a:off x="609905" y="534924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Same goal, same skills, same checks, whichever harness you use. Use what your workplace provides.</a:t>
            </a:r>
          </a:p>
        </p:txBody>
      </p:sp>
      <p:sp>
        <p:nvSpPr>
          <p:cNvPr id="2520" name="Used today tag"/>
          <p:cNvSpPr/>
          <p:nvPr/>
        </p:nvSpPr>
        <p:spPr>
          <a:xfrm>
            <a:off x="749808" y="3794760"/>
            <a:ext cx="987552" cy="219456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90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Nordvant Biopharma (fictional)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39</a:t>
            </a:r>
          </a:p>
        </p:txBody>
      </p:sp>
      <p:sp>
        <p:nvSpPr>
          <p:cNvPr id="1600" name="Company card"/>
          <p:cNvSpPr/>
          <p:nvPr/>
        </p:nvSpPr>
        <p:spPr>
          <a:xfrm>
            <a:off x="3813048" y="1188720"/>
            <a:ext cx="457200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Nordvant Biopharma</a:t>
            </a:r>
          </a:p>
          <a:p>
            <a:pPr algn="ctr"/>
            <a:r>
              <a:rPr sz="1200" b="0" lang="en-US" dirty="0">
                <a:solidFill>
                  <a:srgbClr val="CFE3E3"/>
                </a:solidFill>
                <a:latin typeface="Arial"/>
              </a:rPr>
              <a:t>one fictional company · three fictional products</a:t>
            </a:r>
          </a:p>
        </p:txBody>
      </p:sp>
      <p:sp>
        <p:nvSpPr>
          <p:cNvPr id="1601" name="SYNTHETIC stamp"/>
          <p:cNvSpPr/>
          <p:nvPr/>
        </p:nvSpPr>
        <p:spPr>
          <a:xfrm rot="-360000">
            <a:off x="9189720" y="105156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B4501F"/>
            </a:solidFill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2600" b="1" lang="en-US" dirty="0">
                <a:solidFill>
                  <a:srgbClr val="B4501F"/>
                </a:solidFill>
                <a:latin typeface="Bahnschrift"/>
              </a:rPr>
              <a:t>SYNTHETIC</a:t>
            </a:r>
          </a:p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fictional · safe to practise</a:t>
            </a:r>
          </a:p>
        </p:txBody>
      </p:sp>
      <p:sp>
        <p:nvSpPr>
          <p:cNvPr id="1602" name="Trunk"/>
          <p:cNvSpPr/>
          <p:nvPr/>
        </p:nvSpPr>
        <p:spPr>
          <a:xfrm>
            <a:off x="6071616" y="2057400"/>
            <a:ext cx="54864" cy="32004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03" name="Bus"/>
          <p:cNvSpPr/>
          <p:nvPr/>
        </p:nvSpPr>
        <p:spPr>
          <a:xfrm>
            <a:off x="2331720" y="2350008"/>
            <a:ext cx="7543800" cy="54864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0" name="Drop"/>
          <p:cNvSpPr/>
          <p:nvPr/>
        </p:nvSpPr>
        <p:spPr>
          <a:xfrm>
            <a:off x="234269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1" name="Product card"/>
          <p:cNvSpPr/>
          <p:nvPr/>
        </p:nvSpPr>
        <p:spPr>
          <a:xfrm>
            <a:off x="60990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2" name="Product head"/>
          <p:cNvSpPr/>
          <p:nvPr/>
        </p:nvSpPr>
        <p:spPr>
          <a:xfrm>
            <a:off x="609905" y="2651760"/>
            <a:ext cx="3520440" cy="713232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ONCOLOGY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NORVANTIB</a:t>
            </a:r>
          </a:p>
        </p:txBody>
      </p:sp>
      <p:sp>
        <p:nvSpPr>
          <p:cNvPr id="1613" name="Indication"/>
          <p:cNvSpPr/>
          <p:nvPr/>
        </p:nvSpPr>
        <p:spPr>
          <a:xfrm>
            <a:off x="77449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Relapsed/refractory multiple myeloma</a:t>
            </a:r>
          </a:p>
        </p:txBody>
      </p:sp>
      <p:sp>
        <p:nvSpPr>
          <p:cNvPr id="1614" name="Pack"/>
          <p:cNvSpPr/>
          <p:nvPr/>
        </p:nvSpPr>
        <p:spPr>
          <a:xfrm>
            <a:off x="77449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2B55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55 field records (CSV) · congress abstracts · competitor announcements · medical plan · and more</a:t>
            </a:r>
          </a:p>
        </p:txBody>
      </p:sp>
      <p:sp>
        <p:nvSpPr>
          <p:cNvPr id="1616" name="Drop"/>
          <p:cNvSpPr/>
          <p:nvPr/>
        </p:nvSpPr>
        <p:spPr>
          <a:xfrm>
            <a:off x="606887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7" name="Product card"/>
          <p:cNvSpPr/>
          <p:nvPr/>
        </p:nvSpPr>
        <p:spPr>
          <a:xfrm>
            <a:off x="433608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8" name="Product head"/>
          <p:cNvSpPr/>
          <p:nvPr/>
        </p:nvSpPr>
        <p:spPr>
          <a:xfrm>
            <a:off x="4336085" y="2651760"/>
            <a:ext cx="3520440" cy="713232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IMMUNOLOGY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DERMALYX</a:t>
            </a:r>
          </a:p>
        </p:txBody>
      </p:sp>
      <p:sp>
        <p:nvSpPr>
          <p:cNvPr id="1619" name="Indication"/>
          <p:cNvSpPr/>
          <p:nvPr/>
        </p:nvSpPr>
        <p:spPr>
          <a:xfrm>
            <a:off x="450067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Moderate-to-severe atopic dermatitis</a:t>
            </a:r>
          </a:p>
        </p:txBody>
      </p:sp>
      <p:sp>
        <p:nvSpPr>
          <p:cNvPr id="1620" name="Pack"/>
          <p:cNvSpPr/>
          <p:nvPr/>
        </p:nvSpPr>
        <p:spPr>
          <a:xfrm>
            <a:off x="450067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7879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22" name="Drop"/>
          <p:cNvSpPr/>
          <p:nvPr/>
        </p:nvSpPr>
        <p:spPr>
          <a:xfrm>
            <a:off x="979505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3" name="Product card"/>
          <p:cNvSpPr/>
          <p:nvPr/>
        </p:nvSpPr>
        <p:spPr>
          <a:xfrm>
            <a:off x="806226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4" name="Product head"/>
          <p:cNvSpPr/>
          <p:nvPr/>
        </p:nvSpPr>
        <p:spPr>
          <a:xfrm>
            <a:off x="8062265" y="2651760"/>
            <a:ext cx="3520440" cy="713232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CARDIOMETABOLIC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ADIPOSYN</a:t>
            </a:r>
          </a:p>
        </p:txBody>
      </p:sp>
      <p:sp>
        <p:nvSpPr>
          <p:cNvPr id="1625" name="Indication"/>
          <p:cNvSpPr/>
          <p:nvPr/>
        </p:nvSpPr>
        <p:spPr>
          <a:xfrm>
            <a:off x="822685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Obesity and weight management</a:t>
            </a:r>
          </a:p>
        </p:txBody>
      </p:sp>
      <p:sp>
        <p:nvSpPr>
          <p:cNvPr id="1626" name="Pack"/>
          <p:cNvSpPr/>
          <p:nvPr/>
        </p:nvSpPr>
        <p:spPr>
          <a:xfrm>
            <a:off x="822685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B4501F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40" name="CRM card"/>
          <p:cNvSpPr/>
          <p:nvPr/>
        </p:nvSpPr>
        <p:spPr>
          <a:xfrm>
            <a:off x="609905" y="5074920"/>
            <a:ext cx="109728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41" name="CRM label"/>
          <p:cNvSpPr/>
          <p:nvPr/>
        </p:nvSpPr>
        <p:spPr>
          <a:xfrm>
            <a:off x="777240" y="5120640"/>
            <a:ext cx="251460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7879"/>
                </a:solidFill>
                <a:latin typeface="Bahnschrift"/>
              </a:rPr>
              <a:t>CONNECTED PRACTICE CRM</a:t>
            </a:r>
          </a:p>
          <a:p>
            <a:pPr algn="l"/>
            <a:r>
              <a:rPr sz="1100" b="1" lang="en-US" dirty="0">
                <a:solidFill>
                  <a:srgbClr val="002B55"/>
                </a:solidFill>
                <a:latin typeface="Arial"/>
              </a:rPr>
              <a:t>+ content library for Nordvant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CSVs and a SQLite database</a:t>
            </a:r>
          </a:p>
        </p:txBody>
      </p:sp>
      <p:sp>
        <p:nvSpPr>
          <p:cNvPr id="1650" name="CRM chip"/>
          <p:cNvSpPr/>
          <p:nvPr/>
        </p:nvSpPr>
        <p:spPr>
          <a:xfrm>
            <a:off x="338328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24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accounts</a:t>
            </a:r>
          </a:p>
        </p:txBody>
      </p:sp>
      <p:sp>
        <p:nvSpPr>
          <p:cNvPr id="1651" name="CRM chip"/>
          <p:cNvSpPr/>
          <p:nvPr/>
        </p:nvSpPr>
        <p:spPr>
          <a:xfrm>
            <a:off x="440740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HCPs</a:t>
            </a:r>
          </a:p>
        </p:txBody>
      </p:sp>
      <p:sp>
        <p:nvSpPr>
          <p:cNvPr id="1652" name="CRM chip"/>
          <p:cNvSpPr/>
          <p:nvPr/>
        </p:nvSpPr>
        <p:spPr>
          <a:xfrm>
            <a:off x="543153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163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interactions</a:t>
            </a:r>
          </a:p>
        </p:txBody>
      </p:sp>
      <p:sp>
        <p:nvSpPr>
          <p:cNvPr id="1653" name="CRM chip"/>
          <p:cNvSpPr/>
          <p:nvPr/>
        </p:nvSpPr>
        <p:spPr>
          <a:xfrm>
            <a:off x="6455664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enquiries</a:t>
            </a:r>
          </a:p>
        </p:txBody>
      </p:sp>
      <p:sp>
        <p:nvSpPr>
          <p:cNvPr id="1654" name="CRM chip"/>
          <p:cNvSpPr/>
          <p:nvPr/>
        </p:nvSpPr>
        <p:spPr>
          <a:xfrm>
            <a:off x="7479792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36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content assets</a:t>
            </a:r>
          </a:p>
        </p:txBody>
      </p:sp>
      <p:sp>
        <p:nvSpPr>
          <p:cNvPr id="1655" name="CRM chip"/>
          <p:cNvSpPr/>
          <p:nvPr/>
        </p:nvSpPr>
        <p:spPr>
          <a:xfrm>
            <a:off x="850392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engagement events</a:t>
            </a:r>
          </a:p>
        </p:txBody>
      </p:sp>
      <p:sp>
        <p:nvSpPr>
          <p:cNvPr id="1656" name="CRM chip"/>
          <p:cNvSpPr/>
          <p:nvPr/>
        </p:nvSpPr>
        <p:spPr>
          <a:xfrm>
            <a:off x="952804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12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patient partnerships</a:t>
            </a:r>
          </a:p>
        </p:txBody>
      </p:sp>
      <p:sp>
        <p:nvSpPr>
          <p:cNvPr id="1657" name="CRM chip"/>
          <p:cNvSpPr/>
          <p:nvPr/>
        </p:nvSpPr>
        <p:spPr>
          <a:xfrm>
            <a:off x="1055217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projects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All the data you can use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40</a:t>
            </a:r>
          </a:p>
        </p:txBody>
      </p:sp>
      <p:sp>
        <p:nvSpPr>
          <p:cNvPr id="1700" name="Lane"/>
          <p:cNvSpPr/>
          <p:nvPr/>
        </p:nvSpPr>
        <p:spPr>
          <a:xfrm>
            <a:off x="609905" y="123444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01" name="Lane head"/>
          <p:cNvSpPr/>
          <p:nvPr/>
        </p:nvSpPr>
        <p:spPr>
          <a:xfrm>
            <a:off x="609905" y="123444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SYNTHETIC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practise freely</a:t>
            </a:r>
          </a:p>
        </p:txBody>
      </p:sp>
      <p:sp>
        <p:nvSpPr>
          <p:cNvPr id="1730" name="Lane"/>
          <p:cNvSpPr/>
          <p:nvPr/>
        </p:nvSpPr>
        <p:spPr>
          <a:xfrm>
            <a:off x="609905" y="347472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31" name="Lane head"/>
          <p:cNvSpPr/>
          <p:nvPr/>
        </p:nvSpPr>
        <p:spPr>
          <a:xfrm>
            <a:off x="609905" y="347472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PUBLIC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real sources · link to the official site</a:t>
            </a:r>
          </a:p>
        </p:txBody>
      </p:sp>
      <p:sp>
        <p:nvSpPr>
          <p:cNvPr id="1710" name="Syn chip"/>
          <p:cNvSpPr/>
          <p:nvPr/>
        </p:nvSpPr>
        <p:spPr>
          <a:xfrm>
            <a:off x="2697480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3 product packs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NORVANTIB · DERMALYX · ADIPOSYN</a:t>
            </a:r>
          </a:p>
        </p:txBody>
      </p:sp>
      <p:sp>
        <p:nvSpPr>
          <p:cNvPr id="1711" name="Syn chip"/>
          <p:cNvSpPr/>
          <p:nvPr/>
        </p:nvSpPr>
        <p:spPr>
          <a:xfrm>
            <a:off x="4398264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Connected CRM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CSVs + SQLite database</a:t>
            </a:r>
          </a:p>
        </p:txBody>
      </p:sp>
      <p:sp>
        <p:nvSpPr>
          <p:cNvPr id="1712" name="Syn chip"/>
          <p:cNvSpPr/>
          <p:nvPr/>
        </p:nvSpPr>
        <p:spPr>
          <a:xfrm>
            <a:off x="6099048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112 synthetic files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all marked SYNTHETIC</a:t>
            </a:r>
          </a:p>
        </p:txBody>
      </p:sp>
      <p:sp>
        <p:nvSpPr>
          <p:cNvPr id="1715" name="Syn tag"/>
          <p:cNvSpPr/>
          <p:nvPr/>
        </p:nvSpPr>
        <p:spPr>
          <a:xfrm>
            <a:off x="2697480" y="2743200"/>
            <a:ext cx="507492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007879"/>
                </a:solidFill>
                <a:latin typeface="Arial"/>
              </a:rPr>
              <a:t>Fictional company, products and experts. Safe to practise on.</a:t>
            </a:r>
          </a:p>
        </p:txBody>
      </p:sp>
      <p:sp>
        <p:nvSpPr>
          <p:cNvPr id="1740" name="Source chip"/>
          <p:cNvSpPr/>
          <p:nvPr/>
        </p:nvSpPr>
        <p:spPr>
          <a:xfrm>
            <a:off x="269748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ClinicalTrials.gov</a:t>
            </a:r>
          </a:p>
        </p:txBody>
      </p:sp>
      <p:sp>
        <p:nvSpPr>
          <p:cNvPr id="1741" name="Source chip"/>
          <p:cNvSpPr/>
          <p:nvPr/>
        </p:nvSpPr>
        <p:spPr>
          <a:xfrm>
            <a:off x="397764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PubMed</a:t>
            </a:r>
          </a:p>
        </p:txBody>
      </p:sp>
      <p:sp>
        <p:nvSpPr>
          <p:cNvPr id="1742" name="Source chip"/>
          <p:cNvSpPr/>
          <p:nvPr/>
        </p:nvSpPr>
        <p:spPr>
          <a:xfrm>
            <a:off x="525780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openFDA</a:t>
            </a:r>
          </a:p>
        </p:txBody>
      </p:sp>
      <p:sp>
        <p:nvSpPr>
          <p:cNvPr id="1743" name="Source chip"/>
          <p:cNvSpPr/>
          <p:nvPr/>
        </p:nvSpPr>
        <p:spPr>
          <a:xfrm>
            <a:off x="653796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DailyMed</a:t>
            </a:r>
          </a:p>
        </p:txBody>
      </p:sp>
      <p:sp>
        <p:nvSpPr>
          <p:cNvPr id="1744" name="Source chip"/>
          <p:cNvSpPr/>
          <p:nvPr/>
        </p:nvSpPr>
        <p:spPr>
          <a:xfrm>
            <a:off x="269748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Europe PMC</a:t>
            </a:r>
          </a:p>
        </p:txBody>
      </p:sp>
      <p:sp>
        <p:nvSpPr>
          <p:cNvPr id="1745" name="Source chip"/>
          <p:cNvSpPr/>
          <p:nvPr/>
        </p:nvSpPr>
        <p:spPr>
          <a:xfrm>
            <a:off x="397764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EMA medicines data</a:t>
            </a:r>
          </a:p>
        </p:txBody>
      </p:sp>
      <p:sp>
        <p:nvSpPr>
          <p:cNvPr id="1746" name="Source chip"/>
          <p:cNvSpPr/>
          <p:nvPr/>
        </p:nvSpPr>
        <p:spPr>
          <a:xfrm>
            <a:off x="525780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WHO ICTRP</a:t>
            </a:r>
          </a:p>
        </p:txBody>
      </p:sp>
      <p:sp>
        <p:nvSpPr>
          <p:cNvPr id="1747" name="Source chip"/>
          <p:cNvSpPr/>
          <p:nvPr/>
        </p:nvSpPr>
        <p:spPr>
          <a:xfrm>
            <a:off x="653796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CMS Open Payments</a:t>
            </a:r>
          </a:p>
        </p:txBody>
      </p:sp>
      <p:sp>
        <p:nvSpPr>
          <p:cNvPr id="1750" name="Pub tag"/>
          <p:cNvSpPr/>
          <p:nvPr/>
        </p:nvSpPr>
        <p:spPr>
          <a:xfrm>
            <a:off x="2697480" y="4846320"/>
            <a:ext cx="51206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52 real public sources · licences flagged · 11 link-only</a:t>
            </a:r>
          </a:p>
        </p:txBody>
      </p:sp>
      <p:sp>
        <p:nvSpPr>
          <p:cNvPr id="1760" name="167 callout"/>
          <p:cNvSpPr/>
          <p:nvPr/>
        </p:nvSpPr>
        <p:spPr>
          <a:xfrm>
            <a:off x="8183880" y="1234440"/>
            <a:ext cx="3401568" cy="25146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400" b="1" lang="en-US" dirty="0">
                <a:solidFill>
                  <a:srgbClr val="F47735"/>
                </a:solidFill>
                <a:latin typeface="Bahnschrift"/>
              </a:rPr>
              <a:t>167</a:t>
            </a:r>
          </a:p>
          <a:p>
            <a:pPr algn="ctr"/>
            <a:r>
              <a:rPr sz="1500" b="1" lang="en-US" dirty="0">
                <a:solidFill>
                  <a:srgbClr val="002B55"/>
                </a:solidFill>
                <a:latin typeface="Arial"/>
              </a:rPr>
              <a:t>datasets in one manifest</a:t>
            </a:r>
          </a:p>
          <a:p>
            <a:pPr algn="ctr">
              <a:spcBef>
                <a:spcPts val="400"/>
              </a:spcBef>
            </a:pPr>
            <a:r>
              <a:rPr sz="1300" b="1" lang="en-US" dirty="0">
                <a:solidFill>
                  <a:srgbClr val="B4501F"/>
                </a:solidFill>
                <a:latin typeface="Arial"/>
              </a:rPr>
              <a:t>one dataset or everything at once</a:t>
            </a:r>
          </a:p>
        </p:txBody>
      </p:sp>
      <p:sp>
        <p:nvSpPr>
          <p:cNvPr id="1761" name="DL head"/>
          <p:cNvSpPr/>
          <p:nvPr/>
        </p:nvSpPr>
        <p:spPr>
          <a:xfrm>
            <a:off x="8183880" y="3840480"/>
            <a:ext cx="340156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TWO WAYS TO DOWNLOAD</a:t>
            </a:r>
          </a:p>
        </p:txBody>
      </p:sp>
      <p:sp>
        <p:nvSpPr>
          <p:cNvPr id="1762" name="Download path"/>
          <p:cNvSpPr/>
          <p:nvPr/>
        </p:nvSpPr>
        <p:spPr>
          <a:xfrm>
            <a:off x="8183880" y="4206240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GitHub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github.com/Open-Medical-Affairs/Data-Sources</a:t>
            </a:r>
          </a:p>
        </p:txBody>
      </p:sp>
      <p:sp>
        <p:nvSpPr>
          <p:cNvPr id="1763" name="Download path"/>
          <p:cNvSpPr/>
          <p:nvPr/>
        </p:nvSpPr>
        <p:spPr>
          <a:xfrm>
            <a:off x="8183880" y="4864608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Website Data page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aiinaction.up.railway.app</a:t>
            </a:r>
          </a:p>
        </p:txBody>
      </p:sp>
      <p:sp>
        <p:nvSpPr>
          <p:cNvPr id="1770" name="Bottom line"/>
          <p:cNvSpPr/>
          <p:nvPr/>
        </p:nvSpPr>
        <p:spPr>
          <a:xfrm>
            <a:off x="609905" y="566928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50" b="1" lang="en-US" dirty="0">
                <a:solidFill>
                  <a:srgbClr val="002B55"/>
                </a:solidFill>
                <a:latin typeface="Arial"/>
              </a:rPr>
              <a:t>Everything at once: all synthetic data as one ZIP; the full catalog as JSON or CSV. </a:t>
            </a:r>
            <a:r>
              <a:rPr sz="1350" b="1" lang="en-US" dirty="0">
                <a:solidFill>
                  <a:srgbClr val="B4501F"/>
                </a:solidFill>
                <a:latin typeface="Arial"/>
              </a:rPr>
              <a:t>Never put real patient or confidential data in a query.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an agent swarm?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28</a:t>
            </a:r>
          </a:p>
        </p:txBody>
      </p:sp>
      <p:sp>
        <p:nvSpPr>
          <p:cNvPr id="1800" name="Definition"/>
          <p:cNvSpPr/>
          <p:nvPr/>
        </p:nvSpPr>
        <p:spPr>
          <a:xfrm>
            <a:off x="609905" y="1143000"/>
            <a:ext cx="1097280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A team of AI agents, each with its own role, skills and context. </a:t>
            </a:r>
            <a:r>
              <a:rPr sz="1400" b="0" lang="en-US" dirty="0">
                <a:solidFill>
                  <a:srgbClr val="28455F"/>
                </a:solidFill>
                <a:latin typeface="Arial"/>
              </a:rPr>
              <a:t>A lead agent splits the job, hands work between them, merges the results and stops at human checkpoints.</a:t>
            </a:r>
          </a:p>
        </p:txBody>
      </p:sp>
      <p:pic>
        <p:nvPicPr>
          <p:cNvPr id="1900" name="Swarm chario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810512"/>
            <a:ext cx="6812280" cy="383190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1911" name="Badge"/>
          <p:cNvSpPr/>
          <p:nvPr/>
        </p:nvSpPr>
        <p:spPr>
          <a:xfrm>
            <a:off x="1216195" y="2283750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12" name="Badge"/>
          <p:cNvSpPr/>
          <p:nvPr/>
        </p:nvSpPr>
        <p:spPr>
          <a:xfrm>
            <a:off x="2646508" y="2982275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13" name="Badge"/>
          <p:cNvSpPr/>
          <p:nvPr/>
        </p:nvSpPr>
        <p:spPr>
          <a:xfrm>
            <a:off x="4409451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14" name="Badge"/>
          <p:cNvSpPr/>
          <p:nvPr/>
        </p:nvSpPr>
        <p:spPr>
          <a:xfrm>
            <a:off x="6105868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20" name="Legend head"/>
          <p:cNvSpPr/>
          <p:nvPr/>
        </p:nvSpPr>
        <p:spPr>
          <a:xfrm>
            <a:off x="7726680" y="1810512"/>
            <a:ext cx="3856025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ONE HUMAN, MANY HORSES</a:t>
            </a:r>
          </a:p>
        </p:txBody>
      </p:sp>
      <p:sp>
        <p:nvSpPr>
          <p:cNvPr id="1930" name="Legend badge"/>
          <p:cNvSpPr/>
          <p:nvPr/>
        </p:nvSpPr>
        <p:spPr>
          <a:xfrm>
            <a:off x="7726680" y="2286000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31" name="Legend text"/>
          <p:cNvSpPr/>
          <p:nvPr/>
        </p:nvSpPr>
        <p:spPr>
          <a:xfrm>
            <a:off x="8229600" y="2212848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Charioteer = you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the human at the helm sets the direction</a:t>
            </a:r>
          </a:p>
        </p:txBody>
      </p:sp>
      <p:sp>
        <p:nvSpPr>
          <p:cNvPr id="1932" name="Legend badge"/>
          <p:cNvSpPr/>
          <p:nvPr/>
        </p:nvSpPr>
        <p:spPr>
          <a:xfrm>
            <a:off x="7726680" y="2999232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33" name="Legend text"/>
          <p:cNvSpPr/>
          <p:nvPr/>
        </p:nvSpPr>
        <p:spPr>
          <a:xfrm>
            <a:off x="8229600" y="2926080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Reins + harness = lead agent + rules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splits the job and hands work along</a:t>
            </a:r>
          </a:p>
        </p:txBody>
      </p:sp>
      <p:sp>
        <p:nvSpPr>
          <p:cNvPr id="1934" name="Legend badge"/>
          <p:cNvSpPr/>
          <p:nvPr/>
        </p:nvSpPr>
        <p:spPr>
          <a:xfrm>
            <a:off x="7726680" y="3712464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35" name="Legend text"/>
          <p:cNvSpPr/>
          <p:nvPr/>
        </p:nvSpPr>
        <p:spPr>
          <a:xfrm>
            <a:off x="8229600" y="3639312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Each horse = a specialist agent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its own skill and context</a:t>
            </a:r>
          </a:p>
        </p:txBody>
      </p:sp>
      <p:sp>
        <p:nvSpPr>
          <p:cNvPr id="1936" name="Legend badge"/>
          <p:cNvSpPr/>
          <p:nvPr/>
        </p:nvSpPr>
        <p:spPr>
          <a:xfrm>
            <a:off x="7726680" y="4425696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37" name="Legend text"/>
          <p:cNvSpPr/>
          <p:nvPr/>
        </p:nvSpPr>
        <p:spPr>
          <a:xfrm>
            <a:off x="8229600" y="4352544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Finish post = human checkpoint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nothing crosses without your decision</a:t>
            </a:r>
          </a:p>
        </p:txBody>
      </p:sp>
      <p:sp>
        <p:nvSpPr>
          <p:cNvPr id="1951" name="Ladder strip"/>
          <p:cNvSpPr/>
          <p:nvPr/>
        </p:nvSpPr>
        <p:spPr>
          <a:xfrm>
            <a:off x="7726680" y="5120640"/>
            <a:ext cx="3856025" cy="65836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150" b="1" lang="en-US" dirty="0">
                <a:solidFill>
                  <a:srgbClr val="2E8B8B"/>
                </a:solidFill>
                <a:latin typeface="Bahnschrift"/>
              </a:rPr>
              <a:t>MODEL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the horse  →  </a:t>
            </a:r>
            <a:r>
              <a:rPr sz="1150" b="1" lang="en-US" dirty="0">
                <a:solidFill>
                  <a:srgbClr val="007879"/>
                </a:solidFill>
                <a:latin typeface="Bahnschrift"/>
              </a:rPr>
              <a:t>HARNESS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tools + rules  →</a:t>
            </a:r>
          </a:p>
          <a:p>
            <a:pPr algn="ctr"/>
            <a:r>
              <a:rPr sz="1150" b="1" lang="en-US" dirty="0">
                <a:solidFill>
                  <a:srgbClr val="1F5C99"/>
                </a:solidFill>
                <a:latin typeface="Bahnschrift"/>
              </a:rPr>
              <a:t>AGENT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+ a job  →  </a:t>
            </a:r>
            <a:r>
              <a:rPr sz="1150" b="1" lang="en-US" dirty="0">
                <a:solidFill>
                  <a:srgbClr val="002B55"/>
                </a:solidFill>
                <a:latin typeface="Bahnschrift"/>
              </a:rPr>
              <a:t>SWARM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many horses</a:t>
            </a:r>
          </a:p>
        </p:txBody>
      </p:sp>
      <p:sp>
        <p:nvSpPr>
          <p:cNvPr id="1960" name="When line"/>
          <p:cNvSpPr/>
          <p:nvPr/>
        </p:nvSpPr>
        <p:spPr>
          <a:xfrm>
            <a:off x="609905" y="5833872"/>
            <a:ext cx="10972800" cy="47548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One agent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a single task.   </a:t>
            </a:r>
            <a:r>
              <a:rPr sz="1500" b="1" lang="en-US" dirty="0">
                <a:solidFill>
                  <a:srgbClr val="B4501F"/>
                </a:solidFill>
                <a:latin typeface="Bahnschrift"/>
              </a:rPr>
              <a:t>A swarm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multi-part work with hand-offs, like a launch plan.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170 years of the same org chart</a:t>
            </a:r>
          </a:p>
        </p:txBody>
      </p:sp>
      <p:sp>
        <p:nvSpPr>
          <p:cNvPr id="2301" name="Subtitle"/>
          <p:cNvSpPr/>
          <p:nvPr/>
        </p:nvSpPr>
        <p:spPr>
          <a:xfrm>
            <a:off x="609905" y="1033272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Invented in the 1850s, barely changed since. AI agents will change it.</a:t>
            </a:r>
          </a:p>
        </p:txBody>
      </p:sp>
      <p:sp>
        <p:nvSpPr>
          <p:cNvPr id="2310" name="Stage badge"/>
          <p:cNvSpPr/>
          <p:nvPr/>
        </p:nvSpPr>
        <p:spPr>
          <a:xfrm>
            <a:off x="609905" y="1481328"/>
            <a:ext cx="384048" cy="38404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311" name="Stage head"/>
          <p:cNvSpPr/>
          <p:nvPr/>
        </p:nvSpPr>
        <p:spPr>
          <a:xfrm>
            <a:off x="1085393" y="1417320"/>
            <a:ext cx="274320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1855: the first org chart</a:t>
            </a:r>
          </a:p>
        </p:txBody>
      </p:sp>
      <p:pic>
        <p:nvPicPr>
          <p:cNvPr id="2312" name="Erie 1855 org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55" y="1965960"/>
            <a:ext cx="1929379" cy="34290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313" name="Erie credit"/>
          <p:cNvSpPr/>
          <p:nvPr/>
        </p:nvSpPr>
        <p:spPr>
          <a:xfrm>
            <a:off x="609905" y="5431536"/>
            <a:ext cx="292608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900" b="0" lang="en-US" dirty="0">
                <a:solidFill>
                  <a:srgbClr val="28455F"/>
                </a:solidFill>
                <a:latin typeface="Arial"/>
              </a:rPr>
              <a:t>Daniel McCallum, New York &amp; Erie Railroad, 1855 (Library of Congress)</a:t>
            </a:r>
          </a:p>
        </p:txBody>
      </p:sp>
      <p:sp>
        <p:nvSpPr>
          <p:cNvPr id="2314" name="Stage caption"/>
          <p:cNvSpPr/>
          <p:nvPr/>
        </p:nvSpPr>
        <p:spPr>
          <a:xfrm>
            <a:off x="609905" y="5852160"/>
            <a:ext cx="292608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Tree-shaped. Still how we draw teams today.</a:t>
            </a:r>
          </a:p>
        </p:txBody>
      </p:sp>
      <p:sp>
        <p:nvSpPr>
          <p:cNvPr id="2320" name="Stage arrow"/>
          <p:cNvSpPr/>
          <p:nvPr/>
        </p:nvSpPr>
        <p:spPr>
          <a:xfrm>
            <a:off x="3794760" y="3497580"/>
            <a:ext cx="685800" cy="73152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330" name="Stage badge"/>
          <p:cNvSpPr/>
          <p:nvPr/>
        </p:nvSpPr>
        <p:spPr>
          <a:xfrm>
            <a:off x="4727448" y="1481328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331" name="Stage head"/>
          <p:cNvSpPr/>
          <p:nvPr/>
        </p:nvSpPr>
        <p:spPr>
          <a:xfrm>
            <a:off x="5202936" y="1417320"/>
            <a:ext cx="6270752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Now: each person leads their own team of agents</a:t>
            </a:r>
          </a:p>
        </p:txBody>
      </p:sp>
      <p:pic>
        <p:nvPicPr>
          <p:cNvPr id="2332" name="Network org 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1965960"/>
            <a:ext cx="6746240" cy="379476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333" name="Stage caption"/>
          <p:cNvSpPr/>
          <p:nvPr/>
        </p:nvSpPr>
        <p:spPr>
          <a:xfrm>
            <a:off x="4727448" y="5852160"/>
            <a:ext cx="6746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Organized around outcomes, not boxes on a chart. Leading firms are already making this shift.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6833</Words>
  <Application>Microsoft Office PowerPoint</Application>
  <DocSecurity>0</DocSecurity>
  <PresentationFormat>Widescreen</PresentationFormat>
  <Paragraphs>666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Arial</vt:lpstr>
      <vt:lpstr>Bahnschrift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Action — Vivek's Deck</dc:title>
  <dc:creator>Vivek Mukhatyar</dc:creator>
  <cp:lastModifiedBy>Vivek Mukhatyar</cp:lastModifiedBy>
  <cp:revision>1</cp:revision>
  <dcterms:created xsi:type="dcterms:W3CDTF">2026-10-08T22:58:18Z</dcterms:created>
  <dcterms:modified xsi:type="dcterms:W3CDTF">2026-10-08T23:18:51Z</dcterms:modified>
</cp:coreProperties>
</file>